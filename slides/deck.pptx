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288</c:v>
                </c:pt>
                <c:pt idx="1">
                  <c:v>144</c:v>
                </c:pt>
                <c:pt idx="2">
                  <c:v>104</c:v>
                </c:pt>
                <c:pt idx="3">
                  <c:v>96</c:v>
                </c:pt>
                <c:pt idx="4">
                  <c:v>96</c:v>
                </c:pt>
                <c:pt idx="5">
                  <c:v>96</c:v>
                </c:pt>
                <c:pt idx="6">
                  <c:v>56</c:v>
                </c:pt>
                <c:pt idx="7">
                  <c:v>48</c:v>
                </c:pt>
                <c:pt idx="8">
                  <c:v>48</c:v>
                </c:pt>
                <c:pt idx="9">
                  <c:v>48</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3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90.8</c:v>
                </c:pt>
                <c:pt idx="1">
                  <c:v>80.7</c:v>
                </c:pt>
                <c:pt idx="2">
                  <c:v>87.3</c:v>
                </c:pt>
                <c:pt idx="3">
                  <c:v>93.1</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720</c:v>
                </c:pt>
                <c:pt idx="1">
                  <c:v>776</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245</c:v>
                </c:pt>
                <c:pt idx="1">
                  <c:v>248</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59</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The two automated levels run on the same 1,024 requests; staff time is only an assumed reference.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returns five fields: topic, priority, action, risk flag, and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The amount limit is broken: 227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of a personal plan (Plus, Pro, or Max), the state of the plan, a render-credit balance, and a log of password reset links. So the written rules can use real account fields, and the customers cover every branch of the rules. They send 1,024 requests of 21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21 types form ten families. Questions and answers is the largest, with 288 requests, then refunds with 144, plan cancellations with 104, and password resets with 96. Every request has its own words. The correct answers come from the written rules, because the generator runs the real code. A rule denies the action on 248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automated levels run on the same 1,024 requests, with their results stored separately. At Level 3, Jev answers the chat of every request once, and answers the rule questions on 371 requests: 1,395 Jev calls in total. Level 2 uses two LLM calls per request: the agent and the final message. We ask one question: what does each level buy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1,205 tokens and writes 196. The second call, on 371 of the 1,024 requests, reads 705 tokens and writes 97. One LLM agent call reads 1,144 tokens and writes 296, including reasoning. At list price, for 1,000 requests, Level 2 costs $0.60, and Level 3 costs $0.28: for each request, 1.4 calls to Jev and one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1,024 requests. The median Jev time per request, including rule calls when present, is 0.31 seconds. All Jev calls cost $0.061 per 1,000 requests. The first call gives the right topic on 90.8 percent of 976 scored requests, the priority on 80.7 percent, the action on 87.3 percent, and the injection flag on 93.1 percent. All 1,656 rule answers match the written rules on this set. The first-call action label is wrong on 130 requests; 0 of these end in a wrong outcome. The strict final-label metric is different: it counts 125 mismatches. The refund-credits question was revised after an earlier failure, so the rule results are not a blind evaluation of that question.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78 s. Thank you, Son. My name is Vuong Quang Quy. I will compare the two independent runs on the same 1,024 requests. Level 2 serves 720, stops 245, and makes 59 errors, 14 of them harmful. Level 3 serves 776, stops 248, and makes 0 errors, 0 of them harmful. Level 3 has 2.0 times lower mean machine time: 3.92 seconds against 7.97. It has 2.1 times lower API cost: $0.28 against $0.60 per 1,000 requests. Of the 59 Level 2 errors, 47 are injection requests, 8 are refund requests, and 4 are other requests. The harmful errors run 7 refunds and 7 plan cancellations. Level 2 was wrong and Level 3 right on 59 requests, and the reverse on 0. Level 3 asks a second Jev call on 36.2 percent of requests. These are outcomes on this synthetic set, not a guarantee of safety. Now Nguyen Phuong Nam will explain how Level 3 limits each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Thank you, Quy. My name is Nguyen Phuong Nam. I will explain how Level 3 limits each model, and why it stays safe. Text in a request can give orders to a model. So at Level 3, no model decides alone. Jev only answers typed questions. It cannot run an action. The process checks the written rules and runs the action. One broken rule is enough to stop it. The LLM only writes the final message. It does not change any decision. Result 2 shows what this design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Jev is not always right. So three guards stand between a wrong answer and the customer. First, the injection flag. Jev sets it right on 93.1 percent of the requests. When it is on, the process sets the action to Send reply. Second, the rule questions. 1,656 of 1,656 answers match the written rules on this set. One broken rule stops the action. Third, the outcome. The first-call action label is wrong on 130 requests; 0 of them end in a wrong outcome. Level 3 makes 0 errors and 0 harmful runs on this synthetic set. The refund-credits question was revised after an earlier failure; this is not a blind evaluation of that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measured two automated levels of customer support in separate runs on the same 1,024 requests; staff time is an assumed reference. Level 2 serves 720, stops 245, and makes 59 errors. Level 3 serves 776, stops 248, and makes 0 errors. Level 3 has 2.0 times lower mean machine time and 2.1 times lower API cost. Level 2 alone was wrong on 59 requests, and Level 3 alone on 0. Jev needs a question that we write for each rule. One refund question was revised after an earlier failure, so this is not a blind evaluation of that rule. The next step is real tickets and a held-out request set.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8-2.png"/><Relationship Id="rId3" Type="http://schemas.openxmlformats.org/officeDocument/2006/relationships/image" Target="../media/image-10-5.png"/><Relationship Id="rId4" Type="http://schemas.openxmlformats.org/officeDocument/2006/relationships/image" Target="../media/image-22-3.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2-3.png"/><Relationship Id="rId5" Type="http://schemas.openxmlformats.org/officeDocument/2006/relationships/image" Target="../media/image-23-5.png"/><Relationship Id="rId6" Type="http://schemas.openxmlformats.org/officeDocument/2006/relationships/image" Target="../media/image-21-1.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0-4.png"/><Relationship Id="rId3" Type="http://schemas.openxmlformats.org/officeDocument/2006/relationships/image" Target="../media/image-14-9.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24-3.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both automated levels run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returns five fields, then one answer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0.99</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0.61</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0.71</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$74 started for Pro plan, annual (FF-10048).</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annual purchase FF-10048 has been approved: $74 is on its way back to your original payment method, and it should arrive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0.59</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0.91</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$227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couldn't start the refund: this chat cannot start a refund above $100, and your Max annual charge was $227, so nothing was changed on your account. Your plan's next renewal can still be cancelled with no charge as long as it hasn't been charged yet, and you can edit any invoice details from Billing settings.”</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0.50</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“The only charge on your account is FF-10266, the annual Max plan of $121 charged on 2026-09-01, and I can't start a refund for it: annual refunds are only possible while none of the plan's credits are used, and 1,940 of 5,000 credits are used. This chat also does not start a refund above $100. This chat is automated and helps with what it can, so I cannot skip those checks.”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or an annual plan (Plus, Pro, or Max)</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21</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 to 3</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from each customer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248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48 attacks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each independent run: Level 2 and Level 3</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1,395</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371</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2,419</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1,395 to Jev and 1,024 to the LLM</a:t>
            </a:r>
            <a:endParaRPr lang="en-US" sz="1500" dirty="0"/>
          </a:p>
        </p:txBody>
      </p:sp>
      <p:sp>
        <p:nvSpPr>
          <p:cNvPr id="19" name="Shape 13"/>
          <p:cNvSpPr/>
          <p:nvPr/>
        </p:nvSpPr>
        <p:spPr>
          <a:xfrm>
            <a:off x="548640" y="3566160"/>
            <a:ext cx="11094415" cy="1371600"/>
          </a:xfrm>
          <a:prstGeom prst="roundRect">
            <a:avLst>
              <a:gd name="adj" fmla="val 5333"/>
            </a:avLst>
          </a:prstGeom>
          <a:solidFill>
            <a:srgbClr val="FFFFFF"/>
          </a:solidFill>
          <a:ln/>
        </p:spPr>
      </p:sp>
      <p:sp>
        <p:nvSpPr>
          <p:cNvPr id="20" name="Text 14"/>
          <p:cNvSpPr/>
          <p:nvPr/>
        </p:nvSpPr>
        <p:spPr>
          <a:xfrm>
            <a:off x="868680" y="3931920"/>
            <a:ext cx="1005840" cy="640080"/>
          </a:xfrm>
          <a:prstGeom prst="roundRect">
            <a:avLst>
              <a:gd name="adj" fmla="val 11429"/>
            </a:avLst>
          </a:prstGeom>
          <a:solidFill>
            <a:srgbClr val="2F5F98"/>
          </a:solidFill>
          <a:ln w="12700">
            <a:solidFill>
              <a:srgbClr val="2F5F98"/>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Q1</a:t>
            </a:r>
            <a:endParaRPr lang="en-US" sz="2400" dirty="0"/>
          </a:p>
        </p:txBody>
      </p:sp>
      <p:sp>
        <p:nvSpPr>
          <p:cNvPr id="21" name="Text 15"/>
          <p:cNvSpPr/>
          <p:nvPr/>
        </p:nvSpPr>
        <p:spPr>
          <a:xfrm>
            <a:off x="2240280" y="3566160"/>
            <a:ext cx="9128455" cy="1371600"/>
          </a:xfrm>
          <a:prstGeom prst="rect">
            <a:avLst/>
          </a:prstGeom>
          <a:noFill/>
          <a:ln/>
        </p:spPr>
        <p:txBody>
          <a:bodyPr wrap="square" lIns="0" tIns="0" rIns="0" bIns="0" rtlCol="0" anchor="ctr"/>
          <a:lstStyle/>
          <a:p>
            <a:pPr algn="l" indent="0" marL="0">
              <a:buNone/>
            </a:pPr>
            <a:r>
              <a:rPr lang="en-US" sz="24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2400" dirty="0"/>
          </a:p>
        </p:txBody>
      </p:sp>
      <p:sp>
        <p:nvSpPr>
          <p:cNvPr id="22" name="Text 16"/>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Staff time is an assumed reference, not a measured run.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reads less, so it costs about half</a:t>
            </a:r>
            <a:endParaRPr lang="en-US" sz="3400" dirty="0"/>
          </a:p>
        </p:txBody>
      </p:sp>
      <p:sp>
        <p:nvSpPr>
          <p:cNvPr id="4" name="Shape 1"/>
          <p:cNvSpPr/>
          <p:nvPr/>
        </p:nvSpPr>
        <p:spPr>
          <a:xfrm>
            <a:off x="548640" y="1463040"/>
            <a:ext cx="5410048" cy="3291840"/>
          </a:xfrm>
          <a:prstGeom prst="roundRect">
            <a:avLst>
              <a:gd name="adj" fmla="val 2222"/>
            </a:avLst>
          </a:prstGeom>
          <a:solidFill>
            <a:srgbClr val="FFFFFF"/>
          </a:solidFill>
          <a:ln/>
        </p:spPr>
      </p:sp>
      <p:sp>
        <p:nvSpPr>
          <p:cNvPr id="5" name="Shape 2"/>
          <p:cNvSpPr/>
          <p:nvPr/>
        </p:nvSpPr>
        <p:spPr>
          <a:xfrm>
            <a:off x="868680" y="1691640"/>
            <a:ext cx="594360" cy="594360"/>
          </a:xfrm>
          <a:prstGeom prst="ellipse">
            <a:avLst/>
          </a:prstGeom>
          <a:solidFill>
            <a:srgbClr val="4A82B8"/>
          </a:solidFill>
          <a:ln w="12700">
            <a:solidFill>
              <a:srgbClr val="4A82B8"/>
            </a:solidFill>
            <a:prstDash val="solid"/>
          </a:ln>
        </p:spPr>
      </p:sp>
      <p:pic>
        <p:nvPicPr>
          <p:cNvPr id="6" name="Image 0" descr="preencoded.png">    </p:cNvPr>
          <p:cNvPicPr>
            <a:picLocks noChangeAspect="1"/>
          </p:cNvPicPr>
          <p:nvPr/>
        </p:nvPicPr>
        <p:blipFill>
          <a:blip r:embed="rId1"/>
          <a:stretch>
            <a:fillRect/>
          </a:stretch>
        </p:blipFill>
        <p:spPr>
          <a:xfrm>
            <a:off x="999439" y="1822399"/>
            <a:ext cx="332842" cy="332842"/>
          </a:xfrm>
          <a:prstGeom prst="rect">
            <a:avLst/>
          </a:prstGeom>
        </p:spPr>
      </p:pic>
      <p:sp>
        <p:nvSpPr>
          <p:cNvPr id="7" name="Text 3"/>
          <p:cNvSpPr/>
          <p:nvPr/>
        </p:nvSpPr>
        <p:spPr>
          <a:xfrm>
            <a:off x="1645920"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8" name="Text 4"/>
          <p:cNvSpPr/>
          <p:nvPr/>
        </p:nvSpPr>
        <p:spPr>
          <a:xfrm>
            <a:off x="868680" y="2377440"/>
            <a:ext cx="2103120" cy="868680"/>
          </a:xfrm>
          <a:prstGeom prst="rect">
            <a:avLst/>
          </a:prstGeom>
          <a:noFill/>
          <a:ln/>
        </p:spPr>
        <p:txBody>
          <a:bodyPr wrap="square" lIns="0" tIns="0" rIns="0" bIns="0" rtlCol="0" anchor="ctr"/>
          <a:lstStyle/>
          <a:p>
            <a:pPr algn="l" indent="0" marL="0">
              <a:buNone/>
            </a:pPr>
            <a:r>
              <a:rPr lang="en-US" sz="5400" b="1" dirty="0">
                <a:solidFill>
                  <a:srgbClr val="4A82B8"/>
                </a:solidFill>
                <a:latin typeface="Calibri" pitchFamily="34" charset="0"/>
                <a:ea typeface="Calibri" pitchFamily="34" charset="-122"/>
                <a:cs typeface="Calibri" pitchFamily="34" charset="-120"/>
              </a:rPr>
              <a:t>$0.60</a:t>
            </a:r>
            <a:endParaRPr lang="en-US" sz="5400" dirty="0"/>
          </a:p>
        </p:txBody>
      </p:sp>
      <p:sp>
        <p:nvSpPr>
          <p:cNvPr id="9" name="Text 5"/>
          <p:cNvSpPr/>
          <p:nvPr/>
        </p:nvSpPr>
        <p:spPr>
          <a:xfrm>
            <a:off x="3017520"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0" name="Shape 6"/>
          <p:cNvSpPr/>
          <p:nvPr/>
        </p:nvSpPr>
        <p:spPr>
          <a:xfrm>
            <a:off x="868680" y="3337560"/>
            <a:ext cx="4769968" cy="274320"/>
          </a:xfrm>
          <a:prstGeom prst="roundRect">
            <a:avLst>
              <a:gd name="adj" fmla="val 16667"/>
            </a:avLst>
          </a:prstGeom>
          <a:solidFill>
            <a:srgbClr val="E9EDF2"/>
          </a:solidFill>
          <a:ln w="12700">
            <a:solidFill>
              <a:srgbClr val="E9EDF2"/>
            </a:solidFill>
            <a:prstDash val="solid"/>
          </a:ln>
        </p:spPr>
      </p:sp>
      <p:sp>
        <p:nvSpPr>
          <p:cNvPr id="11" name="Shape 7"/>
          <p:cNvSpPr/>
          <p:nvPr/>
        </p:nvSpPr>
        <p:spPr>
          <a:xfrm>
            <a:off x="868680" y="3337560"/>
            <a:ext cx="4769968" cy="274320"/>
          </a:xfrm>
          <a:prstGeom prst="roundRect">
            <a:avLst>
              <a:gd name="adj" fmla="val 16667"/>
            </a:avLst>
          </a:prstGeom>
          <a:solidFill>
            <a:srgbClr val="4A82B8"/>
          </a:solidFill>
          <a:ln w="12700">
            <a:solidFill>
              <a:srgbClr val="4A82B8"/>
            </a:solidFill>
            <a:prstDash val="solid"/>
          </a:ln>
        </p:spPr>
      </p:sp>
      <p:sp>
        <p:nvSpPr>
          <p:cNvPr id="12" name="Text 8"/>
          <p:cNvSpPr/>
          <p:nvPr/>
        </p:nvSpPr>
        <p:spPr>
          <a:xfrm>
            <a:off x="86868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3" name="Text 9"/>
          <p:cNvSpPr/>
          <p:nvPr/>
        </p:nvSpPr>
        <p:spPr>
          <a:xfrm>
            <a:off x="228600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4" name="Text 10"/>
          <p:cNvSpPr/>
          <p:nvPr/>
        </p:nvSpPr>
        <p:spPr>
          <a:xfrm>
            <a:off x="3749040"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15" name="Text 11"/>
          <p:cNvSpPr/>
          <p:nvPr/>
        </p:nvSpPr>
        <p:spPr>
          <a:xfrm>
            <a:off x="868680"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whole account and all the rules</a:t>
            </a:r>
            <a:endParaRPr lang="en-US" sz="1600" dirty="0"/>
          </a:p>
        </p:txBody>
      </p:sp>
      <p:sp>
        <p:nvSpPr>
          <p:cNvPr id="16" name="Shape 12"/>
          <p:cNvSpPr/>
          <p:nvPr/>
        </p:nvSpPr>
        <p:spPr>
          <a:xfrm>
            <a:off x="6233008" y="1463040"/>
            <a:ext cx="5410048" cy="3291840"/>
          </a:xfrm>
          <a:prstGeom prst="roundRect">
            <a:avLst>
              <a:gd name="adj" fmla="val 2222"/>
            </a:avLst>
          </a:prstGeom>
          <a:solidFill>
            <a:srgbClr val="FFFFFF"/>
          </a:solidFill>
          <a:ln/>
        </p:spPr>
      </p:sp>
      <p:sp>
        <p:nvSpPr>
          <p:cNvPr id="17" name="Shape 13"/>
          <p:cNvSpPr/>
          <p:nvPr/>
        </p:nvSpPr>
        <p:spPr>
          <a:xfrm>
            <a:off x="6553048" y="1691640"/>
            <a:ext cx="594360" cy="594360"/>
          </a:xfrm>
          <a:prstGeom prst="ellipse">
            <a:avLst/>
          </a:prstGeom>
          <a:solidFill>
            <a:srgbClr val="234B84"/>
          </a:solidFill>
          <a:ln w="12700">
            <a:solidFill>
              <a:srgbClr val="234B84"/>
            </a:solidFill>
            <a:prstDash val="solid"/>
          </a:ln>
        </p:spPr>
      </p:sp>
      <p:pic>
        <p:nvPicPr>
          <p:cNvPr id="18" name="Image 1" descr="preencoded.png">    </p:cNvPr>
          <p:cNvPicPr>
            <a:picLocks noChangeAspect="1"/>
          </p:cNvPicPr>
          <p:nvPr/>
        </p:nvPicPr>
        <p:blipFill>
          <a:blip r:embed="rId2"/>
          <a:stretch>
            <a:fillRect/>
          </a:stretch>
        </p:blipFill>
        <p:spPr>
          <a:xfrm>
            <a:off x="6683807" y="1822399"/>
            <a:ext cx="332842" cy="332842"/>
          </a:xfrm>
          <a:prstGeom prst="rect">
            <a:avLst/>
          </a:prstGeom>
        </p:spPr>
      </p:pic>
      <p:sp>
        <p:nvSpPr>
          <p:cNvPr id="19" name="Text 14"/>
          <p:cNvSpPr/>
          <p:nvPr/>
        </p:nvSpPr>
        <p:spPr>
          <a:xfrm>
            <a:off x="7330288"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0" name="Text 15"/>
          <p:cNvSpPr/>
          <p:nvPr/>
        </p:nvSpPr>
        <p:spPr>
          <a:xfrm>
            <a:off x="6553048" y="2377440"/>
            <a:ext cx="2103120" cy="86868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$0.28</a:t>
            </a:r>
            <a:endParaRPr lang="en-US" sz="5400" dirty="0"/>
          </a:p>
        </p:txBody>
      </p:sp>
      <p:sp>
        <p:nvSpPr>
          <p:cNvPr id="21" name="Text 16"/>
          <p:cNvSpPr/>
          <p:nvPr/>
        </p:nvSpPr>
        <p:spPr>
          <a:xfrm>
            <a:off x="8701888"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2" name="Shape 17"/>
          <p:cNvSpPr/>
          <p:nvPr/>
        </p:nvSpPr>
        <p:spPr>
          <a:xfrm>
            <a:off x="6553048" y="3337560"/>
            <a:ext cx="4769968" cy="274320"/>
          </a:xfrm>
          <a:prstGeom prst="roundRect">
            <a:avLst>
              <a:gd name="adj" fmla="val 16667"/>
            </a:avLst>
          </a:prstGeom>
          <a:solidFill>
            <a:srgbClr val="E9EDF2"/>
          </a:solidFill>
          <a:ln w="12700">
            <a:solidFill>
              <a:srgbClr val="E9EDF2"/>
            </a:solidFill>
            <a:prstDash val="solid"/>
          </a:ln>
        </p:spPr>
      </p:sp>
      <p:sp>
        <p:nvSpPr>
          <p:cNvPr id="23" name="Shape 18"/>
          <p:cNvSpPr/>
          <p:nvPr/>
        </p:nvSpPr>
        <p:spPr>
          <a:xfrm>
            <a:off x="6553048" y="3337560"/>
            <a:ext cx="2234776" cy="274320"/>
          </a:xfrm>
          <a:prstGeom prst="roundRect">
            <a:avLst>
              <a:gd name="adj" fmla="val 16667"/>
            </a:avLst>
          </a:prstGeom>
          <a:solidFill>
            <a:srgbClr val="234B84"/>
          </a:solidFill>
          <a:ln w="12700">
            <a:solidFill>
              <a:srgbClr val="234B84"/>
            </a:solidFill>
            <a:prstDash val="solid"/>
          </a:ln>
        </p:spPr>
      </p:sp>
      <p:sp>
        <p:nvSpPr>
          <p:cNvPr id="24" name="Text 19"/>
          <p:cNvSpPr/>
          <p:nvPr/>
        </p:nvSpPr>
        <p:spPr>
          <a:xfrm>
            <a:off x="6553048" y="379476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1.4</a:t>
            </a:r>
            <a:endParaRPr lang="en-US" sz="1400" dirty="0"/>
          </a:p>
        </p:txBody>
      </p:sp>
      <p:sp>
        <p:nvSpPr>
          <p:cNvPr id="25" name="Text 20"/>
          <p:cNvSpPr/>
          <p:nvPr/>
        </p:nvSpPr>
        <p:spPr>
          <a:xfrm>
            <a:off x="8519008"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6" name="Text 21"/>
          <p:cNvSpPr/>
          <p:nvPr/>
        </p:nvSpPr>
        <p:spPr>
          <a:xfrm>
            <a:off x="9982048"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7" name="Text 22"/>
          <p:cNvSpPr/>
          <p:nvPr/>
        </p:nvSpPr>
        <p:spPr>
          <a:xfrm>
            <a:off x="6553048"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28" name="Shape 23"/>
          <p:cNvSpPr/>
          <p:nvPr/>
        </p:nvSpPr>
        <p:spPr>
          <a:xfrm>
            <a:off x="548640" y="4983480"/>
            <a:ext cx="11094415" cy="1005840"/>
          </a:xfrm>
          <a:prstGeom prst="roundRect">
            <a:avLst>
              <a:gd name="adj" fmla="val 7273"/>
            </a:avLst>
          </a:prstGeom>
          <a:solidFill>
            <a:srgbClr val="FFFFFF"/>
          </a:solidFill>
          <a:ln/>
        </p:spPr>
      </p:sp>
      <p:sp>
        <p:nvSpPr>
          <p:cNvPr id="29" name="Shape 24"/>
          <p:cNvSpPr/>
          <p:nvPr/>
        </p:nvSpPr>
        <p:spPr>
          <a:xfrm>
            <a:off x="868680" y="5212080"/>
            <a:ext cx="548640" cy="548640"/>
          </a:xfrm>
          <a:prstGeom prst="ellipse">
            <a:avLst/>
          </a:prstGeom>
          <a:solidFill>
            <a:srgbClr val="234B84"/>
          </a:solidFill>
          <a:ln w="12700">
            <a:solidFill>
              <a:srgbClr val="234B84"/>
            </a:solidFill>
            <a:prstDash val="solid"/>
          </a:ln>
        </p:spPr>
      </p:sp>
      <p:pic>
        <p:nvPicPr>
          <p:cNvPr id="30" name="Image 2" descr="preencoded.png">    </p:cNvPr>
          <p:cNvPicPr>
            <a:picLocks noChangeAspect="1"/>
          </p:cNvPicPr>
          <p:nvPr/>
        </p:nvPicPr>
        <p:blipFill>
          <a:blip r:embed="rId3"/>
          <a:stretch>
            <a:fillRect/>
          </a:stretch>
        </p:blipFill>
        <p:spPr>
          <a:xfrm>
            <a:off x="989381" y="5332781"/>
            <a:ext cx="307238" cy="307238"/>
          </a:xfrm>
          <a:prstGeom prst="rect">
            <a:avLst/>
          </a:prstGeom>
        </p:spPr>
      </p:pic>
      <p:sp>
        <p:nvSpPr>
          <p:cNvPr id="31" name="Text 25"/>
          <p:cNvSpPr/>
          <p:nvPr/>
        </p:nvSpPr>
        <p:spPr>
          <a:xfrm>
            <a:off x="1600200"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2" name="Shape 26"/>
          <p:cNvSpPr/>
          <p:nvPr/>
        </p:nvSpPr>
        <p:spPr>
          <a:xfrm>
            <a:off x="6415888" y="5212080"/>
            <a:ext cx="548640" cy="548640"/>
          </a:xfrm>
          <a:prstGeom prst="ellipse">
            <a:avLst/>
          </a:prstGeom>
          <a:solidFill>
            <a:srgbClr val="5F6B7A"/>
          </a:solidFill>
          <a:ln w="12700">
            <a:solidFill>
              <a:srgbClr val="5F6B7A"/>
            </a:solidFill>
            <a:prstDash val="solid"/>
          </a:ln>
        </p:spPr>
      </p:sp>
      <p:pic>
        <p:nvPicPr>
          <p:cNvPr id="33" name="Image 3" descr="preencoded.png">    </p:cNvPr>
          <p:cNvPicPr>
            <a:picLocks noChangeAspect="1"/>
          </p:cNvPicPr>
          <p:nvPr/>
        </p:nvPicPr>
        <p:blipFill>
          <a:blip r:embed="rId4"/>
          <a:stretch>
            <a:fillRect/>
          </a:stretch>
        </p:blipFill>
        <p:spPr>
          <a:xfrm>
            <a:off x="6536588" y="5332781"/>
            <a:ext cx="307238" cy="307238"/>
          </a:xfrm>
          <a:prstGeom prst="rect">
            <a:avLst/>
          </a:prstGeom>
        </p:spPr>
      </p:pic>
      <p:sp>
        <p:nvSpPr>
          <p:cNvPr id="34" name="Text 27"/>
          <p:cNvSpPr/>
          <p:nvPr/>
        </p:nvSpPr>
        <p:spPr>
          <a:xfrm>
            <a:off x="7147408"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agent (deepseek-v4.1-flash):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976; other fields 1,024; rule answers 1,656.</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$0.061</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130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2.0x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3.92 s vs 7.97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$0.28 vs $0.60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59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on this request set</a:t>
            </a:r>
            <a:endParaRPr lang="en-US" sz="1400" dirty="0"/>
          </a:p>
        </p:txBody>
      </p:sp>
      <p:sp>
        <p:nvSpPr>
          <p:cNvPr id="21" name="Text 14"/>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14 at Level 2.</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topic, priority, action, injection flag, and one yes or no for each rule. It cannot run an action.</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Reads the account, checks the written rules, and runs the action. One broken rule is enough to stop it.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It does not change any decision.</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No model decides alone: </a:t>
            </a:r>
            <a:pPr algn="l" indent="0" marL="0">
              <a:buNone/>
            </a:pPr>
            <a:r>
              <a:rPr lang="en-US" sz="1800" dirty="0">
                <a:solidFill>
                  <a:srgbClr val="FFFFFF"/>
                </a:solidFill>
                <a:latin typeface="Calibri" pitchFamily="34" charset="0"/>
                <a:ea typeface="Calibri" pitchFamily="34" charset="-122"/>
                <a:cs typeface="Calibri" pitchFamily="34" charset="-120"/>
              </a:rPr>
              <a:t>the process decides if an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Why Level 3 stays safe when Jev is wrong</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93.1%</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One broken rule stops the action.</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130</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0 errors and 0 harmful runs on this synthetic set.</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Level 2: 720 served, 245 stopped, 59 errors. Level 3: 776 served, 248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has 2.0x lower mean machine time and 2.1x lower API cost, with fewer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One refund question was revised after an earlier failure.</a:t>
            </a:r>
            <a:endParaRPr lang="en-US" sz="1800" dirty="0"/>
          </a:p>
        </p:txBody>
      </p:sp>
      <p:sp>
        <p:nvSpPr>
          <p:cNvPr id="5" name="Text 3"/>
          <p:cNvSpPr/>
          <p:nvPr/>
        </p:nvSpPr>
        <p:spPr>
          <a:xfrm>
            <a:off x="640080" y="548640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and a held-out request set.</a:t>
            </a:r>
            <a:endParaRPr lang="en-US" sz="22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59 vs 0</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on this request set</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2.0x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3.92 s vs 7.97 s</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$0.28 vs $0.60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 6</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 of Level 3: why a state machine</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to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26 and 27</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29</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Why Level 3 stays safe when Jev is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2026-10-12T04:05:30Z</dcterms:created>
  <dcterms:modified xsi:type="dcterms:W3CDTF">2026-10-12T04:05:30Z</dcterms:modified>
</cp:coreProperties>
</file>