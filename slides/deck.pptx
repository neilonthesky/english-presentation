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288</c:v>
                </c:pt>
                <c:pt idx="1">
                  <c:v>144</c:v>
                </c:pt>
                <c:pt idx="2">
                  <c:v>104</c:v>
                </c:pt>
                <c:pt idx="3">
                  <c:v>96</c:v>
                </c:pt>
                <c:pt idx="4">
                  <c:v>96</c:v>
                </c:pt>
                <c:pt idx="5">
                  <c:v>96</c:v>
                </c:pt>
                <c:pt idx="6">
                  <c:v>56</c:v>
                </c:pt>
                <c:pt idx="7">
                  <c:v>48</c:v>
                </c:pt>
                <c:pt idx="8">
                  <c:v>48</c:v>
                </c:pt>
                <c:pt idx="9">
                  <c:v>48</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3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over the 1,024 requests</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87.5</c:v>
                </c:pt>
                <c:pt idx="1">
                  <c:v>83</c:v>
                </c:pt>
                <c:pt idx="2">
                  <c:v>83</c:v>
                </c:pt>
                <c:pt idx="3">
                  <c:v>96</c:v>
                </c:pt>
                <c:pt idx="4">
                  <c:v>99.4</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728</c:v>
                </c:pt>
                <c:pt idx="1">
                  <c:v>776</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235</c:v>
                </c:pt>
                <c:pt idx="1">
                  <c:v>248</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61</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Every level runs on the same 1,024 requests.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gives four answers: the topic, the priority, the action, and an injection flag. In Rules, Jev answers one yes/no question for each written rule of the action. The process follows the answers: if no rule is broken, Do action runs the action; if one is broken, nothing runs.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We found that each rule needs a question that we write: questions made from the text of the rule alone made more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answers four fixed questions: the topic, the priority, the action, and an injection flag.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one for each rule of a refund.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the same action, Start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The amount limit is broken: 300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512 FrameForge customers. Each has one purchase, a plan and its state, a render-credit balance, and a log of password reset links. So the written rules can use real account fields, and the customers cover every branch of the rules. They send 1,024 requests of 21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1,024 requests. The 21 types form ten families. Questions and answers is the largest, with 288 requests, then refunds with 144, plan cancellations with 104, and password resets with 96. Every request has its own words. The correct answers come from the written rules, because the generator runs the real code. A rule denies the action on 248 of the 1,024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a sign test on the errors.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Both levels run on the same 1,024 requests. At Level 3, Jev answers the chat of every request once, and answers the rule questions on the 410 requests whose action changes the state: 1,434 Jev calls. Every count gets a 95% interval. We ask one question: what does each level buy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Level 2 reads the chat text, the sender, the channel, the matching help articles, the whole account, and the written rules. Level 3 reads less: the chat first, then only the account lines and the rule questions of one action. Jev costs 4.2 cents per million input tokens, and its output is free. The LLM costs 15 cents in and 60 cents out per million tokens, with high reasoning effort. The first Jev call reads 1,233 tokens and writes 196. The second call, on 410 of the 1,024 requests, reads 743 tokens and writes 105. One LLM agent call reads 1,229 tokens and writes 268, because reasoning counts. At list price, for 1,000 requests, Level 2 costs $0.61, and Level 3 costs $0.29: for each request, 1.4 calls to Jev and 1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for Jev alone, over the 1,024 requests. One Jev call takes 0.31 seconds at the median, and the Jev calls cost 6 cents per 1,000 requests. Jev gives the right topic on 88% of the requests, the priority on 83%, the action on 83%, and the injection flag on 96%. The rule questions are almost always right: 1,690 of 1,700 answers match the written rules. The action label is wrong on 174 requests, but none of them ends in a wrong outcome: when a rule would deny a request, Jev often picks Send reply, and the result is still a stop. The intervals are wide. Now my teammate Vuong Quang Quy will compare the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78 s. Thank you, Son. My name is Vuong Quang Quy. I will compare the two levels on the same 1,024 requests. Level 2 serves 728, stops 235, and makes 61 errors, about 13 of them harmful. Level 3 serves 776, stops 248, and makes no error, and none is harmful. Level 3 is 1.8 times faster, 4.28 seconds against 7.85, and 2.1 times cheaper, 29 cents against 61 cents per 1,000 requests. The two levels fail on different requests: Level 2 fails on 48 injection requests and on 13 refund requests, where it cancelled the plan. Level 2 was wrong and Level 3 right on 61 of the 1,024 requests, and the reverse on none. The sign test gives p = 0.031, so Level 3 makes significantly fewer errors on these requests. Level 3 uses two Jev calls on 4 requests in 10, and that adds little time and cost. Now Nguyen Phuong Nam will explain how Level 3 limits each model, and why it stays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Thank you, Quy. My name is Nguyen Phuong Nam. I will explain how Level 3 limits each model, and why it stays safe. Text in a request can give orders to a model. So at Level 3, no model decides alone. Jev only answers typed questions. It cannot run an action. The process checks the written rules and runs the action. One broken rule is enough to stop it. The LLM only writes the final message. It does not change any decision. Result 2 shows what this design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Jev is not always right. So three guards stand between a wrong answer and the customer. First, the injection flag. Jev sets it right on 96 percent of the requests. When it is on, the process sets the action to Send reply. Second, the rule questions. Jev answers 99.4 percent of them as the written rules do. One broken rule stops the action. Third, the outcome. The action label is wrong on 174 requests, and none of them ends in a wrong outcome. That is why Level 3 makes no error and no harmful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tested three levels of customer support on the same 1,024 requests. Level 2 serves 728, stops 235, and makes 61 errors. Level 3 serves 776, stops 248, and makes no error. Level 3 is 1.8 times faster and 2.1 times cheaper, and it makes fewer errors: it was never wrong where Level 2 was right, and Level 2 was wrong on 61 requests where it was right. Jev needs a question that we write for each rule. The next step is real tickets and a larger set of requests.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24-3.png"/><Relationship Id="rId3" Type="http://schemas.openxmlformats.org/officeDocument/2006/relationships/image" Target="../media/image-10-4.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8-2.png"/><Relationship Id="rId3" Type="http://schemas.openxmlformats.org/officeDocument/2006/relationships/image" Target="../media/image-10-5.png"/><Relationship Id="rId4" Type="http://schemas.openxmlformats.org/officeDocument/2006/relationships/image" Target="../media/image-22-3.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1-1.png"/><Relationship Id="rId6" Type="http://schemas.openxmlformats.org/officeDocument/2006/relationships/image" Target="../media/image-21-2.png"/><Relationship Id="rId7" Type="http://schemas.openxmlformats.org/officeDocument/2006/relationships/image" Target="../media/image-1-3.png"/><Relationship Id="rId8" Type="http://schemas.openxmlformats.org/officeDocument/2006/relationships/image" Target="../media/image-10-1.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4.png"/><Relationship Id="rId3" Type="http://schemas.openxmlformats.org/officeDocument/2006/relationships/image" Target="../media/image-21-3.png"/><Relationship Id="rId4" Type="http://schemas.openxmlformats.org/officeDocument/2006/relationships/image" Target="../media/image-22-3.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2-3.png"/><Relationship Id="rId5" Type="http://schemas.openxmlformats.org/officeDocument/2006/relationships/image" Target="../media/image-23-5.png"/><Relationship Id="rId6" Type="http://schemas.openxmlformats.org/officeDocument/2006/relationships/image" Target="../media/image-21-1.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1-3.png"/><Relationship Id="rId2" Type="http://schemas.openxmlformats.org/officeDocument/2006/relationships/image" Target="../media/image-1-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3-2.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10-4.png"/><Relationship Id="rId3" Type="http://schemas.openxmlformats.org/officeDocument/2006/relationships/image" Target="../media/image-14-9.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24-3.png"/><Relationship Id="rId3" Type="http://schemas.openxmlformats.org/officeDocument/2006/relationships/image" Target="../media/image-23-1.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 packs expire in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four answers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no rule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a rule is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337560"/>
            <a:ext cx="2966618"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the fields of the action</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code. </a:t>
            </a:r>
            <a:pPr algn="l" indent="0" marL="0">
              <a:buNone/>
            </a:pPr>
            <a:r>
              <a:rPr lang="en-US" sz="1800" dirty="0">
                <a:solidFill>
                  <a:srgbClr val="FFFFFF"/>
                </a:solidFill>
                <a:latin typeface="Calibri" pitchFamily="34" charset="0"/>
                <a:ea typeface="Calibri" pitchFamily="34" charset="-122"/>
                <a:cs typeface="Calibri" pitchFamily="34" charset="-120"/>
              </a:rPr>
              <a:t>A fixed table picks the account lines of the action; Jev answers each rule.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answers four questions, then one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Jev answers four questions</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answers: </a:t>
            </a:r>
            <a:pPr algn="l" indent="0" marL="0">
              <a:buNone/>
            </a:pPr>
            <a:r>
              <a:rPr lang="en-US" sz="1800" dirty="0">
                <a:solidFill>
                  <a:srgbClr val="FFFFFF"/>
                </a:solidFill>
                <a:latin typeface="Calibri" pitchFamily="34" charset="0"/>
                <a:ea typeface="Calibri" pitchFamily="34" charset="-122"/>
                <a:cs typeface="Calibri" pitchFamily="34" charset="-120"/>
              </a:rPr>
              <a:t>no broken rule runs the action; a broken rule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0.94</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0.83</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$21 started for Pro plan, monthly (FF-10016).</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monthly (purchase FF-10016) was approved and a refund of $21 has started.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$300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so the $300 charge for credit pack FF-10048 stays as paid. This chat cannot start a refund above $100, and that is why no refund was started even though the pack's credits are unused. The help articles give no step you can take on your own for this refund.”</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0.82</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0.60</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0.49</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0.77</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start a refund above $100 in this chat, and your only charge is FF-10070, the annual Pro plan at $191 (charged 2026-09-21). This limit means you'd need to take that request elsewhere. I don't know what other route is available for it.”</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"Refunds and cancelling" and "Payments and invoices",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37744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8" name="Text 4"/>
          <p:cNvSpPr/>
          <p:nvPr/>
        </p:nvSpPr>
        <p:spPr>
          <a:xfrm>
            <a:off x="1600200" y="23774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plan, an annual plan, or a credit pack</a:t>
            </a:r>
            <a:endParaRPr lang="en-US" sz="1700" dirty="0"/>
          </a:p>
        </p:txBody>
      </p:sp>
      <p:sp>
        <p:nvSpPr>
          <p:cNvPr id="9" name="Shape 5"/>
          <p:cNvSpPr/>
          <p:nvPr/>
        </p:nvSpPr>
        <p:spPr>
          <a:xfrm>
            <a:off x="822960" y="3291840"/>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412541"/>
            <a:ext cx="307238" cy="307238"/>
          </a:xfrm>
          <a:prstGeom prst="rect">
            <a:avLst/>
          </a:prstGeom>
        </p:spPr>
      </p:pic>
      <p:sp>
        <p:nvSpPr>
          <p:cNvPr id="11" name="Text 6"/>
          <p:cNvSpPr/>
          <p:nvPr/>
        </p:nvSpPr>
        <p:spPr>
          <a:xfrm>
            <a:off x="1600200" y="32918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4206240"/>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4326941"/>
            <a:ext cx="307238" cy="307238"/>
          </a:xfrm>
          <a:prstGeom prst="rect">
            <a:avLst/>
          </a:prstGeom>
        </p:spPr>
      </p:pic>
      <p:sp>
        <p:nvSpPr>
          <p:cNvPr id="14" name="Text 8"/>
          <p:cNvSpPr/>
          <p:nvPr/>
        </p:nvSpPr>
        <p:spPr>
          <a:xfrm>
            <a:off x="1600200" y="42062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5120640"/>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5241341"/>
            <a:ext cx="307238" cy="307238"/>
          </a:xfrm>
          <a:prstGeom prst="rect">
            <a:avLst/>
          </a:prstGeom>
        </p:spPr>
      </p:pic>
      <p:sp>
        <p:nvSpPr>
          <p:cNvPr id="17" name="Text 10"/>
          <p:cNvSpPr/>
          <p:nvPr/>
        </p:nvSpPr>
        <p:spPr>
          <a:xfrm>
            <a:off x="1600200" y="51206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6583680" y="1463040"/>
            <a:ext cx="2392528" cy="2148840"/>
          </a:xfrm>
          <a:prstGeom prst="roundRect">
            <a:avLst>
              <a:gd name="adj" fmla="val 3404"/>
            </a:avLst>
          </a:prstGeom>
          <a:solidFill>
            <a:srgbClr val="FFFFFF"/>
          </a:solidFill>
          <a:ln/>
        </p:spPr>
      </p:sp>
      <p:sp>
        <p:nvSpPr>
          <p:cNvPr id="19" name="Shape 12"/>
          <p:cNvSpPr/>
          <p:nvPr/>
        </p:nvSpPr>
        <p:spPr>
          <a:xfrm>
            <a:off x="6858000" y="1719072"/>
            <a:ext cx="685800" cy="685800"/>
          </a:xfrm>
          <a:prstGeom prst="ellipse">
            <a:avLst/>
          </a:prstGeom>
          <a:solidFill>
            <a:srgbClr val="2F5F98"/>
          </a:solidFill>
          <a:ln w="12700">
            <a:solidFill>
              <a:srgbClr val="2F5F98"/>
            </a:solidFill>
            <a:prstDash val="solid"/>
          </a:ln>
        </p:spPr>
      </p:sp>
      <p:pic>
        <p:nvPicPr>
          <p:cNvPr id="20" name="Image 4" descr="preencoded.png">    </p:cNvPr>
          <p:cNvPicPr>
            <a:picLocks noChangeAspect="1"/>
          </p:cNvPicPr>
          <p:nvPr/>
        </p:nvPicPr>
        <p:blipFill>
          <a:blip r:embed="rId5"/>
          <a:stretch>
            <a:fillRect/>
          </a:stretch>
        </p:blipFill>
        <p:spPr>
          <a:xfrm>
            <a:off x="7008876" y="1869948"/>
            <a:ext cx="384048" cy="384048"/>
          </a:xfrm>
          <a:prstGeom prst="rect">
            <a:avLst/>
          </a:prstGeom>
        </p:spPr>
      </p:pic>
      <p:sp>
        <p:nvSpPr>
          <p:cNvPr id="21" name="Text 13"/>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512</a:t>
            </a:r>
            <a:endParaRPr lang="en-US" sz="3000" dirty="0"/>
          </a:p>
        </p:txBody>
      </p:sp>
      <p:sp>
        <p:nvSpPr>
          <p:cNvPr id="22" name="Text 14"/>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3" name="Shape 15"/>
          <p:cNvSpPr/>
          <p:nvPr/>
        </p:nvSpPr>
        <p:spPr>
          <a:xfrm>
            <a:off x="9250528" y="1463040"/>
            <a:ext cx="2392528" cy="2148840"/>
          </a:xfrm>
          <a:prstGeom prst="roundRect">
            <a:avLst>
              <a:gd name="adj" fmla="val 3404"/>
            </a:avLst>
          </a:prstGeom>
          <a:solidFill>
            <a:srgbClr val="FFFFFF"/>
          </a:solidFill>
          <a:ln/>
        </p:spPr>
      </p:sp>
      <p:sp>
        <p:nvSpPr>
          <p:cNvPr id="24" name="Shape 16"/>
          <p:cNvSpPr/>
          <p:nvPr/>
        </p:nvSpPr>
        <p:spPr>
          <a:xfrm>
            <a:off x="9524848" y="1719072"/>
            <a:ext cx="685800" cy="685800"/>
          </a:xfrm>
          <a:prstGeom prst="ellipse">
            <a:avLst/>
          </a:prstGeom>
          <a:solidFill>
            <a:srgbClr val="2F5F98"/>
          </a:solidFill>
          <a:ln w="12700">
            <a:solidFill>
              <a:srgbClr val="2F5F98"/>
            </a:solidFill>
            <a:prstDash val="solid"/>
          </a:ln>
        </p:spPr>
      </p:sp>
      <p:pic>
        <p:nvPicPr>
          <p:cNvPr id="25" name="Image 5" descr="preencoded.png">    </p:cNvPr>
          <p:cNvPicPr>
            <a:picLocks noChangeAspect="1"/>
          </p:cNvPicPr>
          <p:nvPr/>
        </p:nvPicPr>
        <p:blipFill>
          <a:blip r:embed="rId6"/>
          <a:stretch>
            <a:fillRect/>
          </a:stretch>
        </p:blipFill>
        <p:spPr>
          <a:xfrm>
            <a:off x="9675724" y="1869948"/>
            <a:ext cx="384048" cy="384048"/>
          </a:xfrm>
          <a:prstGeom prst="rect">
            <a:avLst/>
          </a:prstGeom>
        </p:spPr>
      </p:pic>
      <p:sp>
        <p:nvSpPr>
          <p:cNvPr id="26" name="Text 17"/>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1,024</a:t>
            </a:r>
            <a:endParaRPr lang="en-US" sz="3000" dirty="0"/>
          </a:p>
        </p:txBody>
      </p:sp>
      <p:sp>
        <p:nvSpPr>
          <p:cNvPr id="27" name="Text 18"/>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28" name="Shape 19"/>
          <p:cNvSpPr/>
          <p:nvPr/>
        </p:nvSpPr>
        <p:spPr>
          <a:xfrm>
            <a:off x="6583680" y="3886200"/>
            <a:ext cx="2392528" cy="2148840"/>
          </a:xfrm>
          <a:prstGeom prst="roundRect">
            <a:avLst>
              <a:gd name="adj" fmla="val 3404"/>
            </a:avLst>
          </a:prstGeom>
          <a:solidFill>
            <a:srgbClr val="FFFFFF"/>
          </a:solidFill>
          <a:ln/>
        </p:spPr>
      </p:sp>
      <p:sp>
        <p:nvSpPr>
          <p:cNvPr id="29" name="Shape 20"/>
          <p:cNvSpPr/>
          <p:nvPr/>
        </p:nvSpPr>
        <p:spPr>
          <a:xfrm>
            <a:off x="6858000" y="4142232"/>
            <a:ext cx="685800" cy="685800"/>
          </a:xfrm>
          <a:prstGeom prst="ellipse">
            <a:avLst/>
          </a:prstGeom>
          <a:solidFill>
            <a:srgbClr val="2F5F98"/>
          </a:solidFill>
          <a:ln w="12700">
            <a:solidFill>
              <a:srgbClr val="2F5F98"/>
            </a:solidFill>
            <a:prstDash val="solid"/>
          </a:ln>
        </p:spPr>
      </p:sp>
      <p:pic>
        <p:nvPicPr>
          <p:cNvPr id="30" name="Image 6" descr="preencoded.png">    </p:cNvPr>
          <p:cNvPicPr>
            <a:picLocks noChangeAspect="1"/>
          </p:cNvPicPr>
          <p:nvPr/>
        </p:nvPicPr>
        <p:blipFill>
          <a:blip r:embed="rId7"/>
          <a:stretch>
            <a:fillRect/>
          </a:stretch>
        </p:blipFill>
        <p:spPr>
          <a:xfrm>
            <a:off x="7008876" y="4293108"/>
            <a:ext cx="384048" cy="384048"/>
          </a:xfrm>
          <a:prstGeom prst="rect">
            <a:avLst/>
          </a:prstGeom>
        </p:spPr>
      </p:pic>
      <p:sp>
        <p:nvSpPr>
          <p:cNvPr id="31" name="Text 21"/>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21</a:t>
            </a:r>
            <a:endParaRPr lang="en-US" sz="3000" dirty="0"/>
          </a:p>
        </p:txBody>
      </p:sp>
      <p:sp>
        <p:nvSpPr>
          <p:cNvPr id="32" name="Text 22"/>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3" name="Shape 23"/>
          <p:cNvSpPr/>
          <p:nvPr/>
        </p:nvSpPr>
        <p:spPr>
          <a:xfrm>
            <a:off x="9250528" y="3886200"/>
            <a:ext cx="2392528" cy="2148840"/>
          </a:xfrm>
          <a:prstGeom prst="roundRect">
            <a:avLst>
              <a:gd name="adj" fmla="val 3404"/>
            </a:avLst>
          </a:prstGeom>
          <a:solidFill>
            <a:srgbClr val="FFFFFF"/>
          </a:solidFill>
          <a:ln/>
        </p:spPr>
      </p:sp>
      <p:sp>
        <p:nvSpPr>
          <p:cNvPr id="34" name="Shape 24"/>
          <p:cNvSpPr/>
          <p:nvPr/>
        </p:nvSpPr>
        <p:spPr>
          <a:xfrm>
            <a:off x="9524848" y="4142232"/>
            <a:ext cx="685800" cy="685800"/>
          </a:xfrm>
          <a:prstGeom prst="ellipse">
            <a:avLst/>
          </a:prstGeom>
          <a:solidFill>
            <a:srgbClr val="2F5F98"/>
          </a:solidFill>
          <a:ln w="12700">
            <a:solidFill>
              <a:srgbClr val="2F5F98"/>
            </a:solidFill>
            <a:prstDash val="solid"/>
          </a:ln>
        </p:spPr>
      </p:sp>
      <p:pic>
        <p:nvPicPr>
          <p:cNvPr id="35" name="Image 7" descr="preencoded.png">    </p:cNvPr>
          <p:cNvPicPr>
            <a:picLocks noChangeAspect="1"/>
          </p:cNvPicPr>
          <p:nvPr/>
        </p:nvPicPr>
        <p:blipFill>
          <a:blip r:embed="rId8"/>
          <a:stretch>
            <a:fillRect/>
          </a:stretch>
        </p:blipFill>
        <p:spPr>
          <a:xfrm>
            <a:off x="9675724" y="4293108"/>
            <a:ext cx="384048" cy="384048"/>
          </a:xfrm>
          <a:prstGeom prst="rect">
            <a:avLst/>
          </a:prstGeom>
        </p:spPr>
      </p:pic>
      <p:sp>
        <p:nvSpPr>
          <p:cNvPr id="36" name="Text 25"/>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 to 3</a:t>
            </a:r>
            <a:endParaRPr lang="en-US" sz="3000" dirty="0"/>
          </a:p>
        </p:txBody>
      </p:sp>
      <p:sp>
        <p:nvSpPr>
          <p:cNvPr id="37" name="Text 26"/>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from each customer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1,024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248 of 1,024</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48 attacks</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Sign test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errors of the two levels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3515258"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1,024</a:t>
            </a:r>
            <a:endParaRPr lang="en-US" sz="3200" dirty="0"/>
          </a:p>
        </p:txBody>
      </p:sp>
      <p:sp>
        <p:nvSpPr>
          <p:cNvPr id="8" name="Text 4"/>
          <p:cNvSpPr/>
          <p:nvPr/>
        </p:nvSpPr>
        <p:spPr>
          <a:xfrm>
            <a:off x="822960"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at every level: staff, the LLM agent, and Jev</a:t>
            </a:r>
            <a:endParaRPr lang="en-US" sz="1500" dirty="0"/>
          </a:p>
        </p:txBody>
      </p:sp>
      <p:sp>
        <p:nvSpPr>
          <p:cNvPr id="9" name="Shape 5"/>
          <p:cNvSpPr/>
          <p:nvPr/>
        </p:nvSpPr>
        <p:spPr>
          <a:xfrm>
            <a:off x="4338218" y="1417320"/>
            <a:ext cx="3515258" cy="1691640"/>
          </a:xfrm>
          <a:prstGeom prst="roundRect">
            <a:avLst>
              <a:gd name="adj" fmla="val 4324"/>
            </a:avLst>
          </a:prstGeom>
          <a:solidFill>
            <a:srgbClr val="FFFFFF"/>
          </a:solidFill>
          <a:ln/>
        </p:spPr>
      </p:sp>
      <p:sp>
        <p:nvSpPr>
          <p:cNvPr id="10" name="Shape 6"/>
          <p:cNvSpPr/>
          <p:nvPr/>
        </p:nvSpPr>
        <p:spPr>
          <a:xfrm>
            <a:off x="4612538"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63414" y="1824228"/>
            <a:ext cx="384048" cy="384048"/>
          </a:xfrm>
          <a:prstGeom prst="rect">
            <a:avLst/>
          </a:prstGeom>
        </p:spPr>
      </p:pic>
      <p:sp>
        <p:nvSpPr>
          <p:cNvPr id="12" name="Text 7"/>
          <p:cNvSpPr/>
          <p:nvPr/>
        </p:nvSpPr>
        <p:spPr>
          <a:xfrm>
            <a:off x="5526938"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1,434</a:t>
            </a:r>
            <a:endParaRPr lang="en-US" sz="3200" dirty="0"/>
          </a:p>
        </p:txBody>
      </p:sp>
      <p:sp>
        <p:nvSpPr>
          <p:cNvPr id="13" name="Text 8"/>
          <p:cNvSpPr/>
          <p:nvPr/>
        </p:nvSpPr>
        <p:spPr>
          <a:xfrm>
            <a:off x="4612538"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calls: one per request, plus a second call on 410</a:t>
            </a:r>
            <a:endParaRPr lang="en-US" sz="1500" dirty="0"/>
          </a:p>
        </p:txBody>
      </p:sp>
      <p:sp>
        <p:nvSpPr>
          <p:cNvPr id="14" name="Shape 9"/>
          <p:cNvSpPr/>
          <p:nvPr/>
        </p:nvSpPr>
        <p:spPr>
          <a:xfrm>
            <a:off x="8127797" y="1417320"/>
            <a:ext cx="3515258" cy="1691640"/>
          </a:xfrm>
          <a:prstGeom prst="roundRect">
            <a:avLst>
              <a:gd name="adj" fmla="val 4324"/>
            </a:avLst>
          </a:prstGeom>
          <a:solidFill>
            <a:srgbClr val="FFFFFF"/>
          </a:solidFill>
          <a:ln/>
        </p:spPr>
      </p:sp>
      <p:sp>
        <p:nvSpPr>
          <p:cNvPr id="15" name="Shape 10"/>
          <p:cNvSpPr/>
          <p:nvPr/>
        </p:nvSpPr>
        <p:spPr>
          <a:xfrm>
            <a:off x="8402117"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52993" y="1824228"/>
            <a:ext cx="384048" cy="384048"/>
          </a:xfrm>
          <a:prstGeom prst="rect">
            <a:avLst/>
          </a:prstGeom>
        </p:spPr>
      </p:pic>
      <p:sp>
        <p:nvSpPr>
          <p:cNvPr id="17" name="Text 11"/>
          <p:cNvSpPr/>
          <p:nvPr/>
        </p:nvSpPr>
        <p:spPr>
          <a:xfrm>
            <a:off x="9316517"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2,458</a:t>
            </a:r>
            <a:endParaRPr lang="en-US" sz="3200" dirty="0"/>
          </a:p>
        </p:txBody>
      </p:sp>
      <p:sp>
        <p:nvSpPr>
          <p:cNvPr id="18" name="Text 12"/>
          <p:cNvSpPr/>
          <p:nvPr/>
        </p:nvSpPr>
        <p:spPr>
          <a:xfrm>
            <a:off x="8402117"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at Level 3: 1,434 to Jev and 1,024 to the LLM</a:t>
            </a:r>
            <a:endParaRPr lang="en-US" sz="1500" dirty="0"/>
          </a:p>
        </p:txBody>
      </p:sp>
      <p:sp>
        <p:nvSpPr>
          <p:cNvPr id="19" name="Shape 13"/>
          <p:cNvSpPr/>
          <p:nvPr/>
        </p:nvSpPr>
        <p:spPr>
          <a:xfrm>
            <a:off x="548640" y="3566160"/>
            <a:ext cx="11094415" cy="1371600"/>
          </a:xfrm>
          <a:prstGeom prst="roundRect">
            <a:avLst>
              <a:gd name="adj" fmla="val 5333"/>
            </a:avLst>
          </a:prstGeom>
          <a:solidFill>
            <a:srgbClr val="FFFFFF"/>
          </a:solidFill>
          <a:ln/>
        </p:spPr>
      </p:sp>
      <p:sp>
        <p:nvSpPr>
          <p:cNvPr id="20" name="Text 14"/>
          <p:cNvSpPr/>
          <p:nvPr/>
        </p:nvSpPr>
        <p:spPr>
          <a:xfrm>
            <a:off x="868680" y="3931920"/>
            <a:ext cx="1005840" cy="640080"/>
          </a:xfrm>
          <a:prstGeom prst="roundRect">
            <a:avLst>
              <a:gd name="adj" fmla="val 11429"/>
            </a:avLst>
          </a:prstGeom>
          <a:solidFill>
            <a:srgbClr val="2F5F98"/>
          </a:solidFill>
          <a:ln w="12700">
            <a:solidFill>
              <a:srgbClr val="2F5F98"/>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Q1</a:t>
            </a:r>
            <a:endParaRPr lang="en-US" sz="2400" dirty="0"/>
          </a:p>
        </p:txBody>
      </p:sp>
      <p:sp>
        <p:nvSpPr>
          <p:cNvPr id="21" name="Text 15"/>
          <p:cNvSpPr/>
          <p:nvPr/>
        </p:nvSpPr>
        <p:spPr>
          <a:xfrm>
            <a:off x="2240280" y="3566160"/>
            <a:ext cx="9128455" cy="1371600"/>
          </a:xfrm>
          <a:prstGeom prst="rect">
            <a:avLst/>
          </a:prstGeom>
          <a:noFill/>
          <a:ln/>
        </p:spPr>
        <p:txBody>
          <a:bodyPr wrap="square" lIns="0" tIns="0" rIns="0" bIns="0" rtlCol="0" anchor="ctr"/>
          <a:lstStyle/>
          <a:p>
            <a:pPr algn="l" indent="0" marL="0">
              <a:buNone/>
            </a:pPr>
            <a:r>
              <a:rPr lang="en-US" sz="24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2400" dirty="0"/>
          </a:p>
        </p:txBody>
      </p:sp>
      <p:sp>
        <p:nvSpPr>
          <p:cNvPr id="22" name="Text 16"/>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Every interval is a 95% interval.</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reads less, so it costs about half</a:t>
            </a:r>
            <a:endParaRPr lang="en-US" sz="3400" dirty="0"/>
          </a:p>
        </p:txBody>
      </p:sp>
      <p:sp>
        <p:nvSpPr>
          <p:cNvPr id="4" name="Shape 1"/>
          <p:cNvSpPr/>
          <p:nvPr/>
        </p:nvSpPr>
        <p:spPr>
          <a:xfrm>
            <a:off x="548640" y="1463040"/>
            <a:ext cx="5410048" cy="3291840"/>
          </a:xfrm>
          <a:prstGeom prst="roundRect">
            <a:avLst>
              <a:gd name="adj" fmla="val 2222"/>
            </a:avLst>
          </a:prstGeom>
          <a:solidFill>
            <a:srgbClr val="FFFFFF"/>
          </a:solidFill>
          <a:ln/>
        </p:spPr>
      </p:sp>
      <p:sp>
        <p:nvSpPr>
          <p:cNvPr id="5" name="Shape 2"/>
          <p:cNvSpPr/>
          <p:nvPr/>
        </p:nvSpPr>
        <p:spPr>
          <a:xfrm>
            <a:off x="868680" y="1691640"/>
            <a:ext cx="594360" cy="594360"/>
          </a:xfrm>
          <a:prstGeom prst="ellipse">
            <a:avLst/>
          </a:prstGeom>
          <a:solidFill>
            <a:srgbClr val="4A82B8"/>
          </a:solidFill>
          <a:ln w="12700">
            <a:solidFill>
              <a:srgbClr val="4A82B8"/>
            </a:solidFill>
            <a:prstDash val="solid"/>
          </a:ln>
        </p:spPr>
      </p:sp>
      <p:pic>
        <p:nvPicPr>
          <p:cNvPr id="6" name="Image 0" descr="preencoded.png">    </p:cNvPr>
          <p:cNvPicPr>
            <a:picLocks noChangeAspect="1"/>
          </p:cNvPicPr>
          <p:nvPr/>
        </p:nvPicPr>
        <p:blipFill>
          <a:blip r:embed="rId1"/>
          <a:stretch>
            <a:fillRect/>
          </a:stretch>
        </p:blipFill>
        <p:spPr>
          <a:xfrm>
            <a:off x="999439" y="1822399"/>
            <a:ext cx="332842" cy="332842"/>
          </a:xfrm>
          <a:prstGeom prst="rect">
            <a:avLst/>
          </a:prstGeom>
        </p:spPr>
      </p:pic>
      <p:sp>
        <p:nvSpPr>
          <p:cNvPr id="7" name="Text 3"/>
          <p:cNvSpPr/>
          <p:nvPr/>
        </p:nvSpPr>
        <p:spPr>
          <a:xfrm>
            <a:off x="1645920"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8" name="Text 4"/>
          <p:cNvSpPr/>
          <p:nvPr/>
        </p:nvSpPr>
        <p:spPr>
          <a:xfrm>
            <a:off x="868680" y="2377440"/>
            <a:ext cx="2103120" cy="868680"/>
          </a:xfrm>
          <a:prstGeom prst="rect">
            <a:avLst/>
          </a:prstGeom>
          <a:noFill/>
          <a:ln/>
        </p:spPr>
        <p:txBody>
          <a:bodyPr wrap="square" lIns="0" tIns="0" rIns="0" bIns="0" rtlCol="0" anchor="ctr"/>
          <a:lstStyle/>
          <a:p>
            <a:pPr algn="l" indent="0" marL="0">
              <a:buNone/>
            </a:pPr>
            <a:r>
              <a:rPr lang="en-US" sz="5400" b="1" dirty="0">
                <a:solidFill>
                  <a:srgbClr val="4A82B8"/>
                </a:solidFill>
                <a:latin typeface="Calibri" pitchFamily="34" charset="0"/>
                <a:ea typeface="Calibri" pitchFamily="34" charset="-122"/>
                <a:cs typeface="Calibri" pitchFamily="34" charset="-120"/>
              </a:rPr>
              <a:t>$0.61</a:t>
            </a:r>
            <a:endParaRPr lang="en-US" sz="5400" dirty="0"/>
          </a:p>
        </p:txBody>
      </p:sp>
      <p:sp>
        <p:nvSpPr>
          <p:cNvPr id="9" name="Text 5"/>
          <p:cNvSpPr/>
          <p:nvPr/>
        </p:nvSpPr>
        <p:spPr>
          <a:xfrm>
            <a:off x="3017520"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0" name="Shape 6"/>
          <p:cNvSpPr/>
          <p:nvPr/>
        </p:nvSpPr>
        <p:spPr>
          <a:xfrm>
            <a:off x="868680" y="3337560"/>
            <a:ext cx="4769968" cy="274320"/>
          </a:xfrm>
          <a:prstGeom prst="roundRect">
            <a:avLst>
              <a:gd name="adj" fmla="val 16667"/>
            </a:avLst>
          </a:prstGeom>
          <a:solidFill>
            <a:srgbClr val="E9EDF2"/>
          </a:solidFill>
          <a:ln w="12700">
            <a:solidFill>
              <a:srgbClr val="E9EDF2"/>
            </a:solidFill>
            <a:prstDash val="solid"/>
          </a:ln>
        </p:spPr>
      </p:sp>
      <p:sp>
        <p:nvSpPr>
          <p:cNvPr id="11" name="Shape 7"/>
          <p:cNvSpPr/>
          <p:nvPr/>
        </p:nvSpPr>
        <p:spPr>
          <a:xfrm>
            <a:off x="868680" y="3337560"/>
            <a:ext cx="4769968" cy="274320"/>
          </a:xfrm>
          <a:prstGeom prst="roundRect">
            <a:avLst>
              <a:gd name="adj" fmla="val 16667"/>
            </a:avLst>
          </a:prstGeom>
          <a:solidFill>
            <a:srgbClr val="4A82B8"/>
          </a:solidFill>
          <a:ln w="12700">
            <a:solidFill>
              <a:srgbClr val="4A82B8"/>
            </a:solidFill>
            <a:prstDash val="solid"/>
          </a:ln>
        </p:spPr>
      </p:sp>
      <p:sp>
        <p:nvSpPr>
          <p:cNvPr id="12" name="Text 8"/>
          <p:cNvSpPr/>
          <p:nvPr/>
        </p:nvSpPr>
        <p:spPr>
          <a:xfrm>
            <a:off x="86868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3" name="Text 9"/>
          <p:cNvSpPr/>
          <p:nvPr/>
        </p:nvSpPr>
        <p:spPr>
          <a:xfrm>
            <a:off x="228600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4" name="Text 10"/>
          <p:cNvSpPr/>
          <p:nvPr/>
        </p:nvSpPr>
        <p:spPr>
          <a:xfrm>
            <a:off x="3749040"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15" name="Text 11"/>
          <p:cNvSpPr/>
          <p:nvPr/>
        </p:nvSpPr>
        <p:spPr>
          <a:xfrm>
            <a:off x="868680"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whole account and all the rules</a:t>
            </a:r>
            <a:endParaRPr lang="en-US" sz="1600" dirty="0"/>
          </a:p>
        </p:txBody>
      </p:sp>
      <p:sp>
        <p:nvSpPr>
          <p:cNvPr id="16" name="Shape 12"/>
          <p:cNvSpPr/>
          <p:nvPr/>
        </p:nvSpPr>
        <p:spPr>
          <a:xfrm>
            <a:off x="6233008" y="1463040"/>
            <a:ext cx="5410048" cy="3291840"/>
          </a:xfrm>
          <a:prstGeom prst="roundRect">
            <a:avLst>
              <a:gd name="adj" fmla="val 2222"/>
            </a:avLst>
          </a:prstGeom>
          <a:solidFill>
            <a:srgbClr val="FFFFFF"/>
          </a:solidFill>
          <a:ln/>
        </p:spPr>
      </p:sp>
      <p:sp>
        <p:nvSpPr>
          <p:cNvPr id="17" name="Shape 13"/>
          <p:cNvSpPr/>
          <p:nvPr/>
        </p:nvSpPr>
        <p:spPr>
          <a:xfrm>
            <a:off x="6553048" y="1691640"/>
            <a:ext cx="594360" cy="594360"/>
          </a:xfrm>
          <a:prstGeom prst="ellipse">
            <a:avLst/>
          </a:prstGeom>
          <a:solidFill>
            <a:srgbClr val="234B84"/>
          </a:solidFill>
          <a:ln w="12700">
            <a:solidFill>
              <a:srgbClr val="234B84"/>
            </a:solidFill>
            <a:prstDash val="solid"/>
          </a:ln>
        </p:spPr>
      </p:sp>
      <p:pic>
        <p:nvPicPr>
          <p:cNvPr id="18" name="Image 1" descr="preencoded.png">    </p:cNvPr>
          <p:cNvPicPr>
            <a:picLocks noChangeAspect="1"/>
          </p:cNvPicPr>
          <p:nvPr/>
        </p:nvPicPr>
        <p:blipFill>
          <a:blip r:embed="rId2"/>
          <a:stretch>
            <a:fillRect/>
          </a:stretch>
        </p:blipFill>
        <p:spPr>
          <a:xfrm>
            <a:off x="6683807" y="1822399"/>
            <a:ext cx="332842" cy="332842"/>
          </a:xfrm>
          <a:prstGeom prst="rect">
            <a:avLst/>
          </a:prstGeom>
        </p:spPr>
      </p:pic>
      <p:sp>
        <p:nvSpPr>
          <p:cNvPr id="19" name="Text 14"/>
          <p:cNvSpPr/>
          <p:nvPr/>
        </p:nvSpPr>
        <p:spPr>
          <a:xfrm>
            <a:off x="7330288"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0" name="Text 15"/>
          <p:cNvSpPr/>
          <p:nvPr/>
        </p:nvSpPr>
        <p:spPr>
          <a:xfrm>
            <a:off x="6553048" y="2377440"/>
            <a:ext cx="2103120" cy="86868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$0.29</a:t>
            </a:r>
            <a:endParaRPr lang="en-US" sz="5400" dirty="0"/>
          </a:p>
        </p:txBody>
      </p:sp>
      <p:sp>
        <p:nvSpPr>
          <p:cNvPr id="21" name="Text 16"/>
          <p:cNvSpPr/>
          <p:nvPr/>
        </p:nvSpPr>
        <p:spPr>
          <a:xfrm>
            <a:off x="8701888"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2" name="Shape 17"/>
          <p:cNvSpPr/>
          <p:nvPr/>
        </p:nvSpPr>
        <p:spPr>
          <a:xfrm>
            <a:off x="6553048" y="3337560"/>
            <a:ext cx="4769968" cy="274320"/>
          </a:xfrm>
          <a:prstGeom prst="roundRect">
            <a:avLst>
              <a:gd name="adj" fmla="val 16667"/>
            </a:avLst>
          </a:prstGeom>
          <a:solidFill>
            <a:srgbClr val="E9EDF2"/>
          </a:solidFill>
          <a:ln w="12700">
            <a:solidFill>
              <a:srgbClr val="E9EDF2"/>
            </a:solidFill>
            <a:prstDash val="solid"/>
          </a:ln>
        </p:spPr>
      </p:sp>
      <p:sp>
        <p:nvSpPr>
          <p:cNvPr id="23" name="Shape 18"/>
          <p:cNvSpPr/>
          <p:nvPr/>
        </p:nvSpPr>
        <p:spPr>
          <a:xfrm>
            <a:off x="6553048" y="3337560"/>
            <a:ext cx="2267690" cy="274320"/>
          </a:xfrm>
          <a:prstGeom prst="roundRect">
            <a:avLst>
              <a:gd name="adj" fmla="val 16667"/>
            </a:avLst>
          </a:prstGeom>
          <a:solidFill>
            <a:srgbClr val="234B84"/>
          </a:solidFill>
          <a:ln w="12700">
            <a:solidFill>
              <a:srgbClr val="234B84"/>
            </a:solidFill>
            <a:prstDash val="solid"/>
          </a:ln>
        </p:spPr>
      </p:sp>
      <p:sp>
        <p:nvSpPr>
          <p:cNvPr id="24" name="Text 19"/>
          <p:cNvSpPr/>
          <p:nvPr/>
        </p:nvSpPr>
        <p:spPr>
          <a:xfrm>
            <a:off x="6553048" y="379476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1.4</a:t>
            </a:r>
            <a:endParaRPr lang="en-US" sz="1400" dirty="0"/>
          </a:p>
        </p:txBody>
      </p:sp>
      <p:sp>
        <p:nvSpPr>
          <p:cNvPr id="25" name="Text 20"/>
          <p:cNvSpPr/>
          <p:nvPr/>
        </p:nvSpPr>
        <p:spPr>
          <a:xfrm>
            <a:off x="8519008"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6" name="Text 21"/>
          <p:cNvSpPr/>
          <p:nvPr/>
        </p:nvSpPr>
        <p:spPr>
          <a:xfrm>
            <a:off x="9982048"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7" name="Text 22"/>
          <p:cNvSpPr/>
          <p:nvPr/>
        </p:nvSpPr>
        <p:spPr>
          <a:xfrm>
            <a:off x="6553048"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28" name="Shape 23"/>
          <p:cNvSpPr/>
          <p:nvPr/>
        </p:nvSpPr>
        <p:spPr>
          <a:xfrm>
            <a:off x="548640" y="4983480"/>
            <a:ext cx="11094415" cy="1005840"/>
          </a:xfrm>
          <a:prstGeom prst="roundRect">
            <a:avLst>
              <a:gd name="adj" fmla="val 7273"/>
            </a:avLst>
          </a:prstGeom>
          <a:solidFill>
            <a:srgbClr val="FFFFFF"/>
          </a:solidFill>
          <a:ln/>
        </p:spPr>
      </p:sp>
      <p:sp>
        <p:nvSpPr>
          <p:cNvPr id="29" name="Shape 24"/>
          <p:cNvSpPr/>
          <p:nvPr/>
        </p:nvSpPr>
        <p:spPr>
          <a:xfrm>
            <a:off x="868680" y="5212080"/>
            <a:ext cx="548640" cy="548640"/>
          </a:xfrm>
          <a:prstGeom prst="ellipse">
            <a:avLst/>
          </a:prstGeom>
          <a:solidFill>
            <a:srgbClr val="234B84"/>
          </a:solidFill>
          <a:ln w="12700">
            <a:solidFill>
              <a:srgbClr val="234B84"/>
            </a:solidFill>
            <a:prstDash val="solid"/>
          </a:ln>
        </p:spPr>
      </p:sp>
      <p:pic>
        <p:nvPicPr>
          <p:cNvPr id="30" name="Image 2" descr="preencoded.png">    </p:cNvPr>
          <p:cNvPicPr>
            <a:picLocks noChangeAspect="1"/>
          </p:cNvPicPr>
          <p:nvPr/>
        </p:nvPicPr>
        <p:blipFill>
          <a:blip r:embed="rId3"/>
          <a:stretch>
            <a:fillRect/>
          </a:stretch>
        </p:blipFill>
        <p:spPr>
          <a:xfrm>
            <a:off x="989381" y="5332781"/>
            <a:ext cx="307238" cy="307238"/>
          </a:xfrm>
          <a:prstGeom prst="rect">
            <a:avLst/>
          </a:prstGeom>
        </p:spPr>
      </p:pic>
      <p:sp>
        <p:nvSpPr>
          <p:cNvPr id="31" name="Text 25"/>
          <p:cNvSpPr/>
          <p:nvPr/>
        </p:nvSpPr>
        <p:spPr>
          <a:xfrm>
            <a:off x="1600200"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2" name="Shape 26"/>
          <p:cNvSpPr/>
          <p:nvPr/>
        </p:nvSpPr>
        <p:spPr>
          <a:xfrm>
            <a:off x="6415888" y="5212080"/>
            <a:ext cx="548640" cy="548640"/>
          </a:xfrm>
          <a:prstGeom prst="ellipse">
            <a:avLst/>
          </a:prstGeom>
          <a:solidFill>
            <a:srgbClr val="5F6B7A"/>
          </a:solidFill>
          <a:ln w="12700">
            <a:solidFill>
              <a:srgbClr val="5F6B7A"/>
            </a:solidFill>
            <a:prstDash val="solid"/>
          </a:ln>
        </p:spPr>
      </p:sp>
      <p:pic>
        <p:nvPicPr>
          <p:cNvPr id="33" name="Image 3" descr="preencoded.png">    </p:cNvPr>
          <p:cNvPicPr>
            <a:picLocks noChangeAspect="1"/>
          </p:cNvPicPr>
          <p:nvPr/>
        </p:nvPicPr>
        <p:blipFill>
          <a:blip r:embed="rId4"/>
          <a:stretch>
            <a:fillRect/>
          </a:stretch>
        </p:blipFill>
        <p:spPr>
          <a:xfrm>
            <a:off x="6536588" y="5332781"/>
            <a:ext cx="307238" cy="307238"/>
          </a:xfrm>
          <a:prstGeom prst="rect">
            <a:avLst/>
          </a:prstGeom>
        </p:spPr>
      </p:pic>
      <p:sp>
        <p:nvSpPr>
          <p:cNvPr id="34" name="Text 27"/>
          <p:cNvSpPr/>
          <p:nvPr/>
        </p:nvSpPr>
        <p:spPr>
          <a:xfrm>
            <a:off x="7147408"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agent (deepseek-v4.1-flash):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fast and cheap, and mostly right</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371600"/>
          </a:xfrm>
          <a:prstGeom prst="roundRect">
            <a:avLst>
              <a:gd name="adj" fmla="val 5333"/>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0.31 s</a:t>
            </a:r>
            <a:endParaRPr lang="en-US" sz="3000" dirty="0"/>
          </a:p>
        </p:txBody>
      </p:sp>
      <p:sp>
        <p:nvSpPr>
          <p:cNvPr id="10" name="Text 5"/>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time for one Jev call</a:t>
            </a:r>
            <a:endParaRPr lang="en-US" sz="1400" dirty="0"/>
          </a:p>
        </p:txBody>
      </p:sp>
      <p:sp>
        <p:nvSpPr>
          <p:cNvPr id="11" name="Shape 6"/>
          <p:cNvSpPr/>
          <p:nvPr/>
        </p:nvSpPr>
        <p:spPr>
          <a:xfrm>
            <a:off x="7772400" y="3063240"/>
            <a:ext cx="3870655" cy="1371600"/>
          </a:xfrm>
          <a:prstGeom prst="roundRect">
            <a:avLst>
              <a:gd name="adj" fmla="val 5333"/>
            </a:avLst>
          </a:prstGeom>
          <a:solidFill>
            <a:srgbClr val="FFFFFF"/>
          </a:solidFill>
          <a:ln/>
        </p:spPr>
      </p:sp>
      <p:sp>
        <p:nvSpPr>
          <p:cNvPr id="12" name="Shape 7"/>
          <p:cNvSpPr/>
          <p:nvPr/>
        </p:nvSpPr>
        <p:spPr>
          <a:xfrm>
            <a:off x="8001000" y="329184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4" name="Text 8"/>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$0.064</a:t>
            </a:r>
            <a:endParaRPr lang="en-US" sz="3000" dirty="0"/>
          </a:p>
        </p:txBody>
      </p:sp>
      <p:sp>
        <p:nvSpPr>
          <p:cNvPr id="15" name="Text 9"/>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the Jev calls</a:t>
            </a:r>
            <a:endParaRPr lang="en-US" sz="1400" dirty="0"/>
          </a:p>
        </p:txBody>
      </p:sp>
      <p:sp>
        <p:nvSpPr>
          <p:cNvPr id="16" name="Shape 10"/>
          <p:cNvSpPr/>
          <p:nvPr/>
        </p:nvSpPr>
        <p:spPr>
          <a:xfrm>
            <a:off x="7772400" y="4617720"/>
            <a:ext cx="3870655" cy="1371600"/>
          </a:xfrm>
          <a:prstGeom prst="roundRect">
            <a:avLst>
              <a:gd name="adj" fmla="val 5333"/>
            </a:avLst>
          </a:prstGeom>
          <a:solidFill>
            <a:srgbClr val="FFFFFF"/>
          </a:solidFill>
          <a:ln/>
        </p:spPr>
      </p:sp>
      <p:sp>
        <p:nvSpPr>
          <p:cNvPr id="17" name="Shape 11"/>
          <p:cNvSpPr/>
          <p:nvPr/>
        </p:nvSpPr>
        <p:spPr>
          <a:xfrm>
            <a:off x="8001000" y="484632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19" name="Text 12"/>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174</a:t>
            </a:r>
            <a:endParaRPr lang="en-US" sz="3000" dirty="0"/>
          </a:p>
        </p:txBody>
      </p:sp>
      <p:sp>
        <p:nvSpPr>
          <p:cNvPr id="20" name="Text 13"/>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faster, cheaper, and makes fewer errors</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1.8x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 of machine time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61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2 and Level 3. Sign test: p = 0.031</a:t>
            </a:r>
            <a:endParaRPr lang="en-US" sz="1400" dirty="0"/>
          </a:p>
        </p:txBody>
      </p:sp>
      <p:sp>
        <p:nvSpPr>
          <p:cNvPr id="21" name="Text 14"/>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at Level 3, about 13 at Level 2.</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Our idea: limit what each model can trigger</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topic, priority, action, injection flag, and one yes or no for each rule. It cannot run an action.</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Reads the account, checks the written rules, and runs the action. One broken rule is enough to stop it.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It does not change any decision.</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No model decides alone: </a:t>
            </a:r>
            <a:pPr algn="l" indent="0" marL="0">
              <a:buNone/>
            </a:pPr>
            <a:r>
              <a:rPr lang="en-US" sz="1800" dirty="0">
                <a:solidFill>
                  <a:srgbClr val="FFFFFF"/>
                </a:solidFill>
                <a:latin typeface="Calibri" pitchFamily="34" charset="0"/>
                <a:ea typeface="Calibri" pitchFamily="34" charset="-122"/>
                <a:cs typeface="Calibri" pitchFamily="34" charset="-120"/>
              </a:rPr>
              <a:t>the process decides if an action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Why Level 3 stays safe when Jev is wrong</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96%</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99.4%</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One broken rule stops the action.</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174</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Level 3 makes 0 errors and 0 harmful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at every level. Level 2: 728 served, 235 stopped, 61 errors. Level 3: 776 served, 248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is 1.8x faster and 2.1x cheaper, with fewer errors (p = 0.031).</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needs a question that we write for each rule.</a:t>
            </a:r>
            <a:endParaRPr lang="en-US" sz="1800" dirty="0"/>
          </a:p>
        </p:txBody>
      </p:sp>
      <p:sp>
        <p:nvSpPr>
          <p:cNvPr id="5" name="Text 3"/>
          <p:cNvSpPr/>
          <p:nvPr/>
        </p:nvSpPr>
        <p:spPr>
          <a:xfrm>
            <a:off x="640080" y="548640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and a larger set of requests.</a:t>
            </a:r>
            <a:endParaRPr lang="en-US" sz="22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61 vs 0</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2 and Level 3. Sign test: p = 0.031</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1.8x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faster: 4.28 s against 7.85 s of machine time</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cheaper: $0.29 against $0.61 per 1,000 requests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 6</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 of Level 3: why a state machine</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to 23</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26 and 27</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Jev, and the two levels</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29</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Why Level 3 stays safe when Jev is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2026-10-12T01:23:03Z</dcterms:created>
  <dcterms:modified xsi:type="dcterms:W3CDTF">2026-10-12T01:23:03Z</dcterms:modified>
</cp:coreProperties>
</file>