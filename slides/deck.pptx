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an automated system that handles money and data can cause severe harm. Companies often deploy autonomous LLM agents that read policy text and act directly, but these agents are slow, expensive, and vulnerable to prompt injection. Today, we study an alternative architecture: combining lightweight intent classification and deterministic code rules with LLM response generation,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automation goes beyond answering FAQs: it executes consequential actions on customer accounts, such as refunds, plan changes, and deletions. Companies deploy autonomous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automation has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autonomous agent reads these rules as prompt text. Our hybrid pipeline evaluates each rule with a deterministic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0-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22-6.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1.png"/><Relationship Id="rId3" Type="http://schemas.openxmlformats.org/officeDocument/2006/relationships/image" Target="../media/image-10-5.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10-6.png"/><Relationship Id="rId3" Type="http://schemas.openxmlformats.org/officeDocument/2006/relationships/image" Target="../media/image-22-3.png"/><Relationship Id="rId4" Type="http://schemas.openxmlformats.org/officeDocument/2006/relationships/image" Target="../media/image-10-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1.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3.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10-6.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image" Target="../media/image-10-5.png"/><Relationship Id="rId3" Type="http://schemas.openxmlformats.org/officeDocument/2006/relationships/image" Target="../media/image-26-3.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6.png"/><Relationship Id="rId3" Type="http://schemas.openxmlformats.org/officeDocument/2006/relationships/image" Target="../media/image-1-1.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1.png"/><Relationship Id="rId4" Type="http://schemas.openxmlformats.org/officeDocument/2006/relationships/image" Target="../media/image-10-5.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Customer Support</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Automation</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Intent Classification and Deterministic Rules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versus Autonomous LLM Agents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approaches to</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automation</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Autonomous</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Deterministic rules in code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autonomous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Autonomous 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5"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0"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5"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0"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5"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0"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5"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0"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automation</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sp>
        <p:nvSpPr>
          <p:cNvPr id="7"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8" name="Image 3" descr="preencoded.png">    </p:cNvPr>
          <p:cNvPicPr>
            <a:picLocks noChangeAspect="1"/>
          </p:cNvPicPr>
          <p:nvPr/>
        </p:nvPicPr>
        <p:blipFill>
          <a:blip r:embed="rId4"/>
          <a:stretch>
            <a:fillRect/>
          </a:stretch>
        </p:blipFill>
        <p:spPr>
          <a:xfrm>
            <a:off x="1726387" y="4615891"/>
            <a:ext cx="402336" cy="402336"/>
          </a:xfrm>
          <a:prstGeom prst="rect">
            <a:avLst/>
          </a:prstGeom>
        </p:spPr>
      </p:pic>
      <p:sp>
        <p:nvSpPr>
          <p:cNvPr id="9"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2"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3"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4"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5"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6"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7"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18"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19"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4" name="Shape 1"/>
          <p:cNvSpPr/>
          <p:nvPr/>
        </p:nvSpPr>
        <p:spPr>
          <a:xfrm>
            <a:off x="548640" y="1371600"/>
            <a:ext cx="6400800" cy="914400"/>
          </a:xfrm>
          <a:prstGeom prst="roundRect">
            <a:avLst>
              <a:gd name="adj" fmla="val 8000"/>
            </a:avLst>
          </a:prstGeom>
          <a:solidFill>
            <a:srgbClr val="FFFFFF"/>
          </a:solidFill>
          <a:ln/>
        </p:spPr>
      </p:sp>
      <p:sp>
        <p:nvSpPr>
          <p:cNvPr id="5"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18058" y="1649578"/>
            <a:ext cx="358445" cy="358445"/>
          </a:xfrm>
          <a:prstGeom prst="rect">
            <a:avLst/>
          </a:prstGeom>
        </p:spPr>
      </p:pic>
      <p:sp>
        <p:nvSpPr>
          <p:cNvPr id="7"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8"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9" name="Shape 5"/>
          <p:cNvSpPr/>
          <p:nvPr/>
        </p:nvSpPr>
        <p:spPr>
          <a:xfrm>
            <a:off x="548640" y="2414016"/>
            <a:ext cx="6400800" cy="914400"/>
          </a:xfrm>
          <a:prstGeom prst="roundRect">
            <a:avLst>
              <a:gd name="adj" fmla="val 8000"/>
            </a:avLst>
          </a:prstGeom>
          <a:solidFill>
            <a:srgbClr val="FFFFFF"/>
          </a:solidFill>
          <a:ln/>
        </p:spPr>
      </p:sp>
      <p:sp>
        <p:nvSpPr>
          <p:cNvPr id="10"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1" name="Image 1" descr="preencoded.png">    </p:cNvPr>
          <p:cNvPicPr>
            <a:picLocks noChangeAspect="1"/>
          </p:cNvPicPr>
          <p:nvPr/>
        </p:nvPicPr>
        <p:blipFill>
          <a:blip r:embed="rId2"/>
          <a:stretch>
            <a:fillRect/>
          </a:stretch>
        </p:blipFill>
        <p:spPr>
          <a:xfrm>
            <a:off x="918058" y="2691994"/>
            <a:ext cx="358445" cy="358445"/>
          </a:xfrm>
          <a:prstGeom prst="rect">
            <a:avLst/>
          </a:prstGeom>
        </p:spPr>
      </p:pic>
      <p:sp>
        <p:nvSpPr>
          <p:cNvPr id="12"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3"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4" name="Shape 9"/>
          <p:cNvSpPr/>
          <p:nvPr/>
        </p:nvSpPr>
        <p:spPr>
          <a:xfrm>
            <a:off x="548640" y="3456432"/>
            <a:ext cx="6400800" cy="914400"/>
          </a:xfrm>
          <a:prstGeom prst="roundRect">
            <a:avLst>
              <a:gd name="adj" fmla="val 8000"/>
            </a:avLst>
          </a:prstGeom>
          <a:solidFill>
            <a:srgbClr val="FFFFFF"/>
          </a:solidFill>
          <a:ln/>
        </p:spPr>
      </p:sp>
      <p:sp>
        <p:nvSpPr>
          <p:cNvPr id="15"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918058" y="3734410"/>
            <a:ext cx="358445" cy="358445"/>
          </a:xfrm>
          <a:prstGeom prst="rect">
            <a:avLst/>
          </a:prstGeom>
        </p:spPr>
      </p:pic>
      <p:sp>
        <p:nvSpPr>
          <p:cNvPr id="17"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18"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19" name="Shape 13"/>
          <p:cNvSpPr/>
          <p:nvPr/>
        </p:nvSpPr>
        <p:spPr>
          <a:xfrm>
            <a:off x="548640" y="4498848"/>
            <a:ext cx="6400800" cy="914400"/>
          </a:xfrm>
          <a:prstGeom prst="roundRect">
            <a:avLst>
              <a:gd name="adj" fmla="val 8000"/>
            </a:avLst>
          </a:prstGeom>
          <a:solidFill>
            <a:srgbClr val="FFFFFF"/>
          </a:solidFill>
          <a:ln/>
        </p:spPr>
      </p:sp>
      <p:sp>
        <p:nvSpPr>
          <p:cNvPr id="20"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1" name="Image 3" descr="preencoded.png">    </p:cNvPr>
          <p:cNvPicPr>
            <a:picLocks noChangeAspect="1"/>
          </p:cNvPicPr>
          <p:nvPr/>
        </p:nvPicPr>
        <p:blipFill>
          <a:blip r:embed="rId4"/>
          <a:stretch>
            <a:fillRect/>
          </a:stretch>
        </p:blipFill>
        <p:spPr>
          <a:xfrm>
            <a:off x="918058" y="4776826"/>
            <a:ext cx="358445" cy="358445"/>
          </a:xfrm>
          <a:prstGeom prst="rect">
            <a:avLst/>
          </a:prstGeom>
        </p:spPr>
      </p:pic>
      <p:sp>
        <p:nvSpPr>
          <p:cNvPr id="22"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3"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4" name="Shape 17"/>
          <p:cNvSpPr/>
          <p:nvPr/>
        </p:nvSpPr>
        <p:spPr>
          <a:xfrm>
            <a:off x="7269480" y="1371600"/>
            <a:ext cx="4373575" cy="4041648"/>
          </a:xfrm>
          <a:prstGeom prst="roundRect">
            <a:avLst>
              <a:gd name="adj" fmla="val 1810"/>
            </a:avLst>
          </a:prstGeom>
          <a:solidFill>
            <a:srgbClr val="FFFFFF"/>
          </a:solidFill>
          <a:ln/>
        </p:spPr>
      </p:sp>
      <p:sp>
        <p:nvSpPr>
          <p:cNvPr id="25"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6"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7"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28"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29"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0" name="Shape 23"/>
          <p:cNvSpPr/>
          <p:nvPr/>
        </p:nvSpPr>
        <p:spPr>
          <a:xfrm>
            <a:off x="548640" y="5806440"/>
            <a:ext cx="11094415" cy="594360"/>
          </a:xfrm>
          <a:prstGeom prst="roundRect">
            <a:avLst>
              <a:gd name="adj" fmla="val 12308"/>
            </a:avLst>
          </a:prstGeom>
          <a:solidFill>
            <a:srgbClr val="1F7A7A"/>
          </a:solidFill>
          <a:ln/>
        </p:spPr>
      </p:sp>
      <p:pic>
        <p:nvPicPr>
          <p:cNvPr id="31" name="Image 4" descr="preencoded.png">    </p:cNvPr>
          <p:cNvPicPr>
            <a:picLocks noChangeAspect="1"/>
          </p:cNvPicPr>
          <p:nvPr/>
        </p:nvPicPr>
        <p:blipFill>
          <a:blip r:embed="rId5"/>
          <a:stretch>
            <a:fillRect/>
          </a:stretch>
        </p:blipFill>
        <p:spPr>
          <a:xfrm>
            <a:off x="822960" y="5875020"/>
            <a:ext cx="457200" cy="457200"/>
          </a:xfrm>
          <a:prstGeom prst="rect">
            <a:avLst/>
          </a:prstGeom>
        </p:spPr>
      </p:pic>
      <p:sp>
        <p:nvSpPr>
          <p:cNvPr id="32"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1"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2"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3"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44450">
            <a:solidFill>
              <a:srgbClr val="1B365D"/>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AEB7C2"/>
          </a:solidFill>
          <a:ln/>
        </p:spPr>
      </p:sp>
      <p:sp>
        <p:nvSpPr>
          <p:cNvPr id="24"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44450">
            <a:solidFill>
              <a:srgbClr val="1B365D"/>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0"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51"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blocks  0.99</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45309"/>
            </a:solidFill>
            <a:prstDash val="solid"/>
          </a:ln>
        </p:spPr>
      </p:sp>
      <p:sp>
        <p:nvSpPr>
          <p:cNvPr id="43" name="!!deny#1"/>
          <p:cNvSpPr/>
          <p:nvPr/>
        </p:nvSpPr>
        <p:spPr>
          <a:xfrm>
            <a:off x="4795418" y="3401568"/>
            <a:ext cx="3515258" cy="0"/>
          </a:xfrm>
          <a:prstGeom prst="line">
            <a:avLst/>
          </a:prstGeom>
          <a:noFill/>
          <a:ln w="44450">
            <a:solidFill>
              <a:srgbClr val="B45309"/>
            </a:solidFill>
            <a:prstDash val="solid"/>
          </a:ln>
        </p:spPr>
      </p:sp>
      <p:sp>
        <p:nvSpPr>
          <p:cNvPr id="44" name="!!deny#2"/>
          <p:cNvSpPr/>
          <p:nvPr/>
        </p:nvSpPr>
        <p:spPr>
          <a:xfrm flipV="1">
            <a:off x="8310677" y="3200400"/>
            <a:ext cx="0" cy="201168"/>
          </a:xfrm>
          <a:prstGeom prst="line">
            <a:avLst/>
          </a:prstGeom>
          <a:noFill/>
          <a:ln w="44450">
            <a:solidFill>
              <a:srgbClr val="B45309"/>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3"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E4F4F"/>
            </a:solidFill>
            <a:prstDash val="solid"/>
          </a:ln>
        </p:spPr>
      </p:sp>
      <p:sp>
        <p:nvSpPr>
          <p:cNvPr id="43" name="!!deny#1"/>
          <p:cNvSpPr/>
          <p:nvPr/>
        </p:nvSpPr>
        <p:spPr>
          <a:xfrm>
            <a:off x="4795418" y="3401568"/>
            <a:ext cx="3515258" cy="0"/>
          </a:xfrm>
          <a:prstGeom prst="line">
            <a:avLst/>
          </a:prstGeom>
          <a:noFill/>
          <a:ln w="44450">
            <a:solidFill>
              <a:srgbClr val="BE4F4F"/>
            </a:solidFill>
            <a:prstDash val="solid"/>
          </a:ln>
        </p:spPr>
      </p:sp>
      <p:sp>
        <p:nvSpPr>
          <p:cNvPr id="44" name="!!deny#2"/>
          <p:cNvSpPr/>
          <p:nvPr/>
        </p:nvSpPr>
        <p:spPr>
          <a:xfrm flipV="1">
            <a:off x="8310677" y="3200400"/>
            <a:ext cx="0" cy="201168"/>
          </a:xfrm>
          <a:prstGeom prst="line">
            <a:avLst/>
          </a:prstGeom>
          <a:noFill/>
          <a:ln w="44450">
            <a:solidFill>
              <a:srgbClr val="BE4F4F"/>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4663440"/>
          </a:xfrm>
          <a:prstGeom prst="roundRect">
            <a:avLst>
              <a:gd name="adj" fmla="val 1569"/>
            </a:avLst>
          </a:prstGeom>
          <a:solidFill>
            <a:srgbClr val="FFFFFF"/>
          </a:solidFill>
          <a:ln/>
        </p:spPr>
      </p:sp>
      <p:graphicFrame>
        <p:nvGraphicFramePr>
          <p:cNvPr id="5"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0"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1" name="Shape 6"/>
          <p:cNvSpPr/>
          <p:nvPr/>
        </p:nvSpPr>
        <p:spPr>
          <a:xfrm>
            <a:off x="8046720" y="3108960"/>
            <a:ext cx="3596335" cy="1371600"/>
          </a:xfrm>
          <a:prstGeom prst="roundRect">
            <a:avLst>
              <a:gd name="adj" fmla="val 5333"/>
            </a:avLst>
          </a:prstGeom>
          <a:solidFill>
            <a:srgbClr val="FFFFFF"/>
          </a:solidFill>
          <a:ln/>
        </p:spPr>
      </p:sp>
      <p:sp>
        <p:nvSpPr>
          <p:cNvPr id="12"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478378"/>
            <a:ext cx="358445" cy="358445"/>
          </a:xfrm>
          <a:prstGeom prst="rect">
            <a:avLst/>
          </a:prstGeom>
        </p:spPr>
      </p:pic>
      <p:sp>
        <p:nvSpPr>
          <p:cNvPr id="14"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5"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6" name="Shape 10"/>
          <p:cNvSpPr/>
          <p:nvPr/>
        </p:nvSpPr>
        <p:spPr>
          <a:xfrm>
            <a:off x="8046720" y="4754880"/>
            <a:ext cx="3596335" cy="1371600"/>
          </a:xfrm>
          <a:prstGeom prst="roundRect">
            <a:avLst>
              <a:gd name="adj" fmla="val 5333"/>
            </a:avLst>
          </a:prstGeom>
          <a:solidFill>
            <a:srgbClr val="FFFFFF"/>
          </a:solidFill>
          <a:ln/>
        </p:spPr>
      </p:sp>
      <p:sp>
        <p:nvSpPr>
          <p:cNvPr id="17"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5124298"/>
            <a:ext cx="358445" cy="358445"/>
          </a:xfrm>
          <a:prstGeom prst="rect">
            <a:avLst/>
          </a:prstGeom>
        </p:spPr>
      </p:pic>
      <p:sp>
        <p:nvSpPr>
          <p:cNvPr id="19"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0"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11094415" cy="2743200"/>
          </a:xfrm>
          <a:prstGeom prst="roundRect">
            <a:avLst>
              <a:gd name="adj" fmla="val 2667"/>
            </a:avLst>
          </a:prstGeom>
          <a:solidFill>
            <a:srgbClr val="FFFFFF"/>
          </a:solidFill>
          <a:ln/>
        </p:spPr>
      </p:sp>
      <p:sp>
        <p:nvSpPr>
          <p:cNvPr id="5"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85393" y="1954073"/>
            <a:ext cx="435254" cy="435254"/>
          </a:xfrm>
          <a:prstGeom prst="rect">
            <a:avLst/>
          </a:prstGeom>
        </p:spPr>
      </p:pic>
      <p:sp>
        <p:nvSpPr>
          <p:cNvPr id="7"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9" name="Shape 5"/>
          <p:cNvSpPr/>
          <p:nvPr/>
        </p:nvSpPr>
        <p:spPr>
          <a:xfrm>
            <a:off x="4246778" y="1737360"/>
            <a:ext cx="0" cy="2194560"/>
          </a:xfrm>
          <a:prstGeom prst="line">
            <a:avLst/>
          </a:prstGeom>
          <a:noFill/>
          <a:ln w="19050">
            <a:solidFill>
              <a:srgbClr val="D5DBE3"/>
            </a:solidFill>
            <a:prstDash val="solid"/>
          </a:ln>
        </p:spPr>
      </p:sp>
      <p:sp>
        <p:nvSpPr>
          <p:cNvPr id="10"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83531" y="1954073"/>
            <a:ext cx="435254" cy="435254"/>
          </a:xfrm>
          <a:prstGeom prst="rect">
            <a:avLst/>
          </a:prstGeom>
        </p:spPr>
      </p:pic>
      <p:sp>
        <p:nvSpPr>
          <p:cNvPr id="12"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4" name="Shape 9"/>
          <p:cNvSpPr/>
          <p:nvPr/>
        </p:nvSpPr>
        <p:spPr>
          <a:xfrm>
            <a:off x="7944917" y="1737360"/>
            <a:ext cx="0" cy="2194560"/>
          </a:xfrm>
          <a:prstGeom prst="line">
            <a:avLst/>
          </a:prstGeom>
          <a:noFill/>
          <a:ln w="19050">
            <a:solidFill>
              <a:srgbClr val="D5DBE3"/>
            </a:solidFill>
            <a:prstDash val="solid"/>
          </a:ln>
        </p:spPr>
      </p:sp>
      <p:sp>
        <p:nvSpPr>
          <p:cNvPr id="15"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481670" y="1954073"/>
            <a:ext cx="435254" cy="435254"/>
          </a:xfrm>
          <a:prstGeom prst="rect">
            <a:avLst/>
          </a:prstGeom>
        </p:spPr>
      </p:pic>
      <p:sp>
        <p:nvSpPr>
          <p:cNvPr id="17"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19" name="Shape 13"/>
          <p:cNvSpPr/>
          <p:nvPr/>
        </p:nvSpPr>
        <p:spPr>
          <a:xfrm>
            <a:off x="548640" y="4434840"/>
            <a:ext cx="11094415" cy="822960"/>
          </a:xfrm>
          <a:prstGeom prst="roundRect">
            <a:avLst>
              <a:gd name="adj" fmla="val 8889"/>
            </a:avLst>
          </a:prstGeom>
          <a:solidFill>
            <a:srgbClr val="A94A4A"/>
          </a:solidFill>
          <a:ln/>
        </p:spPr>
      </p:sp>
      <p:pic>
        <p:nvPicPr>
          <p:cNvPr id="20" name="Image 3" descr="preencoded.png">    </p:cNvPr>
          <p:cNvPicPr>
            <a:picLocks noChangeAspect="1"/>
          </p:cNvPicPr>
          <p:nvPr/>
        </p:nvPicPr>
        <p:blipFill>
          <a:blip r:embed="rId4"/>
          <a:stretch>
            <a:fillRect/>
          </a:stretch>
        </p:blipFill>
        <p:spPr>
          <a:xfrm>
            <a:off x="822960" y="4617720"/>
            <a:ext cx="457200" cy="457200"/>
          </a:xfrm>
          <a:prstGeom prst="rect">
            <a:avLst/>
          </a:prstGeom>
        </p:spPr>
      </p:pic>
      <p:sp>
        <p:nvSpPr>
          <p:cNvPr id="21"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2" name="Shape 15"/>
          <p:cNvSpPr/>
          <p:nvPr/>
        </p:nvSpPr>
        <p:spPr>
          <a:xfrm>
            <a:off x="548640" y="5440680"/>
            <a:ext cx="11094415" cy="868680"/>
          </a:xfrm>
          <a:prstGeom prst="roundRect">
            <a:avLst>
              <a:gd name="adj" fmla="val 8421"/>
            </a:avLst>
          </a:prstGeom>
          <a:solidFill>
            <a:srgbClr val="FFFFFF"/>
          </a:solidFill>
          <a:ln/>
        </p:spPr>
      </p:sp>
      <p:sp>
        <p:nvSpPr>
          <p:cNvPr id="23"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1025042" y="5734202"/>
            <a:ext cx="281635" cy="281635"/>
          </a:xfrm>
          <a:prstGeom prst="rect">
            <a:avLst/>
          </a:prstGeom>
        </p:spPr>
      </p:pic>
      <p:sp>
        <p:nvSpPr>
          <p:cNvPr id="25"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6"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4723181" y="5734202"/>
            <a:ext cx="281635" cy="281635"/>
          </a:xfrm>
          <a:prstGeom prst="rect">
            <a:avLst/>
          </a:prstGeom>
        </p:spPr>
      </p:pic>
      <p:sp>
        <p:nvSpPr>
          <p:cNvPr id="28"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29"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0" name="Image 6" descr="preencoded.png">    </p:cNvPr>
          <p:cNvPicPr>
            <a:picLocks noChangeAspect="1"/>
          </p:cNvPicPr>
          <p:nvPr/>
        </p:nvPicPr>
        <p:blipFill>
          <a:blip r:embed="rId7"/>
          <a:stretch>
            <a:fillRect/>
          </a:stretch>
        </p:blipFill>
        <p:spPr>
          <a:xfrm>
            <a:off x="8421319" y="5734202"/>
            <a:ext cx="281635" cy="281635"/>
          </a:xfrm>
          <a:prstGeom prst="rect">
            <a:avLst/>
          </a:prstGeom>
        </p:spPr>
      </p:pic>
      <p:sp>
        <p:nvSpPr>
          <p:cNvPr id="31"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0"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Support Automation: Intent Classification and Deterministic Rules versus Autonomous LLM Agents</dc:title>
  <dc:subject>PptxGenJS Presentation</dc:subject>
  <dc:creator>Phenikaa School of Computing</dc:creator>
  <cp:lastModifiedBy>Phenikaa School of Computing</cp:lastModifiedBy>
  <cp:revision>1</cp:revision>
  <dcterms:created xsi:type="dcterms:W3CDTF">2026-10-13T13:35:54Z</dcterms:created>
  <dcterms:modified xsi:type="dcterms:W3CDTF">2026-10-13T13:35:54Z</dcterms:modified>
</cp:coreProperties>
</file>