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Level 3 on 24 held-out requests, by version of the rule</a:t>
            </a:r>
          </a:p>
        </c:rich>
      </c:tx>
      <c:layout/>
      <c:overlay val="0"/>
    </c:title>
    <c:autoTitleDeleted val="0"/>
    <c:plotArea>
      <c:layout/>
      <c:barChart>
        <c:barDir val="col"/>
        <c:grouping val="clustered"/>
        <c:varyColors val="0"/>
        <c:ser>
          <c:idx val="0"/>
          <c:order val="0"/>
          <c:tx>
            <c:strRef>
              <c:f>Sheet1!$B$1</c:f>
              <c:strCache>
                <c:ptCount val="1"/>
                <c:pt idx="0">
                  <c:v>Fraud errors</c:v>
                </c:pt>
              </c:strCache>
            </c:strRef>
          </c:tx>
          <c:spPr>
            <a:solidFill>
              <a:srgbClr val="234B84"/>
            </a:solidFill>
            <a:effectLst/>
          </c:spPr>
          <c:invertIfNegative val="0"/>
          <c:dLbls>
            <c:numFmt formatCode="0" sourceLinked="0"/>
            <c:txPr>
              <a:bodyPr/>
              <a:lstStyle/>
              <a:p>
                <a:pPr>
                  <a:defRPr b="0" i="0" strike="noStrike" sz="1300" u="none">
                    <a:solidFill>
                      <a:srgbClr val="2B344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 rule</c:v>
                  </c:pt>
                  <c:pt idx="1">
                    <c:v>Risk flag</c:v>
                  </c:pt>
                  <c:pt idx="2">
                    <c:v>Security queue (chosen)</c:v>
                  </c:pt>
                </c:lvl>
              </c:multiLvlStrCache>
            </c:multiLvlStrRef>
          </c:cat>
          <c:val>
            <c:numRef>
              <c:f>Sheet1!$B$2:$B$4</c:f>
              <c:numCache>
                <c:formatCode>General</c:formatCode>
                <c:ptCount val="3"/>
                <c:pt idx="0">
                  <c:v>4</c:v>
                </c:pt>
                <c:pt idx="1">
                  <c:v>1</c:v>
                </c:pt>
                <c:pt idx="2">
                  <c:v>0</c:v>
                </c:pt>
              </c:numCache>
            </c:numRef>
          </c:val>
        </c:ser>
        <c:ser>
          <c:idx val="1"/>
          <c:order val="1"/>
          <c:tx>
            <c:strRef>
              <c:f>Sheet1!$C$1</c:f>
              <c:strCache>
                <c:ptCount val="1"/>
                <c:pt idx="0">
                  <c:v>False stops (valid actions stopped)</c:v>
                </c:pt>
              </c:strCache>
            </c:strRef>
          </c:tx>
          <c:spPr>
            <a:solidFill>
              <a:srgbClr val="A94A4A"/>
            </a:solidFill>
            <a:effectLst/>
          </c:spPr>
          <c:invertIfNegative val="0"/>
          <c:dLbls>
            <c:numFmt formatCode="0" sourceLinked="0"/>
            <c:txPr>
              <a:bodyPr/>
              <a:lstStyle/>
              <a:p>
                <a:pPr>
                  <a:defRPr b="0" i="0" strike="noStrike" sz="1300" u="none">
                    <a:solidFill>
                      <a:srgbClr val="2B344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 rule</c:v>
                  </c:pt>
                  <c:pt idx="1">
                    <c:v>Risk flag</c:v>
                  </c:pt>
                  <c:pt idx="2">
                    <c:v>Security queue (chosen)</c:v>
                  </c:pt>
                </c:lvl>
              </c:multiLvlStrCache>
            </c:multiLvlStrRef>
          </c:cat>
          <c:val>
            <c:numRef>
              <c:f>Sheet1!$C$2:$C$4</c:f>
              <c:numCache>
                <c:formatCode>General</c:formatCode>
                <c:ptCount val="3"/>
                <c:pt idx="0">
                  <c:v>0</c:v>
                </c:pt>
                <c:pt idx="1">
                  <c:v>8</c:v>
                </c:pt>
                <c:pt idx="2">
                  <c:v>0</c:v>
                </c:pt>
              </c:numCache>
            </c:numRef>
          </c:val>
        </c:ser>
        <c:dLbls>
          <c:numFmt formatCode="0" sourceLinked="0"/>
          <c:txPr>
            <a:bodyPr/>
            <a:lstStyle/>
            <a:p>
              <a:pPr>
                <a:defRPr b="0" i="0" strike="noStrike" sz="13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(queue: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575 forged requests where nothing may run</a:t>
            </a:r>
          </a:p>
        </c:rich>
      </c:tx>
      <c:layout/>
      <c:overlay val="0"/>
    </c:title>
    <c:autoTitleDeleted val="0"/>
    <c:plotArea>
      <c:layout/>
      <c:barChart>
        <c:barDir val="bar"/>
        <c:grouping val="stacked"/>
        <c:varyColors val="0"/>
        <c:ser>
          <c:idx val="0"/>
          <c:order val="0"/>
          <c:tx>
            <c:strRef>
              <c:f>Sheet1!$B$1</c:f>
              <c:strCache>
                <c:ptCount val="1"/>
                <c:pt idx="0">
                  <c:v>Denied: nothing ran</c:v>
                </c:pt>
              </c:strCache>
            </c:strRef>
          </c:tx>
          <c:spPr>
            <a:solidFill>
              <a:srgbClr val="1F7A7A"/>
            </a:solidFill>
            <a:effectLst/>
          </c:spPr>
          <c:invertIfNegative val="0"/>
          <c:dLbls>
            <c:numFmt formatCode="0;-0;;@" sourceLinked="0"/>
            <c:txPr>
              <a:bodyPr/>
              <a:lstStyle/>
              <a:p>
                <a:pPr>
                  <a:defRPr b="0" i="0" strike="noStrike" sz="16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Fixed code guard (Level 3)</c:v>
                  </c:pt>
                  <c:pt idx="1">
                    <c:v>Jev as the guard (dropped)</c:v>
                  </c:pt>
                </c:lvl>
              </c:multiLvlStrCache>
            </c:multiLvlStrRef>
          </c:cat>
          <c:val>
            <c:numRef>
              <c:f>Sheet1!$B$2:$B$3</c:f>
              <c:numCache>
                <c:formatCode>General</c:formatCode>
                <c:ptCount val="2"/>
                <c:pt idx="0">
                  <c:v>575</c:v>
                </c:pt>
                <c:pt idx="1">
                  <c:v>481</c:v>
                </c:pt>
              </c:numCache>
            </c:numRef>
          </c:val>
        </c:ser>
        <c:ser>
          <c:idx val="1"/>
          <c:order val="1"/>
          <c:tx>
            <c:strRef>
              <c:f>Sheet1!$C$1</c:f>
              <c:strCache>
                <c:ptCount val="1"/>
                <c:pt idx="0">
                  <c:v>Ran an unsafe action</c:v>
                </c:pt>
              </c:strCache>
            </c:strRef>
          </c:tx>
          <c:spPr>
            <a:solidFill>
              <a:srgbClr val="A94A4A"/>
            </a:solidFill>
            <a:effectLst/>
          </c:spPr>
          <c:invertIfNegative val="0"/>
          <c:dLbls>
            <c:numFmt formatCode="0;-0;;@" sourceLinked="0"/>
            <c:txPr>
              <a:bodyPr/>
              <a:lstStyle/>
              <a:p>
                <a:pPr>
                  <a:defRPr b="0" i="0" strike="noStrike" sz="16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Fixed code guard (Level 3)</c:v>
                  </c:pt>
                  <c:pt idx="1">
                    <c:v>Jev as the guard (dropped)</c:v>
                  </c:pt>
                </c:lvl>
              </c:multiLvlStrCache>
            </c:multiLvlStrRef>
          </c:cat>
          <c:val>
            <c:numRef>
              <c:f>Sheet1!$C$2:$C$3</c:f>
              <c:numCache>
                <c:formatCode>General</c:formatCode>
                <c:ptCount val="2"/>
                <c:pt idx="0">
                  <c:v>0</c:v>
                </c:pt>
                <c:pt idx="1">
                  <c:v>94</c:v>
                </c:pt>
              </c:numCache>
            </c:numRef>
          </c:val>
        </c:ser>
        <c:dLbls>
          <c:numFmt formatCode="0;-0;;@" sourceLinked="0"/>
          <c:txPr>
            <a:bodyPr/>
            <a:lstStyle/>
            <a:p>
              <a:pPr>
                <a:defRPr b="0" i="0" strike="noStrike" sz="16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 The bars show the task allocation of the paper: the leader has the largest share, and each member has a different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85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92 s. Level 1 is the reference: support staff read every request, 90 s each (assumed). Level 2 replaces the staff with one LLM agent that reads the account, applies the written rules itself, and answers run or refuse. Level 3 splits the job: Jev gives five typed answers with chances, fixed code reads only the account fields that the action needs and guards the action, and the LLM writes the reply. Every level runs on the same 50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70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with a chance in one call and never reads the account; an injection flag ignores the orders in the text. Gather info is fixed code and reads only the account fields that the action needs. Rules check applies the written rules: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56 s. The defect: on the main set a fraud report got a refund or a password reset (R0015, R0016). We tested two versions of the rule on 24 new requests in four groups of six, frozen before any rule code existed. Without a rule, Level 3 makes 4 fraud errors. The risk-flag version fixes 3 of 4 but stops 8 valid requests, because the risk flag is true on every action request. The Security-queue version fixes 4 of 4 with 0 false stops, and we chose it. At Level 2 the agent reads the same rule text: 3 of 3 fixed, 0 false stops. Nothing was tuned after we saw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All data are made by us. The world has 72 FrameForge customers. A seeded generator writes 50 requests in 24 types; a second set of 24 held-out requests was frozen before any rule code existed. The fault suite forges 719 cases. In all, 793 requests ran, live or forged. We call two hosted models for real: Jev (jev-1.13.0) and DeepSeek V4.1 Flash. A recorded run replays offline with the same numbers. Three questions: what does each level buy and cost; what changes when Jev replaces the LLM as the classifier; do the written rules hold when answers are forged.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55 s. Both classifiers get the same input and the same criteria. Jev is behind the LLM on action (86.0% against 92.0%), priority, risk flag, and injection flag, and ahead on queue (91.7% against 85.4% of 48 scored requests). One classifier call takes a median of 0.241 s with Jev and 4.410 s with the LLM: 18 times faster. The stage costs $0.052 against $0.587 per 1,000 requests: 11 times cheaper. Jev gives a wrong queue or action in 11 of 50 requests, and none is an error at Level 3 (7 are label errors); the written rules and the Security rule absorb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Level 1 uses an assumed 90 s per request. Level 2 serves 32 of 50, stops 15, and makes 3 errors (R0018, R0043, R0044: refusals where the gold result is an answer; nothing ran). Level 3 serves 35, stops 15, and makes 0 errors. Machine time is 6.85 s against 3.16 s: 2.2 times faster. Cost is $0.71 against $0.30 per 1,000 requests: 2.4 times cheaper. The exact sign test has 3 discordant pairs, all errors at Level 2 only, and gives p = 0.25. The accuracy gap is not established. Our strong claims are speed, cost, and never worse in any column.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38 s. We forged the classifier answers with no model call, so only the fixed rules check and the routing rule stand in the way. In nine groups where nothing may run, the written rules deny all 575 of 575, and none runs. In 72 more requests a teammate resets the password of the teammate, and the link goes to the e-mail on file every time. In 72 more the Final message lies about the action, and 0 are unsafe, because the message is written after the action. Negative finding: when a second Jev call checked the rules, 17 of 50 answers were invalid, and 94 of 575 forged requests ran (481 denied). So the guard stays fixed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The evidence is small-sample: two hosted models, one synthetic SaaS product, and an assumed 90 s per request at Level 1. 0 money or data harm in 50 requests is not proof of zero; the 95% upper limit is about 6%. The popup delay and the silence time are not simulated. The classifier comparison uses one prompt wording and one run per request. The Security rule was found on the main set and validated on the held-out set; the Jev guard was dropped after an earlier measurement, so the main numbers are not a blind test. With 3 discordant pairs (p = 0.25) the accuracy gap is not established. What Level 3 buys is time and cost, and it is never worse in any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To conclude: three levels on one ladder, measured on the same 50 requests. Level 3 serves 35, stops 15, and makes 0 errors; Level 2 serves 32, stops 15, and makes 3. Level 3 is never worse in any column, 2.2 times faster, and 2.4 times cheaper. The sign test (p = 0.25) does not establish an accuracy gap. The Security rule, chosen on 24 held-out requests, fixed 4 of 4 fraud errors with 0 false stops. The fixed rules denied 575 of 575 forged requests, and Jev as the guard let 94 run.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457200"/>
            <a:ext cx="5943600" cy="20116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3" name="Text 1"/>
          <p:cNvSpPr/>
          <p:nvPr/>
        </p:nvSpPr>
        <p:spPr>
          <a:xfrm>
            <a:off x="731520" y="2194560"/>
            <a:ext cx="5943600" cy="731520"/>
          </a:xfrm>
          <a:prstGeom prst="rect">
            <a:avLst/>
          </a:prstGeom>
          <a:noFill/>
          <a:ln/>
        </p:spPr>
        <p:txBody>
          <a:bodyPr wrap="square" lIns="0" tIns="0" rIns="0" bIns="0" rtlCol="0" anchor="t"/>
          <a:lstStyle/>
          <a:p>
            <a:pPr indent="0" marL="0">
              <a:buNone/>
            </a:pPr>
            <a:r>
              <a:rPr lang="en-US" sz="17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700" dirty="0"/>
          </a:p>
        </p:txBody>
      </p:sp>
      <p:sp>
        <p:nvSpPr>
          <p:cNvPr id="4" name="Text 2"/>
          <p:cNvSpPr/>
          <p:nvPr/>
        </p:nvSpPr>
        <p:spPr>
          <a:xfrm>
            <a:off x="731520" y="3291840"/>
            <a:ext cx="5943600" cy="274320"/>
          </a:xfrm>
          <a:prstGeom prst="rect">
            <a:avLst/>
          </a:prstGeom>
          <a:noFill/>
          <a:ln/>
        </p:spPr>
        <p:txBody>
          <a:bodyPr wrap="square" lIns="0" tIns="0" rIns="0" bIns="0" rtlCol="0" anchor="ctr"/>
          <a:lstStyle/>
          <a:p>
            <a:pPr indent="0" marL="0">
              <a:buNone/>
            </a:pPr>
            <a:r>
              <a:rPr lang="en-US" sz="1300" b="1" dirty="0">
                <a:solidFill>
                  <a:srgbClr val="E3ECF6"/>
                </a:solidFill>
                <a:latin typeface="Calibri" pitchFamily="34" charset="0"/>
                <a:ea typeface="Calibri" pitchFamily="34" charset="-122"/>
                <a:cs typeface="Calibri" pitchFamily="34" charset="-120"/>
              </a:rPr>
              <a:t>Task allocation (bar = share of the work and of the talk)</a:t>
            </a:r>
            <a:endParaRPr lang="en-US" sz="1300" dirty="0"/>
          </a:p>
        </p:txBody>
      </p:sp>
      <p:sp>
        <p:nvSpPr>
          <p:cNvPr id="5" name="Text 3"/>
          <p:cNvSpPr/>
          <p:nvPr/>
        </p:nvSpPr>
        <p:spPr>
          <a:xfrm>
            <a:off x="731520" y="3657600"/>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Tran Thanh Long (Leader)</a:t>
            </a:r>
            <a:endParaRPr lang="en-US" sz="1500" dirty="0"/>
          </a:p>
        </p:txBody>
      </p:sp>
      <p:sp>
        <p:nvSpPr>
          <p:cNvPr id="6" name="Shape 4"/>
          <p:cNvSpPr/>
          <p:nvPr/>
        </p:nvSpPr>
        <p:spPr>
          <a:xfrm>
            <a:off x="3291840" y="3694176"/>
            <a:ext cx="2377440" cy="219456"/>
          </a:xfrm>
          <a:prstGeom prst="roundRect">
            <a:avLst>
              <a:gd name="adj" fmla="val 20833"/>
            </a:avLst>
          </a:prstGeom>
          <a:solidFill>
            <a:srgbClr val="FFFFFF"/>
          </a:solidFill>
          <a:ln/>
        </p:spPr>
      </p:sp>
      <p:sp>
        <p:nvSpPr>
          <p:cNvPr id="7" name="Text 5"/>
          <p:cNvSpPr/>
          <p:nvPr/>
        </p:nvSpPr>
        <p:spPr>
          <a:xfrm>
            <a:off x="5760720" y="36576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28%</a:t>
            </a:r>
            <a:endParaRPr lang="en-US" sz="1500" dirty="0"/>
          </a:p>
        </p:txBody>
      </p:sp>
      <p:sp>
        <p:nvSpPr>
          <p:cNvPr id="8" name="Text 6"/>
          <p:cNvSpPr/>
          <p:nvPr/>
        </p:nvSpPr>
        <p:spPr>
          <a:xfrm>
            <a:off x="731520" y="4059936"/>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Thanh Nam</a:t>
            </a:r>
            <a:endParaRPr lang="en-US" sz="1500" dirty="0"/>
          </a:p>
        </p:txBody>
      </p:sp>
      <p:sp>
        <p:nvSpPr>
          <p:cNvPr id="9" name="Shape 7"/>
          <p:cNvSpPr/>
          <p:nvPr/>
        </p:nvSpPr>
        <p:spPr>
          <a:xfrm>
            <a:off x="3291840" y="4096512"/>
            <a:ext cx="1867989" cy="219456"/>
          </a:xfrm>
          <a:prstGeom prst="roundRect">
            <a:avLst>
              <a:gd name="adj" fmla="val 20833"/>
            </a:avLst>
          </a:prstGeom>
          <a:solidFill>
            <a:srgbClr val="C9DAEC"/>
          </a:solidFill>
          <a:ln/>
        </p:spPr>
      </p:sp>
      <p:sp>
        <p:nvSpPr>
          <p:cNvPr id="10" name="Text 8"/>
          <p:cNvSpPr/>
          <p:nvPr/>
        </p:nvSpPr>
        <p:spPr>
          <a:xfrm>
            <a:off x="5251269" y="4059936"/>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31520" y="4462272"/>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 Van Son</a:t>
            </a:r>
            <a:endParaRPr lang="en-US" sz="1500" dirty="0"/>
          </a:p>
        </p:txBody>
      </p:sp>
      <p:sp>
        <p:nvSpPr>
          <p:cNvPr id="12" name="Shape 10"/>
          <p:cNvSpPr/>
          <p:nvPr/>
        </p:nvSpPr>
        <p:spPr>
          <a:xfrm>
            <a:off x="3291840" y="4498848"/>
            <a:ext cx="1528354" cy="219456"/>
          </a:xfrm>
          <a:prstGeom prst="roundRect">
            <a:avLst>
              <a:gd name="adj" fmla="val 20833"/>
            </a:avLst>
          </a:prstGeom>
          <a:solidFill>
            <a:srgbClr val="C9DAEC"/>
          </a:solidFill>
          <a:ln/>
        </p:spPr>
      </p:sp>
      <p:sp>
        <p:nvSpPr>
          <p:cNvPr id="13" name="Text 11"/>
          <p:cNvSpPr/>
          <p:nvPr/>
        </p:nvSpPr>
        <p:spPr>
          <a:xfrm>
            <a:off x="4911634" y="4462272"/>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18%</a:t>
            </a:r>
            <a:endParaRPr lang="en-US" sz="1500" dirty="0"/>
          </a:p>
        </p:txBody>
      </p:sp>
      <p:sp>
        <p:nvSpPr>
          <p:cNvPr id="14" name="Text 12"/>
          <p:cNvSpPr/>
          <p:nvPr/>
        </p:nvSpPr>
        <p:spPr>
          <a:xfrm>
            <a:off x="731520" y="4864608"/>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Vuong Quang Quy</a:t>
            </a:r>
            <a:endParaRPr lang="en-US" sz="1500" dirty="0"/>
          </a:p>
        </p:txBody>
      </p:sp>
      <p:sp>
        <p:nvSpPr>
          <p:cNvPr id="15" name="Shape 13"/>
          <p:cNvSpPr/>
          <p:nvPr/>
        </p:nvSpPr>
        <p:spPr>
          <a:xfrm>
            <a:off x="3291840" y="4901184"/>
            <a:ext cx="1443446" cy="219456"/>
          </a:xfrm>
          <a:prstGeom prst="roundRect">
            <a:avLst>
              <a:gd name="adj" fmla="val 20833"/>
            </a:avLst>
          </a:prstGeom>
          <a:solidFill>
            <a:srgbClr val="C9DAEC"/>
          </a:solidFill>
          <a:ln/>
        </p:spPr>
      </p:sp>
      <p:sp>
        <p:nvSpPr>
          <p:cNvPr id="16" name="Text 14"/>
          <p:cNvSpPr/>
          <p:nvPr/>
        </p:nvSpPr>
        <p:spPr>
          <a:xfrm>
            <a:off x="4826726" y="4864608"/>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17%</a:t>
            </a:r>
            <a:endParaRPr lang="en-US" sz="1500" dirty="0"/>
          </a:p>
        </p:txBody>
      </p:sp>
      <p:sp>
        <p:nvSpPr>
          <p:cNvPr id="17" name="Text 15"/>
          <p:cNvSpPr/>
          <p:nvPr/>
        </p:nvSpPr>
        <p:spPr>
          <a:xfrm>
            <a:off x="731520" y="5266944"/>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Phuong Nam</a:t>
            </a:r>
            <a:endParaRPr lang="en-US" sz="1500" dirty="0"/>
          </a:p>
        </p:txBody>
      </p:sp>
      <p:sp>
        <p:nvSpPr>
          <p:cNvPr id="18" name="Shape 16"/>
          <p:cNvSpPr/>
          <p:nvPr/>
        </p:nvSpPr>
        <p:spPr>
          <a:xfrm>
            <a:off x="3291840" y="5303520"/>
            <a:ext cx="1273629" cy="219456"/>
          </a:xfrm>
          <a:prstGeom prst="roundRect">
            <a:avLst>
              <a:gd name="adj" fmla="val 20833"/>
            </a:avLst>
          </a:prstGeom>
          <a:solidFill>
            <a:srgbClr val="C9DAEC"/>
          </a:solidFill>
          <a:ln/>
        </p:spPr>
      </p:sp>
      <p:sp>
        <p:nvSpPr>
          <p:cNvPr id="19" name="Text 17"/>
          <p:cNvSpPr/>
          <p:nvPr/>
        </p:nvSpPr>
        <p:spPr>
          <a:xfrm>
            <a:off x="4656909" y="5266944"/>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a:t>
            </a:r>
            <a:endParaRPr lang="en-US" sz="1500" dirty="0"/>
          </a:p>
        </p:txBody>
      </p:sp>
      <p:sp>
        <p:nvSpPr>
          <p:cNvPr id="20" name="Text 18"/>
          <p:cNvSpPr/>
          <p:nvPr/>
        </p:nvSpPr>
        <p:spPr>
          <a:xfrm>
            <a:off x="731520" y="5760720"/>
            <a:ext cx="5943600" cy="5029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English Writing and Presentation Skills · October 2026</a:t>
            </a:r>
            <a:endParaRPr lang="en-US" sz="1400" dirty="0"/>
          </a:p>
        </p:txBody>
      </p:sp>
      <p:pic>
        <p:nvPicPr>
          <p:cNvPr id="21"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
        <p:nvSpPr>
          <p:cNvPr id="22" name="Text 1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85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92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Reference: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answers run or refuse.</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chances. Fixed code reads only the fields the action needs and guards it.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70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D3EBE8"/>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D3EBE8"/>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D3EBE8"/>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DFE4EA"/>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D6E4F3"/>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chances</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DFE4EA"/>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D3EBE8"/>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DFE4EA"/>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D6E4F3"/>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DFE4EA"/>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DFE4EA"/>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DFE4EA"/>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D6E4F3"/>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D3EBE8"/>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Security rule: chosen on held-out data</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56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4 of 4</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fraud errors fixed by the Security queue, with 0 false stops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A94A4A"/>
          </a:solidFill>
          <a:ln w="12700">
            <a:solidFill>
              <a:srgbClr val="A94A4A"/>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2600" b="1" dirty="0">
                <a:solidFill>
                  <a:srgbClr val="A94A4A"/>
                </a:solidFill>
                <a:latin typeface="Calibri" pitchFamily="34" charset="0"/>
                <a:ea typeface="Calibri" pitchFamily="34" charset="-122"/>
                <a:cs typeface="Calibri" pitchFamily="34" charset="-120"/>
              </a:rPr>
              <a:t>8 false stops</a:t>
            </a:r>
            <a:endParaRPr lang="en-US" sz="26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valid actions stopped by the risk flag, so we rejected it</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4A82B8"/>
          </a:solidFill>
          <a:ln w="12700">
            <a:solidFill>
              <a:srgbClr val="4A82B8"/>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4A82B8"/>
                </a:solidFill>
                <a:latin typeface="Calibri" pitchFamily="34" charset="0"/>
                <a:ea typeface="Calibri" pitchFamily="34" charset="-122"/>
                <a:cs typeface="Calibri" pitchFamily="34" charset="-120"/>
              </a:rPr>
              <a:t>3 of 3</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fixed at Level 2 too: the agent reads the same rule, 0 false stops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24</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held-out requests, frozen early</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719</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forged fault cases; 793 requests in all</a:t>
            </a:r>
            <a:endParaRPr lang="en-US" sz="1500" dirty="0"/>
          </a:p>
        </p:txBody>
      </p:sp>
      <p:sp>
        <p:nvSpPr>
          <p:cNvPr id="25" name="Shape 18"/>
          <p:cNvSpPr/>
          <p:nvPr/>
        </p:nvSpPr>
        <p:spPr>
          <a:xfrm>
            <a:off x="548640" y="3383280"/>
            <a:ext cx="11094415" cy="658368"/>
          </a:xfrm>
          <a:prstGeom prst="roundRect">
            <a:avLst>
              <a:gd name="adj" fmla="val 11111"/>
            </a:avLst>
          </a:prstGeom>
          <a:solidFill>
            <a:srgbClr val="FFFFFF"/>
          </a:solidFill>
          <a:ln/>
        </p:spPr>
      </p:sp>
      <p:sp>
        <p:nvSpPr>
          <p:cNvPr id="26" name="Text 19"/>
          <p:cNvSpPr/>
          <p:nvPr/>
        </p:nvSpPr>
        <p:spPr>
          <a:xfrm>
            <a:off x="777240" y="3502152"/>
            <a:ext cx="822960" cy="420624"/>
          </a:xfrm>
          <a:prstGeom prst="roundRect">
            <a:avLst>
              <a:gd name="adj" fmla="val 17391"/>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Q1</a:t>
            </a:r>
            <a:endParaRPr lang="en-US" sz="1600" dirty="0"/>
          </a:p>
        </p:txBody>
      </p:sp>
      <p:sp>
        <p:nvSpPr>
          <p:cNvPr id="27" name="Text 20"/>
          <p:cNvSpPr/>
          <p:nvPr/>
        </p:nvSpPr>
        <p:spPr>
          <a:xfrm>
            <a:off x="1828800" y="3383280"/>
            <a:ext cx="9585655" cy="658368"/>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600" dirty="0"/>
          </a:p>
        </p:txBody>
      </p:sp>
      <p:sp>
        <p:nvSpPr>
          <p:cNvPr id="28" name="Shape 21"/>
          <p:cNvSpPr/>
          <p:nvPr/>
        </p:nvSpPr>
        <p:spPr>
          <a:xfrm>
            <a:off x="548640" y="4160520"/>
            <a:ext cx="11094415" cy="658368"/>
          </a:xfrm>
          <a:prstGeom prst="roundRect">
            <a:avLst>
              <a:gd name="adj" fmla="val 11111"/>
            </a:avLst>
          </a:prstGeom>
          <a:solidFill>
            <a:srgbClr val="FFFFFF"/>
          </a:solidFill>
          <a:ln/>
        </p:spPr>
      </p:sp>
      <p:sp>
        <p:nvSpPr>
          <p:cNvPr id="29" name="Text 22"/>
          <p:cNvSpPr/>
          <p:nvPr/>
        </p:nvSpPr>
        <p:spPr>
          <a:xfrm>
            <a:off x="777240" y="4279392"/>
            <a:ext cx="822960" cy="420624"/>
          </a:xfrm>
          <a:prstGeom prst="roundRect">
            <a:avLst>
              <a:gd name="adj" fmla="val 17391"/>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Q2</a:t>
            </a:r>
            <a:endParaRPr lang="en-US" sz="1600" dirty="0"/>
          </a:p>
        </p:txBody>
      </p:sp>
      <p:sp>
        <p:nvSpPr>
          <p:cNvPr id="30" name="Text 23"/>
          <p:cNvSpPr/>
          <p:nvPr/>
        </p:nvSpPr>
        <p:spPr>
          <a:xfrm>
            <a:off x="1828800" y="4160520"/>
            <a:ext cx="9585655" cy="658368"/>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What changes when Jev replaces the LLM as the classifier? Accuracy, speed, cost, and chances.</a:t>
            </a:r>
            <a:endParaRPr lang="en-US" sz="1600" dirty="0"/>
          </a:p>
        </p:txBody>
      </p:sp>
      <p:sp>
        <p:nvSpPr>
          <p:cNvPr id="31" name="Shape 24"/>
          <p:cNvSpPr/>
          <p:nvPr/>
        </p:nvSpPr>
        <p:spPr>
          <a:xfrm>
            <a:off x="548640" y="4937760"/>
            <a:ext cx="11094415" cy="658368"/>
          </a:xfrm>
          <a:prstGeom prst="roundRect">
            <a:avLst>
              <a:gd name="adj" fmla="val 11111"/>
            </a:avLst>
          </a:prstGeom>
          <a:solidFill>
            <a:srgbClr val="FFFFFF"/>
          </a:solidFill>
          <a:ln/>
        </p:spPr>
      </p:sp>
      <p:sp>
        <p:nvSpPr>
          <p:cNvPr id="32" name="Text 25"/>
          <p:cNvSpPr/>
          <p:nvPr/>
        </p:nvSpPr>
        <p:spPr>
          <a:xfrm>
            <a:off x="777240" y="5056632"/>
            <a:ext cx="822960" cy="420624"/>
          </a:xfrm>
          <a:prstGeom prst="roundRect">
            <a:avLst>
              <a:gd name="adj" fmla="val 17391"/>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Q3</a:t>
            </a:r>
            <a:endParaRPr lang="en-US" sz="1600" dirty="0"/>
          </a:p>
        </p:txBody>
      </p:sp>
      <p:sp>
        <p:nvSpPr>
          <p:cNvPr id="33" name="Text 26"/>
          <p:cNvSpPr/>
          <p:nvPr/>
        </p:nvSpPr>
        <p:spPr>
          <a:xfrm>
            <a:off x="1828800" y="4937760"/>
            <a:ext cx="9585655" cy="658368"/>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Do the rules hold when answers are forged, a reply lies, or Jev checks the rules?</a:t>
            </a:r>
            <a:endParaRPr lang="en-US" sz="1600" dirty="0"/>
          </a:p>
        </p:txBody>
      </p:sp>
      <p:sp>
        <p:nvSpPr>
          <p:cNvPr id="34" name="Text 27"/>
          <p:cNvSpPr/>
          <p:nvPr/>
        </p:nvSpPr>
        <p:spPr>
          <a:xfrm>
            <a:off x="548640" y="576072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 V4.1 Flash. A recorded run replays offline with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55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queue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reference: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3: the fixed guard held on 575 of 575</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38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575 of 575</a:t>
            </a:r>
            <a:endParaRPr lang="en-US" sz="28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forged requests denied, 0 unsafe; no model call, only the fixed rules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72 and 72</a:t>
            </a:r>
            <a:endParaRPr lang="en-US" sz="28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teammate resets go to the e-mail on file; a lying reply changes no action</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A94A4A"/>
          </a:solidFill>
          <a:ln w="12700">
            <a:solidFill>
              <a:srgbClr val="A94A4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A94A4A"/>
                </a:solidFill>
                <a:latin typeface="Calibri" pitchFamily="34" charset="0"/>
                <a:ea typeface="Calibri" pitchFamily="34" charset="-122"/>
                <a:cs typeface="Calibri" pitchFamily="34" charset="-120"/>
              </a:rPr>
              <a:t>94 of 575</a:t>
            </a:r>
            <a:endParaRPr lang="en-US" sz="28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ran when Jev checked the rules; 17 of 50 answers were invalid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2B3440"/>
                </a:solidFill>
                <a:latin typeface="Calibri" pitchFamily="34" charset="0"/>
                <a:ea typeface="Calibri" pitchFamily="34" charset="-122"/>
                <a:cs typeface="Calibri" pitchFamily="34" charset="-120"/>
              </a:rPr>
              <a:t>Synthetic data and our own labels: 50 requests in 24 types, plus 24 held-out</a:t>
            </a:r>
            <a:endParaRPr lang="en-US" sz="1700" dirty="0"/>
          </a:p>
          <a:p>
            <a:pPr marL="342900" indent="-342900">
              <a:spcAft>
                <a:spcPts val="1200"/>
              </a:spcAft>
              <a:buSzPct val="100000"/>
              <a:buChar char="•"/>
            </a:pPr>
            <a:r>
              <a:rPr lang="en-US" sz="17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700" dirty="0"/>
          </a:p>
          <a:p>
            <a:pPr marL="342900" indent="-342900">
              <a:spcAft>
                <a:spcPts val="1200"/>
              </a:spcAft>
              <a:buSzPct val="100000"/>
              <a:buChar char="•"/>
            </a:pPr>
            <a:r>
              <a:rPr lang="en-US" sz="17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700" dirty="0"/>
          </a:p>
          <a:p>
            <a:pPr marL="342900" indent="-342900">
              <a:spcAft>
                <a:spcPts val="1200"/>
              </a:spcAft>
              <a:buSzPct val="100000"/>
              <a:buChar char="•"/>
            </a:pPr>
            <a:r>
              <a:rPr lang="en-US" sz="17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700" dirty="0"/>
          </a:p>
          <a:p>
            <a:pPr marL="342900" indent="-342900">
              <a:spcAft>
                <a:spcPts val="1200"/>
              </a:spcAft>
              <a:buSzPct val="100000"/>
              <a:buChar char="•"/>
            </a:pPr>
            <a:r>
              <a:rPr lang="en-US" sz="1700" dirty="0">
                <a:solidFill>
                  <a:srgbClr val="2B3440"/>
                </a:solidFill>
                <a:latin typeface="Calibri" pitchFamily="34" charset="0"/>
                <a:ea typeface="Calibri" pitchFamily="34" charset="-122"/>
                <a:cs typeface="Calibri" pitchFamily="34" charset="-120"/>
              </a:rPr>
              <a:t>The Security rule was found on the main set, then validated on the held-out set</a:t>
            </a:r>
            <a:endParaRPr lang="en-US" sz="17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requests with independent labels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 study with real support staff</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Several runs and other models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The Security rule fixed 4 of 4 fraud errors with 0 false stops on 24 held-out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Fixed rules denied 575 of 575 forged requests. Jev as the guard let 94 run, so the guard stays fixed code.</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60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2026-10-06T23:58:21Z</dcterms:created>
  <dcterms:modified xsi:type="dcterms:W3CDTF">2026-10-06T23:58:21Z</dcterms:modified>
</cp:coreProperties>
</file>