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Wrong outcome</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 system that handles money and data without a check can cause severe harm. Companies often deploy LLM agents that read policy text and act directly, but these agents are slow, expensive, and vulnerable to prompt injection. Today, we study an alternative architecture: combining intent classification, rule checks in code, and an LLM that writes the reply,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LLM agent reads these rules as prompt text. Our pipeline checks each rule with one question, and the code runs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Real policies have many rules. Who should apply every rule: an LLM agent, or a fast classifier? We compare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for a refund. Watch the Rules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Next, we need real tickets, a separate request set, and stronger systems to compare with. The Red Hat link is outside context, not our data.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10-4.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22-6.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29-2.png"/><Relationship Id="rId3" Type="http://schemas.openxmlformats.org/officeDocument/2006/relationships/image" Target="../media/image-10-5.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1-1.png"/><Relationship Id="rId3" Type="http://schemas.openxmlformats.org/officeDocument/2006/relationships/image" Target="../media/image-10-5.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10-6.png"/><Relationship Id="rId3" Type="http://schemas.openxmlformats.org/officeDocument/2006/relationships/image" Target="../media/image-22-3.png"/><Relationship Id="rId4" Type="http://schemas.openxmlformats.org/officeDocument/2006/relationships/image" Target="../media/image-10-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1.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1-1.png"/><Relationship Id="rId3" Type="http://schemas.openxmlformats.org/officeDocument/2006/relationships/image" Target="../media/image-1-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image" Target="../media/image-1-1.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3.png"/><Relationship Id="rId3" Type="http://schemas.openxmlformats.org/officeDocument/2006/relationships/image" Target="../media/image-22-6.png"/><Relationship Id="rId4"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2-1.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image" Target="../media/image-10-6.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image" Target="../media/image-10-5.png"/><Relationship Id="rId3" Type="http://schemas.openxmlformats.org/officeDocument/2006/relationships/image" Target="../media/image-26-3.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6.png"/><Relationship Id="rId3" Type="http://schemas.openxmlformats.org/officeDocument/2006/relationships/image" Target="../media/image-1-1.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developers.redhat.com/articles/2026/10/02/benchmarking-ai-decision-models-against-traditional-guardrails" TargetMode="External"/><Relationship Id="rId2" Type="http://schemas.openxmlformats.org/officeDocument/2006/relationships/image" Target="../media/image-22-1.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29-2.png"/><Relationship Id="rId3" Type="http://schemas.openxmlformats.org/officeDocument/2006/relationships/image" Target="../media/image-22-1.png"/><Relationship Id="rId4" Type="http://schemas.openxmlformats.org/officeDocument/2006/relationships/image" Target="../media/image-10-5.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123444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Structured Decision</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Gates</a:t>
            </a:r>
            <a:endParaRPr lang="en-US" sz="3800" dirty="0"/>
          </a:p>
        </p:txBody>
      </p:sp>
      <p:sp>
        <p:nvSpPr>
          <p:cNvPr id="5" name="Text 3"/>
          <p:cNvSpPr/>
          <p:nvPr/>
        </p:nvSpPr>
        <p:spPr>
          <a:xfrm>
            <a:off x="640080" y="2724912"/>
            <a:ext cx="5394960" cy="868680"/>
          </a:xfrm>
          <a:prstGeom prst="rect">
            <a:avLst/>
          </a:prstGeom>
          <a:noFill/>
          <a:ln/>
        </p:spPr>
        <p:txBody>
          <a:bodyPr wrap="square" lIns="0" tIns="0" rIns="0" bIns="0" rtlCol="0" anchor="t"/>
          <a:lstStyle/>
          <a:p>
            <a:pPr indent="0" marL="0">
              <a:buNone/>
            </a:pPr>
            <a:r>
              <a:rPr lang="en-US" sz="2000" dirty="0">
                <a:solidFill>
                  <a:srgbClr val="E3ECF6"/>
                </a:solidFill>
                <a:latin typeface="Calibri" pitchFamily="34" charset="0"/>
                <a:ea typeface="Calibri" pitchFamily="34" charset="-122"/>
                <a:cs typeface="Calibri" pitchFamily="34" charset="-120"/>
              </a:rPr>
              <a:t>Customer Support Agents:</a:t>
            </a:r>
            <a:endParaRPr lang="en-US" sz="2000" dirty="0"/>
          </a:p>
          <a:p>
            <a:pPr indent="0" marL="0">
              <a:buNone/>
            </a:pPr>
            <a:r>
              <a:rPr lang="en-US" sz="2000" dirty="0">
                <a:solidFill>
                  <a:srgbClr val="E3ECF6"/>
                </a:solidFill>
                <a:latin typeface="Calibri" pitchFamily="34" charset="0"/>
                <a:ea typeface="Calibri" pitchFamily="34" charset="-122"/>
                <a:cs typeface="Calibri" pitchFamily="34" charset="-120"/>
              </a:rPr>
              <a:t>Intent Detection and Rule Checks</a:t>
            </a:r>
            <a:endParaRPr lang="en-US" sz="2000" dirty="0"/>
          </a:p>
        </p:txBody>
      </p:sp>
      <p:sp>
        <p:nvSpPr>
          <p:cNvPr id="6" name="Text 4"/>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agent designs</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for support</a:t>
            </a:r>
            <a:endParaRPr lang="en-US" sz="2600" dirty="0"/>
          </a:p>
        </p:txBody>
      </p:sp>
      <p:sp>
        <p:nvSpPr>
          <p:cNvPr id="9"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10" name="Shape 8"/>
          <p:cNvSpPr/>
          <p:nvPr/>
        </p:nvSpPr>
        <p:spPr>
          <a:xfrm>
            <a:off x="6949440" y="2176272"/>
            <a:ext cx="2186788" cy="4041648"/>
          </a:xfrm>
          <a:prstGeom prst="roundRect">
            <a:avLst>
              <a:gd name="adj" fmla="val 3345"/>
            </a:avLst>
          </a:prstGeom>
          <a:solidFill>
            <a:srgbClr val="FFFFFF"/>
          </a:solidFill>
          <a:ln/>
        </p:spPr>
      </p:sp>
      <p:sp>
        <p:nvSpPr>
          <p:cNvPr id="11"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2"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3"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LLM</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Agent</a:t>
            </a:r>
            <a:endParaRPr lang="en-US" sz="1500" dirty="0"/>
          </a:p>
        </p:txBody>
      </p:sp>
      <p:sp>
        <p:nvSpPr>
          <p:cNvPr id="14"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5" name="Shape 12"/>
          <p:cNvSpPr/>
          <p:nvPr/>
        </p:nvSpPr>
        <p:spPr>
          <a:xfrm>
            <a:off x="9364828" y="2176272"/>
            <a:ext cx="2186788" cy="4041648"/>
          </a:xfrm>
          <a:prstGeom prst="roundRect">
            <a:avLst>
              <a:gd name="adj" fmla="val 3345"/>
            </a:avLst>
          </a:prstGeom>
          <a:solidFill>
            <a:srgbClr val="FFFFFF"/>
          </a:solidFill>
          <a:ln/>
        </p:spPr>
      </p:sp>
      <p:sp>
        <p:nvSpPr>
          <p:cNvPr id="16"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7"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8"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9"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Code applies the rule answers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LLM agents fail alone</a:t>
            </a:r>
            <a:endParaRPr lang="en-US" sz="3600" dirty="0"/>
          </a:p>
        </p:txBody>
      </p:sp>
      <p:sp>
        <p:nvSpPr>
          <p:cNvPr id="4"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5"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716146" y="1642994"/>
            <a:ext cx="225308" cy="225308"/>
          </a:xfrm>
          <a:prstGeom prst="rect">
            <a:avLst/>
          </a:prstGeom>
        </p:spPr>
      </p:pic>
      <p:sp>
        <p:nvSpPr>
          <p:cNvPr id="7"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8"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9"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0" name="Image 1" descr="preencoded.png">    </p:cNvPr>
          <p:cNvPicPr>
            <a:picLocks noChangeAspect="1"/>
          </p:cNvPicPr>
          <p:nvPr/>
        </p:nvPicPr>
        <p:blipFill>
          <a:blip r:embed="rId2"/>
          <a:stretch>
            <a:fillRect/>
          </a:stretch>
        </p:blipFill>
        <p:spPr>
          <a:xfrm>
            <a:off x="1755648" y="2734056"/>
            <a:ext cx="256032" cy="256032"/>
          </a:xfrm>
          <a:prstGeom prst="rect">
            <a:avLst/>
          </a:prstGeom>
        </p:spPr>
      </p:pic>
      <p:sp>
        <p:nvSpPr>
          <p:cNvPr id="11"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2" name="Image 2" descr="preencoded.png">    </p:cNvPr>
          <p:cNvPicPr>
            <a:picLocks noChangeAspect="1"/>
          </p:cNvPicPr>
          <p:nvPr/>
        </p:nvPicPr>
        <p:blipFill>
          <a:blip r:embed="rId3"/>
          <a:stretch>
            <a:fillRect/>
          </a:stretch>
        </p:blipFill>
        <p:spPr>
          <a:xfrm>
            <a:off x="5166360" y="2194560"/>
            <a:ext cx="1188720" cy="685800"/>
          </a:xfrm>
          <a:prstGeom prst="rect">
            <a:avLst/>
          </a:prstGeom>
        </p:spPr>
      </p:pic>
      <p:sp>
        <p:nvSpPr>
          <p:cNvPr id="13"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4"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5" name="Image 3" descr="preencoded.png">    </p:cNvPr>
          <p:cNvPicPr>
            <a:picLocks noChangeAspect="1"/>
          </p:cNvPicPr>
          <p:nvPr/>
        </p:nvPicPr>
        <p:blipFill>
          <a:blip r:embed="rId4"/>
          <a:stretch>
            <a:fillRect/>
          </a:stretch>
        </p:blipFill>
        <p:spPr>
          <a:xfrm>
            <a:off x="6568135" y="2087575"/>
            <a:ext cx="588874" cy="588874"/>
          </a:xfrm>
          <a:prstGeom prst="rect">
            <a:avLst/>
          </a:prstGeom>
        </p:spPr>
      </p:pic>
      <p:sp>
        <p:nvSpPr>
          <p:cNvPr id="16"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LLM agent</a:t>
            </a:r>
            <a:endParaRPr lang="en-US" sz="1500" dirty="0"/>
          </a:p>
        </p:txBody>
      </p:sp>
      <p:sp>
        <p:nvSpPr>
          <p:cNvPr id="17"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18" name="Image 4" descr="preencoded.png">    </p:cNvPr>
          <p:cNvPicPr>
            <a:picLocks noChangeAspect="1"/>
          </p:cNvPicPr>
          <p:nvPr/>
        </p:nvPicPr>
        <p:blipFill>
          <a:blip r:embed="rId5"/>
          <a:stretch>
            <a:fillRect/>
          </a:stretch>
        </p:blipFill>
        <p:spPr>
          <a:xfrm>
            <a:off x="7315200" y="2148840"/>
            <a:ext cx="777240" cy="457200"/>
          </a:xfrm>
          <a:prstGeom prst="rect">
            <a:avLst/>
          </a:prstGeom>
        </p:spPr>
      </p:pic>
      <p:sp>
        <p:nvSpPr>
          <p:cNvPr id="19"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0"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1" name="Image 5" descr="preencoded.png">    </p:cNvPr>
          <p:cNvPicPr>
            <a:picLocks noChangeAspect="1"/>
          </p:cNvPicPr>
          <p:nvPr/>
        </p:nvPicPr>
        <p:blipFill>
          <a:blip r:embed="rId6"/>
          <a:stretch>
            <a:fillRect/>
          </a:stretch>
        </p:blipFill>
        <p:spPr>
          <a:xfrm>
            <a:off x="8302752" y="1517904"/>
            <a:ext cx="274320" cy="274320"/>
          </a:xfrm>
          <a:prstGeom prst="rect">
            <a:avLst/>
          </a:prstGeom>
        </p:spPr>
      </p:pic>
      <p:sp>
        <p:nvSpPr>
          <p:cNvPr id="22"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3"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4" name="Image 6" descr="preencoded.png">    </p:cNvPr>
          <p:cNvPicPr>
            <a:picLocks noChangeAspect="1"/>
          </p:cNvPicPr>
          <p:nvPr/>
        </p:nvPicPr>
        <p:blipFill>
          <a:blip r:embed="rId7"/>
          <a:stretch>
            <a:fillRect/>
          </a:stretch>
        </p:blipFill>
        <p:spPr>
          <a:xfrm>
            <a:off x="8302752" y="2103120"/>
            <a:ext cx="274320" cy="274320"/>
          </a:xfrm>
          <a:prstGeom prst="rect">
            <a:avLst/>
          </a:prstGeom>
        </p:spPr>
      </p:pic>
      <p:sp>
        <p:nvSpPr>
          <p:cNvPr id="25"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6"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7" name="Image 7" descr="preencoded.png">    </p:cNvPr>
          <p:cNvPicPr>
            <a:picLocks noChangeAspect="1"/>
          </p:cNvPicPr>
          <p:nvPr/>
        </p:nvPicPr>
        <p:blipFill>
          <a:blip r:embed="rId8"/>
          <a:stretch>
            <a:fillRect/>
          </a:stretch>
        </p:blipFill>
        <p:spPr>
          <a:xfrm>
            <a:off x="8302752" y="2688336"/>
            <a:ext cx="274320" cy="274320"/>
          </a:xfrm>
          <a:prstGeom prst="rect">
            <a:avLst/>
          </a:prstGeom>
        </p:spPr>
      </p:pic>
      <p:sp>
        <p:nvSpPr>
          <p:cNvPr id="28"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29"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0" name="Image 8" descr="preencoded.png">    </p:cNvPr>
          <p:cNvPicPr>
            <a:picLocks noChangeAspect="1"/>
          </p:cNvPicPr>
          <p:nvPr/>
        </p:nvPicPr>
        <p:blipFill>
          <a:blip r:embed="rId9"/>
          <a:stretch>
            <a:fillRect/>
          </a:stretch>
        </p:blipFill>
        <p:spPr>
          <a:xfrm>
            <a:off x="8275320" y="3300984"/>
            <a:ext cx="274320" cy="274320"/>
          </a:xfrm>
          <a:prstGeom prst="rect">
            <a:avLst/>
          </a:prstGeom>
        </p:spPr>
      </p:pic>
      <p:sp>
        <p:nvSpPr>
          <p:cNvPr id="31"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2"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3"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4"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5" name="Image 9" descr="preencoded.png">    </p:cNvPr>
          <p:cNvPicPr>
            <a:picLocks noChangeAspect="1"/>
          </p:cNvPicPr>
          <p:nvPr/>
        </p:nvPicPr>
        <p:blipFill>
          <a:blip r:embed="rId10"/>
          <a:stretch>
            <a:fillRect/>
          </a:stretch>
        </p:blipFill>
        <p:spPr>
          <a:xfrm>
            <a:off x="1150681" y="5402641"/>
            <a:ext cx="368686" cy="368686"/>
          </a:xfrm>
          <a:prstGeom prst="rect">
            <a:avLst/>
          </a:prstGeom>
        </p:spPr>
      </p:pic>
      <p:sp>
        <p:nvSpPr>
          <p:cNvPr id="36"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7"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38"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39" name="Image 10" descr="preencoded.png">    </p:cNvPr>
          <p:cNvPicPr>
            <a:picLocks noChangeAspect="1"/>
          </p:cNvPicPr>
          <p:nvPr/>
        </p:nvPicPr>
        <p:blipFill>
          <a:blip r:embed="rId11"/>
          <a:stretch>
            <a:fillRect/>
          </a:stretch>
        </p:blipFill>
        <p:spPr>
          <a:xfrm>
            <a:off x="4899721" y="5402641"/>
            <a:ext cx="368686" cy="368686"/>
          </a:xfrm>
          <a:prstGeom prst="rect">
            <a:avLst/>
          </a:prstGeom>
        </p:spPr>
      </p:pic>
      <p:sp>
        <p:nvSpPr>
          <p:cNvPr id="40"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1"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2"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3" name="Image 11" descr="preencoded.png">    </p:cNvPr>
          <p:cNvPicPr>
            <a:picLocks noChangeAspect="1"/>
          </p:cNvPicPr>
          <p:nvPr/>
        </p:nvPicPr>
        <p:blipFill>
          <a:blip r:embed="rId12"/>
          <a:stretch>
            <a:fillRect/>
          </a:stretch>
        </p:blipFill>
        <p:spPr>
          <a:xfrm>
            <a:off x="8648761" y="5402641"/>
            <a:ext cx="368686" cy="368686"/>
          </a:xfrm>
          <a:prstGeom prst="rect">
            <a:avLst/>
          </a:prstGeom>
        </p:spPr>
      </p:pic>
      <p:sp>
        <p:nvSpPr>
          <p:cNvPr id="44"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5"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5"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0"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5"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0"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5"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0"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5"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0"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systems</a:t>
            </a:r>
            <a:endParaRPr lang="en-US" sz="3600" dirty="0"/>
          </a:p>
        </p:txBody>
      </p:sp>
      <p:pic>
        <p:nvPicPr>
          <p:cNvPr id="4"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5" name="Image 1" descr="preencoded.png">    </p:cNvPr>
          <p:cNvPicPr>
            <a:picLocks noChangeAspect="1"/>
          </p:cNvPicPr>
          <p:nvPr/>
        </p:nvPicPr>
        <p:blipFill>
          <a:blip r:embed="rId2"/>
          <a:stretch>
            <a:fillRect/>
          </a:stretch>
        </p:blipFill>
        <p:spPr>
          <a:xfrm>
            <a:off x="502920" y="4922215"/>
            <a:ext cx="822960" cy="822960"/>
          </a:xfrm>
          <a:prstGeom prst="rect">
            <a:avLst/>
          </a:prstGeom>
        </p:spPr>
      </p:pic>
      <p:pic>
        <p:nvPicPr>
          <p:cNvPr id="6" name="Image 2" descr="preencoded.png">    </p:cNvPr>
          <p:cNvPicPr>
            <a:picLocks noChangeAspect="1"/>
          </p:cNvPicPr>
          <p:nvPr/>
        </p:nvPicPr>
        <p:blipFill>
          <a:blip r:embed="rId3"/>
          <a:stretch>
            <a:fillRect/>
          </a:stretch>
        </p:blipFill>
        <p:spPr>
          <a:xfrm>
            <a:off x="3550615" y="3246120"/>
            <a:ext cx="822960" cy="822960"/>
          </a:xfrm>
          <a:prstGeom prst="rect">
            <a:avLst/>
          </a:prstGeom>
        </p:spPr>
      </p:pic>
      <p:sp>
        <p:nvSpPr>
          <p:cNvPr id="7"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8" name="Image 3" descr="preencoded.png">    </p:cNvPr>
          <p:cNvPicPr>
            <a:picLocks noChangeAspect="1"/>
          </p:cNvPicPr>
          <p:nvPr/>
        </p:nvPicPr>
        <p:blipFill>
          <a:blip r:embed="rId4"/>
          <a:stretch>
            <a:fillRect/>
          </a:stretch>
        </p:blipFill>
        <p:spPr>
          <a:xfrm>
            <a:off x="1726387" y="4615891"/>
            <a:ext cx="402336" cy="402336"/>
          </a:xfrm>
          <a:prstGeom prst="rect">
            <a:avLst/>
          </a:prstGeom>
        </p:spPr>
      </p:pic>
      <p:sp>
        <p:nvSpPr>
          <p:cNvPr id="9"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0"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1"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2"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3"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4" name="Text 7"/>
          <p:cNvSpPr/>
          <p:nvPr/>
        </p:nvSpPr>
        <p:spPr>
          <a:xfrm>
            <a:off x="4267505" y="4261104"/>
            <a:ext cx="51206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LLM Classifier + Agent</a:t>
            </a:r>
            <a:endParaRPr lang="en-US" sz="2200" dirty="0"/>
          </a:p>
        </p:txBody>
      </p:sp>
      <p:sp>
        <p:nvSpPr>
          <p:cNvPr id="15"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 LLM labels the message, then an LLM agent</a:t>
            </a:r>
            <a:endParaRPr lang="en-US" sz="1600" dirty="0"/>
          </a:p>
        </p:txBody>
      </p:sp>
      <p:sp>
        <p:nvSpPr>
          <p:cNvPr id="16"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holds the rules, decides, and acts</a:t>
            </a:r>
            <a:endParaRPr lang="en-US" sz="1600" dirty="0"/>
          </a:p>
        </p:txBody>
      </p:sp>
      <p:sp>
        <p:nvSpPr>
          <p:cNvPr id="17"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18"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19"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LLM agent: reads the rules in prompt text.   Jev pipeline: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4"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a fast classifier?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Meet Jev, a fast classifier</a:t>
            </a:r>
            <a:endParaRPr lang="en-US" sz="3600" dirty="0"/>
          </a:p>
        </p:txBody>
      </p:sp>
      <p:sp>
        <p:nvSpPr>
          <p:cNvPr id="4" name="Shape 1"/>
          <p:cNvSpPr/>
          <p:nvPr/>
        </p:nvSpPr>
        <p:spPr>
          <a:xfrm>
            <a:off x="548640" y="1371600"/>
            <a:ext cx="6400800" cy="914400"/>
          </a:xfrm>
          <a:prstGeom prst="roundRect">
            <a:avLst>
              <a:gd name="adj" fmla="val 8000"/>
            </a:avLst>
          </a:prstGeom>
          <a:solidFill>
            <a:srgbClr val="FFFFFF"/>
          </a:solidFill>
          <a:ln/>
        </p:spPr>
      </p:sp>
      <p:sp>
        <p:nvSpPr>
          <p:cNvPr id="5" name="Shape 2"/>
          <p:cNvSpPr/>
          <p:nvPr/>
        </p:nvSpPr>
        <p:spPr>
          <a:xfrm>
            <a:off x="777240" y="1508760"/>
            <a:ext cx="640080" cy="64008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18058" y="1649578"/>
            <a:ext cx="358445" cy="358445"/>
          </a:xfrm>
          <a:prstGeom prst="rect">
            <a:avLst/>
          </a:prstGeom>
        </p:spPr>
      </p:pic>
      <p:sp>
        <p:nvSpPr>
          <p:cNvPr id="7" name="Text 3"/>
          <p:cNvSpPr/>
          <p:nvPr/>
        </p:nvSpPr>
        <p:spPr>
          <a:xfrm>
            <a:off x="1600200" y="1463040"/>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Typed labels, each with a confidence</a:t>
            </a:r>
            <a:endParaRPr lang="en-US" sz="2000" dirty="0"/>
          </a:p>
        </p:txBody>
      </p:sp>
      <p:sp>
        <p:nvSpPr>
          <p:cNvPr id="8" name="Text 4"/>
          <p:cNvSpPr/>
          <p:nvPr/>
        </p:nvSpPr>
        <p:spPr>
          <a:xfrm>
            <a:off x="1600200" y="1847088"/>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Topic, action, priority, risk, injection: fixed answers.</a:t>
            </a:r>
            <a:endParaRPr lang="en-US" sz="1500" dirty="0"/>
          </a:p>
        </p:txBody>
      </p:sp>
      <p:sp>
        <p:nvSpPr>
          <p:cNvPr id="9" name="Shape 5"/>
          <p:cNvSpPr/>
          <p:nvPr/>
        </p:nvSpPr>
        <p:spPr>
          <a:xfrm>
            <a:off x="548640" y="2414016"/>
            <a:ext cx="6400800" cy="914400"/>
          </a:xfrm>
          <a:prstGeom prst="roundRect">
            <a:avLst>
              <a:gd name="adj" fmla="val 8000"/>
            </a:avLst>
          </a:prstGeom>
          <a:solidFill>
            <a:srgbClr val="FFFFFF"/>
          </a:solidFill>
          <a:ln/>
        </p:spPr>
      </p:sp>
      <p:sp>
        <p:nvSpPr>
          <p:cNvPr id="10" name="Shape 6"/>
          <p:cNvSpPr/>
          <p:nvPr/>
        </p:nvSpPr>
        <p:spPr>
          <a:xfrm>
            <a:off x="777240" y="2551176"/>
            <a:ext cx="640080" cy="640080"/>
          </a:xfrm>
          <a:prstGeom prst="ellipse">
            <a:avLst/>
          </a:prstGeom>
          <a:solidFill>
            <a:srgbClr val="234B84"/>
          </a:solidFill>
          <a:ln w="12700">
            <a:solidFill>
              <a:srgbClr val="234B84"/>
            </a:solidFill>
            <a:prstDash val="solid"/>
          </a:ln>
        </p:spPr>
      </p:sp>
      <p:pic>
        <p:nvPicPr>
          <p:cNvPr id="11" name="Image 1" descr="preencoded.png">    </p:cNvPr>
          <p:cNvPicPr>
            <a:picLocks noChangeAspect="1"/>
          </p:cNvPicPr>
          <p:nvPr/>
        </p:nvPicPr>
        <p:blipFill>
          <a:blip r:embed="rId2"/>
          <a:stretch>
            <a:fillRect/>
          </a:stretch>
        </p:blipFill>
        <p:spPr>
          <a:xfrm>
            <a:off x="918058" y="2691994"/>
            <a:ext cx="358445" cy="358445"/>
          </a:xfrm>
          <a:prstGeom prst="rect">
            <a:avLst/>
          </a:prstGeom>
        </p:spPr>
      </p:pic>
      <p:sp>
        <p:nvSpPr>
          <p:cNvPr id="12" name="Text 7"/>
          <p:cNvSpPr/>
          <p:nvPr/>
        </p:nvSpPr>
        <p:spPr>
          <a:xfrm>
            <a:off x="1600200" y="2505456"/>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Answers our own yes/no questions</a:t>
            </a:r>
            <a:endParaRPr lang="en-US" sz="2000" dirty="0"/>
          </a:p>
        </p:txBody>
      </p:sp>
      <p:sp>
        <p:nvSpPr>
          <p:cNvPr id="13" name="Text 8"/>
          <p:cNvSpPr/>
          <p:nvPr/>
        </p:nvSpPr>
        <p:spPr>
          <a:xfrm>
            <a:off x="1600200" y="2889504"/>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One zero-shot question for each rule, with no fine-tuning.</a:t>
            </a:r>
            <a:endParaRPr lang="en-US" sz="1500" dirty="0"/>
          </a:p>
        </p:txBody>
      </p:sp>
      <p:sp>
        <p:nvSpPr>
          <p:cNvPr id="14" name="Shape 9"/>
          <p:cNvSpPr/>
          <p:nvPr/>
        </p:nvSpPr>
        <p:spPr>
          <a:xfrm>
            <a:off x="548640" y="3456432"/>
            <a:ext cx="6400800" cy="914400"/>
          </a:xfrm>
          <a:prstGeom prst="roundRect">
            <a:avLst>
              <a:gd name="adj" fmla="val 8000"/>
            </a:avLst>
          </a:prstGeom>
          <a:solidFill>
            <a:srgbClr val="FFFFFF"/>
          </a:solidFill>
          <a:ln/>
        </p:spPr>
      </p:sp>
      <p:sp>
        <p:nvSpPr>
          <p:cNvPr id="15" name="Shape 10"/>
          <p:cNvSpPr/>
          <p:nvPr/>
        </p:nvSpPr>
        <p:spPr>
          <a:xfrm>
            <a:off x="777240" y="3593592"/>
            <a:ext cx="640080" cy="640080"/>
          </a:xfrm>
          <a:prstGeom prst="ellipse">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918058" y="3734410"/>
            <a:ext cx="358445" cy="358445"/>
          </a:xfrm>
          <a:prstGeom prst="rect">
            <a:avLst/>
          </a:prstGeom>
        </p:spPr>
      </p:pic>
      <p:sp>
        <p:nvSpPr>
          <p:cNvPr id="17" name="Text 11"/>
          <p:cNvSpPr/>
          <p:nvPr/>
        </p:nvSpPr>
        <p:spPr>
          <a:xfrm>
            <a:off x="1600200" y="3547872"/>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Cannot act and never writes text</a:t>
            </a:r>
            <a:endParaRPr lang="en-US" sz="2000" dirty="0"/>
          </a:p>
        </p:txBody>
      </p:sp>
      <p:sp>
        <p:nvSpPr>
          <p:cNvPr id="18" name="Text 12"/>
          <p:cNvSpPr/>
          <p:nvPr/>
        </p:nvSpPr>
        <p:spPr>
          <a:xfrm>
            <a:off x="1600200" y="3931920"/>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It only answers. It cannot run an action or write a reply.</a:t>
            </a:r>
            <a:endParaRPr lang="en-US" sz="1500" dirty="0"/>
          </a:p>
        </p:txBody>
      </p:sp>
      <p:sp>
        <p:nvSpPr>
          <p:cNvPr id="19" name="Shape 13"/>
          <p:cNvSpPr/>
          <p:nvPr/>
        </p:nvSpPr>
        <p:spPr>
          <a:xfrm>
            <a:off x="548640" y="4498848"/>
            <a:ext cx="6400800" cy="914400"/>
          </a:xfrm>
          <a:prstGeom prst="roundRect">
            <a:avLst>
              <a:gd name="adj" fmla="val 8000"/>
            </a:avLst>
          </a:prstGeom>
          <a:solidFill>
            <a:srgbClr val="FFFFFF"/>
          </a:solidFill>
          <a:ln/>
        </p:spPr>
      </p:sp>
      <p:sp>
        <p:nvSpPr>
          <p:cNvPr id="20" name="Shape 14"/>
          <p:cNvSpPr/>
          <p:nvPr/>
        </p:nvSpPr>
        <p:spPr>
          <a:xfrm>
            <a:off x="777240" y="4636008"/>
            <a:ext cx="640080" cy="640080"/>
          </a:xfrm>
          <a:prstGeom prst="ellipse">
            <a:avLst/>
          </a:prstGeom>
          <a:solidFill>
            <a:srgbClr val="234B84"/>
          </a:solidFill>
          <a:ln w="12700">
            <a:solidFill>
              <a:srgbClr val="234B84"/>
            </a:solidFill>
            <a:prstDash val="solid"/>
          </a:ln>
        </p:spPr>
      </p:sp>
      <p:pic>
        <p:nvPicPr>
          <p:cNvPr id="21" name="Image 3" descr="preencoded.png">    </p:cNvPr>
          <p:cNvPicPr>
            <a:picLocks noChangeAspect="1"/>
          </p:cNvPicPr>
          <p:nvPr/>
        </p:nvPicPr>
        <p:blipFill>
          <a:blip r:embed="rId4"/>
          <a:stretch>
            <a:fillRect/>
          </a:stretch>
        </p:blipFill>
        <p:spPr>
          <a:xfrm>
            <a:off x="918058" y="4776826"/>
            <a:ext cx="358445" cy="358445"/>
          </a:xfrm>
          <a:prstGeom prst="rect">
            <a:avLst/>
          </a:prstGeom>
        </p:spPr>
      </p:pic>
      <p:sp>
        <p:nvSpPr>
          <p:cNvPr id="22" name="Text 15"/>
          <p:cNvSpPr/>
          <p:nvPr/>
        </p:nvSpPr>
        <p:spPr>
          <a:xfrm>
            <a:off x="1600200" y="4590288"/>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Cheap per call</a:t>
            </a:r>
            <a:endParaRPr lang="en-US" sz="2000" dirty="0"/>
          </a:p>
        </p:txBody>
      </p:sp>
      <p:sp>
        <p:nvSpPr>
          <p:cNvPr id="23" name="Text 16"/>
          <p:cNvSpPr/>
          <p:nvPr/>
        </p:nvSpPr>
        <p:spPr>
          <a:xfrm>
            <a:off x="1600200" y="4974336"/>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Input: $0.042 per million tokens. Output: free.</a:t>
            </a:r>
            <a:endParaRPr lang="en-US" sz="1500" dirty="0"/>
          </a:p>
        </p:txBody>
      </p:sp>
      <p:sp>
        <p:nvSpPr>
          <p:cNvPr id="24" name="Shape 17"/>
          <p:cNvSpPr/>
          <p:nvPr/>
        </p:nvSpPr>
        <p:spPr>
          <a:xfrm>
            <a:off x="7269480" y="1371600"/>
            <a:ext cx="4373575" cy="4041648"/>
          </a:xfrm>
          <a:prstGeom prst="roundRect">
            <a:avLst>
              <a:gd name="adj" fmla="val 1810"/>
            </a:avLst>
          </a:prstGeom>
          <a:solidFill>
            <a:srgbClr val="FFFFFF"/>
          </a:solidFill>
          <a:ln/>
        </p:spPr>
      </p:sp>
      <p:sp>
        <p:nvSpPr>
          <p:cNvPr id="25" name="Text 18"/>
          <p:cNvSpPr/>
          <p:nvPr/>
        </p:nvSpPr>
        <p:spPr>
          <a:xfrm>
            <a:off x="7543800" y="1481328"/>
            <a:ext cx="3824935"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What Jev returns</a:t>
            </a:r>
            <a:endParaRPr lang="en-US" sz="2000" dirty="0"/>
          </a:p>
        </p:txBody>
      </p:sp>
      <p:sp>
        <p:nvSpPr>
          <p:cNvPr id="26" name="Text 19"/>
          <p:cNvSpPr/>
          <p:nvPr/>
        </p:nvSpPr>
        <p:spPr>
          <a:xfrm>
            <a:off x="7543800" y="1847088"/>
            <a:ext cx="382493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Recorded answers for one request</a:t>
            </a:r>
            <a:endParaRPr lang="en-US" sz="1400" dirty="0"/>
          </a:p>
        </p:txBody>
      </p:sp>
      <p:sp>
        <p:nvSpPr>
          <p:cNvPr id="27" name="Text 20"/>
          <p:cNvSpPr/>
          <p:nvPr/>
        </p:nvSpPr>
        <p:spPr>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28" name="Text 21"/>
          <p:cNvSpPr/>
          <p:nvPr/>
        </p:nvSpPr>
        <p:spPr>
          <a:xfrm>
            <a:off x="7543800" y="3310128"/>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29" name="Text 22"/>
          <p:cNvSpPr/>
          <p:nvPr/>
        </p:nvSpPr>
        <p:spPr>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Rule: Amount limit</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ok</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30" name="Shape 23"/>
          <p:cNvSpPr/>
          <p:nvPr/>
        </p:nvSpPr>
        <p:spPr>
          <a:xfrm>
            <a:off x="548640" y="5806440"/>
            <a:ext cx="11094415" cy="594360"/>
          </a:xfrm>
          <a:prstGeom prst="roundRect">
            <a:avLst>
              <a:gd name="adj" fmla="val 12308"/>
            </a:avLst>
          </a:prstGeom>
          <a:solidFill>
            <a:srgbClr val="1F7A7A"/>
          </a:solidFill>
          <a:ln/>
        </p:spPr>
      </p:sp>
      <p:pic>
        <p:nvPicPr>
          <p:cNvPr id="31" name="Image 4" descr="preencoded.png">    </p:cNvPr>
          <p:cNvPicPr>
            <a:picLocks noChangeAspect="1"/>
          </p:cNvPicPr>
          <p:nvPr/>
        </p:nvPicPr>
        <p:blipFill>
          <a:blip r:embed="rId5"/>
          <a:stretch>
            <a:fillRect/>
          </a:stretch>
        </p:blipFill>
        <p:spPr>
          <a:xfrm>
            <a:off x="822960" y="5875020"/>
            <a:ext cx="457200" cy="457200"/>
          </a:xfrm>
          <a:prstGeom prst="rect">
            <a:avLst/>
          </a:prstGeom>
        </p:spPr>
      </p:pic>
      <p:sp>
        <p:nvSpPr>
          <p:cNvPr id="32" name="Text 24"/>
          <p:cNvSpPr/>
          <p:nvPr/>
        </p:nvSpPr>
        <p:spPr>
          <a:xfrm>
            <a:off x="1508760" y="5806440"/>
            <a:ext cx="9859975" cy="5943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a:t>
            </a:r>
            <a:pPr algn="l" indent="0" marL="0">
              <a:buNone/>
            </a:pPr>
            <a:r>
              <a:rPr lang="en-US" sz="1800" dirty="0">
                <a:solidFill>
                  <a:srgbClr val="FFFFFF"/>
                </a:solidFill>
                <a:latin typeface="Calibri" pitchFamily="34" charset="0"/>
                <a:ea typeface="Calibri" pitchFamily="34" charset="-122"/>
                <a:cs typeface="Calibri" pitchFamily="34" charset="-120"/>
              </a:rPr>
              <a:t>System One family, TypeSafe AI (Almeida, 2026), version 1.13.0.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Blocks</a:t>
            </a:r>
            <a:endParaRPr lang="en-US" sz="1300" dirty="0"/>
          </a:p>
        </p:txBody>
      </p:sp>
      <p:sp>
        <p:nvSpPr>
          <p:cNvPr id="51" name="Text 43"/>
          <p:cNvSpPr/>
          <p:nvPr/>
        </p:nvSpPr>
        <p:spPr>
          <a:xfrm>
            <a:off x="9817364" y="3895344"/>
            <a:ext cx="1199693"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Does not block</a:t>
            </a:r>
            <a:endParaRPr lang="en-US" sz="1300" dirty="0"/>
          </a:p>
        </p:txBody>
      </p:sp>
      <p:sp>
        <p:nvSpPr>
          <p:cNvPr id="52" name="Text 44"/>
          <p:cNvSpPr/>
          <p:nvPr/>
        </p:nvSpPr>
        <p:spPr>
          <a:xfrm>
            <a:off x="9817364" y="4306824"/>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3"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0.90</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blocks the refund: it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44450">
            <a:solidFill>
              <a:srgbClr val="1B365D"/>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AEB7C2"/>
          </a:solidFill>
          <a:ln/>
        </p:spPr>
      </p:sp>
      <p:sp>
        <p:nvSpPr>
          <p:cNvPr id="24"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44450">
            <a:solidFill>
              <a:srgbClr val="1B365D"/>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0"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Nam. I've started a refund of $66 for your Pro annual plan (FF-10038), and it was approved. The money will return to your original payment method in 5 to 10 business days.”</a:t>
            </a:r>
            <a:endParaRPr lang="en-US" sz="1900" dirty="0"/>
          </a:p>
        </p:txBody>
      </p:sp>
      <p:sp>
        <p:nvSpPr>
          <p:cNvPr id="51"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blocks  0.99</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blocks the refund: it is $297 and the limit is $100. Nothing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45309"/>
            </a:solidFill>
            <a:prstDash val="solid"/>
          </a:ln>
        </p:spPr>
      </p:sp>
      <p:sp>
        <p:nvSpPr>
          <p:cNvPr id="43" name="!!deny#1"/>
          <p:cNvSpPr/>
          <p:nvPr/>
        </p:nvSpPr>
        <p:spPr>
          <a:xfrm>
            <a:off x="4795418" y="3401568"/>
            <a:ext cx="3515258" cy="0"/>
          </a:xfrm>
          <a:prstGeom prst="line">
            <a:avLst/>
          </a:prstGeom>
          <a:noFill/>
          <a:ln w="44450">
            <a:solidFill>
              <a:srgbClr val="B45309"/>
            </a:solidFill>
            <a:prstDash val="solid"/>
          </a:ln>
        </p:spPr>
      </p:sp>
      <p:sp>
        <p:nvSpPr>
          <p:cNvPr id="44" name="!!deny#2"/>
          <p:cNvSpPr/>
          <p:nvPr/>
        </p:nvSpPr>
        <p:spPr>
          <a:xfrm flipV="1">
            <a:off x="8310677" y="3200400"/>
            <a:ext cx="0" cy="201168"/>
          </a:xfrm>
          <a:prstGeom prst="line">
            <a:avLst/>
          </a:prstGeom>
          <a:noFill/>
          <a:ln w="44450">
            <a:solidFill>
              <a:srgbClr val="B45309"/>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3" name="panel-1#3"/>
          <p:cNvSpPr/>
          <p:nvPr/>
        </p:nvSpPr>
        <p:spPr>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FFFFFF"/>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FFFFFF"/>
                </a:solidFill>
                <a:latin typeface="Calibri" pitchFamily="34" charset="0"/>
                <a:ea typeface="Calibri" pitchFamily="34" charset="-122"/>
                <a:cs typeface="Calibri" pitchFamily="34" charset="-120"/>
              </a:rPr>
              <a:t>confidence 0.91</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E4F4F"/>
            </a:solidFill>
            <a:prstDash val="solid"/>
          </a:ln>
        </p:spPr>
      </p:sp>
      <p:sp>
        <p:nvSpPr>
          <p:cNvPr id="43" name="!!deny#1"/>
          <p:cNvSpPr/>
          <p:nvPr/>
        </p:nvSpPr>
        <p:spPr>
          <a:xfrm>
            <a:off x="4795418" y="3401568"/>
            <a:ext cx="3515258" cy="0"/>
          </a:xfrm>
          <a:prstGeom prst="line">
            <a:avLst/>
          </a:prstGeom>
          <a:noFill/>
          <a:ln w="44450">
            <a:solidFill>
              <a:srgbClr val="BE4F4F"/>
            </a:solidFill>
            <a:prstDash val="solid"/>
          </a:ln>
        </p:spPr>
      </p:sp>
      <p:sp>
        <p:nvSpPr>
          <p:cNvPr id="44" name="!!deny#2"/>
          <p:cNvSpPr/>
          <p:nvPr/>
        </p:nvSpPr>
        <p:spPr>
          <a:xfrm flipV="1">
            <a:off x="8310677" y="3200400"/>
            <a:ext cx="0" cy="201168"/>
          </a:xfrm>
          <a:prstGeom prst="line">
            <a:avLst/>
          </a:prstGeom>
          <a:noFill/>
          <a:ln w="44450">
            <a:solidFill>
              <a:srgbClr val="BE4F4F"/>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4" name="Shape 1"/>
          <p:cNvSpPr/>
          <p:nvPr/>
        </p:nvSpPr>
        <p:spPr>
          <a:xfrm>
            <a:off x="548640" y="1463040"/>
            <a:ext cx="7223760" cy="4663440"/>
          </a:xfrm>
          <a:prstGeom prst="roundRect">
            <a:avLst>
              <a:gd name="adj" fmla="val 1569"/>
            </a:avLst>
          </a:prstGeom>
          <a:solidFill>
            <a:srgbClr val="FFFFFF"/>
          </a:solidFill>
          <a:ln/>
        </p:spPr>
      </p:sp>
      <p:graphicFrame>
        <p:nvGraphicFramePr>
          <p:cNvPr id="5" name="Chart 0" descr=""/>
          <p:cNvGraphicFramePr/>
          <p:nvPr/>
        </p:nvGraphicFramePr>
        <p:xfrm>
          <a:off x="731520" y="1554480"/>
          <a:ext cx="6858000" cy="448056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60020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512 customers</a:t>
            </a:r>
            <a:endParaRPr lang="en-US" sz="2600" dirty="0"/>
          </a:p>
        </p:txBody>
      </p:sp>
      <p:sp>
        <p:nvSpPr>
          <p:cNvPr id="10" name="Text 5"/>
          <p:cNvSpPr/>
          <p:nvPr/>
        </p:nvSpPr>
        <p:spPr>
          <a:xfrm>
            <a:off x="9098280" y="212140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2 requests each: 1,024 requests of 26 types</a:t>
            </a:r>
            <a:endParaRPr lang="en-US" sz="1500" dirty="0"/>
          </a:p>
        </p:txBody>
      </p:sp>
      <p:sp>
        <p:nvSpPr>
          <p:cNvPr id="11" name="Shape 6"/>
          <p:cNvSpPr/>
          <p:nvPr/>
        </p:nvSpPr>
        <p:spPr>
          <a:xfrm>
            <a:off x="8046720" y="3108960"/>
            <a:ext cx="3596335" cy="1371600"/>
          </a:xfrm>
          <a:prstGeom prst="roundRect">
            <a:avLst>
              <a:gd name="adj" fmla="val 5333"/>
            </a:avLst>
          </a:prstGeom>
          <a:solidFill>
            <a:srgbClr val="FFFFFF"/>
          </a:solidFill>
          <a:ln/>
        </p:spPr>
      </p:sp>
      <p:sp>
        <p:nvSpPr>
          <p:cNvPr id="12" name="Shape 7"/>
          <p:cNvSpPr/>
          <p:nvPr/>
        </p:nvSpPr>
        <p:spPr>
          <a:xfrm>
            <a:off x="8275320" y="33375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478378"/>
            <a:ext cx="358445" cy="358445"/>
          </a:xfrm>
          <a:prstGeom prst="rect">
            <a:avLst/>
          </a:prstGeom>
        </p:spPr>
      </p:pic>
      <p:sp>
        <p:nvSpPr>
          <p:cNvPr id="14" name="Text 8"/>
          <p:cNvSpPr/>
          <p:nvPr/>
        </p:nvSpPr>
        <p:spPr>
          <a:xfrm>
            <a:off x="9098280" y="3246120"/>
            <a:ext cx="2407615" cy="502920"/>
          </a:xfrm>
          <a:prstGeom prst="rect">
            <a:avLst/>
          </a:prstGeom>
          <a:noFill/>
          <a:ln/>
        </p:spPr>
        <p:txBody>
          <a:bodyPr wrap="square" lIns="0" tIns="0" rIns="0" bIns="0" rtlCol="0" anchor="ctr"/>
          <a:lstStyle/>
          <a:p>
            <a:pPr algn="l" indent="0" marL="0">
              <a:buNone/>
            </a:pPr>
            <a:r>
              <a:rPr lang="en-US" sz="2600" b="1" dirty="0">
                <a:solidFill>
                  <a:srgbClr val="1F7A7A"/>
                </a:solidFill>
                <a:latin typeface="Calibri" pitchFamily="34" charset="0"/>
                <a:ea typeface="Calibri" pitchFamily="34" charset="-122"/>
                <a:cs typeface="Calibri" pitchFamily="34" charset="-120"/>
              </a:rPr>
              <a:t>199 of 1,024</a:t>
            </a:r>
            <a:endParaRPr lang="en-US" sz="2600" dirty="0"/>
          </a:p>
        </p:txBody>
      </p:sp>
      <p:sp>
        <p:nvSpPr>
          <p:cNvPr id="15" name="Text 9"/>
          <p:cNvSpPr/>
          <p:nvPr/>
        </p:nvSpPr>
        <p:spPr>
          <a:xfrm>
            <a:off x="9098280" y="376732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where a written rule denies the action</a:t>
            </a:r>
            <a:endParaRPr lang="en-US" sz="1500" dirty="0"/>
          </a:p>
        </p:txBody>
      </p:sp>
      <p:sp>
        <p:nvSpPr>
          <p:cNvPr id="16" name="Shape 10"/>
          <p:cNvSpPr/>
          <p:nvPr/>
        </p:nvSpPr>
        <p:spPr>
          <a:xfrm>
            <a:off x="8046720" y="4754880"/>
            <a:ext cx="3596335" cy="1371600"/>
          </a:xfrm>
          <a:prstGeom prst="roundRect">
            <a:avLst>
              <a:gd name="adj" fmla="val 5333"/>
            </a:avLst>
          </a:prstGeom>
          <a:solidFill>
            <a:srgbClr val="FFFFFF"/>
          </a:solidFill>
          <a:ln/>
        </p:spPr>
      </p:sp>
      <p:sp>
        <p:nvSpPr>
          <p:cNvPr id="17" name="Shape 11"/>
          <p:cNvSpPr/>
          <p:nvPr/>
        </p:nvSpPr>
        <p:spPr>
          <a:xfrm>
            <a:off x="8275320" y="49834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5124298"/>
            <a:ext cx="358445" cy="358445"/>
          </a:xfrm>
          <a:prstGeom prst="rect">
            <a:avLst/>
          </a:prstGeom>
        </p:spPr>
      </p:pic>
      <p:sp>
        <p:nvSpPr>
          <p:cNvPr id="19" name="Text 12"/>
          <p:cNvSpPr/>
          <p:nvPr/>
        </p:nvSpPr>
        <p:spPr>
          <a:xfrm>
            <a:off x="9098280" y="489204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27 attacks</a:t>
            </a:r>
            <a:endParaRPr lang="en-US" sz="2600" dirty="0"/>
          </a:p>
        </p:txBody>
      </p:sp>
      <p:sp>
        <p:nvSpPr>
          <p:cNvPr id="20" name="Text 13"/>
          <p:cNvSpPr/>
          <p:nvPr/>
        </p:nvSpPr>
        <p:spPr>
          <a:xfrm>
            <a:off x="9098280" y="541324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that hide an order in the message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4" name="Shape 1"/>
          <p:cNvSpPr/>
          <p:nvPr/>
        </p:nvSpPr>
        <p:spPr>
          <a:xfrm>
            <a:off x="548640" y="1463040"/>
            <a:ext cx="11094415" cy="2743200"/>
          </a:xfrm>
          <a:prstGeom prst="roundRect">
            <a:avLst>
              <a:gd name="adj" fmla="val 2667"/>
            </a:avLst>
          </a:prstGeom>
          <a:solidFill>
            <a:srgbClr val="FFFFFF"/>
          </a:solidFill>
          <a:ln/>
        </p:spPr>
      </p:sp>
      <p:sp>
        <p:nvSpPr>
          <p:cNvPr id="5" name="Shape 2"/>
          <p:cNvSpPr/>
          <p:nvPr/>
        </p:nvSpPr>
        <p:spPr>
          <a:xfrm>
            <a:off x="914400" y="1783080"/>
            <a:ext cx="777240" cy="7772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85393" y="1954073"/>
            <a:ext cx="435254" cy="435254"/>
          </a:xfrm>
          <a:prstGeom prst="rect">
            <a:avLst/>
          </a:prstGeom>
        </p:spPr>
      </p:pic>
      <p:sp>
        <p:nvSpPr>
          <p:cNvPr id="7" name="Text 3"/>
          <p:cNvSpPr/>
          <p:nvPr/>
        </p:nvSpPr>
        <p:spPr>
          <a:xfrm>
            <a:off x="1828800" y="1783080"/>
            <a:ext cx="2235098" cy="77724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914400"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The correct result: an answer, or an action the rules allow.</a:t>
            </a:r>
            <a:endParaRPr lang="en-US" sz="1800" dirty="0"/>
          </a:p>
        </p:txBody>
      </p:sp>
      <p:sp>
        <p:nvSpPr>
          <p:cNvPr id="9" name="Shape 5"/>
          <p:cNvSpPr/>
          <p:nvPr/>
        </p:nvSpPr>
        <p:spPr>
          <a:xfrm>
            <a:off x="4246778" y="1737360"/>
            <a:ext cx="0" cy="2194560"/>
          </a:xfrm>
          <a:prstGeom prst="line">
            <a:avLst/>
          </a:prstGeom>
          <a:noFill/>
          <a:ln w="19050">
            <a:solidFill>
              <a:srgbClr val="D5DBE3"/>
            </a:solidFill>
            <a:prstDash val="solid"/>
          </a:ln>
        </p:spPr>
      </p:sp>
      <p:sp>
        <p:nvSpPr>
          <p:cNvPr id="10" name="Shape 6"/>
          <p:cNvSpPr/>
          <p:nvPr/>
        </p:nvSpPr>
        <p:spPr>
          <a:xfrm>
            <a:off x="4612538" y="1783080"/>
            <a:ext cx="777240" cy="77724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83531" y="1954073"/>
            <a:ext cx="435254" cy="435254"/>
          </a:xfrm>
          <a:prstGeom prst="rect">
            <a:avLst/>
          </a:prstGeom>
        </p:spPr>
      </p:pic>
      <p:sp>
        <p:nvSpPr>
          <p:cNvPr id="12" name="Text 7"/>
          <p:cNvSpPr/>
          <p:nvPr/>
        </p:nvSpPr>
        <p:spPr>
          <a:xfrm>
            <a:off x="5526938" y="1783080"/>
            <a:ext cx="2235098" cy="77724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A rule denies the action. Nothing runs, and the reply gives the reason.</a:t>
            </a:r>
            <a:endParaRPr lang="en-US" sz="1800" dirty="0"/>
          </a:p>
        </p:txBody>
      </p:sp>
      <p:sp>
        <p:nvSpPr>
          <p:cNvPr id="14" name="Shape 9"/>
          <p:cNvSpPr/>
          <p:nvPr/>
        </p:nvSpPr>
        <p:spPr>
          <a:xfrm>
            <a:off x="7944917" y="1737360"/>
            <a:ext cx="0" cy="2194560"/>
          </a:xfrm>
          <a:prstGeom prst="line">
            <a:avLst/>
          </a:prstGeom>
          <a:noFill/>
          <a:ln w="19050">
            <a:solidFill>
              <a:srgbClr val="D5DBE3"/>
            </a:solidFill>
            <a:prstDash val="solid"/>
          </a:ln>
        </p:spPr>
      </p:sp>
      <p:sp>
        <p:nvSpPr>
          <p:cNvPr id="15" name="Shape 10"/>
          <p:cNvSpPr/>
          <p:nvPr/>
        </p:nvSpPr>
        <p:spPr>
          <a:xfrm>
            <a:off x="8310677" y="1783080"/>
            <a:ext cx="777240" cy="77724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481670" y="1954073"/>
            <a:ext cx="435254" cy="435254"/>
          </a:xfrm>
          <a:prstGeom prst="rect">
            <a:avLst/>
          </a:prstGeom>
        </p:spPr>
      </p:pic>
      <p:sp>
        <p:nvSpPr>
          <p:cNvPr id="17" name="Text 11"/>
          <p:cNvSpPr/>
          <p:nvPr/>
        </p:nvSpPr>
        <p:spPr>
          <a:xfrm>
            <a:off x="9225077" y="1783080"/>
            <a:ext cx="2235098" cy="77724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310677"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Every other run: a wrong refusal, or a denied action that ran.</a:t>
            </a:r>
            <a:endParaRPr lang="en-US" sz="1800" dirty="0"/>
          </a:p>
        </p:txBody>
      </p:sp>
      <p:sp>
        <p:nvSpPr>
          <p:cNvPr id="19" name="Shape 13"/>
          <p:cNvSpPr/>
          <p:nvPr/>
        </p:nvSpPr>
        <p:spPr>
          <a:xfrm>
            <a:off x="548640" y="4434840"/>
            <a:ext cx="11094415" cy="822960"/>
          </a:xfrm>
          <a:prstGeom prst="roundRect">
            <a:avLst>
              <a:gd name="adj" fmla="val 8889"/>
            </a:avLst>
          </a:prstGeom>
          <a:solidFill>
            <a:srgbClr val="A94A4A"/>
          </a:solidFill>
          <a:ln/>
        </p:spPr>
      </p:sp>
      <p:pic>
        <p:nvPicPr>
          <p:cNvPr id="20" name="Image 3" descr="preencoded.png">    </p:cNvPr>
          <p:cNvPicPr>
            <a:picLocks noChangeAspect="1"/>
          </p:cNvPicPr>
          <p:nvPr/>
        </p:nvPicPr>
        <p:blipFill>
          <a:blip r:embed="rId4"/>
          <a:stretch>
            <a:fillRect/>
          </a:stretch>
        </p:blipFill>
        <p:spPr>
          <a:xfrm>
            <a:off x="822960" y="4617720"/>
            <a:ext cx="457200" cy="457200"/>
          </a:xfrm>
          <a:prstGeom prst="rect">
            <a:avLst/>
          </a:prstGeom>
        </p:spPr>
      </p:pic>
      <p:sp>
        <p:nvSpPr>
          <p:cNvPr id="21" name="Text 14"/>
          <p:cNvSpPr/>
          <p:nvPr/>
        </p:nvSpPr>
        <p:spPr>
          <a:xfrm>
            <a:off x="1508760" y="443484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rules.</a:t>
            </a:r>
            <a:endParaRPr lang="en-US" sz="1800" dirty="0"/>
          </a:p>
        </p:txBody>
      </p:sp>
      <p:sp>
        <p:nvSpPr>
          <p:cNvPr id="22" name="Shape 15"/>
          <p:cNvSpPr/>
          <p:nvPr/>
        </p:nvSpPr>
        <p:spPr>
          <a:xfrm>
            <a:off x="548640" y="5440680"/>
            <a:ext cx="11094415" cy="868680"/>
          </a:xfrm>
          <a:prstGeom prst="roundRect">
            <a:avLst>
              <a:gd name="adj" fmla="val 8421"/>
            </a:avLst>
          </a:prstGeom>
          <a:solidFill>
            <a:srgbClr val="FFFFFF"/>
          </a:solidFill>
          <a:ln/>
        </p:spPr>
      </p:sp>
      <p:sp>
        <p:nvSpPr>
          <p:cNvPr id="23" name="Shape 16"/>
          <p:cNvSpPr/>
          <p:nvPr/>
        </p:nvSpPr>
        <p:spPr>
          <a:xfrm>
            <a:off x="914400" y="5623560"/>
            <a:ext cx="502920" cy="50292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1025042" y="5734202"/>
            <a:ext cx="281635" cy="281635"/>
          </a:xfrm>
          <a:prstGeom prst="rect">
            <a:avLst/>
          </a:prstGeom>
        </p:spPr>
      </p:pic>
      <p:sp>
        <p:nvSpPr>
          <p:cNvPr id="25" name="Text 17"/>
          <p:cNvSpPr/>
          <p:nvPr/>
        </p:nvSpPr>
        <p:spPr>
          <a:xfrm>
            <a:off x="1600200"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Machine time per request</a:t>
            </a:r>
            <a:endParaRPr lang="en-US" sz="1700" dirty="0"/>
          </a:p>
        </p:txBody>
      </p:sp>
      <p:sp>
        <p:nvSpPr>
          <p:cNvPr id="26" name="Shape 18"/>
          <p:cNvSpPr/>
          <p:nvPr/>
        </p:nvSpPr>
        <p:spPr>
          <a:xfrm>
            <a:off x="4612538" y="5623560"/>
            <a:ext cx="502920" cy="502920"/>
          </a:xfrm>
          <a:prstGeom prst="ellipse">
            <a:avLst/>
          </a:prstGeom>
          <a:solidFill>
            <a:srgbClr val="234B84"/>
          </a:solidFill>
          <a:ln w="12700">
            <a:solidFill>
              <a:srgbClr val="234B84"/>
            </a:solidFill>
            <a:prstDash val="solid"/>
          </a:ln>
        </p:spPr>
      </p:sp>
      <p:pic>
        <p:nvPicPr>
          <p:cNvPr id="27" name="Image 5" descr="preencoded.png">    </p:cNvPr>
          <p:cNvPicPr>
            <a:picLocks noChangeAspect="1"/>
          </p:cNvPicPr>
          <p:nvPr/>
        </p:nvPicPr>
        <p:blipFill>
          <a:blip r:embed="rId6"/>
          <a:stretch>
            <a:fillRect/>
          </a:stretch>
        </p:blipFill>
        <p:spPr>
          <a:xfrm>
            <a:off x="4723181" y="5734202"/>
            <a:ext cx="281635" cy="281635"/>
          </a:xfrm>
          <a:prstGeom prst="rect">
            <a:avLst/>
          </a:prstGeom>
        </p:spPr>
      </p:pic>
      <p:sp>
        <p:nvSpPr>
          <p:cNvPr id="28" name="Text 19"/>
          <p:cNvSpPr/>
          <p:nvPr/>
        </p:nvSpPr>
        <p:spPr>
          <a:xfrm>
            <a:off x="5298338"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API cost per 1,000 requests</a:t>
            </a:r>
            <a:endParaRPr lang="en-US" sz="1700" dirty="0"/>
          </a:p>
        </p:txBody>
      </p:sp>
      <p:sp>
        <p:nvSpPr>
          <p:cNvPr id="29" name="Shape 20"/>
          <p:cNvSpPr/>
          <p:nvPr/>
        </p:nvSpPr>
        <p:spPr>
          <a:xfrm>
            <a:off x="8310677" y="5623560"/>
            <a:ext cx="502920" cy="502920"/>
          </a:xfrm>
          <a:prstGeom prst="ellipse">
            <a:avLst/>
          </a:prstGeom>
          <a:solidFill>
            <a:srgbClr val="234B84"/>
          </a:solidFill>
          <a:ln w="12700">
            <a:solidFill>
              <a:srgbClr val="234B84"/>
            </a:solidFill>
            <a:prstDash val="solid"/>
          </a:ln>
        </p:spPr>
      </p:sp>
      <p:pic>
        <p:nvPicPr>
          <p:cNvPr id="30" name="Image 6" descr="preencoded.png">    </p:cNvPr>
          <p:cNvPicPr>
            <a:picLocks noChangeAspect="1"/>
          </p:cNvPicPr>
          <p:nvPr/>
        </p:nvPicPr>
        <p:blipFill>
          <a:blip r:embed="rId7"/>
          <a:stretch>
            <a:fillRect/>
          </a:stretch>
        </p:blipFill>
        <p:spPr>
          <a:xfrm>
            <a:off x="8421319" y="5734202"/>
            <a:ext cx="281635" cy="281635"/>
          </a:xfrm>
          <a:prstGeom prst="rect">
            <a:avLst/>
          </a:prstGeom>
        </p:spPr>
      </p:pic>
      <p:sp>
        <p:nvSpPr>
          <p:cNvPr id="31" name="Text 21"/>
          <p:cNvSpPr/>
          <p:nvPr/>
        </p:nvSpPr>
        <p:spPr>
          <a:xfrm>
            <a:off x="8996477"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Error count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$1.12</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7373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classifier</a:t>
            </a:r>
            <a:endParaRPr lang="en-US" sz="1400" dirty="0"/>
          </a:p>
        </p:txBody>
      </p:sp>
      <p:sp>
        <p:nvSpPr>
          <p:cNvPr id="20" name="Text 14"/>
          <p:cNvSpPr/>
          <p:nvPr/>
        </p:nvSpPr>
        <p:spPr>
          <a:xfrm>
            <a:off x="27432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42062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pipeline</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1266671"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test set: speed, cost, and accuracy</a:t>
            </a:r>
            <a:endParaRPr lang="en-US" sz="36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Same reply model, different decision step</a:t>
            </a:r>
            <a:endParaRPr lang="en-US" sz="36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 wrong</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27 of the 31 are orders hidden in the message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 faster</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5.89 s vs 12.45 s of machine time per request</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3.8x cheaper</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$0.30 vs $1.12 per 1,000 requests</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wrong</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wrong</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LLM writes the reply. Only the decision step is different. </a:t>
            </a:r>
            <a:pPr algn="l" indent="0" marL="0">
              <a:buNone/>
            </a:pPr>
            <a:r>
              <a:rPr lang="en-US" sz="1800" dirty="0">
                <a:solidFill>
                  <a:srgbClr val="FFFFFF"/>
                </a:solidFill>
                <a:latin typeface="Calibri" pitchFamily="34" charset="0"/>
                <a:ea typeface="Calibri" pitchFamily="34" charset="-122"/>
                <a:cs typeface="Calibri" pitchFamily="34" charset="-120"/>
              </a:rPr>
              <a:t>Harmful runs: 10 vs 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Jev pipeline: 0 wrong and 0 harmful runs on our test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that no rule blocks it.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LLM agent: 795 served, 198 stopped, 31 wrong. Jev pipeline: 825 served, 199 stopped, 0 wrong.</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pipeline has 2.1x lower mean machine time and 3.8x lower API cost, and none wrong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Text 4">
            <a:hlinkClick r:id="rId1" tooltip=""/>
          </p:cNvPr>
          <p:cNvSpPr/>
          <p:nvPr/>
        </p:nvSpPr>
        <p:spPr>
          <a:xfrm>
            <a:off x="640080" y="6199632"/>
            <a:ext cx="5394960" cy="201168"/>
          </a:xfrm>
          <a:prstGeom prst="rect">
            <a:avLst/>
          </a:prstGeom>
          <a:noFill/>
          <a:ln/>
        </p:spPr>
        <p:txBody>
          <a:bodyPr wrap="square" lIns="0" tIns="0" rIns="0" bIns="0" rtlCol="0" anchor="ctr"/>
          <a:lstStyle/>
          <a:p>
            <a:pPr indent="0" marL="0">
              <a:buNone/>
            </a:pPr>
            <a:r>
              <a:rPr lang="en-US" sz="11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External context: Red Hat Developer, 2 Oct 2026</a:t>
            </a:r>
            <a:endParaRPr lang="en-US" sz="1100" dirty="0"/>
          </a:p>
        </p:txBody>
      </p:sp>
      <p:sp>
        <p:nvSpPr>
          <p:cNvPr id="7" name="Shape 5"/>
          <p:cNvSpPr/>
          <p:nvPr/>
        </p:nvSpPr>
        <p:spPr>
          <a:xfrm>
            <a:off x="6949440" y="640080"/>
            <a:ext cx="4602175" cy="1737360"/>
          </a:xfrm>
          <a:prstGeom prst="roundRect">
            <a:avLst>
              <a:gd name="adj" fmla="val 4211"/>
            </a:avLst>
          </a:prstGeom>
          <a:solidFill>
            <a:srgbClr val="FFFFFF"/>
          </a:solidFill>
          <a:ln/>
        </p:spPr>
      </p:sp>
      <p:sp>
        <p:nvSpPr>
          <p:cNvPr id="8" name="Shape 6"/>
          <p:cNvSpPr/>
          <p:nvPr/>
        </p:nvSpPr>
        <p:spPr>
          <a:xfrm>
            <a:off x="7178040" y="86868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7318858" y="1009498"/>
            <a:ext cx="358445" cy="358445"/>
          </a:xfrm>
          <a:prstGeom prst="rect">
            <a:avLst/>
          </a:prstGeom>
        </p:spPr>
      </p:pic>
      <p:sp>
        <p:nvSpPr>
          <p:cNvPr id="10" name="Text 7"/>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11" name="Text 8"/>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LLM agent vs Jev pipeline</a:t>
            </a:r>
            <a:endParaRPr lang="en-US" sz="1500" dirty="0"/>
          </a:p>
        </p:txBody>
      </p:sp>
      <p:sp>
        <p:nvSpPr>
          <p:cNvPr id="12" name="Shape 9"/>
          <p:cNvSpPr/>
          <p:nvPr/>
        </p:nvSpPr>
        <p:spPr>
          <a:xfrm>
            <a:off x="6949440" y="2560320"/>
            <a:ext cx="4602175" cy="1737360"/>
          </a:xfrm>
          <a:prstGeom prst="roundRect">
            <a:avLst>
              <a:gd name="adj" fmla="val 4211"/>
            </a:avLst>
          </a:prstGeom>
          <a:solidFill>
            <a:srgbClr val="FFFFFF"/>
          </a:solidFill>
          <a:ln/>
        </p:spPr>
      </p:sp>
      <p:sp>
        <p:nvSpPr>
          <p:cNvPr id="13" name="Shape 10"/>
          <p:cNvSpPr/>
          <p:nvPr/>
        </p:nvSpPr>
        <p:spPr>
          <a:xfrm>
            <a:off x="7178040" y="278892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7318858" y="2929738"/>
            <a:ext cx="358445" cy="358445"/>
          </a:xfrm>
          <a:prstGeom prst="rect">
            <a:avLst/>
          </a:prstGeom>
        </p:spPr>
      </p:pic>
      <p:sp>
        <p:nvSpPr>
          <p:cNvPr id="15" name="Text 11"/>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6" name="Text 12"/>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7" name="Shape 13"/>
          <p:cNvSpPr/>
          <p:nvPr/>
        </p:nvSpPr>
        <p:spPr>
          <a:xfrm>
            <a:off x="6949440" y="4480560"/>
            <a:ext cx="4602175" cy="1737360"/>
          </a:xfrm>
          <a:prstGeom prst="roundRect">
            <a:avLst>
              <a:gd name="adj" fmla="val 4211"/>
            </a:avLst>
          </a:prstGeom>
          <a:solidFill>
            <a:srgbClr val="FFFFFF"/>
          </a:solidFill>
          <a:ln/>
        </p:spPr>
      </p:sp>
      <p:sp>
        <p:nvSpPr>
          <p:cNvPr id="18" name="Shape 14"/>
          <p:cNvSpPr/>
          <p:nvPr/>
        </p:nvSpPr>
        <p:spPr>
          <a:xfrm>
            <a:off x="7178040" y="4709160"/>
            <a:ext cx="640080" cy="64008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4"/>
          <a:stretch>
            <a:fillRect/>
          </a:stretch>
        </p:blipFill>
        <p:spPr>
          <a:xfrm>
            <a:off x="7318858" y="4849978"/>
            <a:ext cx="358445" cy="358445"/>
          </a:xfrm>
          <a:prstGeom prst="rect">
            <a:avLst/>
          </a:prstGeom>
        </p:spPr>
      </p:pic>
      <p:sp>
        <p:nvSpPr>
          <p:cNvPr id="20" name="Text 15"/>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3.8x</a:t>
            </a:r>
            <a:endParaRPr lang="en-US" sz="3800" dirty="0"/>
          </a:p>
        </p:txBody>
      </p:sp>
      <p:sp>
        <p:nvSpPr>
          <p:cNvPr id="21" name="Text 16"/>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$1.12 per 1,000 requests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11 to 20</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Walk-throughs: one request through the flow</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and 22</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24 and 25</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26</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 Intent Detection and Rule Checks</dc:title>
  <dc:subject>PptxGenJS Presentation</dc:subject>
  <dc:creator>Phenikaa School of Computing</dc:creator>
  <cp:lastModifiedBy>Phenikaa School of Computing</cp:lastModifiedBy>
  <cp:revision>1</cp:revision>
  <dcterms:created xsi:type="dcterms:W3CDTF">2026-10-13T14:37:30Z</dcterms:created>
  <dcterms:modified xsi:type="dcterms:W3CDTF">2026-10-13T14:37:30Z</dcterms:modified>
</cp:coreProperties>
</file>