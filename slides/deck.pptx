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50 requests (queue: 48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Sheet1!$B$2:$B$6</c:f>
              <c:numCache>
                <c:formatCode>General</c:formatCode>
                <c:ptCount val="5"/>
                <c:pt idx="0">
                  <c:v>86</c:v>
                </c:pt>
                <c:pt idx="1">
                  <c:v>91.7</c:v>
                </c:pt>
                <c:pt idx="2">
                  <c:v>84</c:v>
                </c:pt>
                <c:pt idx="3">
                  <c:v>78</c:v>
                </c:pt>
                <c:pt idx="4">
                  <c:v>94</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Sheet1!$C$2:$C$6</c:f>
              <c:numCache>
                <c:formatCode>General</c:formatCode>
                <c:ptCount val="5"/>
                <c:pt idx="0">
                  <c:v>92</c:v>
                </c:pt>
                <c:pt idx="1">
                  <c:v>85.4</c:v>
                </c:pt>
                <c:pt idx="2">
                  <c:v>94</c:v>
                </c:pt>
                <c:pt idx="3">
                  <c:v>84</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50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Sheet1!$B$2:$B$3</c:f>
              <c:numCache>
                <c:formatCode>General</c:formatCode>
                <c:ptCount val="2"/>
                <c:pt idx="0">
                  <c:v>32</c:v>
                </c:pt>
                <c:pt idx="1">
                  <c:v>35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Sheet1!$C$2:$C$3</c:f>
              <c:numCache>
                <c:formatCode>General</c:formatCode>
                <c:ptCount val="2"/>
                <c:pt idx="0">
                  <c:v>15</c:v>
                </c:pt>
                <c:pt idx="1">
                  <c:v>15</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Sheet1!$D$2:$D$3</c:f>
              <c:numCache>
                <c:formatCode>General</c:formatCode>
                <c:ptCount val="2"/>
                <c:pt idx="0">
                  <c:v>3</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75 s. Good morning. A customer waits two days for a refund; a chatbot that handles money can do harm. We study three levels of customer support for FrameForge, a made-up AI video-generation SaaS: support staff, one LLM agent, and Jev with fixed code and an LLM. The bars show the task allocation of the paper: the leader has the largest share, and each member has a different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110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117 s. Level 1 is the baseline: support staff read every request, 90 s each (assumed). Level 2 replaces the staff with one LLM agent that reads the account, applies the written rules itself, and either runs an action or denies it. Level 3 splits the job: Jev gives five typed answers, each with a confidence, fixed code reads only the account fields that the action needs and checks the written rules, and the LLM writes the reply. Every level runs on the same 50 requests. Opening interaction by the leader: which level is faster and cheaper, Level 2 or Level 3? The answer is not given here; the results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45 s. Only the four actions that change state have written rules: refund, delete data, cancel plan, and reset password. Each rule gives allow or deny. Deny means nothing runs, and the reply gives the steps that the customer can take alone. The Security rule is checked first for every state change: a request that reports that the account or the payment method was used by someone who is not the customer stops the action. Deleting data is always denied, because it cannot be undone. At Level 2 the agent applies these rules itself; at Level 3 fixed code 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72 s. This is the flow of Level 3 as a state machine with eight states. New saves the message. Triage: Jev answers five questions, each with a confidence, in one call and never reads the account; an injection flag ignores the orders in the text, and a fraud report goes to the queue Security. Gather info is fixed code and reads only the account fields that the action needs. Rules check applies the written rules, the Security rule first: allow goes to Do action, deny goes to the Final message with nothing run. The LLM writes the Final message only. A popup then asks if the issue is solved, and the chat resolves. The selected fields cut the Final message input from 617 to 590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162 s. We made all the data ourselves. The test data has 72 FrameForge customers. A seeded generator writes 50 requests in 24 types. A full run makes 300 model calls: 100 for each of three runs. We call two hosted models for real: Jev (jev-1.13.0) and deepseek-v4.1-flash through the DeepSeek API. We record every call. An offline replay of the main run gives every number in the paper. We ask two questions. What does each level give us, and what does it cost? What changes when Jev replaces the LLM as the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30 s. Both classifiers get the same input and the same criteria. One Jev call takes 0.241 s (median). One LLM call takes 4.410 s. Jev is 18 times faster. Jev costs $0.052 per 1,000 requests. The LLM costs $0.587. Jev is 11 times cheaper. Jev is behind the LLM on four of five answers: action 86.0% against 92.0%, priority, risk flag, and injection flag. Jev is ahead on the queue: 91.7% against 85.4% of 48 scored requests. Jev gives a wrong queue or action in 11 of 50 requests. None is an error at Level 3: the routing rule, the written rules, and the Security rule catch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All levels use the same 50 requests. At Level 1, we assume staff need 90 s per request. It is an assumed number, not a measurement. Level 2 serves 32 of 50, stops 15, and makes 3 errors. It needs 6.85 s and costs $0.71 per 1,000 requests. Level 3 serves 35, stops 15, and makes 0 errors. It needs 3.16 s and costs $0.30. So Level 3 is never worse in any column. It is 2.2 times faster and 2.4 times cheaper. The sign test has 3 requests where only Level 2 makes an error. It gives p = 0.25. So we do not show an accuracy gap. Our strong claims are speed, cost, and never worse. No run is harmful at either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75 s. Our evidence is small: two hosted models, one synthetic SaaS product, and our own labels. We saw 0 harmful runs in 50 requests. That does not prove the real rate is zero. The 95% upper limit is about 6%. Real users write slang and make spelling mistakes. Our test data does not. The 90 s at Level 1 is assumed. We did not simulate the popup or the silence timer. We used one prompt wording and one run for each request. We added the Security rule after fraud reports showed a defect on these 50 requests. So the main numbers are not a blind test. The prompt cache covered 22.3% of the input tokens, so the real costs are lower than ours. With p = 0.25, we do not show an accuracy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40 s. To finish, we tested three levels of customer support on the same 50 requests. Level 3 serves 35, stops 15, and makes 0 errors. Level 2 serves 32, stops 15, and makes 3. Level 3 is never worse in any column. It is 2.2 times faster and 2.4 times cheaper. The sign test (p = 0.25) does not show an accuracy gap. The Security rule stops state changes on fraud reports. We added it after we saw a defect on these 50 requests. So the main numbers are not a blind test. Jev is less accurate than the LLM on four of five answers, but the written rules catch its wrong answers.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457200"/>
            <a:ext cx="5943600" cy="20116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Human to LLM &amp; Classifier Support Agent: A Three-Level Ladder for SaaS Request Triage</a:t>
            </a:r>
            <a:endParaRPr lang="en-US" sz="3200" dirty="0"/>
          </a:p>
        </p:txBody>
      </p:sp>
      <p:sp>
        <p:nvSpPr>
          <p:cNvPr id="3" name="Text 1"/>
          <p:cNvSpPr/>
          <p:nvPr/>
        </p:nvSpPr>
        <p:spPr>
          <a:xfrm>
            <a:off x="731520" y="2194560"/>
            <a:ext cx="5943600" cy="731520"/>
          </a:xfrm>
          <a:prstGeom prst="rect">
            <a:avLst/>
          </a:prstGeom>
          <a:noFill/>
          <a:ln/>
        </p:spPr>
        <p:txBody>
          <a:bodyPr wrap="square" lIns="0" tIns="0" rIns="0" bIns="0" rtlCol="0" anchor="t"/>
          <a:lstStyle/>
          <a:p>
            <a:pPr indent="0" marL="0">
              <a:buNone/>
            </a:pPr>
            <a:r>
              <a:rPr lang="en-US" sz="1700" dirty="0">
                <a:solidFill>
                  <a:srgbClr val="E3ECF6"/>
                </a:solidFill>
                <a:latin typeface="Calibri" pitchFamily="34" charset="0"/>
                <a:ea typeface="Calibri" pitchFamily="34" charset="-122"/>
                <a:cs typeface="Calibri" pitchFamily="34" charset="-120"/>
              </a:rPr>
              <a:t>FrameForge, an AI video-generation SaaS: support staff, one LLM agent, then Jev with fixed code and an LLM</a:t>
            </a:r>
            <a:endParaRPr lang="en-US" sz="1700" dirty="0"/>
          </a:p>
        </p:txBody>
      </p:sp>
      <p:sp>
        <p:nvSpPr>
          <p:cNvPr id="4" name="Text 2"/>
          <p:cNvSpPr/>
          <p:nvPr/>
        </p:nvSpPr>
        <p:spPr>
          <a:xfrm>
            <a:off x="731520" y="3291840"/>
            <a:ext cx="5943600" cy="274320"/>
          </a:xfrm>
          <a:prstGeom prst="rect">
            <a:avLst/>
          </a:prstGeom>
          <a:noFill/>
          <a:ln/>
        </p:spPr>
        <p:txBody>
          <a:bodyPr wrap="square" lIns="0" tIns="0" rIns="0" bIns="0" rtlCol="0" anchor="ctr"/>
          <a:lstStyle/>
          <a:p>
            <a:pPr indent="0" marL="0">
              <a:buNone/>
            </a:pPr>
            <a:r>
              <a:rPr lang="en-US" sz="1300" b="1" dirty="0">
                <a:solidFill>
                  <a:srgbClr val="E3ECF6"/>
                </a:solidFill>
                <a:latin typeface="Calibri" pitchFamily="34" charset="0"/>
                <a:ea typeface="Calibri" pitchFamily="34" charset="-122"/>
                <a:cs typeface="Calibri" pitchFamily="34" charset="-120"/>
              </a:rPr>
              <a:t>Task allocation (bar = share of the work and of the talk)</a:t>
            </a:r>
            <a:endParaRPr lang="en-US" sz="1300" dirty="0"/>
          </a:p>
        </p:txBody>
      </p:sp>
      <p:sp>
        <p:nvSpPr>
          <p:cNvPr id="5" name="Text 3"/>
          <p:cNvSpPr/>
          <p:nvPr/>
        </p:nvSpPr>
        <p:spPr>
          <a:xfrm>
            <a:off x="731520" y="3657600"/>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Tran Thanh Long (Leader)</a:t>
            </a:r>
            <a:endParaRPr lang="en-US" sz="1500" dirty="0"/>
          </a:p>
        </p:txBody>
      </p:sp>
      <p:sp>
        <p:nvSpPr>
          <p:cNvPr id="6" name="Shape 4"/>
          <p:cNvSpPr/>
          <p:nvPr/>
        </p:nvSpPr>
        <p:spPr>
          <a:xfrm>
            <a:off x="3291840" y="3694176"/>
            <a:ext cx="2377440" cy="219456"/>
          </a:xfrm>
          <a:prstGeom prst="roundRect">
            <a:avLst>
              <a:gd name="adj" fmla="val 20833"/>
            </a:avLst>
          </a:prstGeom>
          <a:solidFill>
            <a:srgbClr val="FFFFFF"/>
          </a:solidFill>
          <a:ln/>
        </p:spPr>
      </p:sp>
      <p:sp>
        <p:nvSpPr>
          <p:cNvPr id="7" name="Text 5"/>
          <p:cNvSpPr/>
          <p:nvPr/>
        </p:nvSpPr>
        <p:spPr>
          <a:xfrm>
            <a:off x="5760720" y="3657600"/>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28%</a:t>
            </a:r>
            <a:endParaRPr lang="en-US" sz="1500" dirty="0"/>
          </a:p>
        </p:txBody>
      </p:sp>
      <p:sp>
        <p:nvSpPr>
          <p:cNvPr id="8" name="Text 6"/>
          <p:cNvSpPr/>
          <p:nvPr/>
        </p:nvSpPr>
        <p:spPr>
          <a:xfrm>
            <a:off x="731520" y="4059936"/>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Thanh Nam</a:t>
            </a:r>
            <a:endParaRPr lang="en-US" sz="1500" dirty="0"/>
          </a:p>
        </p:txBody>
      </p:sp>
      <p:sp>
        <p:nvSpPr>
          <p:cNvPr id="9" name="Shape 7"/>
          <p:cNvSpPr/>
          <p:nvPr/>
        </p:nvSpPr>
        <p:spPr>
          <a:xfrm>
            <a:off x="3291840" y="4096512"/>
            <a:ext cx="1867989" cy="219456"/>
          </a:xfrm>
          <a:prstGeom prst="roundRect">
            <a:avLst>
              <a:gd name="adj" fmla="val 20833"/>
            </a:avLst>
          </a:prstGeom>
          <a:solidFill>
            <a:srgbClr val="C9DAEC"/>
          </a:solidFill>
          <a:ln/>
        </p:spPr>
      </p:sp>
      <p:sp>
        <p:nvSpPr>
          <p:cNvPr id="10" name="Text 8"/>
          <p:cNvSpPr/>
          <p:nvPr/>
        </p:nvSpPr>
        <p:spPr>
          <a:xfrm>
            <a:off x="5251269" y="4059936"/>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31520" y="4462272"/>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 Van Son</a:t>
            </a:r>
            <a:endParaRPr lang="en-US" sz="1500" dirty="0"/>
          </a:p>
        </p:txBody>
      </p:sp>
      <p:sp>
        <p:nvSpPr>
          <p:cNvPr id="12" name="Shape 10"/>
          <p:cNvSpPr/>
          <p:nvPr/>
        </p:nvSpPr>
        <p:spPr>
          <a:xfrm>
            <a:off x="3291840" y="4498848"/>
            <a:ext cx="1528354" cy="219456"/>
          </a:xfrm>
          <a:prstGeom prst="roundRect">
            <a:avLst>
              <a:gd name="adj" fmla="val 20833"/>
            </a:avLst>
          </a:prstGeom>
          <a:solidFill>
            <a:srgbClr val="C9DAEC"/>
          </a:solidFill>
          <a:ln/>
        </p:spPr>
      </p:sp>
      <p:sp>
        <p:nvSpPr>
          <p:cNvPr id="13" name="Text 11"/>
          <p:cNvSpPr/>
          <p:nvPr/>
        </p:nvSpPr>
        <p:spPr>
          <a:xfrm>
            <a:off x="4911634" y="4462272"/>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18%</a:t>
            </a:r>
            <a:endParaRPr lang="en-US" sz="1500" dirty="0"/>
          </a:p>
        </p:txBody>
      </p:sp>
      <p:sp>
        <p:nvSpPr>
          <p:cNvPr id="14" name="Text 12"/>
          <p:cNvSpPr/>
          <p:nvPr/>
        </p:nvSpPr>
        <p:spPr>
          <a:xfrm>
            <a:off x="731520" y="4864608"/>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Vuong Quang Quy</a:t>
            </a:r>
            <a:endParaRPr lang="en-US" sz="1500" dirty="0"/>
          </a:p>
        </p:txBody>
      </p:sp>
      <p:sp>
        <p:nvSpPr>
          <p:cNvPr id="15" name="Shape 13"/>
          <p:cNvSpPr/>
          <p:nvPr/>
        </p:nvSpPr>
        <p:spPr>
          <a:xfrm>
            <a:off x="3291840" y="4901184"/>
            <a:ext cx="1443446" cy="219456"/>
          </a:xfrm>
          <a:prstGeom prst="roundRect">
            <a:avLst>
              <a:gd name="adj" fmla="val 20833"/>
            </a:avLst>
          </a:prstGeom>
          <a:solidFill>
            <a:srgbClr val="C9DAEC"/>
          </a:solidFill>
          <a:ln/>
        </p:spPr>
      </p:sp>
      <p:sp>
        <p:nvSpPr>
          <p:cNvPr id="16" name="Text 14"/>
          <p:cNvSpPr/>
          <p:nvPr/>
        </p:nvSpPr>
        <p:spPr>
          <a:xfrm>
            <a:off x="4826726" y="4864608"/>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17%</a:t>
            </a:r>
            <a:endParaRPr lang="en-US" sz="1500" dirty="0"/>
          </a:p>
        </p:txBody>
      </p:sp>
      <p:sp>
        <p:nvSpPr>
          <p:cNvPr id="17" name="Text 15"/>
          <p:cNvSpPr/>
          <p:nvPr/>
        </p:nvSpPr>
        <p:spPr>
          <a:xfrm>
            <a:off x="731520" y="5266944"/>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Phuong Nam</a:t>
            </a:r>
            <a:endParaRPr lang="en-US" sz="1500" dirty="0"/>
          </a:p>
        </p:txBody>
      </p:sp>
      <p:sp>
        <p:nvSpPr>
          <p:cNvPr id="18" name="Shape 16"/>
          <p:cNvSpPr/>
          <p:nvPr/>
        </p:nvSpPr>
        <p:spPr>
          <a:xfrm>
            <a:off x="3291840" y="5303520"/>
            <a:ext cx="1273629" cy="219456"/>
          </a:xfrm>
          <a:prstGeom prst="roundRect">
            <a:avLst>
              <a:gd name="adj" fmla="val 20833"/>
            </a:avLst>
          </a:prstGeom>
          <a:solidFill>
            <a:srgbClr val="C9DAEC"/>
          </a:solidFill>
          <a:ln/>
        </p:spPr>
      </p:sp>
      <p:sp>
        <p:nvSpPr>
          <p:cNvPr id="19" name="Text 17"/>
          <p:cNvSpPr/>
          <p:nvPr/>
        </p:nvSpPr>
        <p:spPr>
          <a:xfrm>
            <a:off x="4656909" y="5266944"/>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a:t>
            </a:r>
            <a:endParaRPr lang="en-US" sz="1500" dirty="0"/>
          </a:p>
        </p:txBody>
      </p:sp>
      <p:sp>
        <p:nvSpPr>
          <p:cNvPr id="20" name="Text 18"/>
          <p:cNvSpPr/>
          <p:nvPr/>
        </p:nvSpPr>
        <p:spPr>
          <a:xfrm>
            <a:off x="731520" y="5760720"/>
            <a:ext cx="5943600" cy="5029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Phenikaa School of Computing</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English Writing and Presentation Skills · October 2026</a:t>
            </a:r>
            <a:endParaRPr lang="en-US" sz="1400" dirty="0"/>
          </a:p>
        </p:txBody>
      </p:sp>
      <p:pic>
        <p:nvPicPr>
          <p:cNvPr id="21" name="Image 0" descr="preencoded.png">    </p:cNvPr>
          <p:cNvPicPr>
            <a:picLocks noChangeAspect="1"/>
          </p:cNvPicPr>
          <p:nvPr/>
        </p:nvPicPr>
        <p:blipFill>
          <a:blip r:embed="rId1"/>
          <a:stretch>
            <a:fillRect/>
          </a:stretch>
        </p:blipFill>
        <p:spPr>
          <a:xfrm>
            <a:off x="6858000" y="868680"/>
            <a:ext cx="4754880" cy="4754880"/>
          </a:xfrm>
          <a:prstGeom prst="rect">
            <a:avLst/>
          </a:prstGeom>
        </p:spPr>
      </p:pic>
      <p:sp>
        <p:nvSpPr>
          <p:cNvPr id="22" name="Text 19"/>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Tran Thanh Long · 75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110 s</a:t>
            </a:r>
            <a:endParaRPr lang="en-US" sz="1100" dirty="0"/>
          </a:p>
        </p:txBody>
      </p:sp>
      <p:sp>
        <p:nvSpPr>
          <p:cNvPr id="5" name="Shape 2"/>
          <p:cNvSpPr/>
          <p:nvPr/>
        </p:nvSpPr>
        <p:spPr>
          <a:xfrm>
            <a:off x="548640" y="1508760"/>
            <a:ext cx="5364328" cy="3200400"/>
          </a:xfrm>
          <a:prstGeom prst="roundRect">
            <a:avLst>
              <a:gd name="adj" fmla="val 2286"/>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7" name="Text 3"/>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8" name="Text 4"/>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9" name="Shape 5"/>
          <p:cNvSpPr/>
          <p:nvPr/>
        </p:nvSpPr>
        <p:spPr>
          <a:xfrm>
            <a:off x="6278728" y="1508760"/>
            <a:ext cx="5364328" cy="3200400"/>
          </a:xfrm>
          <a:prstGeom prst="roundRect">
            <a:avLst>
              <a:gd name="adj" fmla="val 2286"/>
            </a:avLst>
          </a:prstGeom>
          <a:solidFill>
            <a:srgbClr val="FFFFFF"/>
          </a:solidFill>
          <a:ln/>
        </p:spPr>
      </p:sp>
      <p:pic>
        <p:nvPicPr>
          <p:cNvPr id="10"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1" name="Text 6"/>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2" name="Text 7"/>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3" name="Text 8"/>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117 s</a:t>
            </a:r>
            <a:endParaRPr lang="en-US" sz="1100" dirty="0"/>
          </a:p>
        </p:txBody>
      </p:sp>
      <p:sp>
        <p:nvSpPr>
          <p:cNvPr id="5" name="Shape 2"/>
          <p:cNvSpPr/>
          <p:nvPr/>
        </p:nvSpPr>
        <p:spPr>
          <a:xfrm>
            <a:off x="548640" y="1508760"/>
            <a:ext cx="3423818" cy="3703320"/>
          </a:xfrm>
          <a:prstGeom prst="roundRect">
            <a:avLst>
              <a:gd name="adj" fmla="val 2137"/>
            </a:avLst>
          </a:prstGeom>
          <a:solidFill>
            <a:srgbClr val="FFFFFF"/>
          </a:solidFill>
          <a:ln/>
        </p:spPr>
      </p:sp>
      <p:sp>
        <p:nvSpPr>
          <p:cNvPr id="6" name="Shape 3"/>
          <p:cNvSpPr/>
          <p:nvPr/>
        </p:nvSpPr>
        <p:spPr>
          <a:xfrm>
            <a:off x="822960" y="1783080"/>
            <a:ext cx="731520" cy="73152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8" name="Text 4"/>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9" name="Text 5"/>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10" name="Text 6"/>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1" name="Shape 7"/>
          <p:cNvSpPr/>
          <p:nvPr/>
        </p:nvSpPr>
        <p:spPr>
          <a:xfrm>
            <a:off x="4018178" y="3360420"/>
            <a:ext cx="320040" cy="0"/>
          </a:xfrm>
          <a:prstGeom prst="line">
            <a:avLst/>
          </a:prstGeom>
          <a:noFill/>
          <a:ln w="25400">
            <a:solidFill>
              <a:srgbClr val="5F6B7A"/>
            </a:solidFill>
            <a:prstDash val="solid"/>
            <a:tailEnd type="triangle"/>
          </a:ln>
        </p:spPr>
      </p:sp>
      <p:sp>
        <p:nvSpPr>
          <p:cNvPr id="12" name="Shape 8"/>
          <p:cNvSpPr/>
          <p:nvPr/>
        </p:nvSpPr>
        <p:spPr>
          <a:xfrm>
            <a:off x="4383938" y="1508760"/>
            <a:ext cx="3423818" cy="3703320"/>
          </a:xfrm>
          <a:prstGeom prst="roundRect">
            <a:avLst>
              <a:gd name="adj" fmla="val 2137"/>
            </a:avLst>
          </a:prstGeom>
          <a:solidFill>
            <a:srgbClr val="FFFFFF"/>
          </a:solidFill>
          <a:ln/>
        </p:spPr>
      </p:sp>
      <p:sp>
        <p:nvSpPr>
          <p:cNvPr id="13" name="Shape 9"/>
          <p:cNvSpPr/>
          <p:nvPr/>
        </p:nvSpPr>
        <p:spPr>
          <a:xfrm>
            <a:off x="4658258" y="1783080"/>
            <a:ext cx="731520" cy="731520"/>
          </a:xfrm>
          <a:prstGeom prst="ellipse">
            <a:avLst/>
          </a:prstGeom>
          <a:solidFill>
            <a:srgbClr val="4A82B8"/>
          </a:solidFill>
          <a:ln w="12700">
            <a:solidFill>
              <a:srgbClr val="4A82B8"/>
            </a:solidFill>
            <a:prstDash val="solid"/>
          </a:ln>
        </p:spPr>
      </p:sp>
      <p:pic>
        <p:nvPicPr>
          <p:cNvPr id="14"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5" name="Text 10"/>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6" name="Text 11"/>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7" name="Text 12"/>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8" name="Shape 13"/>
          <p:cNvSpPr/>
          <p:nvPr/>
        </p:nvSpPr>
        <p:spPr>
          <a:xfrm>
            <a:off x="7853477" y="3360420"/>
            <a:ext cx="320040" cy="0"/>
          </a:xfrm>
          <a:prstGeom prst="line">
            <a:avLst/>
          </a:prstGeom>
          <a:noFill/>
          <a:ln w="25400">
            <a:solidFill>
              <a:srgbClr val="5F6B7A"/>
            </a:solidFill>
            <a:prstDash val="solid"/>
            <a:tailEnd type="triangle"/>
          </a:ln>
        </p:spPr>
      </p:sp>
      <p:sp>
        <p:nvSpPr>
          <p:cNvPr id="19" name="Shape 14"/>
          <p:cNvSpPr/>
          <p:nvPr/>
        </p:nvSpPr>
        <p:spPr>
          <a:xfrm>
            <a:off x="8219237" y="1508760"/>
            <a:ext cx="3423818" cy="3703320"/>
          </a:xfrm>
          <a:prstGeom prst="roundRect">
            <a:avLst>
              <a:gd name="adj" fmla="val 2137"/>
            </a:avLst>
          </a:prstGeom>
          <a:solidFill>
            <a:srgbClr val="FFFFFF"/>
          </a:solidFill>
          <a:ln/>
        </p:spPr>
      </p:sp>
      <p:sp>
        <p:nvSpPr>
          <p:cNvPr id="20" name="Shape 15"/>
          <p:cNvSpPr/>
          <p:nvPr/>
        </p:nvSpPr>
        <p:spPr>
          <a:xfrm>
            <a:off x="8493557" y="1783080"/>
            <a:ext cx="731520" cy="731520"/>
          </a:xfrm>
          <a:prstGeom prst="ellipse">
            <a:avLst/>
          </a:prstGeom>
          <a:solidFill>
            <a:srgbClr val="234B84"/>
          </a:solidFill>
          <a:ln w="12700">
            <a:solidFill>
              <a:srgbClr val="234B84"/>
            </a:solidFill>
            <a:prstDash val="solid"/>
          </a:ln>
        </p:spPr>
      </p:sp>
      <p:pic>
        <p:nvPicPr>
          <p:cNvPr id="21"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2" name="Text 16"/>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3" name="Text 17"/>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fixed code + LLM</a:t>
            </a:r>
            <a:endParaRPr lang="en-US" sz="2200" dirty="0"/>
          </a:p>
        </p:txBody>
      </p:sp>
      <p:sp>
        <p:nvSpPr>
          <p:cNvPr id="24" name="Text 18"/>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gives five answers with confidence. Fixed code reads only the fields the action needs and checks the rules. The LLM writes the reply.</a:t>
            </a:r>
            <a:endParaRPr lang="en-US" sz="1600" dirty="0"/>
          </a:p>
        </p:txBody>
      </p:sp>
      <p:sp>
        <p:nvSpPr>
          <p:cNvPr id="25" name="Shape 19"/>
          <p:cNvSpPr/>
          <p:nvPr/>
        </p:nvSpPr>
        <p:spPr>
          <a:xfrm>
            <a:off x="548640" y="5440680"/>
            <a:ext cx="11094415" cy="731520"/>
          </a:xfrm>
          <a:prstGeom prst="roundRect">
            <a:avLst>
              <a:gd name="adj" fmla="val 10000"/>
            </a:avLst>
          </a:prstGeom>
          <a:solidFill>
            <a:srgbClr val="1F7A7A"/>
          </a:solidFill>
          <a:ln/>
        </p:spPr>
      </p:sp>
      <p:pic>
        <p:nvPicPr>
          <p:cNvPr id="26"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7" name="Text 20"/>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50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45 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760720"/>
                <a:gridCol w="3230575"/>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Any state change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Security rule, checked first: the account or the payment method was used by someone who is not the customer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deny; the reply gives the security steps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 delete, cancel</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Only the owner can ask, and only for the account of the sender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teammate or another customer: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Reset password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The link goes only to the e-mail on file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an address in the text: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credit pack: only while no credits are used. A charge: only after the bank settles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used or not settled: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outside: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Once for each purchase; not above $100; not after 2 refunds in 90 days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done before or over a limit: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Delete data</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Deleting cannot be undone, so this chat never does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always: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Cancel plan</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plan is cancelled once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already cancelled: deny; else allow</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Level 2: </a:t>
            </a:r>
            <a:pPr algn="l" indent="0" marL="0">
              <a:buNone/>
            </a:pPr>
            <a:r>
              <a:rPr lang="en-US" sz="1700" dirty="0">
                <a:solidFill>
                  <a:srgbClr val="1B365D"/>
                </a:solidFill>
                <a:latin typeface="Calibri" pitchFamily="34" charset="0"/>
                <a:ea typeface="Calibri" pitchFamily="34" charset="-122"/>
                <a:cs typeface="Calibri" pitchFamily="34" charset="-120"/>
              </a:rPr>
              <a:t>the agent applies these rules itself.   </a:t>
            </a:r>
            <a:pPr algn="l" indent="0" marL="0">
              <a:buNone/>
            </a:pPr>
            <a:r>
              <a:rPr lang="en-US" sz="1700" b="1" dirty="0">
                <a:solidFill>
                  <a:srgbClr val="1B365D"/>
                </a:solidFill>
                <a:latin typeface="Calibri" pitchFamily="34" charset="0"/>
                <a:ea typeface="Calibri" pitchFamily="34" charset="-122"/>
                <a:cs typeface="Calibri" pitchFamily="34" charset="-120"/>
              </a:rPr>
              <a:t>Level 3: </a:t>
            </a:r>
            <a:pPr algn="l" indent="0" marL="0">
              <a:buNone/>
            </a:pPr>
            <a:r>
              <a:rPr lang="en-US" sz="1700" dirty="0">
                <a:solidFill>
                  <a:srgbClr val="1B365D"/>
                </a:solidFill>
                <a:latin typeface="Calibri" pitchFamily="34" charset="0"/>
                <a:ea typeface="Calibri" pitchFamily="34" charset="-122"/>
                <a:cs typeface="Calibri" pitchFamily="34" charset="-120"/>
              </a:rPr>
              <a:t>fixed code checks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fixed code, and an LLM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72 s</a:t>
            </a:r>
            <a:endParaRPr lang="en-US" sz="1100" dirty="0"/>
          </a:p>
        </p:txBody>
      </p:sp>
      <p:sp>
        <p:nvSpPr>
          <p:cNvPr id="5" name="Shape 2"/>
          <p:cNvSpPr/>
          <p:nvPr/>
        </p:nvSpPr>
        <p:spPr>
          <a:xfrm>
            <a:off x="548640" y="1691640"/>
            <a:ext cx="1188720" cy="1920240"/>
          </a:xfrm>
          <a:prstGeom prst="roundRect">
            <a:avLst>
              <a:gd name="adj" fmla="val 6154"/>
            </a:avLst>
          </a:prstGeom>
          <a:solidFill>
            <a:srgbClr val="AEB7C2"/>
          </a:solidFill>
          <a:ln/>
        </p:spPr>
      </p:sp>
      <p:sp>
        <p:nvSpPr>
          <p:cNvPr id="6" name="Shape 3"/>
          <p:cNvSpPr/>
          <p:nvPr/>
        </p:nvSpPr>
        <p:spPr>
          <a:xfrm>
            <a:off x="886968" y="1828800"/>
            <a:ext cx="512064" cy="512064"/>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99622" y="1941454"/>
            <a:ext cx="286756" cy="286756"/>
          </a:xfrm>
          <a:prstGeom prst="rect">
            <a:avLst/>
          </a:prstGeom>
        </p:spPr>
      </p:pic>
      <p:sp>
        <p:nvSpPr>
          <p:cNvPr id="8" name="Text 4"/>
          <p:cNvSpPr/>
          <p:nvPr/>
        </p:nvSpPr>
        <p:spPr>
          <a:xfrm>
            <a:off x="585216"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9" name="Text 5"/>
          <p:cNvSpPr/>
          <p:nvPr/>
        </p:nvSpPr>
        <p:spPr>
          <a:xfrm>
            <a:off x="621792"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10" name="Shape 6"/>
          <p:cNvSpPr/>
          <p:nvPr/>
        </p:nvSpPr>
        <p:spPr>
          <a:xfrm>
            <a:off x="1755648" y="2651760"/>
            <a:ext cx="189803" cy="0"/>
          </a:xfrm>
          <a:prstGeom prst="line">
            <a:avLst/>
          </a:prstGeom>
          <a:noFill/>
          <a:ln w="25400">
            <a:solidFill>
              <a:srgbClr val="5F6B7A"/>
            </a:solidFill>
            <a:prstDash val="solid"/>
            <a:tailEnd type="triangle"/>
          </a:ln>
        </p:spPr>
      </p:sp>
      <p:sp>
        <p:nvSpPr>
          <p:cNvPr id="11" name="Shape 7"/>
          <p:cNvSpPr/>
          <p:nvPr/>
        </p:nvSpPr>
        <p:spPr>
          <a:xfrm>
            <a:off x="1963739" y="1691640"/>
            <a:ext cx="1188720" cy="1920240"/>
          </a:xfrm>
          <a:prstGeom prst="roundRect">
            <a:avLst>
              <a:gd name="adj" fmla="val 6154"/>
            </a:avLst>
          </a:prstGeom>
          <a:solidFill>
            <a:srgbClr val="A6BCD6"/>
          </a:solidFill>
          <a:ln/>
        </p:spPr>
      </p:sp>
      <p:sp>
        <p:nvSpPr>
          <p:cNvPr id="12" name="Shape 8"/>
          <p:cNvSpPr/>
          <p:nvPr/>
        </p:nvSpPr>
        <p:spPr>
          <a:xfrm>
            <a:off x="2302067" y="1828800"/>
            <a:ext cx="512064" cy="512064"/>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2414721" y="1941454"/>
            <a:ext cx="286756" cy="286756"/>
          </a:xfrm>
          <a:prstGeom prst="rect">
            <a:avLst/>
          </a:prstGeom>
        </p:spPr>
      </p:pic>
      <p:sp>
        <p:nvSpPr>
          <p:cNvPr id="14" name="Text 9"/>
          <p:cNvSpPr/>
          <p:nvPr/>
        </p:nvSpPr>
        <p:spPr>
          <a:xfrm>
            <a:off x="20003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Triage</a:t>
            </a:r>
            <a:endParaRPr lang="en-US" sz="1400" dirty="0"/>
          </a:p>
        </p:txBody>
      </p:sp>
      <p:sp>
        <p:nvSpPr>
          <p:cNvPr id="15" name="Text 10"/>
          <p:cNvSpPr/>
          <p:nvPr/>
        </p:nvSpPr>
        <p:spPr>
          <a:xfrm>
            <a:off x="20368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Jev: five answers with confidence</a:t>
            </a:r>
            <a:endParaRPr lang="en-US" sz="1200" dirty="0"/>
          </a:p>
        </p:txBody>
      </p:sp>
      <p:sp>
        <p:nvSpPr>
          <p:cNvPr id="16" name="Shape 11"/>
          <p:cNvSpPr/>
          <p:nvPr/>
        </p:nvSpPr>
        <p:spPr>
          <a:xfrm>
            <a:off x="3170747" y="2651760"/>
            <a:ext cx="189803" cy="0"/>
          </a:xfrm>
          <a:prstGeom prst="line">
            <a:avLst/>
          </a:prstGeom>
          <a:noFill/>
          <a:ln w="25400">
            <a:solidFill>
              <a:srgbClr val="5F6B7A"/>
            </a:solidFill>
            <a:prstDash val="solid"/>
            <a:tailEnd type="triangle"/>
          </a:ln>
        </p:spPr>
      </p:sp>
      <p:sp>
        <p:nvSpPr>
          <p:cNvPr id="17" name="Shape 12"/>
          <p:cNvSpPr/>
          <p:nvPr/>
        </p:nvSpPr>
        <p:spPr>
          <a:xfrm>
            <a:off x="3378839" y="1691640"/>
            <a:ext cx="1188720" cy="1920240"/>
          </a:xfrm>
          <a:prstGeom prst="roundRect">
            <a:avLst>
              <a:gd name="adj" fmla="val 6154"/>
            </a:avLst>
          </a:prstGeom>
          <a:solidFill>
            <a:srgbClr val="AEB7C2"/>
          </a:solidFill>
          <a:ln/>
        </p:spPr>
      </p:sp>
      <p:sp>
        <p:nvSpPr>
          <p:cNvPr id="18" name="Shape 13"/>
          <p:cNvSpPr/>
          <p:nvPr/>
        </p:nvSpPr>
        <p:spPr>
          <a:xfrm>
            <a:off x="3717167" y="1828800"/>
            <a:ext cx="512064" cy="512064"/>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3829821" y="1941454"/>
            <a:ext cx="286756" cy="286756"/>
          </a:xfrm>
          <a:prstGeom prst="rect">
            <a:avLst/>
          </a:prstGeom>
        </p:spPr>
      </p:pic>
      <p:sp>
        <p:nvSpPr>
          <p:cNvPr id="20" name="Text 14"/>
          <p:cNvSpPr/>
          <p:nvPr/>
        </p:nvSpPr>
        <p:spPr>
          <a:xfrm>
            <a:off x="34154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Gather info</a:t>
            </a:r>
            <a:endParaRPr lang="en-US" sz="1400" dirty="0"/>
          </a:p>
        </p:txBody>
      </p:sp>
      <p:sp>
        <p:nvSpPr>
          <p:cNvPr id="21" name="Text 15"/>
          <p:cNvSpPr/>
          <p:nvPr/>
        </p:nvSpPr>
        <p:spPr>
          <a:xfrm>
            <a:off x="34519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only the fields the action needs</a:t>
            </a:r>
            <a:endParaRPr lang="en-US" sz="1200" dirty="0"/>
          </a:p>
        </p:txBody>
      </p:sp>
      <p:sp>
        <p:nvSpPr>
          <p:cNvPr id="22" name="Shape 16"/>
          <p:cNvSpPr/>
          <p:nvPr/>
        </p:nvSpPr>
        <p:spPr>
          <a:xfrm>
            <a:off x="4585847" y="2651760"/>
            <a:ext cx="189803" cy="0"/>
          </a:xfrm>
          <a:prstGeom prst="line">
            <a:avLst/>
          </a:prstGeom>
          <a:noFill/>
          <a:ln w="25400">
            <a:solidFill>
              <a:srgbClr val="5F6B7A"/>
            </a:solidFill>
            <a:prstDash val="solid"/>
            <a:tailEnd type="triangle"/>
          </a:ln>
        </p:spPr>
      </p:sp>
      <p:sp>
        <p:nvSpPr>
          <p:cNvPr id="23" name="Shape 17"/>
          <p:cNvSpPr/>
          <p:nvPr/>
        </p:nvSpPr>
        <p:spPr>
          <a:xfrm>
            <a:off x="4793938" y="1691640"/>
            <a:ext cx="1188720" cy="1920240"/>
          </a:xfrm>
          <a:prstGeom prst="roundRect">
            <a:avLst>
              <a:gd name="adj" fmla="val 6154"/>
            </a:avLst>
          </a:prstGeom>
          <a:solidFill>
            <a:srgbClr val="A2C4BE"/>
          </a:solidFill>
          <a:ln/>
        </p:spPr>
      </p:sp>
      <p:sp>
        <p:nvSpPr>
          <p:cNvPr id="24" name="Shape 18"/>
          <p:cNvSpPr/>
          <p:nvPr/>
        </p:nvSpPr>
        <p:spPr>
          <a:xfrm>
            <a:off x="5132266" y="1828800"/>
            <a:ext cx="512064" cy="512064"/>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5244920" y="1941454"/>
            <a:ext cx="286756" cy="286756"/>
          </a:xfrm>
          <a:prstGeom prst="rect">
            <a:avLst/>
          </a:prstGeom>
        </p:spPr>
      </p:pic>
      <p:sp>
        <p:nvSpPr>
          <p:cNvPr id="26" name="Text 19"/>
          <p:cNvSpPr/>
          <p:nvPr/>
        </p:nvSpPr>
        <p:spPr>
          <a:xfrm>
            <a:off x="4830514"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Rules check</a:t>
            </a:r>
            <a:endParaRPr lang="en-US" sz="1400" dirty="0"/>
          </a:p>
        </p:txBody>
      </p:sp>
      <p:sp>
        <p:nvSpPr>
          <p:cNvPr id="27" name="Text 20"/>
          <p:cNvSpPr/>
          <p:nvPr/>
        </p:nvSpPr>
        <p:spPr>
          <a:xfrm>
            <a:off x="4867090"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written rules: allow or deny</a:t>
            </a:r>
            <a:endParaRPr lang="en-US" sz="1200" dirty="0"/>
          </a:p>
        </p:txBody>
      </p:sp>
      <p:sp>
        <p:nvSpPr>
          <p:cNvPr id="28" name="Shape 21"/>
          <p:cNvSpPr/>
          <p:nvPr/>
        </p:nvSpPr>
        <p:spPr>
          <a:xfrm>
            <a:off x="6000946" y="2651760"/>
            <a:ext cx="189803" cy="0"/>
          </a:xfrm>
          <a:prstGeom prst="line">
            <a:avLst/>
          </a:prstGeom>
          <a:noFill/>
          <a:ln w="25400">
            <a:solidFill>
              <a:srgbClr val="1F7A7A"/>
            </a:solidFill>
            <a:prstDash val="solid"/>
            <a:tailEnd type="triangle"/>
          </a:ln>
        </p:spPr>
      </p:sp>
      <p:sp>
        <p:nvSpPr>
          <p:cNvPr id="29" name="Shape 22"/>
          <p:cNvSpPr/>
          <p:nvPr/>
        </p:nvSpPr>
        <p:spPr>
          <a:xfrm>
            <a:off x="6209037" y="1691640"/>
            <a:ext cx="1188720" cy="1920240"/>
          </a:xfrm>
          <a:prstGeom prst="roundRect">
            <a:avLst>
              <a:gd name="adj" fmla="val 6154"/>
            </a:avLst>
          </a:prstGeom>
          <a:solidFill>
            <a:srgbClr val="AEB7C2"/>
          </a:solidFill>
          <a:ln/>
        </p:spPr>
      </p:sp>
      <p:sp>
        <p:nvSpPr>
          <p:cNvPr id="30" name="Shape 23"/>
          <p:cNvSpPr/>
          <p:nvPr/>
        </p:nvSpPr>
        <p:spPr>
          <a:xfrm>
            <a:off x="6547365" y="1828800"/>
            <a:ext cx="512064" cy="512064"/>
          </a:xfrm>
          <a:prstGeom prst="ellipse">
            <a:avLst/>
          </a:prstGeom>
          <a:solidFill>
            <a:srgbClr val="5F6B7A"/>
          </a:solidFill>
          <a:ln w="12700">
            <a:solidFill>
              <a:srgbClr val="5F6B7A"/>
            </a:solidFill>
            <a:prstDash val="solid"/>
          </a:ln>
        </p:spPr>
      </p:sp>
      <p:pic>
        <p:nvPicPr>
          <p:cNvPr id="31" name="Image 4" descr="preencoded.png">    </p:cNvPr>
          <p:cNvPicPr>
            <a:picLocks noChangeAspect="1"/>
          </p:cNvPicPr>
          <p:nvPr/>
        </p:nvPicPr>
        <p:blipFill>
          <a:blip r:embed="rId5"/>
          <a:stretch>
            <a:fillRect/>
          </a:stretch>
        </p:blipFill>
        <p:spPr>
          <a:xfrm>
            <a:off x="6660019" y="1941454"/>
            <a:ext cx="286756" cy="286756"/>
          </a:xfrm>
          <a:prstGeom prst="rect">
            <a:avLst/>
          </a:prstGeom>
        </p:spPr>
      </p:pic>
      <p:sp>
        <p:nvSpPr>
          <p:cNvPr id="32" name="Text 24"/>
          <p:cNvSpPr/>
          <p:nvPr/>
        </p:nvSpPr>
        <p:spPr>
          <a:xfrm>
            <a:off x="62456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33" name="Text 25"/>
          <p:cNvSpPr/>
          <p:nvPr/>
        </p:nvSpPr>
        <p:spPr>
          <a:xfrm>
            <a:off x="62821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34" name="Shape 26"/>
          <p:cNvSpPr/>
          <p:nvPr/>
        </p:nvSpPr>
        <p:spPr>
          <a:xfrm>
            <a:off x="7416045" y="2651760"/>
            <a:ext cx="189803" cy="0"/>
          </a:xfrm>
          <a:prstGeom prst="line">
            <a:avLst/>
          </a:prstGeom>
          <a:noFill/>
          <a:ln w="25400">
            <a:solidFill>
              <a:srgbClr val="5F6B7A"/>
            </a:solidFill>
            <a:prstDash val="solid"/>
            <a:tailEnd type="triangle"/>
          </a:ln>
        </p:spPr>
      </p:sp>
      <p:sp>
        <p:nvSpPr>
          <p:cNvPr id="35" name="Shape 27"/>
          <p:cNvSpPr/>
          <p:nvPr/>
        </p:nvSpPr>
        <p:spPr>
          <a:xfrm>
            <a:off x="7624137" y="1691640"/>
            <a:ext cx="1188720" cy="1920240"/>
          </a:xfrm>
          <a:prstGeom prst="roundRect">
            <a:avLst>
              <a:gd name="adj" fmla="val 6154"/>
            </a:avLst>
          </a:prstGeom>
          <a:solidFill>
            <a:srgbClr val="A6BCD6"/>
          </a:solidFill>
          <a:ln/>
        </p:spPr>
      </p:sp>
      <p:sp>
        <p:nvSpPr>
          <p:cNvPr id="36" name="Shape 28"/>
          <p:cNvSpPr/>
          <p:nvPr/>
        </p:nvSpPr>
        <p:spPr>
          <a:xfrm>
            <a:off x="7962465" y="1828800"/>
            <a:ext cx="512064" cy="512064"/>
          </a:xfrm>
          <a:prstGeom prst="ellipse">
            <a:avLst/>
          </a:prstGeom>
          <a:solidFill>
            <a:srgbClr val="2F5F98"/>
          </a:solidFill>
          <a:ln w="12700">
            <a:solidFill>
              <a:srgbClr val="2F5F98"/>
            </a:solidFill>
            <a:prstDash val="solid"/>
          </a:ln>
        </p:spPr>
      </p:sp>
      <p:pic>
        <p:nvPicPr>
          <p:cNvPr id="37" name="Image 5" descr="preencoded.png">    </p:cNvPr>
          <p:cNvPicPr>
            <a:picLocks noChangeAspect="1"/>
          </p:cNvPicPr>
          <p:nvPr/>
        </p:nvPicPr>
        <p:blipFill>
          <a:blip r:embed="rId6"/>
          <a:stretch>
            <a:fillRect/>
          </a:stretch>
        </p:blipFill>
        <p:spPr>
          <a:xfrm>
            <a:off x="8075119" y="1941454"/>
            <a:ext cx="286756" cy="286756"/>
          </a:xfrm>
          <a:prstGeom prst="rect">
            <a:avLst/>
          </a:prstGeom>
        </p:spPr>
      </p:pic>
      <p:sp>
        <p:nvSpPr>
          <p:cNvPr id="38" name="Text 29"/>
          <p:cNvSpPr/>
          <p:nvPr/>
        </p:nvSpPr>
        <p:spPr>
          <a:xfrm>
            <a:off x="76607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9" name="Text 30"/>
          <p:cNvSpPr/>
          <p:nvPr/>
        </p:nvSpPr>
        <p:spPr>
          <a:xfrm>
            <a:off x="76972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40" name="Shape 31"/>
          <p:cNvSpPr/>
          <p:nvPr/>
        </p:nvSpPr>
        <p:spPr>
          <a:xfrm>
            <a:off x="8831145" y="2651760"/>
            <a:ext cx="189803" cy="0"/>
          </a:xfrm>
          <a:prstGeom prst="line">
            <a:avLst/>
          </a:prstGeom>
          <a:noFill/>
          <a:ln w="25400">
            <a:solidFill>
              <a:srgbClr val="5F6B7A"/>
            </a:solidFill>
            <a:prstDash val="solid"/>
            <a:tailEnd type="triangle"/>
          </a:ln>
        </p:spPr>
      </p:sp>
      <p:sp>
        <p:nvSpPr>
          <p:cNvPr id="41" name="Shape 32"/>
          <p:cNvSpPr/>
          <p:nvPr/>
        </p:nvSpPr>
        <p:spPr>
          <a:xfrm>
            <a:off x="9039236" y="1691640"/>
            <a:ext cx="1188720" cy="1920240"/>
          </a:xfrm>
          <a:prstGeom prst="roundRect">
            <a:avLst>
              <a:gd name="adj" fmla="val 6154"/>
            </a:avLst>
          </a:prstGeom>
          <a:solidFill>
            <a:srgbClr val="AEB7C2"/>
          </a:solidFill>
          <a:ln/>
        </p:spPr>
      </p:sp>
      <p:sp>
        <p:nvSpPr>
          <p:cNvPr id="42" name="Shape 33"/>
          <p:cNvSpPr/>
          <p:nvPr/>
        </p:nvSpPr>
        <p:spPr>
          <a:xfrm>
            <a:off x="9377564" y="1828800"/>
            <a:ext cx="512064" cy="512064"/>
          </a:xfrm>
          <a:prstGeom prst="ellipse">
            <a:avLst/>
          </a:prstGeom>
          <a:solidFill>
            <a:srgbClr val="5F6B7A"/>
          </a:solidFill>
          <a:ln w="12700">
            <a:solidFill>
              <a:srgbClr val="5F6B7A"/>
            </a:solidFill>
            <a:prstDash val="solid"/>
          </a:ln>
        </p:spPr>
      </p:sp>
      <p:pic>
        <p:nvPicPr>
          <p:cNvPr id="43" name="Image 6" descr="preencoded.png">    </p:cNvPr>
          <p:cNvPicPr>
            <a:picLocks noChangeAspect="1"/>
          </p:cNvPicPr>
          <p:nvPr/>
        </p:nvPicPr>
        <p:blipFill>
          <a:blip r:embed="rId7"/>
          <a:stretch>
            <a:fillRect/>
          </a:stretch>
        </p:blipFill>
        <p:spPr>
          <a:xfrm>
            <a:off x="9490218" y="1941454"/>
            <a:ext cx="286756" cy="286756"/>
          </a:xfrm>
          <a:prstGeom prst="rect">
            <a:avLst/>
          </a:prstGeom>
        </p:spPr>
      </p:pic>
      <p:sp>
        <p:nvSpPr>
          <p:cNvPr id="44" name="Text 34"/>
          <p:cNvSpPr/>
          <p:nvPr/>
        </p:nvSpPr>
        <p:spPr>
          <a:xfrm>
            <a:off x="9075812"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5" name="Text 35"/>
          <p:cNvSpPr/>
          <p:nvPr/>
        </p:nvSpPr>
        <p:spPr>
          <a:xfrm>
            <a:off x="9112388"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46" name="Shape 36"/>
          <p:cNvSpPr/>
          <p:nvPr/>
        </p:nvSpPr>
        <p:spPr>
          <a:xfrm>
            <a:off x="10246244" y="2651760"/>
            <a:ext cx="189803" cy="0"/>
          </a:xfrm>
          <a:prstGeom prst="line">
            <a:avLst/>
          </a:prstGeom>
          <a:noFill/>
          <a:ln w="25400">
            <a:solidFill>
              <a:srgbClr val="5F6B7A"/>
            </a:solidFill>
            <a:prstDash val="solid"/>
            <a:tailEnd type="triangle"/>
          </a:ln>
        </p:spPr>
      </p:sp>
      <p:sp>
        <p:nvSpPr>
          <p:cNvPr id="47" name="Shape 37"/>
          <p:cNvSpPr/>
          <p:nvPr/>
        </p:nvSpPr>
        <p:spPr>
          <a:xfrm>
            <a:off x="10454335" y="1691640"/>
            <a:ext cx="1188720" cy="1920240"/>
          </a:xfrm>
          <a:prstGeom prst="roundRect">
            <a:avLst>
              <a:gd name="adj" fmla="val 6154"/>
            </a:avLst>
          </a:prstGeom>
          <a:solidFill>
            <a:srgbClr val="AEB7C2"/>
          </a:solidFill>
          <a:ln/>
        </p:spPr>
      </p:sp>
      <p:sp>
        <p:nvSpPr>
          <p:cNvPr id="48" name="Shape 38"/>
          <p:cNvSpPr/>
          <p:nvPr/>
        </p:nvSpPr>
        <p:spPr>
          <a:xfrm>
            <a:off x="10792663" y="1828800"/>
            <a:ext cx="512064" cy="512064"/>
          </a:xfrm>
          <a:prstGeom prst="ellipse">
            <a:avLst/>
          </a:prstGeom>
          <a:solidFill>
            <a:srgbClr val="5F6B7A"/>
          </a:solidFill>
          <a:ln w="12700">
            <a:solidFill>
              <a:srgbClr val="5F6B7A"/>
            </a:solidFill>
            <a:prstDash val="solid"/>
          </a:ln>
        </p:spPr>
      </p:sp>
      <p:pic>
        <p:nvPicPr>
          <p:cNvPr id="49" name="Image 7" descr="preencoded.png">    </p:cNvPr>
          <p:cNvPicPr>
            <a:picLocks noChangeAspect="1"/>
          </p:cNvPicPr>
          <p:nvPr/>
        </p:nvPicPr>
        <p:blipFill>
          <a:blip r:embed="rId8"/>
          <a:stretch>
            <a:fillRect/>
          </a:stretch>
        </p:blipFill>
        <p:spPr>
          <a:xfrm>
            <a:off x="10905317" y="1941454"/>
            <a:ext cx="286756" cy="286756"/>
          </a:xfrm>
          <a:prstGeom prst="rect">
            <a:avLst/>
          </a:prstGeom>
        </p:spPr>
      </p:pic>
      <p:sp>
        <p:nvSpPr>
          <p:cNvPr id="50" name="Text 39"/>
          <p:cNvSpPr/>
          <p:nvPr/>
        </p:nvSpPr>
        <p:spPr>
          <a:xfrm>
            <a:off x="10490911"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51" name="Text 40"/>
          <p:cNvSpPr/>
          <p:nvPr/>
        </p:nvSpPr>
        <p:spPr>
          <a:xfrm>
            <a:off x="10527487"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52" name="Text 41"/>
          <p:cNvSpPr/>
          <p:nvPr/>
        </p:nvSpPr>
        <p:spPr>
          <a:xfrm>
            <a:off x="5684368" y="1417320"/>
            <a:ext cx="822960" cy="228600"/>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allowed</a:t>
            </a:r>
            <a:endParaRPr lang="en-US" sz="1200" dirty="0"/>
          </a:p>
        </p:txBody>
      </p:sp>
      <p:sp>
        <p:nvSpPr>
          <p:cNvPr id="53" name="Shape 42"/>
          <p:cNvSpPr/>
          <p:nvPr/>
        </p:nvSpPr>
        <p:spPr>
          <a:xfrm>
            <a:off x="5388298" y="3611880"/>
            <a:ext cx="0" cy="411480"/>
          </a:xfrm>
          <a:prstGeom prst="line">
            <a:avLst/>
          </a:prstGeom>
          <a:noFill/>
          <a:ln w="25400">
            <a:solidFill>
              <a:srgbClr val="1F7A7A"/>
            </a:solidFill>
            <a:prstDash val="solid"/>
          </a:ln>
        </p:spPr>
      </p:sp>
      <p:sp>
        <p:nvSpPr>
          <p:cNvPr id="54" name="Shape 43"/>
          <p:cNvSpPr/>
          <p:nvPr/>
        </p:nvSpPr>
        <p:spPr>
          <a:xfrm>
            <a:off x="5388298" y="4023360"/>
            <a:ext cx="2830199" cy="0"/>
          </a:xfrm>
          <a:prstGeom prst="line">
            <a:avLst/>
          </a:prstGeom>
          <a:noFill/>
          <a:ln w="25400">
            <a:solidFill>
              <a:srgbClr val="1F7A7A"/>
            </a:solidFill>
            <a:prstDash val="solid"/>
          </a:ln>
        </p:spPr>
      </p:sp>
      <p:sp>
        <p:nvSpPr>
          <p:cNvPr id="55" name="Shape 44"/>
          <p:cNvSpPr/>
          <p:nvPr/>
        </p:nvSpPr>
        <p:spPr>
          <a:xfrm flipV="1">
            <a:off x="8218497" y="3611880"/>
            <a:ext cx="0" cy="411480"/>
          </a:xfrm>
          <a:prstGeom prst="line">
            <a:avLst/>
          </a:prstGeom>
          <a:noFill/>
          <a:ln w="25400">
            <a:solidFill>
              <a:srgbClr val="1F7A7A"/>
            </a:solidFill>
            <a:prstDash val="solid"/>
            <a:tailEnd type="triangle"/>
          </a:ln>
        </p:spPr>
      </p:sp>
      <p:sp>
        <p:nvSpPr>
          <p:cNvPr id="56" name="Text 45"/>
          <p:cNvSpPr/>
          <p:nvPr/>
        </p:nvSpPr>
        <p:spPr>
          <a:xfrm>
            <a:off x="5388298" y="4069080"/>
            <a:ext cx="2830199" cy="256032"/>
          </a:xfrm>
          <a:prstGeom prst="rect">
            <a:avLst/>
          </a:prstGeom>
          <a:noFill/>
          <a:ln/>
        </p:spPr>
        <p:txBody>
          <a:bodyPr wrap="square" lIns="0" tIns="0" rIns="0" bIns="0" rtlCol="0" anchor="ctr"/>
          <a:lstStyle/>
          <a:p>
            <a:pPr algn="ctr" indent="0" marL="0">
              <a:buNone/>
            </a:pPr>
            <a:r>
              <a:rPr lang="en-US" sz="1300" b="1" dirty="0">
                <a:solidFill>
                  <a:srgbClr val="1F7A7A"/>
                </a:solidFill>
                <a:latin typeface="Calibri" pitchFamily="34" charset="0"/>
                <a:ea typeface="Calibri" pitchFamily="34" charset="-122"/>
                <a:cs typeface="Calibri" pitchFamily="34" charset="-120"/>
              </a:rPr>
              <a:t>denied: nothing runs</a:t>
            </a:r>
            <a:endParaRPr lang="en-US" sz="1300" dirty="0"/>
          </a:p>
        </p:txBody>
      </p:sp>
      <p:sp>
        <p:nvSpPr>
          <p:cNvPr id="57" name="Shape 46"/>
          <p:cNvSpPr/>
          <p:nvPr/>
        </p:nvSpPr>
        <p:spPr>
          <a:xfrm>
            <a:off x="9633596" y="3611880"/>
            <a:ext cx="0" cy="960120"/>
          </a:xfrm>
          <a:prstGeom prst="line">
            <a:avLst/>
          </a:prstGeom>
          <a:noFill/>
          <a:ln w="25400">
            <a:solidFill>
              <a:srgbClr val="5F6B7A"/>
            </a:solidFill>
            <a:prstDash val="solid"/>
          </a:ln>
        </p:spPr>
      </p:sp>
      <p:sp>
        <p:nvSpPr>
          <p:cNvPr id="58" name="Shape 47"/>
          <p:cNvSpPr/>
          <p:nvPr/>
        </p:nvSpPr>
        <p:spPr>
          <a:xfrm>
            <a:off x="1143000" y="4572000"/>
            <a:ext cx="8490596" cy="0"/>
          </a:xfrm>
          <a:prstGeom prst="line">
            <a:avLst/>
          </a:prstGeom>
          <a:noFill/>
          <a:ln w="25400">
            <a:solidFill>
              <a:srgbClr val="5F6B7A"/>
            </a:solidFill>
            <a:prstDash val="solid"/>
          </a:ln>
        </p:spPr>
      </p:sp>
      <p:sp>
        <p:nvSpPr>
          <p:cNvPr id="59" name="Shape 48"/>
          <p:cNvSpPr/>
          <p:nvPr/>
        </p:nvSpPr>
        <p:spPr>
          <a:xfrm flipV="1">
            <a:off x="1143000" y="3611880"/>
            <a:ext cx="0" cy="960120"/>
          </a:xfrm>
          <a:prstGeom prst="line">
            <a:avLst/>
          </a:prstGeom>
          <a:noFill/>
          <a:ln w="25400">
            <a:solidFill>
              <a:srgbClr val="5F6B7A"/>
            </a:solidFill>
            <a:prstDash val="solid"/>
            <a:tailEnd type="triangle"/>
          </a:ln>
        </p:spPr>
      </p:sp>
      <p:sp>
        <p:nvSpPr>
          <p:cNvPr id="60" name="Text 49"/>
          <p:cNvSpPr/>
          <p:nvPr/>
        </p:nvSpPr>
        <p:spPr>
          <a:xfrm>
            <a:off x="1143000" y="4617720"/>
            <a:ext cx="8490596"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61" name="Text 50"/>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62" name="Text 51"/>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63" name="Text 52"/>
          <p:cNvSpPr/>
          <p:nvPr/>
        </p:nvSpPr>
        <p:spPr>
          <a:xfrm>
            <a:off x="4023360" y="5029200"/>
            <a:ext cx="1554480" cy="292608"/>
          </a:xfrm>
          <a:prstGeom prst="roundRect">
            <a:avLst>
              <a:gd name="adj" fmla="val 25000"/>
            </a:avLst>
          </a:prstGeom>
          <a:solidFill>
            <a:srgbClr val="A2C4BE"/>
          </a:solidFill>
          <a:ln w="12700">
            <a:solidFill>
              <a:srgbClr val="1F7A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Written rules</a:t>
            </a:r>
            <a:endParaRPr lang="en-US" sz="1300" dirty="0"/>
          </a:p>
        </p:txBody>
      </p:sp>
      <p:sp>
        <p:nvSpPr>
          <p:cNvPr id="64" name="Shape 53"/>
          <p:cNvSpPr/>
          <p:nvPr/>
        </p:nvSpPr>
        <p:spPr>
          <a:xfrm>
            <a:off x="548640" y="5486400"/>
            <a:ext cx="11094415" cy="731520"/>
          </a:xfrm>
          <a:prstGeom prst="roundRect">
            <a:avLst>
              <a:gd name="adj" fmla="val 10000"/>
            </a:avLst>
          </a:prstGeom>
          <a:solidFill>
            <a:srgbClr val="1F7A7A"/>
          </a:solidFill>
          <a:ln/>
        </p:spPr>
      </p:sp>
      <p:pic>
        <p:nvPicPr>
          <p:cNvPr id="65" name="Image 8" descr="preencoded.png">    </p:cNvPr>
          <p:cNvPicPr>
            <a:picLocks noChangeAspect="1"/>
          </p:cNvPicPr>
          <p:nvPr/>
        </p:nvPicPr>
        <p:blipFill>
          <a:blip r:embed="rId9"/>
          <a:stretch>
            <a:fillRect/>
          </a:stretch>
        </p:blipFill>
        <p:spPr>
          <a:xfrm>
            <a:off x="822960" y="5623560"/>
            <a:ext cx="457200" cy="457200"/>
          </a:xfrm>
          <a:prstGeom prst="rect">
            <a:avLst/>
          </a:prstGeom>
        </p:spPr>
      </p:pic>
      <p:sp>
        <p:nvSpPr>
          <p:cNvPr id="66" name="Text 54"/>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never reads the account. </a:t>
            </a:r>
            <a:pPr algn="l" indent="0" marL="0">
              <a:buNone/>
            </a:pPr>
            <a:r>
              <a:rPr lang="en-US" sz="1800" dirty="0">
                <a:solidFill>
                  <a:srgbClr val="FFFFFF"/>
                </a:solidFill>
                <a:latin typeface="Calibri" pitchFamily="34" charset="0"/>
                <a:ea typeface="Calibri" pitchFamily="34" charset="-122"/>
                <a:cs typeface="Calibri" pitchFamily="34" charset="-120"/>
              </a:rPr>
              <a:t>Fixed code reads only the fields the action needs: the Final message input falls from 617 to 590 tokens.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Experiment: synthetic data, real model calls</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 Van Son · 162 s</a:t>
            </a:r>
            <a:endParaRPr lang="en-US" sz="1100" dirty="0"/>
          </a:p>
        </p:txBody>
      </p:sp>
      <p:sp>
        <p:nvSpPr>
          <p:cNvPr id="5" name="Shape 2"/>
          <p:cNvSpPr/>
          <p:nvPr/>
        </p:nvSpPr>
        <p:spPr>
          <a:xfrm>
            <a:off x="548640" y="1417320"/>
            <a:ext cx="2567864" cy="1691640"/>
          </a:xfrm>
          <a:prstGeom prst="roundRect">
            <a:avLst>
              <a:gd name="adj" fmla="val 4324"/>
            </a:avLst>
          </a:prstGeom>
          <a:solidFill>
            <a:srgbClr val="FFFFFF"/>
          </a:solidFill>
          <a:ln/>
        </p:spPr>
      </p:sp>
      <p:sp>
        <p:nvSpPr>
          <p:cNvPr id="6" name="Shape 3"/>
          <p:cNvSpPr/>
          <p:nvPr/>
        </p:nvSpPr>
        <p:spPr>
          <a:xfrm>
            <a:off x="822960" y="16733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8" name="Text 4"/>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9" name="Text 5"/>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10" name="Shape 6"/>
          <p:cNvSpPr/>
          <p:nvPr/>
        </p:nvSpPr>
        <p:spPr>
          <a:xfrm>
            <a:off x="3390824" y="1417320"/>
            <a:ext cx="2567864" cy="1691640"/>
          </a:xfrm>
          <a:prstGeom prst="roundRect">
            <a:avLst>
              <a:gd name="adj" fmla="val 4324"/>
            </a:avLst>
          </a:prstGeom>
          <a:solidFill>
            <a:srgbClr val="FFFFFF"/>
          </a:solidFill>
          <a:ln/>
        </p:spPr>
      </p:sp>
      <p:sp>
        <p:nvSpPr>
          <p:cNvPr id="11" name="Shape 7"/>
          <p:cNvSpPr/>
          <p:nvPr/>
        </p:nvSpPr>
        <p:spPr>
          <a:xfrm>
            <a:off x="3665144" y="16733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3" name="Text 8"/>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50</a:t>
            </a:r>
            <a:endParaRPr lang="en-US" sz="4400" dirty="0"/>
          </a:p>
        </p:txBody>
      </p:sp>
      <p:sp>
        <p:nvSpPr>
          <p:cNvPr id="14" name="Text 9"/>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24 types</a:t>
            </a:r>
            <a:endParaRPr lang="en-US" sz="1500" dirty="0"/>
          </a:p>
        </p:txBody>
      </p:sp>
      <p:sp>
        <p:nvSpPr>
          <p:cNvPr id="15" name="Shape 10"/>
          <p:cNvSpPr/>
          <p:nvPr/>
        </p:nvSpPr>
        <p:spPr>
          <a:xfrm>
            <a:off x="6233008" y="1417320"/>
            <a:ext cx="2567864" cy="1691640"/>
          </a:xfrm>
          <a:prstGeom prst="roundRect">
            <a:avLst>
              <a:gd name="adj" fmla="val 4324"/>
            </a:avLst>
          </a:prstGeom>
          <a:solidFill>
            <a:srgbClr val="FFFFFF"/>
          </a:solidFill>
          <a:ln/>
        </p:spPr>
      </p:sp>
      <p:sp>
        <p:nvSpPr>
          <p:cNvPr id="16" name="Shape 11"/>
          <p:cNvSpPr/>
          <p:nvPr/>
        </p:nvSpPr>
        <p:spPr>
          <a:xfrm>
            <a:off x="6507328" y="16733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8" name="Text 12"/>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300</a:t>
            </a:r>
            <a:endParaRPr lang="en-US" sz="4400" dirty="0"/>
          </a:p>
        </p:txBody>
      </p:sp>
      <p:sp>
        <p:nvSpPr>
          <p:cNvPr id="19" name="Text 13"/>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100 for each of three runs</a:t>
            </a:r>
            <a:endParaRPr lang="en-US" sz="1500" dirty="0"/>
          </a:p>
        </p:txBody>
      </p:sp>
      <p:sp>
        <p:nvSpPr>
          <p:cNvPr id="20" name="Shape 14"/>
          <p:cNvSpPr/>
          <p:nvPr/>
        </p:nvSpPr>
        <p:spPr>
          <a:xfrm>
            <a:off x="9075191" y="1417320"/>
            <a:ext cx="2567864" cy="1691640"/>
          </a:xfrm>
          <a:prstGeom prst="roundRect">
            <a:avLst>
              <a:gd name="adj" fmla="val 4324"/>
            </a:avLst>
          </a:prstGeom>
          <a:solidFill>
            <a:srgbClr val="FFFFFF"/>
          </a:solidFill>
          <a:ln/>
        </p:spPr>
      </p:sp>
      <p:sp>
        <p:nvSpPr>
          <p:cNvPr id="21" name="Shape 15"/>
          <p:cNvSpPr/>
          <p:nvPr/>
        </p:nvSpPr>
        <p:spPr>
          <a:xfrm>
            <a:off x="9349511" y="1673352"/>
            <a:ext cx="685800" cy="68580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3" name="Text 16"/>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a:t>
            </a:r>
            <a:endParaRPr lang="en-US" sz="4400" dirty="0"/>
          </a:p>
        </p:txBody>
      </p:sp>
      <p:sp>
        <p:nvSpPr>
          <p:cNvPr id="24" name="Text 17"/>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25" name="Shape 18"/>
          <p:cNvSpPr/>
          <p:nvPr/>
        </p:nvSpPr>
        <p:spPr>
          <a:xfrm>
            <a:off x="548640" y="3520440"/>
            <a:ext cx="11094415" cy="822960"/>
          </a:xfrm>
          <a:prstGeom prst="roundRect">
            <a:avLst>
              <a:gd name="adj" fmla="val 8889"/>
            </a:avLst>
          </a:prstGeom>
          <a:solidFill>
            <a:srgbClr val="FFFFFF"/>
          </a:solidFill>
          <a:ln/>
        </p:spPr>
      </p:sp>
      <p:sp>
        <p:nvSpPr>
          <p:cNvPr id="26" name="Text 19"/>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7" name="Text 20"/>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8" name="Shape 21"/>
          <p:cNvSpPr/>
          <p:nvPr/>
        </p:nvSpPr>
        <p:spPr>
          <a:xfrm>
            <a:off x="548640" y="4526280"/>
            <a:ext cx="11094415" cy="822960"/>
          </a:xfrm>
          <a:prstGeom prst="roundRect">
            <a:avLst>
              <a:gd name="adj" fmla="val 8889"/>
            </a:avLst>
          </a:prstGeom>
          <a:solidFill>
            <a:srgbClr val="FFFFFF"/>
          </a:solidFill>
          <a:ln/>
        </p:spPr>
      </p:sp>
      <p:sp>
        <p:nvSpPr>
          <p:cNvPr id="29" name="Text 22"/>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30" name="Text 23"/>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1" name="Text 24"/>
          <p:cNvSpPr/>
          <p:nvPr/>
        </p:nvSpPr>
        <p:spPr>
          <a:xfrm>
            <a:off x="548640" y="5669280"/>
            <a:ext cx="11094415" cy="45720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Live calls to two hosted models: Jev (jev-1.13.0) and deepseek-v4.1-flash through the DeepSeek API. An offline replay gives the same numbers.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18x faster, 11x cheaper</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30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0.241 s against 4.410 s, median for one classifier call</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11x</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$0.587 per 1,000 requests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11 of 50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queue or action from Jev. None is an error at Level 3.</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60 s</a:t>
            </a:r>
            <a:endParaRPr lang="en-US" sz="1100" dirty="0"/>
          </a:p>
        </p:txBody>
      </p:sp>
      <p:sp>
        <p:nvSpPr>
          <p:cNvPr id="5" name="Shape 2"/>
          <p:cNvSpPr/>
          <p:nvPr/>
        </p:nvSpPr>
        <p:spPr>
          <a:xfrm>
            <a:off x="548640" y="1508760"/>
            <a:ext cx="6949440" cy="3611880"/>
          </a:xfrm>
          <a:prstGeom prst="roundRect">
            <a:avLst>
              <a:gd name="adj" fmla="val 2025"/>
            </a:avLst>
          </a:prstGeom>
          <a:solidFill>
            <a:srgbClr val="FFFFFF"/>
          </a:solidFill>
          <a:ln/>
        </p:spPr>
      </p:sp>
      <p:graphicFrame>
        <p:nvGraphicFramePr>
          <p:cNvPr id="6"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143000"/>
          </a:xfrm>
          <a:prstGeom prst="roundRect">
            <a:avLst>
              <a:gd name="adj" fmla="val 6400"/>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1" name="Text 6"/>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3.16 s against 6.85 s of machine time</a:t>
            </a:r>
            <a:endParaRPr lang="en-US" sz="1400" dirty="0"/>
          </a:p>
        </p:txBody>
      </p:sp>
      <p:sp>
        <p:nvSpPr>
          <p:cNvPr id="12" name="Shape 7"/>
          <p:cNvSpPr/>
          <p:nvPr/>
        </p:nvSpPr>
        <p:spPr>
          <a:xfrm>
            <a:off x="7772400" y="2743200"/>
            <a:ext cx="3870655" cy="1143000"/>
          </a:xfrm>
          <a:prstGeom prst="roundRect">
            <a:avLst>
              <a:gd name="adj" fmla="val 6400"/>
            </a:avLst>
          </a:prstGeom>
          <a:solidFill>
            <a:srgbClr val="FFFFFF"/>
          </a:solidFill>
          <a:ln/>
        </p:spPr>
      </p:sp>
      <p:sp>
        <p:nvSpPr>
          <p:cNvPr id="13" name="Shape 8"/>
          <p:cNvSpPr/>
          <p:nvPr/>
        </p:nvSpPr>
        <p:spPr>
          <a:xfrm>
            <a:off x="8001000" y="29718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5" name="Text 9"/>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2.4x</a:t>
            </a:r>
            <a:endParaRPr lang="en-US" sz="2800" dirty="0"/>
          </a:p>
        </p:txBody>
      </p:sp>
      <p:sp>
        <p:nvSpPr>
          <p:cNvPr id="16" name="Text 10"/>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$0.30 against $0.71 per 1,000 requests</a:t>
            </a:r>
            <a:endParaRPr lang="en-US" sz="1400" dirty="0"/>
          </a:p>
        </p:txBody>
      </p:sp>
      <p:sp>
        <p:nvSpPr>
          <p:cNvPr id="17" name="Shape 11"/>
          <p:cNvSpPr/>
          <p:nvPr/>
        </p:nvSpPr>
        <p:spPr>
          <a:xfrm>
            <a:off x="7772400" y="3977640"/>
            <a:ext cx="3870655" cy="1143000"/>
          </a:xfrm>
          <a:prstGeom prst="roundRect">
            <a:avLst>
              <a:gd name="adj" fmla="val 6400"/>
            </a:avLst>
          </a:prstGeom>
          <a:solidFill>
            <a:srgbClr val="FFFFFF"/>
          </a:solidFill>
          <a:ln/>
        </p:spPr>
      </p:sp>
      <p:sp>
        <p:nvSpPr>
          <p:cNvPr id="18" name="Shape 12"/>
          <p:cNvSpPr/>
          <p:nvPr/>
        </p:nvSpPr>
        <p:spPr>
          <a:xfrm>
            <a:off x="8001000" y="420624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20" name="Text 13"/>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3</a:t>
            </a:r>
            <a:endParaRPr lang="en-US" sz="2800" dirty="0"/>
          </a:p>
        </p:txBody>
      </p:sp>
      <p:sp>
        <p:nvSpPr>
          <p:cNvPr id="21" name="Text 14"/>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0.25, not significant</a:t>
            </a:r>
            <a:endParaRPr lang="en-US" sz="13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both levels. Level 1 baseline: 90 s per request (assumed).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Phuong Nam · 75 s</a:t>
            </a:r>
            <a:endParaRPr lang="en-US" sz="1100" dirty="0"/>
          </a:p>
        </p:txBody>
      </p:sp>
      <p:sp>
        <p:nvSpPr>
          <p:cNvPr id="5" name="Shape 2"/>
          <p:cNvSpPr/>
          <p:nvPr/>
        </p:nvSpPr>
        <p:spPr>
          <a:xfrm>
            <a:off x="548640" y="1508760"/>
            <a:ext cx="6309360" cy="4663440"/>
          </a:xfrm>
          <a:prstGeom prst="roundRect">
            <a:avLst>
              <a:gd name="adj" fmla="val 1569"/>
            </a:avLst>
          </a:prstGeom>
          <a:solidFill>
            <a:srgbClr val="FFFFFF"/>
          </a:solidFill>
          <a:ln/>
        </p:spPr>
      </p:sp>
      <p:sp>
        <p:nvSpPr>
          <p:cNvPr id="6" name="Shape 3"/>
          <p:cNvSpPr/>
          <p:nvPr/>
        </p:nvSpPr>
        <p:spPr>
          <a:xfrm>
            <a:off x="868680" y="1737360"/>
            <a:ext cx="640080" cy="64008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8" name="Text 4"/>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9" name="Text 5"/>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50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50 is not proof of zero: the 95% upper limit is about 6%</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One prompt wording and one run for each request; two hosted models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added after fraud reports showed a defect on these 50 requests, so the main numbers are not a blind test</a:t>
            </a:r>
            <a:endParaRPr lang="en-US" sz="1600" dirty="0"/>
          </a:p>
        </p:txBody>
      </p:sp>
      <p:sp>
        <p:nvSpPr>
          <p:cNvPr id="10" name="Shape 6"/>
          <p:cNvSpPr/>
          <p:nvPr/>
        </p:nvSpPr>
        <p:spPr>
          <a:xfrm>
            <a:off x="7132320" y="1508760"/>
            <a:ext cx="4510735" cy="2331720"/>
          </a:xfrm>
          <a:prstGeom prst="roundRect">
            <a:avLst>
              <a:gd name="adj" fmla="val 3137"/>
            </a:avLst>
          </a:prstGeom>
          <a:solidFill>
            <a:srgbClr val="FFFFFF"/>
          </a:solidFill>
          <a:ln/>
        </p:spPr>
      </p:sp>
      <p:sp>
        <p:nvSpPr>
          <p:cNvPr id="11" name="Shape 7"/>
          <p:cNvSpPr/>
          <p:nvPr/>
        </p:nvSpPr>
        <p:spPr>
          <a:xfrm>
            <a:off x="7406640" y="1691640"/>
            <a:ext cx="548640" cy="54864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3" name="Text 8"/>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4" name="Text 9"/>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Level 3 is 2.2x faster, 2.4x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0.25: no accuracy gap is shown</a:t>
            </a:r>
            <a:endParaRPr lang="en-US" sz="1600" dirty="0"/>
          </a:p>
        </p:txBody>
      </p:sp>
      <p:sp>
        <p:nvSpPr>
          <p:cNvPr id="15" name="Shape 10"/>
          <p:cNvSpPr/>
          <p:nvPr/>
        </p:nvSpPr>
        <p:spPr>
          <a:xfrm>
            <a:off x="7132320" y="4023360"/>
            <a:ext cx="4510735" cy="2148840"/>
          </a:xfrm>
          <a:prstGeom prst="roundRect">
            <a:avLst>
              <a:gd name="adj" fmla="val 3404"/>
            </a:avLst>
          </a:prstGeom>
          <a:solidFill>
            <a:srgbClr val="FFFFFF"/>
          </a:solidFill>
          <a:ln/>
        </p:spPr>
      </p:sp>
      <p:sp>
        <p:nvSpPr>
          <p:cNvPr id="16" name="Shape 11"/>
          <p:cNvSpPr/>
          <p:nvPr/>
        </p:nvSpPr>
        <p:spPr>
          <a:xfrm>
            <a:off x="7406640" y="4206240"/>
            <a:ext cx="548640" cy="548640"/>
          </a:xfrm>
          <a:prstGeom prst="ellipse">
            <a:avLst/>
          </a:prstGeom>
          <a:solidFill>
            <a:srgbClr val="1F7A7A"/>
          </a:solidFill>
          <a:ln w="12700">
            <a:solidFill>
              <a:srgbClr val="1F7A7A"/>
            </a:solidFill>
            <a:prstDash val="solid"/>
          </a:ln>
        </p:spPr>
      </p:sp>
      <p:pic>
        <p:nvPicPr>
          <p:cNvPr id="17"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8" name="Text 12"/>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9" name="Text 13"/>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more request types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00200"/>
            <a:ext cx="5943600" cy="3794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Same 50 requests at every level. Level 2: 32 served, 15 stopped, 3 errors. Level 3: 35 served, 15 stopped, 0 errors.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2.2x faster, and 2.4x cheaper: 3.16 s and $0.30 against 6.85 s and $0.71. The sign test (p = 0.25) shows no accuracy gap.</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added it after we saw a defect on these 50 requests.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Jev is less accurate than the LLM on four of five fields, but the written rules catch its wrong answers, so Level 3 makes 0 errors.</a:t>
            </a:r>
            <a:endParaRPr lang="en-US" sz="18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6" name="Text 3"/>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Nguyen Phuong Nam · 40 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2026-10-07T01:26:44Z</dcterms:created>
  <dcterms:modified xsi:type="dcterms:W3CDTF">2026-10-07T01:26:44Z</dcterms:modified>
</cp:coreProperties>
</file>