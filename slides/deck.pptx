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246</c:v>
                </c:pt>
                <c:pt idx="1">
                  <c:v>164</c:v>
                </c:pt>
                <c:pt idx="2">
                  <c:v>143</c:v>
                </c:pt>
                <c:pt idx="3">
                  <c:v>123</c:v>
                </c:pt>
                <c:pt idx="4">
                  <c:v>82</c:v>
                </c:pt>
                <c:pt idx="5">
                  <c:v>82</c:v>
                </c:pt>
                <c:pt idx="6">
                  <c:v>61</c:v>
                </c:pt>
                <c:pt idx="7">
                  <c:v>41</c:v>
                </c:pt>
                <c:pt idx="8">
                  <c:v>41</c:v>
                </c:pt>
                <c:pt idx="9">
                  <c:v>41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 (topic: 983 scored; rule answers: 1,700)</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676</c:v>
                </c:pt>
                <c:pt idx="1">
                  <c:v>717</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287</c:v>
                </c:pt>
                <c:pt idx="1">
                  <c:v>307</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role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 log of password reset links, and a teammate without billing rights. So the written rules can use real account fields, and the customers cover every branch of the rules. They send 1,024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24 types form ten families. Questions and answers is the largest, with 246 requests, then refunds with 164, plan cancellations with 143, and password resets with 123. Every request has its own words. 901 of the 1,024 senders are the account owner, and 123 are a teammate of the account without billing rights. The correct answers come from the written rules, because the generator runs the real code. A rule denies the action on 307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role,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levels on the same 1,024 requests. Level 2 serves 676, stops 287, and makes 61 errors, about 20 of them harmful. Level 3 serves 717, stops 307, and makes no error, and none is harmful. The 95% interval of the Level 3 errors is 0 to 38 of 1,024, and that of Level 2 is 28 to 128. Level 3 is 1.8 times faster, 4.28 seconds against 7.85, and 2.1 times cheaper, 29 cents against 61 cents per 1,000 requests. The two levels fail on different requests: Level 2 fails on 41 injection requests and on 20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our work fits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Level 3 follows the same idea: Jev only answers typed questions, and the process, not Jev, decides if the action runs. Result 2 shows what that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which the same code that applies the rules produced. Both levels run on the same 1,024 requests, and the intervals are wide: for example, the Level 3 errors are 0, with a 95% interval from 0 to 38, and the sign test is p = 0.031. Jev needs a question that we write for each rule. We tried questions made from the text of the rule alone, and they made about 61 to 123 errors of 1,024, against none for ours. We wrote our questions knowing the 24 request types; a second set of requests did not change the result. Real users write slang and make spelling mistakes. Our test data does not. The 90 seconds at Level 1 is assumed. We did not simulate the popup or the silence timer. We found the Security rule and the account fields on an earlier 512-request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676, stops 287, and makes 61 errors. Level 3 serves 717, stops 307, and makes no error. Level 3 is 1.8 times faster and 2.1 times cheaper, and it makes fewer errors: it was never wrong where Level 2 was right, and Level 2 was wrong on 61 requests where it was right. Jev needs a question that we write for each rule.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spoken. These are the sources cited on the related-work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23-4.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3-4.png"/><Relationship Id="rId2" Type="http://schemas.openxmlformats.org/officeDocument/2006/relationships/image" Target="../media/image-21-4.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29-2.png"/><Relationship Id="rId3" Type="http://schemas.openxmlformats.org/officeDocument/2006/relationships/image" Target="../media/image-10-6.png"/><Relationship Id="rId4" Type="http://schemas.openxmlformats.org/officeDocument/2006/relationships/image" Target="../media/image-24-3.png"/><Relationship Id="rId5" Type="http://schemas.openxmlformats.org/officeDocument/2006/relationships/image" Target="../media/image-14-9.png"/><Relationship Id="rId6" Type="http://schemas.openxmlformats.org/officeDocument/2006/relationships/image" Target="../media/image-23-1.png"/><Relationship Id="rId7" Type="http://schemas.openxmlformats.org/officeDocument/2006/relationships/image" Target="../media/image-29-7.png"/><Relationship Id="rId8" Type="http://schemas.openxmlformats.org/officeDocument/2006/relationships/image" Target="../media/image-10-2.png"/><Relationship Id="rId9" Type="http://schemas.openxmlformats.org/officeDocument/2006/relationships/image" Target="../media/image-21-2.png"/><Relationship Id="rId10" Type="http://schemas.openxmlformats.org/officeDocument/2006/relationships/image" Target="../media/image-1-1.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sender a teammate, not the owner?</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with the account lines of a refund. Code runs the action when no answer says broken.</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One answer says broken, so code runs nothing. Next: Final message.</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Refunds must be requested by the account owner, which you are, but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teammate per account: without billing rights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307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901 owners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the 1,024 senders; 123 are a teammate without billing rights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$0.61</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$0.29</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67690"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1,690 of 1,700</a:t>
            </a:r>
            <a:endParaRPr lang="en-US" sz="28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rule answers match the written rules</a:t>
            </a:r>
            <a:endParaRPr lang="en-US" sz="1400" dirty="0"/>
          </a:p>
        </p:txBody>
      </p:sp>
      <p:sp>
        <p:nvSpPr>
          <p:cNvPr id="21" name="Text 14"/>
          <p:cNvSpPr/>
          <p:nvPr/>
        </p:nvSpPr>
        <p:spPr>
          <a:xfrm>
            <a:off x="548640" y="6080760"/>
            <a:ext cx="10180015"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95% intervals: topic 79 to 93%, priority 75 to 89%, action 75 to 89%, injection 90 to 98%, rule answers 97 to 100%. 174 action labels are wrong, and none ends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61</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3 and Level 2. Sign test: p = 0.031</a:t>
            </a:r>
            <a:endParaRPr lang="en-US" sz="14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faster and cheaper, with fewer errors.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about 20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Level 3: the time and cost of the final message come from the recorded run of the same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Greshake et al., 2023</a:t>
            </a:r>
            <a:endParaRPr lang="en-US" sz="14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Debenedetti et al., 2025; Beurer-Kellner et al., 2025</a:t>
            </a:r>
            <a:endParaRPr lang="en-US" sz="14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Zendesk Help Center; Intercom Learning Center, 2026</a:t>
            </a:r>
            <a:endParaRPr lang="en-US" sz="14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follows the same idea: </a:t>
            </a:r>
            <a:pPr algn="l" indent="0" marL="0">
              <a:buNone/>
            </a:pPr>
            <a:r>
              <a:rPr lang="en-US" sz="1800" dirty="0">
                <a:solidFill>
                  <a:srgbClr val="FFFFFF"/>
                </a:solidFill>
                <a:latin typeface="Calibri" pitchFamily="34" charset="0"/>
                <a:ea typeface="Calibri" pitchFamily="34" charset="-122"/>
                <a:cs typeface="Calibri" pitchFamily="34" charset="-120"/>
              </a:rPr>
              <a:t>Jev only answers typed questions, and the process decides if the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gain is clear, but our evidence is small</a:t>
            </a:r>
            <a:endParaRPr lang="en-US" sz="3400" dirty="0"/>
          </a:p>
        </p:txBody>
      </p:sp>
      <p:sp>
        <p:nvSpPr>
          <p:cNvPr id="4" name="Shape 1"/>
          <p:cNvSpPr/>
          <p:nvPr/>
        </p:nvSpPr>
        <p:spPr>
          <a:xfrm>
            <a:off x="548640" y="1463040"/>
            <a:ext cx="2011680" cy="2377440"/>
          </a:xfrm>
          <a:prstGeom prst="roundRect">
            <a:avLst>
              <a:gd name="adj" fmla="val 3636"/>
            </a:avLst>
          </a:prstGeom>
          <a:solidFill>
            <a:srgbClr val="FFFFFF"/>
          </a:solidFill>
          <a:ln/>
        </p:spPr>
      </p:sp>
      <p:sp>
        <p:nvSpPr>
          <p:cNvPr id="5" name="Shape 2"/>
          <p:cNvSpPr/>
          <p:nvPr/>
        </p:nvSpPr>
        <p:spPr>
          <a:xfrm>
            <a:off x="822960" y="2377440"/>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7" name="Text 3"/>
          <p:cNvSpPr/>
          <p:nvPr/>
        </p:nvSpPr>
        <p:spPr>
          <a:xfrm>
            <a:off x="1508760" y="1463040"/>
            <a:ext cx="960120" cy="23774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Limits</a:t>
            </a:r>
            <a:endParaRPr lang="en-US" sz="2000" dirty="0"/>
          </a:p>
        </p:txBody>
      </p:sp>
      <p:sp>
        <p:nvSpPr>
          <p:cNvPr id="8" name="Shape 4"/>
          <p:cNvSpPr/>
          <p:nvPr/>
        </p:nvSpPr>
        <p:spPr>
          <a:xfrm>
            <a:off x="2788920" y="1463040"/>
            <a:ext cx="2076374" cy="2377440"/>
          </a:xfrm>
          <a:prstGeom prst="roundRect">
            <a:avLst>
              <a:gd name="adj" fmla="val 3523"/>
            </a:avLst>
          </a:prstGeom>
          <a:solidFill>
            <a:srgbClr val="FFFFFF"/>
          </a:solidFill>
          <a:ln/>
        </p:spPr>
      </p:sp>
      <p:sp>
        <p:nvSpPr>
          <p:cNvPr id="9" name="Shape 5"/>
          <p:cNvSpPr/>
          <p:nvPr/>
        </p:nvSpPr>
        <p:spPr>
          <a:xfrm>
            <a:off x="2971800" y="1645920"/>
            <a:ext cx="502920" cy="502920"/>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082442" y="1756562"/>
            <a:ext cx="281635" cy="281635"/>
          </a:xfrm>
          <a:prstGeom prst="rect">
            <a:avLst/>
          </a:prstGeom>
        </p:spPr>
      </p:pic>
      <p:sp>
        <p:nvSpPr>
          <p:cNvPr id="11" name="Text 6"/>
          <p:cNvSpPr/>
          <p:nvPr/>
        </p:nvSpPr>
        <p:spPr>
          <a:xfrm>
            <a:off x="2971800"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0 to 38</a:t>
            </a:r>
            <a:endParaRPr lang="en-US" sz="2600" dirty="0"/>
          </a:p>
        </p:txBody>
      </p:sp>
      <p:sp>
        <p:nvSpPr>
          <p:cNvPr id="12" name="Text 7"/>
          <p:cNvSpPr/>
          <p:nvPr/>
        </p:nvSpPr>
        <p:spPr>
          <a:xfrm>
            <a:off x="2971800"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95% interval of the Level 3 errors: wide</a:t>
            </a:r>
            <a:endParaRPr lang="en-US" sz="1400" dirty="0"/>
          </a:p>
        </p:txBody>
      </p:sp>
      <p:sp>
        <p:nvSpPr>
          <p:cNvPr id="13" name="Shape 8"/>
          <p:cNvSpPr/>
          <p:nvPr/>
        </p:nvSpPr>
        <p:spPr>
          <a:xfrm>
            <a:off x="5048174" y="1463040"/>
            <a:ext cx="2076374" cy="2377440"/>
          </a:xfrm>
          <a:prstGeom prst="roundRect">
            <a:avLst>
              <a:gd name="adj" fmla="val 3523"/>
            </a:avLst>
          </a:prstGeom>
          <a:solidFill>
            <a:srgbClr val="FFFFFF"/>
          </a:solidFill>
          <a:ln/>
        </p:spPr>
      </p:sp>
      <p:sp>
        <p:nvSpPr>
          <p:cNvPr id="14" name="Shape 9"/>
          <p:cNvSpPr/>
          <p:nvPr/>
        </p:nvSpPr>
        <p:spPr>
          <a:xfrm>
            <a:off x="5231054" y="1645920"/>
            <a:ext cx="502920" cy="502920"/>
          </a:xfrm>
          <a:prstGeom prst="ellipse">
            <a:avLst/>
          </a:prstGeom>
          <a:solidFill>
            <a:srgbClr val="5F6B7A"/>
          </a:solidFill>
          <a:ln w="12700">
            <a:solidFill>
              <a:srgbClr val="5F6B7A"/>
            </a:solidFill>
            <a:prstDash val="solid"/>
          </a:ln>
        </p:spPr>
      </p:sp>
      <p:pic>
        <p:nvPicPr>
          <p:cNvPr id="15" name="Image 2" descr="preencoded.png">    </p:cNvPr>
          <p:cNvPicPr>
            <a:picLocks noChangeAspect="1"/>
          </p:cNvPicPr>
          <p:nvPr/>
        </p:nvPicPr>
        <p:blipFill>
          <a:blip r:embed="rId3"/>
          <a:stretch>
            <a:fillRect/>
          </a:stretch>
        </p:blipFill>
        <p:spPr>
          <a:xfrm>
            <a:off x="5341696" y="1756562"/>
            <a:ext cx="281635" cy="281635"/>
          </a:xfrm>
          <a:prstGeom prst="rect">
            <a:avLst/>
          </a:prstGeom>
        </p:spPr>
      </p:pic>
      <p:sp>
        <p:nvSpPr>
          <p:cNvPr id="16" name="Text 10"/>
          <p:cNvSpPr/>
          <p:nvPr/>
        </p:nvSpPr>
        <p:spPr>
          <a:xfrm>
            <a:off x="5231054"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61 to 123</a:t>
            </a:r>
            <a:endParaRPr lang="en-US" sz="2600" dirty="0"/>
          </a:p>
        </p:txBody>
      </p:sp>
      <p:sp>
        <p:nvSpPr>
          <p:cNvPr id="17" name="Text 11"/>
          <p:cNvSpPr/>
          <p:nvPr/>
        </p:nvSpPr>
        <p:spPr>
          <a:xfrm>
            <a:off x="5231054"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of 1,024 with questions made from the rule text alone</a:t>
            </a:r>
            <a:endParaRPr lang="en-US" sz="1400" dirty="0"/>
          </a:p>
        </p:txBody>
      </p:sp>
      <p:sp>
        <p:nvSpPr>
          <p:cNvPr id="18" name="Shape 12"/>
          <p:cNvSpPr/>
          <p:nvPr/>
        </p:nvSpPr>
        <p:spPr>
          <a:xfrm>
            <a:off x="7307428" y="1463040"/>
            <a:ext cx="2076374" cy="2377440"/>
          </a:xfrm>
          <a:prstGeom prst="roundRect">
            <a:avLst>
              <a:gd name="adj" fmla="val 3523"/>
            </a:avLst>
          </a:prstGeom>
          <a:solidFill>
            <a:srgbClr val="FFFFFF"/>
          </a:solidFill>
          <a:ln/>
        </p:spPr>
      </p:sp>
      <p:sp>
        <p:nvSpPr>
          <p:cNvPr id="19" name="Shape 13"/>
          <p:cNvSpPr/>
          <p:nvPr/>
        </p:nvSpPr>
        <p:spPr>
          <a:xfrm>
            <a:off x="7490308" y="1645920"/>
            <a:ext cx="502920" cy="502920"/>
          </a:xfrm>
          <a:prstGeom prst="ellipse">
            <a:avLst/>
          </a:prstGeom>
          <a:solidFill>
            <a:srgbClr val="5F6B7A"/>
          </a:solidFill>
          <a:ln w="12700">
            <a:solidFill>
              <a:srgbClr val="5F6B7A"/>
            </a:solidFill>
            <a:prstDash val="solid"/>
          </a:ln>
        </p:spPr>
      </p:sp>
      <p:pic>
        <p:nvPicPr>
          <p:cNvPr id="20" name="Image 3" descr="preencoded.png">    </p:cNvPr>
          <p:cNvPicPr>
            <a:picLocks noChangeAspect="1"/>
          </p:cNvPicPr>
          <p:nvPr/>
        </p:nvPicPr>
        <p:blipFill>
          <a:blip r:embed="rId4"/>
          <a:stretch>
            <a:fillRect/>
          </a:stretch>
        </p:blipFill>
        <p:spPr>
          <a:xfrm>
            <a:off x="7600950" y="1756562"/>
            <a:ext cx="281635" cy="281635"/>
          </a:xfrm>
          <a:prstGeom prst="rect">
            <a:avLst/>
          </a:prstGeom>
        </p:spPr>
      </p:pic>
      <p:sp>
        <p:nvSpPr>
          <p:cNvPr id="21" name="Text 14"/>
          <p:cNvSpPr/>
          <p:nvPr/>
        </p:nvSpPr>
        <p:spPr>
          <a:xfrm>
            <a:off x="7490308"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Synthetic</a:t>
            </a:r>
            <a:endParaRPr lang="en-US" sz="2600" dirty="0"/>
          </a:p>
        </p:txBody>
      </p:sp>
      <p:sp>
        <p:nvSpPr>
          <p:cNvPr id="22" name="Text 15"/>
          <p:cNvSpPr/>
          <p:nvPr/>
        </p:nvSpPr>
        <p:spPr>
          <a:xfrm>
            <a:off x="7490308"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data and labels from code; the 90 s is assumed; no popup or timer</a:t>
            </a:r>
            <a:endParaRPr lang="en-US" sz="1400" dirty="0"/>
          </a:p>
        </p:txBody>
      </p:sp>
      <p:sp>
        <p:nvSpPr>
          <p:cNvPr id="23" name="Shape 16"/>
          <p:cNvSpPr/>
          <p:nvPr/>
        </p:nvSpPr>
        <p:spPr>
          <a:xfrm>
            <a:off x="9566681" y="1463040"/>
            <a:ext cx="2076374" cy="2377440"/>
          </a:xfrm>
          <a:prstGeom prst="roundRect">
            <a:avLst>
              <a:gd name="adj" fmla="val 3523"/>
            </a:avLst>
          </a:prstGeom>
          <a:solidFill>
            <a:srgbClr val="FFFFFF"/>
          </a:solidFill>
          <a:ln/>
        </p:spPr>
      </p:sp>
      <p:sp>
        <p:nvSpPr>
          <p:cNvPr id="24" name="Shape 17"/>
          <p:cNvSpPr/>
          <p:nvPr/>
        </p:nvSpPr>
        <p:spPr>
          <a:xfrm>
            <a:off x="9749561" y="1645920"/>
            <a:ext cx="502920" cy="502920"/>
          </a:xfrm>
          <a:prstGeom prst="ellipse">
            <a:avLst/>
          </a:prstGeom>
          <a:solidFill>
            <a:srgbClr val="5F6B7A"/>
          </a:solidFill>
          <a:ln w="12700">
            <a:solidFill>
              <a:srgbClr val="5F6B7A"/>
            </a:solidFill>
            <a:prstDash val="solid"/>
          </a:ln>
        </p:spPr>
      </p:sp>
      <p:pic>
        <p:nvPicPr>
          <p:cNvPr id="25" name="Image 4" descr="preencoded.png">    </p:cNvPr>
          <p:cNvPicPr>
            <a:picLocks noChangeAspect="1"/>
          </p:cNvPicPr>
          <p:nvPr/>
        </p:nvPicPr>
        <p:blipFill>
          <a:blip r:embed="rId5"/>
          <a:stretch>
            <a:fillRect/>
          </a:stretch>
        </p:blipFill>
        <p:spPr>
          <a:xfrm>
            <a:off x="9860204" y="1756562"/>
            <a:ext cx="281635" cy="281635"/>
          </a:xfrm>
          <a:prstGeom prst="rect">
            <a:avLst/>
          </a:prstGeom>
        </p:spPr>
      </p:pic>
      <p:sp>
        <p:nvSpPr>
          <p:cNvPr id="26" name="Text 18"/>
          <p:cNvSpPr/>
          <p:nvPr/>
        </p:nvSpPr>
        <p:spPr>
          <a:xfrm>
            <a:off x="9749561"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Not blind</a:t>
            </a:r>
            <a:endParaRPr lang="en-US" sz="2600" dirty="0"/>
          </a:p>
        </p:txBody>
      </p:sp>
      <p:sp>
        <p:nvSpPr>
          <p:cNvPr id="27" name="Text 19"/>
          <p:cNvSpPr/>
          <p:nvPr/>
        </p:nvSpPr>
        <p:spPr>
          <a:xfrm>
            <a:off x="9749561"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Security rule found on an earlier 512-request set of the same 24 types</a:t>
            </a:r>
            <a:endParaRPr lang="en-US" sz="1400" dirty="0"/>
          </a:p>
        </p:txBody>
      </p:sp>
      <p:sp>
        <p:nvSpPr>
          <p:cNvPr id="28" name="Shape 20"/>
          <p:cNvSpPr/>
          <p:nvPr/>
        </p:nvSpPr>
        <p:spPr>
          <a:xfrm>
            <a:off x="548640" y="4023360"/>
            <a:ext cx="2011680" cy="1005840"/>
          </a:xfrm>
          <a:prstGeom prst="roundRect">
            <a:avLst>
              <a:gd name="adj" fmla="val 7273"/>
            </a:avLst>
          </a:prstGeom>
          <a:solidFill>
            <a:srgbClr val="FFFFFF"/>
          </a:solidFill>
          <a:ln/>
        </p:spPr>
      </p:sp>
      <p:sp>
        <p:nvSpPr>
          <p:cNvPr id="29" name="Shape 21"/>
          <p:cNvSpPr/>
          <p:nvPr/>
        </p:nvSpPr>
        <p:spPr>
          <a:xfrm>
            <a:off x="822960" y="4251960"/>
            <a:ext cx="548640" cy="548640"/>
          </a:xfrm>
          <a:prstGeom prst="ellipse">
            <a:avLst/>
          </a:prstGeom>
          <a:solidFill>
            <a:srgbClr val="234B84"/>
          </a:solidFill>
          <a:ln w="12700">
            <a:solidFill>
              <a:srgbClr val="234B84"/>
            </a:solidFill>
            <a:prstDash val="solid"/>
          </a:ln>
        </p:spPr>
      </p:sp>
      <p:pic>
        <p:nvPicPr>
          <p:cNvPr id="30" name="Image 5" descr="preencoded.png">    </p:cNvPr>
          <p:cNvPicPr>
            <a:picLocks noChangeAspect="1"/>
          </p:cNvPicPr>
          <p:nvPr/>
        </p:nvPicPr>
        <p:blipFill>
          <a:blip r:embed="rId6"/>
          <a:stretch>
            <a:fillRect/>
          </a:stretch>
        </p:blipFill>
        <p:spPr>
          <a:xfrm>
            <a:off x="943661" y="4372661"/>
            <a:ext cx="307238" cy="307238"/>
          </a:xfrm>
          <a:prstGeom prst="rect">
            <a:avLst/>
          </a:prstGeom>
        </p:spPr>
      </p:pic>
      <p:sp>
        <p:nvSpPr>
          <p:cNvPr id="31" name="Text 22"/>
          <p:cNvSpPr/>
          <p:nvPr/>
        </p:nvSpPr>
        <p:spPr>
          <a:xfrm>
            <a:off x="1508760" y="402336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Claim</a:t>
            </a:r>
            <a:endParaRPr lang="en-US" sz="2000" dirty="0"/>
          </a:p>
        </p:txBody>
      </p:sp>
      <p:sp>
        <p:nvSpPr>
          <p:cNvPr id="32" name="Shape 23"/>
          <p:cNvSpPr/>
          <p:nvPr/>
        </p:nvSpPr>
        <p:spPr>
          <a:xfrm>
            <a:off x="2788920" y="4023360"/>
            <a:ext cx="2829458" cy="1005840"/>
          </a:xfrm>
          <a:prstGeom prst="roundRect">
            <a:avLst>
              <a:gd name="adj" fmla="val 7273"/>
            </a:avLst>
          </a:prstGeom>
          <a:solidFill>
            <a:srgbClr val="FFFFFF"/>
          </a:solidFill>
          <a:ln/>
        </p:spPr>
      </p:sp>
      <p:sp>
        <p:nvSpPr>
          <p:cNvPr id="33" name="Text 24"/>
          <p:cNvSpPr/>
          <p:nvPr/>
        </p:nvSpPr>
        <p:spPr>
          <a:xfrm>
            <a:off x="3017520"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34" name="Text 25"/>
          <p:cNvSpPr/>
          <p:nvPr/>
        </p:nvSpPr>
        <p:spPr>
          <a:xfrm>
            <a:off x="3017520"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a:t>
            </a:r>
            <a:endParaRPr lang="en-US" sz="1400" dirty="0"/>
          </a:p>
        </p:txBody>
      </p:sp>
      <p:sp>
        <p:nvSpPr>
          <p:cNvPr id="35" name="Shape 26"/>
          <p:cNvSpPr/>
          <p:nvPr/>
        </p:nvSpPr>
        <p:spPr>
          <a:xfrm>
            <a:off x="5801258" y="4023360"/>
            <a:ext cx="2829458" cy="1005840"/>
          </a:xfrm>
          <a:prstGeom prst="roundRect">
            <a:avLst>
              <a:gd name="adj" fmla="val 7273"/>
            </a:avLst>
          </a:prstGeom>
          <a:solidFill>
            <a:srgbClr val="FFFFFF"/>
          </a:solidFill>
          <a:ln/>
        </p:spPr>
      </p:sp>
      <p:sp>
        <p:nvSpPr>
          <p:cNvPr id="36" name="Text 27"/>
          <p:cNvSpPr/>
          <p:nvPr/>
        </p:nvSpPr>
        <p:spPr>
          <a:xfrm>
            <a:off x="6029858"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2.1x</a:t>
            </a:r>
            <a:endParaRPr lang="en-US" sz="3000" dirty="0"/>
          </a:p>
        </p:txBody>
      </p:sp>
      <p:sp>
        <p:nvSpPr>
          <p:cNvPr id="37" name="Text 28"/>
          <p:cNvSpPr/>
          <p:nvPr/>
        </p:nvSpPr>
        <p:spPr>
          <a:xfrm>
            <a:off x="6029858"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a:t>
            </a:r>
            <a:endParaRPr lang="en-US" sz="1400" dirty="0"/>
          </a:p>
        </p:txBody>
      </p:sp>
      <p:sp>
        <p:nvSpPr>
          <p:cNvPr id="38" name="Shape 29"/>
          <p:cNvSpPr/>
          <p:nvPr/>
        </p:nvSpPr>
        <p:spPr>
          <a:xfrm>
            <a:off x="8813597" y="4023360"/>
            <a:ext cx="2829458" cy="1005840"/>
          </a:xfrm>
          <a:prstGeom prst="roundRect">
            <a:avLst>
              <a:gd name="adj" fmla="val 7273"/>
            </a:avLst>
          </a:prstGeom>
          <a:solidFill>
            <a:srgbClr val="FFFFFF"/>
          </a:solidFill>
          <a:ln/>
        </p:spPr>
      </p:sp>
      <p:sp>
        <p:nvSpPr>
          <p:cNvPr id="39" name="Text 30"/>
          <p:cNvSpPr/>
          <p:nvPr/>
        </p:nvSpPr>
        <p:spPr>
          <a:xfrm>
            <a:off x="9042197"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 vs 61</a:t>
            </a:r>
            <a:endParaRPr lang="en-US" sz="3000" dirty="0"/>
          </a:p>
        </p:txBody>
      </p:sp>
      <p:sp>
        <p:nvSpPr>
          <p:cNvPr id="40" name="Text 31"/>
          <p:cNvSpPr/>
          <p:nvPr/>
        </p:nvSpPr>
        <p:spPr>
          <a:xfrm>
            <a:off x="9042197"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fewer errors (p = 0.031)</a:t>
            </a:r>
            <a:endParaRPr lang="en-US" sz="1400" dirty="0"/>
          </a:p>
        </p:txBody>
      </p:sp>
      <p:sp>
        <p:nvSpPr>
          <p:cNvPr id="41" name="Shape 32"/>
          <p:cNvSpPr/>
          <p:nvPr/>
        </p:nvSpPr>
        <p:spPr>
          <a:xfrm>
            <a:off x="548640" y="5212080"/>
            <a:ext cx="2011680" cy="1005840"/>
          </a:xfrm>
          <a:prstGeom prst="roundRect">
            <a:avLst>
              <a:gd name="adj" fmla="val 7273"/>
            </a:avLst>
          </a:prstGeom>
          <a:solidFill>
            <a:srgbClr val="FFFFFF"/>
          </a:solidFill>
          <a:ln/>
        </p:spPr>
      </p:sp>
      <p:sp>
        <p:nvSpPr>
          <p:cNvPr id="42" name="Shape 33"/>
          <p:cNvSpPr/>
          <p:nvPr/>
        </p:nvSpPr>
        <p:spPr>
          <a:xfrm>
            <a:off x="822960" y="5440680"/>
            <a:ext cx="548640" cy="548640"/>
          </a:xfrm>
          <a:prstGeom prst="ellipse">
            <a:avLst/>
          </a:prstGeom>
          <a:solidFill>
            <a:srgbClr val="1F7A7A"/>
          </a:solidFill>
          <a:ln w="12700">
            <a:solidFill>
              <a:srgbClr val="1F7A7A"/>
            </a:solidFill>
            <a:prstDash val="solid"/>
          </a:ln>
        </p:spPr>
      </p:sp>
      <p:pic>
        <p:nvPicPr>
          <p:cNvPr id="43" name="Image 6" descr="preencoded.png">    </p:cNvPr>
          <p:cNvPicPr>
            <a:picLocks noChangeAspect="1"/>
          </p:cNvPicPr>
          <p:nvPr/>
        </p:nvPicPr>
        <p:blipFill>
          <a:blip r:embed="rId7"/>
          <a:stretch>
            <a:fillRect/>
          </a:stretch>
        </p:blipFill>
        <p:spPr>
          <a:xfrm>
            <a:off x="943661" y="5561381"/>
            <a:ext cx="307238" cy="307238"/>
          </a:xfrm>
          <a:prstGeom prst="rect">
            <a:avLst/>
          </a:prstGeom>
        </p:spPr>
      </p:pic>
      <p:sp>
        <p:nvSpPr>
          <p:cNvPr id="44" name="Text 34"/>
          <p:cNvSpPr/>
          <p:nvPr/>
        </p:nvSpPr>
        <p:spPr>
          <a:xfrm>
            <a:off x="1508760" y="521208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Next</a:t>
            </a:r>
            <a:endParaRPr lang="en-US" sz="2000" dirty="0"/>
          </a:p>
        </p:txBody>
      </p:sp>
      <p:sp>
        <p:nvSpPr>
          <p:cNvPr id="45" name="Shape 35"/>
          <p:cNvSpPr/>
          <p:nvPr/>
        </p:nvSpPr>
        <p:spPr>
          <a:xfrm>
            <a:off x="2788920" y="5212080"/>
            <a:ext cx="2829458" cy="1005840"/>
          </a:xfrm>
          <a:prstGeom prst="roundRect">
            <a:avLst>
              <a:gd name="adj" fmla="val 7273"/>
            </a:avLst>
          </a:prstGeom>
          <a:solidFill>
            <a:srgbClr val="FFFFFF"/>
          </a:solidFill>
          <a:ln/>
        </p:spPr>
      </p:sp>
      <p:sp>
        <p:nvSpPr>
          <p:cNvPr id="46" name="Shape 36"/>
          <p:cNvSpPr/>
          <p:nvPr/>
        </p:nvSpPr>
        <p:spPr>
          <a:xfrm>
            <a:off x="3017520" y="5440680"/>
            <a:ext cx="548640" cy="548640"/>
          </a:xfrm>
          <a:prstGeom prst="ellipse">
            <a:avLst/>
          </a:prstGeom>
          <a:solidFill>
            <a:srgbClr val="1F7A7A"/>
          </a:solidFill>
          <a:ln w="12700">
            <a:solidFill>
              <a:srgbClr val="1F7A7A"/>
            </a:solidFill>
            <a:prstDash val="solid"/>
          </a:ln>
        </p:spPr>
      </p:sp>
      <p:pic>
        <p:nvPicPr>
          <p:cNvPr id="47" name="Image 7" descr="preencoded.png">    </p:cNvPr>
          <p:cNvPicPr>
            <a:picLocks noChangeAspect="1"/>
          </p:cNvPicPr>
          <p:nvPr/>
        </p:nvPicPr>
        <p:blipFill>
          <a:blip r:embed="rId8"/>
          <a:stretch>
            <a:fillRect/>
          </a:stretch>
        </p:blipFill>
        <p:spPr>
          <a:xfrm>
            <a:off x="3138221" y="5561381"/>
            <a:ext cx="307238" cy="307238"/>
          </a:xfrm>
          <a:prstGeom prst="rect">
            <a:avLst/>
          </a:prstGeom>
        </p:spPr>
      </p:pic>
      <p:sp>
        <p:nvSpPr>
          <p:cNvPr id="48" name="Text 37"/>
          <p:cNvSpPr/>
          <p:nvPr/>
        </p:nvSpPr>
        <p:spPr>
          <a:xfrm>
            <a:off x="3703320"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p:txBody>
      </p:sp>
      <p:sp>
        <p:nvSpPr>
          <p:cNvPr id="49" name="Shape 38"/>
          <p:cNvSpPr/>
          <p:nvPr/>
        </p:nvSpPr>
        <p:spPr>
          <a:xfrm>
            <a:off x="5801258" y="5212080"/>
            <a:ext cx="2829458" cy="1005840"/>
          </a:xfrm>
          <a:prstGeom prst="roundRect">
            <a:avLst>
              <a:gd name="adj" fmla="val 7273"/>
            </a:avLst>
          </a:prstGeom>
          <a:solidFill>
            <a:srgbClr val="FFFFFF"/>
          </a:solidFill>
          <a:ln/>
        </p:spPr>
      </p:sp>
      <p:sp>
        <p:nvSpPr>
          <p:cNvPr id="50" name="Shape 39"/>
          <p:cNvSpPr/>
          <p:nvPr/>
        </p:nvSpPr>
        <p:spPr>
          <a:xfrm>
            <a:off x="6029858" y="5440680"/>
            <a:ext cx="548640" cy="548640"/>
          </a:xfrm>
          <a:prstGeom prst="ellipse">
            <a:avLst/>
          </a:prstGeom>
          <a:solidFill>
            <a:srgbClr val="1F7A7A"/>
          </a:solidFill>
          <a:ln w="12700">
            <a:solidFill>
              <a:srgbClr val="1F7A7A"/>
            </a:solidFill>
            <a:prstDash val="solid"/>
          </a:ln>
        </p:spPr>
      </p:sp>
      <p:pic>
        <p:nvPicPr>
          <p:cNvPr id="51" name="Image 8" descr="preencoded.png">    </p:cNvPr>
          <p:cNvPicPr>
            <a:picLocks noChangeAspect="1"/>
          </p:cNvPicPr>
          <p:nvPr/>
        </p:nvPicPr>
        <p:blipFill>
          <a:blip r:embed="rId9"/>
          <a:stretch>
            <a:fillRect/>
          </a:stretch>
        </p:blipFill>
        <p:spPr>
          <a:xfrm>
            <a:off x="6150559" y="5561381"/>
            <a:ext cx="307238" cy="307238"/>
          </a:xfrm>
          <a:prstGeom prst="rect">
            <a:avLst/>
          </a:prstGeom>
        </p:spPr>
      </p:pic>
      <p:sp>
        <p:nvSpPr>
          <p:cNvPr id="52" name="Text 40"/>
          <p:cNvSpPr/>
          <p:nvPr/>
        </p:nvSpPr>
        <p:spPr>
          <a:xfrm>
            <a:off x="6715658"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More requests and more request types</a:t>
            </a:r>
            <a:endParaRPr lang="en-US" sz="1600" dirty="0"/>
          </a:p>
        </p:txBody>
      </p:sp>
      <p:sp>
        <p:nvSpPr>
          <p:cNvPr id="53" name="Shape 41"/>
          <p:cNvSpPr/>
          <p:nvPr/>
        </p:nvSpPr>
        <p:spPr>
          <a:xfrm>
            <a:off x="8813597" y="5212080"/>
            <a:ext cx="2829458" cy="1005840"/>
          </a:xfrm>
          <a:prstGeom prst="roundRect">
            <a:avLst>
              <a:gd name="adj" fmla="val 7273"/>
            </a:avLst>
          </a:prstGeom>
          <a:solidFill>
            <a:srgbClr val="FFFFFF"/>
          </a:solidFill>
          <a:ln/>
        </p:spPr>
      </p:sp>
      <p:sp>
        <p:nvSpPr>
          <p:cNvPr id="54" name="Shape 42"/>
          <p:cNvSpPr/>
          <p:nvPr/>
        </p:nvSpPr>
        <p:spPr>
          <a:xfrm>
            <a:off x="9042197" y="5440680"/>
            <a:ext cx="548640" cy="548640"/>
          </a:xfrm>
          <a:prstGeom prst="ellipse">
            <a:avLst/>
          </a:prstGeom>
          <a:solidFill>
            <a:srgbClr val="1F7A7A"/>
          </a:solidFill>
          <a:ln w="12700">
            <a:solidFill>
              <a:srgbClr val="1F7A7A"/>
            </a:solidFill>
            <a:prstDash val="solid"/>
          </a:ln>
        </p:spPr>
      </p:sp>
      <p:pic>
        <p:nvPicPr>
          <p:cNvPr id="55" name="Image 9" descr="preencoded.png">    </p:cNvPr>
          <p:cNvPicPr>
            <a:picLocks noChangeAspect="1"/>
          </p:cNvPicPr>
          <p:nvPr/>
        </p:nvPicPr>
        <p:blipFill>
          <a:blip r:embed="rId10"/>
          <a:stretch>
            <a:fillRect/>
          </a:stretch>
        </p:blipFill>
        <p:spPr>
          <a:xfrm>
            <a:off x="9162898" y="5561381"/>
            <a:ext cx="307238" cy="307238"/>
          </a:xfrm>
          <a:prstGeom prst="rect">
            <a:avLst/>
          </a:prstGeom>
        </p:spPr>
      </p:pic>
      <p:sp>
        <p:nvSpPr>
          <p:cNvPr id="56" name="Text 43"/>
          <p:cNvSpPr/>
          <p:nvPr/>
        </p:nvSpPr>
        <p:spPr>
          <a:xfrm>
            <a:off x="9727997"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676 served, 287 stopped, 61 errors. Level 3: 717 served, 307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for each rule: questions from the rule text alone made 61 to 123 errors.</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61</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Appendix: References</a:t>
            </a:r>
            <a:endParaRPr lang="en-US" sz="3400" dirty="0"/>
          </a:p>
        </p:txBody>
      </p:sp>
      <p:sp>
        <p:nvSpPr>
          <p:cNvPr id="4" name="Shape 1"/>
          <p:cNvSpPr/>
          <p:nvPr/>
        </p:nvSpPr>
        <p:spPr>
          <a:xfrm>
            <a:off x="548640" y="1508760"/>
            <a:ext cx="11094415" cy="777240"/>
          </a:xfrm>
          <a:prstGeom prst="roundRect">
            <a:avLst>
              <a:gd name="adj" fmla="val 9412"/>
            </a:avLst>
          </a:prstGeom>
          <a:solidFill>
            <a:srgbClr val="FFFFFF"/>
          </a:solidFill>
          <a:ln/>
        </p:spPr>
      </p:sp>
      <p:sp>
        <p:nvSpPr>
          <p:cNvPr id="5" name="Text 2"/>
          <p:cNvSpPr/>
          <p:nvPr/>
        </p:nvSpPr>
        <p:spPr>
          <a:xfrm>
            <a:off x="822960" y="15087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Greshake et al., 2023</a:t>
            </a:r>
            <a:endParaRPr lang="en-US" sz="1800" dirty="0"/>
          </a:p>
        </p:txBody>
      </p:sp>
      <p:sp>
        <p:nvSpPr>
          <p:cNvPr id="6" name="Text 3"/>
          <p:cNvSpPr/>
          <p:nvPr/>
        </p:nvSpPr>
        <p:spPr>
          <a:xfrm>
            <a:off x="3931920" y="15087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Not What You've Signed Up For: Compromising Real-World LLM-Integrated Applications with Indirect Prompt Injection. AISec '23, ACM, 79-90.</a:t>
            </a:r>
            <a:endParaRPr lang="en-US" sz="1600" dirty="0"/>
          </a:p>
        </p:txBody>
      </p:sp>
      <p:sp>
        <p:nvSpPr>
          <p:cNvPr id="7" name="Shape 4"/>
          <p:cNvSpPr/>
          <p:nvPr/>
        </p:nvSpPr>
        <p:spPr>
          <a:xfrm>
            <a:off x="548640" y="2423160"/>
            <a:ext cx="11094415" cy="777240"/>
          </a:xfrm>
          <a:prstGeom prst="roundRect">
            <a:avLst>
              <a:gd name="adj" fmla="val 9412"/>
            </a:avLst>
          </a:prstGeom>
          <a:solidFill>
            <a:srgbClr val="FFFFFF"/>
          </a:solidFill>
          <a:ln/>
        </p:spPr>
      </p:sp>
      <p:sp>
        <p:nvSpPr>
          <p:cNvPr id="8" name="Text 5"/>
          <p:cNvSpPr/>
          <p:nvPr/>
        </p:nvSpPr>
        <p:spPr>
          <a:xfrm>
            <a:off x="822960" y="24231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Debenedetti et al., 2025</a:t>
            </a:r>
            <a:endParaRPr lang="en-US" sz="1800" dirty="0"/>
          </a:p>
        </p:txBody>
      </p:sp>
      <p:sp>
        <p:nvSpPr>
          <p:cNvPr id="9" name="Text 6"/>
          <p:cNvSpPr/>
          <p:nvPr/>
        </p:nvSpPr>
        <p:spPr>
          <a:xfrm>
            <a:off x="3931920" y="24231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Defeating Prompt Injections by Design (CaMeL). arXiv:2503.18813.</a:t>
            </a:r>
            <a:endParaRPr lang="en-US" sz="1600" dirty="0"/>
          </a:p>
        </p:txBody>
      </p:sp>
      <p:sp>
        <p:nvSpPr>
          <p:cNvPr id="10" name="Shape 7"/>
          <p:cNvSpPr/>
          <p:nvPr/>
        </p:nvSpPr>
        <p:spPr>
          <a:xfrm>
            <a:off x="548640" y="3337560"/>
            <a:ext cx="11094415" cy="777240"/>
          </a:xfrm>
          <a:prstGeom prst="roundRect">
            <a:avLst>
              <a:gd name="adj" fmla="val 9412"/>
            </a:avLst>
          </a:prstGeom>
          <a:solidFill>
            <a:srgbClr val="FFFFFF"/>
          </a:solidFill>
          <a:ln/>
        </p:spPr>
      </p:sp>
      <p:sp>
        <p:nvSpPr>
          <p:cNvPr id="11" name="Text 8"/>
          <p:cNvSpPr/>
          <p:nvPr/>
        </p:nvSpPr>
        <p:spPr>
          <a:xfrm>
            <a:off x="822960" y="33375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Beurer-Kellner et al., 2025</a:t>
            </a:r>
            <a:endParaRPr lang="en-US" sz="1800" dirty="0"/>
          </a:p>
        </p:txBody>
      </p:sp>
      <p:sp>
        <p:nvSpPr>
          <p:cNvPr id="12" name="Text 9"/>
          <p:cNvSpPr/>
          <p:nvPr/>
        </p:nvSpPr>
        <p:spPr>
          <a:xfrm>
            <a:off x="3931920" y="33375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Design Patterns for Securing LLM Agents against Prompt Injections. arXiv:2506.08837.</a:t>
            </a:r>
            <a:endParaRPr lang="en-US" sz="1600" dirty="0"/>
          </a:p>
        </p:txBody>
      </p:sp>
      <p:sp>
        <p:nvSpPr>
          <p:cNvPr id="13" name="Shape 10"/>
          <p:cNvSpPr/>
          <p:nvPr/>
        </p:nvSpPr>
        <p:spPr>
          <a:xfrm>
            <a:off x="548640" y="4251960"/>
            <a:ext cx="11094415" cy="777240"/>
          </a:xfrm>
          <a:prstGeom prst="roundRect">
            <a:avLst>
              <a:gd name="adj" fmla="val 9412"/>
            </a:avLst>
          </a:prstGeom>
          <a:solidFill>
            <a:srgbClr val="FFFFFF"/>
          </a:solidFill>
          <a:ln/>
        </p:spPr>
      </p:sp>
      <p:sp>
        <p:nvSpPr>
          <p:cNvPr id="14" name="Text 11"/>
          <p:cNvSpPr/>
          <p:nvPr/>
        </p:nvSpPr>
        <p:spPr>
          <a:xfrm>
            <a:off x="822960" y="42519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Zendesk, n.d.</a:t>
            </a:r>
            <a:endParaRPr lang="en-US" sz="1800" dirty="0"/>
          </a:p>
        </p:txBody>
      </p:sp>
      <p:sp>
        <p:nvSpPr>
          <p:cNvPr id="15" name="Text 12"/>
          <p:cNvSpPr/>
          <p:nvPr/>
        </p:nvSpPr>
        <p:spPr>
          <a:xfrm>
            <a:off x="3931920" y="42519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Routing and automation options for incoming tickets. Zendesk Help Center. Accessed 5 October 2026.</a:t>
            </a:r>
            <a:endParaRPr lang="en-US" sz="1600" dirty="0"/>
          </a:p>
        </p:txBody>
      </p:sp>
      <p:sp>
        <p:nvSpPr>
          <p:cNvPr id="16" name="Shape 13"/>
          <p:cNvSpPr/>
          <p:nvPr/>
        </p:nvSpPr>
        <p:spPr>
          <a:xfrm>
            <a:off x="548640" y="5166360"/>
            <a:ext cx="11094415" cy="777240"/>
          </a:xfrm>
          <a:prstGeom prst="roundRect">
            <a:avLst>
              <a:gd name="adj" fmla="val 9412"/>
            </a:avLst>
          </a:prstGeom>
          <a:solidFill>
            <a:srgbClr val="FFFFFF"/>
          </a:solidFill>
          <a:ln/>
        </p:spPr>
      </p:sp>
      <p:sp>
        <p:nvSpPr>
          <p:cNvPr id="17" name="Text 14"/>
          <p:cNvSpPr/>
          <p:nvPr/>
        </p:nvSpPr>
        <p:spPr>
          <a:xfrm>
            <a:off x="822960" y="51663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Intercom, n.d.</a:t>
            </a:r>
            <a:endParaRPr lang="en-US" sz="1800" dirty="0"/>
          </a:p>
        </p:txBody>
      </p:sp>
      <p:sp>
        <p:nvSpPr>
          <p:cNvPr id="18" name="Text 15"/>
          <p:cNvSpPr/>
          <p:nvPr/>
        </p:nvSpPr>
        <p:spPr>
          <a:xfrm>
            <a:off x="3931920" y="51663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AI Agent That Takes Action: Refunds and Cancellations. Intercom Learning Center. Accessed 7 October 2026.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2026-10-11T19:12:08Z</dcterms:created>
  <dcterms:modified xsi:type="dcterms:W3CDTF">2026-10-11T19:12:08Z</dcterms:modified>
</cp:coreProperties>
</file>