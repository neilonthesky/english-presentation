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the 84 test requests (queue: 80)</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F5F98"/>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Queue</c:v>
                  </c:pt>
                  <c:pt idx="1">
                    <c:v>Action</c:v>
                  </c:pt>
                  <c:pt idx="2">
                    <c:v>Priority</c:v>
                  </c:pt>
                  <c:pt idx="3">
                    <c:v>Risk flag</c:v>
                  </c:pt>
                  <c:pt idx="4">
                    <c:v>Injection flag</c:v>
                  </c:pt>
                </c:lvl>
              </c:multiLvlStrCache>
            </c:multiLvlStrRef>
          </c:cat>
          <c:val>
            <c:numRef>
              <c:f>Sheet1!$B$2:$B$6</c:f>
              <c:numCache>
                <c:formatCode>General</c:formatCode>
                <c:ptCount val="5"/>
                <c:pt idx="0">
                  <c:v>97.5</c:v>
                </c:pt>
                <c:pt idx="1">
                  <c:v>91.7</c:v>
                </c:pt>
                <c:pt idx="2">
                  <c:v>84.5</c:v>
                </c:pt>
                <c:pt idx="3">
                  <c:v>92.9</c:v>
                </c:pt>
                <c:pt idx="4">
                  <c:v>100</c:v>
                </c:pt>
              </c:numCache>
            </c:numRef>
          </c:val>
        </c:ser>
        <c:ser>
          <c:idx val="1"/>
          <c:order val="1"/>
          <c:tx>
            <c:strRef>
              <c:f>Sheet1!$C$1</c:f>
              <c:strCache>
                <c:ptCount val="1"/>
                <c:pt idx="0">
                  <c:v>LLM</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Queue</c:v>
                  </c:pt>
                  <c:pt idx="1">
                    <c:v>Action</c:v>
                  </c:pt>
                  <c:pt idx="2">
                    <c:v>Priority</c:v>
                  </c:pt>
                  <c:pt idx="3">
                    <c:v>Risk flag</c:v>
                  </c:pt>
                  <c:pt idx="4">
                    <c:v>Injection flag</c:v>
                  </c:pt>
                </c:lvl>
              </c:multiLvlStrCache>
            </c:multiLvlStrRef>
          </c:cat>
          <c:val>
            <c:numRef>
              <c:f>Sheet1!$C$2:$C$6</c:f>
              <c:numCache>
                <c:formatCode>General</c:formatCode>
                <c:ptCount val="5"/>
                <c:pt idx="0">
                  <c:v>97.5</c:v>
                </c:pt>
                <c:pt idx="1">
                  <c:v>92.9</c:v>
                </c:pt>
                <c:pt idx="2">
                  <c:v>61.9</c:v>
                </c:pt>
                <c:pt idx="3">
                  <c:v>92.9</c:v>
                </c:pt>
                <c:pt idx="4">
                  <c:v>98.8</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present a state machine workflow for SaaS customer support in which an LLM never chooses an action. Our case is FrameForge, a made-up AI video-generation service: users turn a text prompt or reference images into short video clips and pay with a subscription plus render credits. The LLM only writes text, and written rules decide actions. We built the workflow, ran it on synthetic data, and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chatbots read customer requests. If the model chooses the action, one wrong answer can start a refund or delete workspace data. For FrameForge, the risks are a wrong subscription or credit-pack refund and the loss of uploaded assets or generated videos. We compare the workflow with a reference in which a support agent reads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is a state machine of seven steps and a handoff, here for the FrameForge customer support system. Step 3 is the routing: a fast classifier called Jev gives five typed answers with probabilities. Then written rules and fixed routing rules, also in step 3, decide the verdict, the path, and the action. One routing rule is a confidence floor: if Jev is less than 70% sure of the queue, the action, or the risk flag, a person reads the request. The LLM only writes answers, replies, and summaries. A person takes over the risky cases, the cases where Jev is not sure, and the cases that the user says are not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user writes a request. Step 2: the system saves it and looks up the account (plan, render credits, purchase). Step 3 is the routing: Jev gives five answers, then the written rules and the routing rules pick path A, B, or C. A request goes to path C when the injection flag is on, the priority is Critical, a written rule asks for a person, or Jev is less than 70% sure of the queue, the action, or the risk flag. Path A (step 4A) is fixed code with no model, path B (step 4B) is an LLM answer, and path C goes straight to the handoff, step H, and nothing runs. Step 5: the system does the action, only if the written rules allow it. Step 6: the user gets the result and says if it solved the request. Yes: step 7. No: step H, where the LLM writes a summary for a person and the bot says a person will join. Step 7 writes a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refunds and deleting data have written rules. For FrameForge, deleting data means the uploaded assets and generated videos of a workspace. Each rule returns pass, deny, or review. Deny means the action cannot be done and nothing runs. Review means a person takes over (path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sits between the models and the action. The verdict of the written rules decides, whatever the models said. Allow: the system does the action and writes the ledger. Deny: nothing runs and the customer is told why. Review: the request never reaches step 5, because a written rule that asks for a person sends it to path C and step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made by us. The world has 72 customers of FrameForge, a made-up AI video-generation product, 21 request types, and 84 test requests. We call two hosted models for real. Both classifiers get the same short label definitions and the help articles that match the request. We wrote the definitions and chose the 0.70 floor on the dev split, then ran the test split once with the final setup. Dev and test have the same 21 request types and differ only in wording. A request that goes to a person costs an assumed 90 seconds; no real person took part. So the study cannot tell how real staff would perform.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classifiers get the same label definitions and help articles. Compared alone, they tie on queue (97.5% each, on the 80 requests that have a queue) and on the risk flag (92.9% each). The LLM is a little better on action (92.9% against 91.7%) and Jev on the injection flag (100% against 98.8%). Jev is much better on priority (84.5% against 61.9%). Priority changes the path only when it is Critical, and both systems send all eight critical requests to a person. The LLM gave one answer that the system could not read: R0044, a missing injection flag. The system fails closed, and the request goes to a person. Jev gave no invalid answer. A wrong queue or action is the error that matters most: it happens in 9 of 84 requests with Jev and 7 of 84 with the LLM. At the median, one Jev call takes 0.25 seconds and one LLM call 6.13 seconds, which is about 25 times faster. RQ2: Jev gives a probability for each answer, and the floor of step 3 uses it. In the 0.9 to 1.0 bin, which holds 65 of 80 queue answers, the mean probability is 0.992 and the answer is right 98.5% of the time. The calibration error of that probability is 0.052 for queue, 0.053 for action, 0.088 for priority, 0.099 for risk, and 0.087 for injection. The confidence that Jev reports next to its answer gives 0.063, 0.065, 0.082, 0.099, and 0.087. So the probability is a little better on queue and action, a little worse on priority, and equal on risk and injection. We tested no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 In this test run the Jev system makes 0 silent errors in 84 requests and the LLM-classifier system 2, and neither has a harmful error. The two LLM errors are R0022, a render question that the system put in a queue, and R0164, a mixed billing and render request that the system answered with text, where a person should read it. The paired sign test counts the requests where only one system errs: Jev alone in 0, the LLM system alone in 2, so p = 0.5. There is no significant difference. The four requests of one type differ only in wording, so the sample is closer to 21 cases than to 84, and 0 errors is not proof of zero. The floor matters. Without it, Jev makes 2 silent errors, R0162 and R0164. Both are mixed billing and render requests, and the confidence of the risk flag is 0.52 and 0.56. The floor sends them to a person. The cost is the person rate: 41.7% with the floor and 35.7% without it, which is 6.0 points more. The floor sent 10 requests to a person; 3 of them were not needed. The LLM baseline reports no confidence, so a floor never applies to it. That is a fairness limit. Jev needs 2.65 seconds of machine time per request and the LLM system 10.63 seconds, which is 7.98 seconds less. Jev sends 4 more requests in 84 to a person (35 against 31). At the assumed 90 seconds per person, that adds 4.29 seconds. The mean total time is 40.15 against 43.84 seconds, 3.70 seconds less. Both are under the 90 seconds of sending every request to a person. The final result is correct in 84 of 84 requests for Jev and 82 of 84 for the LLM system. This time is not tested for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RQ3. We forged the classifier answers by hand, so no model runs and only the written rules stand in the way. This part does not depend on which classifier is used, and its numbers did not change. In six groups of requests where nothing may run, 365 of 365 stay safe: 264 are blocked at step 5, 101 are sent to a person at path C, and none runs an unsafe action. We also replaced the reply with a lie in 72 requests: the action and the ledger do not change, because the reply is written after the action. Without the rules and the flags, the final result would be wrong in 52 of 84 requests for Jev and 53 of 84 for the LLM. The rules stop the unsafe actions they cover. They do not stop a valid action that the classifier chose wrongly. For that case, the flags and the confidence floor send the request to a person. This shows what the design does on this data, not what it would do in real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is small-sample, and we list the limits. (a) 0 silent errors in 84 requests is not proof of zero. The four requests of one type differ only in wording, so the sample is closer to 21 cases. A 95% upper bound by the rule of three is 14% for 21 cases (3 of 21) and 3.6% for 84 requests (3 of 84). (b) We chose the label definitions, the help articles in the prompt, and the 0.70 floor on the dev split, and we saw an earlier test run with a first version of the definitions. So the test split is not a pure hold-out. Dev and test share the same 21 request types and differ in wording only. (c) Two dev templates were reworded after the dev run, because both classifiers read them the other way from the gold label: an injection template that gave no order, and a refund question that asked for a refund. (d) The floor is a trade: 3 person reads that were not needed, and 6.0 points more person rate, for 2 fewer silent errors. The LLM baseline reports no confidence, so it cannot use a floor. (e) Jev is faster: 2.65 seconds against 10.63 seconds of machine time per request. Other limits: synthetic data and our own labels, an assumed 90 seconds per person, two hosted models, and written rules for only two actions that do not read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 model decides labels, written rules and a confidence floor decide everything that matters, and the LLM only writes text. On this small synthetic study the Jev system made no silent error and the LLM classifier made 2, none harmful. A paired sign test gives p = 0.5, so there is no significant difference. The sample is closer to 21 cases than to 84, so 0 errors is not proof of zero. Without the floor, Jev made 2 silent errors; the floor removed them and cost 6.0 points of person rate, with 3 reads that were not needed. The LLM baseline reports no confidence, so it cannot use a floor. We set the definitions, the help articles, and the floor on the dev split and saw an earlier test run, so the test is not a pure hold-out. Jev was faster: 2.65 seconds of machine time per request against 10.63. The 365 action cases ran nothing, and the 72 reply-text cases changed no action or ledger. The saving with real staff and real data remains open.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822960"/>
            <a:ext cx="5943600" cy="228600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State Machine Workflow for LLM Agents in SaaS Customer Support</a:t>
            </a:r>
            <a:endParaRPr lang="en-US" sz="3800" dirty="0"/>
          </a:p>
        </p:txBody>
      </p:sp>
      <p:sp>
        <p:nvSpPr>
          <p:cNvPr id="3" name="Text 1"/>
          <p:cNvSpPr/>
          <p:nvPr/>
        </p:nvSpPr>
        <p:spPr>
          <a:xfrm>
            <a:off x="731520" y="3246120"/>
            <a:ext cx="5943600" cy="822960"/>
          </a:xfrm>
          <a:prstGeom prst="rect">
            <a:avLst/>
          </a:prstGeom>
          <a:noFill/>
          <a:ln/>
        </p:spPr>
        <p:txBody>
          <a:bodyPr wrap="square" lIns="0" tIns="0" rIns="0" bIns="0" rtlCol="0" anchor="t"/>
          <a:lstStyle/>
          <a:p>
            <a:pPr indent="0" marL="0">
              <a:buNone/>
            </a:pPr>
            <a:r>
              <a:rPr lang="en-US" sz="1900" dirty="0">
                <a:solidFill>
                  <a:srgbClr val="E3ECF6"/>
                </a:solidFill>
                <a:latin typeface="Calibri" pitchFamily="34" charset="0"/>
                <a:ea typeface="Calibri" pitchFamily="34" charset="-122"/>
                <a:cs typeface="Calibri" pitchFamily="34" charset="-120"/>
              </a:rPr>
              <a:t>FrameForge Support: an LLM writes text; rules decide</a:t>
            </a:r>
            <a:endParaRPr lang="en-US" sz="1900" dirty="0"/>
          </a:p>
        </p:txBody>
      </p:sp>
      <p:sp>
        <p:nvSpPr>
          <p:cNvPr id="4" name="Text 2"/>
          <p:cNvSpPr/>
          <p:nvPr/>
        </p:nvSpPr>
        <p:spPr>
          <a:xfrm>
            <a:off x="731520" y="4343400"/>
            <a:ext cx="5760720" cy="1005840"/>
          </a:xfrm>
          <a:prstGeom prst="rect">
            <a:avLst/>
          </a:prstGeom>
          <a:noFill/>
          <a:ln/>
        </p:spPr>
        <p:txBody>
          <a:bodyPr wrap="square" lIns="0" tIns="0" rIns="0" bIns="0" rtlCol="0" anchor="t"/>
          <a:lstStyle/>
          <a:p>
            <a:pPr indent="0" marL="0">
              <a:spcAft>
                <a:spcPts val="200"/>
              </a:spcAft>
              <a:buNone/>
            </a:pPr>
            <a:r>
              <a:rPr lang="en-US" sz="1800" b="1" dirty="0">
                <a:solidFill>
                  <a:srgbClr val="FFFFFF"/>
                </a:solidFill>
                <a:latin typeface="Calibri" pitchFamily="34" charset="0"/>
                <a:ea typeface="Calibri" pitchFamily="34" charset="-122"/>
                <a:cs typeface="Calibri" pitchFamily="34" charset="-120"/>
              </a:rPr>
              <a:t>Trần Thành Long · Nguyễn Thanh Nam</a:t>
            </a:r>
            <a:endParaRPr lang="en-US" sz="1800" dirty="0"/>
          </a:p>
          <a:p>
            <a:pPr indent="0" marL="0">
              <a:spcAft>
                <a:spcPts val="200"/>
              </a:spcAft>
              <a:buNone/>
            </a:pPr>
            <a:r>
              <a:rPr lang="en-US" sz="1800" b="1" dirty="0">
                <a:solidFill>
                  <a:srgbClr val="FFFFFF"/>
                </a:solidFill>
                <a:latin typeface="Calibri" pitchFamily="34" charset="0"/>
                <a:ea typeface="Calibri" pitchFamily="34" charset="-122"/>
                <a:cs typeface="Calibri" pitchFamily="34" charset="-120"/>
              </a:rPr>
              <a:t>Vũ Văn Sơn · Vương Quang Quý</a:t>
            </a:r>
            <a:endParaRPr lang="en-US" sz="1800" dirty="0"/>
          </a:p>
          <a:p>
            <a:pPr indent="0" marL="0">
              <a:spcAft>
                <a:spcPts val="200"/>
              </a:spcAft>
              <a:buNone/>
            </a:pPr>
            <a:r>
              <a:rPr lang="en-US" sz="1800" b="1" dirty="0">
                <a:solidFill>
                  <a:srgbClr val="FFFFFF"/>
                </a:solidFill>
                <a:latin typeface="Calibri" pitchFamily="34" charset="0"/>
                <a:ea typeface="Calibri" pitchFamily="34" charset="-122"/>
                <a:cs typeface="Calibri" pitchFamily="34" charset="-120"/>
              </a:rPr>
              <a:t>Nguyễn Phương Nam</a:t>
            </a:r>
            <a:endParaRPr lang="en-US" sz="1800" dirty="0"/>
          </a:p>
        </p:txBody>
      </p:sp>
      <p:sp>
        <p:nvSpPr>
          <p:cNvPr id="5" name="Text 3"/>
          <p:cNvSpPr/>
          <p:nvPr/>
        </p:nvSpPr>
        <p:spPr>
          <a:xfrm>
            <a:off x="731520" y="5669280"/>
            <a:ext cx="5760720" cy="5486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Phenikaa School of Computing</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English Writing and Presentation Skills · October 2026</a:t>
            </a:r>
            <a:endParaRPr lang="en-US" sz="1600" dirty="0"/>
          </a:p>
        </p:txBody>
      </p:sp>
      <p:pic>
        <p:nvPicPr>
          <p:cNvPr id="6" name="Image 0" descr="preencoded.png">    </p:cNvPr>
          <p:cNvPicPr>
            <a:picLocks noChangeAspect="1"/>
          </p:cNvPicPr>
          <p:nvPr/>
        </p:nvPicPr>
        <p:blipFill>
          <a:blip r:embed="rId1"/>
          <a:stretch>
            <a:fillRect/>
          </a:stretch>
        </p:blipFill>
        <p:spPr>
          <a:xfrm>
            <a:off x="6858000" y="868680"/>
            <a:ext cx="4754880" cy="4754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Two ways to handle customer requests</a:t>
            </a:r>
            <a:endParaRPr lang="en-US" sz="3600" dirty="0"/>
          </a:p>
        </p:txBody>
      </p:sp>
      <p:sp>
        <p:nvSpPr>
          <p:cNvPr id="4" name="Shape 1"/>
          <p:cNvSpPr/>
          <p:nvPr/>
        </p:nvSpPr>
        <p:spPr>
          <a:xfrm>
            <a:off x="548640" y="1508760"/>
            <a:ext cx="5364328" cy="3108960"/>
          </a:xfrm>
          <a:prstGeom prst="roundRect">
            <a:avLst>
              <a:gd name="adj" fmla="val 2353"/>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1965960"/>
            <a:ext cx="2194560" cy="2194560"/>
          </a:xfrm>
          <a:prstGeom prst="rect">
            <a:avLst/>
          </a:prstGeom>
        </p:spPr>
      </p:pic>
      <p:sp>
        <p:nvSpPr>
          <p:cNvPr id="6" name="Text 2"/>
          <p:cNvSpPr/>
          <p:nvPr/>
        </p:nvSpPr>
        <p:spPr>
          <a:xfrm>
            <a:off x="3291840" y="1965960"/>
            <a:ext cx="2392528" cy="914400"/>
          </a:xfrm>
          <a:prstGeom prst="rect">
            <a:avLst/>
          </a:prstGeom>
          <a:noFill/>
          <a:ln/>
        </p:spPr>
        <p:txBody>
          <a:bodyPr wrap="square" lIns="0" tIns="0" rIns="0" bIns="0" rtlCol="0" anchor="t"/>
          <a:lstStyle/>
          <a:p>
            <a:pPr algn="l" indent="0" marL="0">
              <a:buNone/>
            </a:pPr>
            <a:r>
              <a:rPr lang="en-US" sz="2100" b="1" dirty="0">
                <a:solidFill>
                  <a:srgbClr val="1B365D"/>
                </a:solidFill>
                <a:latin typeface="Calibri" pitchFamily="34" charset="0"/>
                <a:ea typeface="Calibri" pitchFamily="34" charset="-122"/>
                <a:cs typeface="Calibri" pitchFamily="34" charset="-120"/>
              </a:rPr>
              <a:t>The LLM chooses the action</a:t>
            </a:r>
            <a:endParaRPr lang="en-US" sz="2100" dirty="0"/>
          </a:p>
        </p:txBody>
      </p:sp>
      <p:sp>
        <p:nvSpPr>
          <p:cNvPr id="7" name="Text 3"/>
          <p:cNvSpPr/>
          <p:nvPr/>
        </p:nvSpPr>
        <p:spPr>
          <a:xfrm>
            <a:off x="3291840" y="2880360"/>
            <a:ext cx="2438248"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B3440"/>
                </a:solidFill>
                <a:latin typeface="Calibri" pitchFamily="34" charset="0"/>
                <a:ea typeface="Calibri" pitchFamily="34" charset="-122"/>
                <a:cs typeface="Calibri" pitchFamily="34" charset="-120"/>
              </a:rPr>
              <a:t>Can give a confident wrong answer</a:t>
            </a:r>
            <a:endParaRPr lang="en-US" sz="1400" dirty="0"/>
          </a:p>
          <a:p>
            <a:pPr marL="342900" indent="-342900">
              <a:spcAft>
                <a:spcPts val="600"/>
              </a:spcAft>
              <a:buSzPct val="100000"/>
              <a:buChar char="•"/>
            </a:pPr>
            <a:r>
              <a:rPr lang="en-US" sz="1400" dirty="0">
                <a:solidFill>
                  <a:srgbClr val="2B3440"/>
                </a:solidFill>
                <a:latin typeface="Calibri" pitchFamily="34" charset="0"/>
                <a:ea typeface="Calibri" pitchFamily="34" charset="-122"/>
                <a:cs typeface="Calibri" pitchFamily="34" charset="-120"/>
              </a:rPr>
              <a:t>Prompt injection: text gives orders to the model</a:t>
            </a:r>
            <a:endParaRPr lang="en-US" sz="1400" dirty="0"/>
          </a:p>
          <a:p>
            <a:pPr marL="342900" indent="-342900">
              <a:spcAft>
                <a:spcPts val="600"/>
              </a:spcAft>
              <a:buSzPct val="100000"/>
              <a:buChar char="•"/>
            </a:pPr>
            <a:r>
              <a:rPr lang="en-US" sz="1400" dirty="0">
                <a:solidFill>
                  <a:srgbClr val="2B3440"/>
                </a:solidFill>
                <a:latin typeface="Calibri" pitchFamily="34" charset="0"/>
                <a:ea typeface="Calibri" pitchFamily="34" charset="-122"/>
                <a:cs typeface="Calibri" pitchFamily="34" charset="-120"/>
              </a:rPr>
              <a:t>A wrong refund or deleted videos do real harm</a:t>
            </a:r>
            <a:endParaRPr lang="en-US" sz="1400" dirty="0"/>
          </a:p>
        </p:txBody>
      </p:sp>
      <p:sp>
        <p:nvSpPr>
          <p:cNvPr id="8" name="Shape 4"/>
          <p:cNvSpPr/>
          <p:nvPr/>
        </p:nvSpPr>
        <p:spPr>
          <a:xfrm>
            <a:off x="6278728" y="1508760"/>
            <a:ext cx="5364328" cy="3108960"/>
          </a:xfrm>
          <a:prstGeom prst="roundRect">
            <a:avLst>
              <a:gd name="adj" fmla="val 2353"/>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1965960"/>
            <a:ext cx="2194560" cy="2194560"/>
          </a:xfrm>
          <a:prstGeom prst="rect">
            <a:avLst/>
          </a:prstGeom>
        </p:spPr>
      </p:pic>
      <p:sp>
        <p:nvSpPr>
          <p:cNvPr id="10" name="Text 5"/>
          <p:cNvSpPr/>
          <p:nvPr/>
        </p:nvSpPr>
        <p:spPr>
          <a:xfrm>
            <a:off x="9021928" y="1965960"/>
            <a:ext cx="2392528" cy="914400"/>
          </a:xfrm>
          <a:prstGeom prst="rect">
            <a:avLst/>
          </a:prstGeom>
          <a:noFill/>
          <a:ln/>
        </p:spPr>
        <p:txBody>
          <a:bodyPr wrap="square" lIns="0" tIns="0" rIns="0" bIns="0" rtlCol="0" anchor="t"/>
          <a:lstStyle/>
          <a:p>
            <a:pPr algn="l" indent="0" marL="0">
              <a:buNone/>
            </a:pPr>
            <a:r>
              <a:rPr lang="en-US" sz="2100" b="1" dirty="0">
                <a:solidFill>
                  <a:srgbClr val="1B365D"/>
                </a:solidFill>
                <a:latin typeface="Calibri" pitchFamily="34" charset="0"/>
                <a:ea typeface="Calibri" pitchFamily="34" charset="-122"/>
                <a:cs typeface="Calibri" pitchFamily="34" charset="-120"/>
              </a:rPr>
              <a:t>A support agent reads every request</a:t>
            </a:r>
            <a:endParaRPr lang="en-US" sz="2100" dirty="0"/>
          </a:p>
        </p:txBody>
      </p:sp>
      <p:sp>
        <p:nvSpPr>
          <p:cNvPr id="11" name="Text 6"/>
          <p:cNvSpPr/>
          <p:nvPr/>
        </p:nvSpPr>
        <p:spPr>
          <a:xfrm>
            <a:off x="9021928" y="2880360"/>
            <a:ext cx="2438248"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B3440"/>
                </a:solidFill>
                <a:latin typeface="Calibri" pitchFamily="34" charset="0"/>
                <a:ea typeface="Calibri" pitchFamily="34" charset="-122"/>
                <a:cs typeface="Calibri" pitchFamily="34" charset="-120"/>
              </a:rPr>
              <a:t>No silent errors (assumed)</a:t>
            </a:r>
            <a:endParaRPr lang="en-US" sz="1400" dirty="0"/>
          </a:p>
          <a:p>
            <a:pPr marL="342900" indent="-342900">
              <a:spcAft>
                <a:spcPts val="600"/>
              </a:spcAft>
              <a:buSzPct val="100000"/>
              <a:buChar char="•"/>
            </a:pPr>
            <a:r>
              <a:rPr lang="en-US" sz="1400" dirty="0">
                <a:solidFill>
                  <a:srgbClr val="2B3440"/>
                </a:solidFill>
                <a:latin typeface="Calibri" pitchFamily="34" charset="0"/>
                <a:ea typeface="Calibri" pitchFamily="34" charset="-122"/>
                <a:cs typeface="Calibri" pitchFamily="34" charset="-120"/>
              </a:rPr>
              <a:t>Cost grows with the number of requests</a:t>
            </a:r>
            <a:endParaRPr lang="en-US" sz="1400" dirty="0"/>
          </a:p>
          <a:p>
            <a:pPr marL="342900" indent="-342900">
              <a:spcAft>
                <a:spcPts val="600"/>
              </a:spcAft>
              <a:buSzPct val="100000"/>
              <a:buChar char="•"/>
            </a:pPr>
            <a:r>
              <a:rPr lang="en-US" sz="1400" dirty="0">
                <a:solidFill>
                  <a:srgbClr val="2B3440"/>
                </a:solidFill>
                <a:latin typeface="Calibri" pitchFamily="34" charset="0"/>
                <a:ea typeface="Calibri" pitchFamily="34" charset="-122"/>
                <a:cs typeface="Calibri" pitchFamily="34" charset="-120"/>
              </a:rPr>
              <a:t>Waiting time grows with the number of requests</a:t>
            </a:r>
            <a:endParaRPr lang="en-US" sz="1400" dirty="0"/>
          </a:p>
        </p:txBody>
      </p:sp>
      <p:sp>
        <p:nvSpPr>
          <p:cNvPr id="12" name="Text 7"/>
          <p:cNvSpPr/>
          <p:nvPr/>
        </p:nvSpPr>
        <p:spPr>
          <a:xfrm>
            <a:off x="548640" y="489204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Our question: </a:t>
            </a:r>
            <a:pPr algn="l" indent="0" marL="0">
              <a:buNone/>
            </a:pPr>
            <a:r>
              <a:rPr lang="en-US" sz="2200" dirty="0">
                <a:solidFill>
                  <a:srgbClr val="FFFFFF"/>
                </a:solidFill>
                <a:latin typeface="Calibri" pitchFamily="34" charset="0"/>
                <a:ea typeface="Calibri" pitchFamily="34" charset="-122"/>
                <a:cs typeface="Calibri" pitchFamily="34" charset="-120"/>
              </a:rPr>
              <a:t>can a workflow avoid wrong actions on money and data, without sending every request to a support agent?</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Idea: the LLM agent never chooses an action</a:t>
            </a:r>
            <a:endParaRPr lang="en-US" sz="3600" dirty="0"/>
          </a:p>
        </p:txBody>
      </p:sp>
      <p:sp>
        <p:nvSpPr>
          <p:cNvPr id="4" name="Shape 1"/>
          <p:cNvSpPr/>
          <p:nvPr/>
        </p:nvSpPr>
        <p:spPr>
          <a:xfrm>
            <a:off x="548640" y="1508760"/>
            <a:ext cx="3484778" cy="3703320"/>
          </a:xfrm>
          <a:prstGeom prst="roundRect">
            <a:avLst>
              <a:gd name="adj" fmla="val 2099"/>
            </a:avLst>
          </a:prstGeom>
          <a:solidFill>
            <a:srgbClr val="FFFFFF"/>
          </a:solidFill>
          <a:ln/>
        </p:spPr>
      </p:sp>
      <p:sp>
        <p:nvSpPr>
          <p:cNvPr id="5" name="Shape 2"/>
          <p:cNvSpPr/>
          <p:nvPr/>
        </p:nvSpPr>
        <p:spPr>
          <a:xfrm>
            <a:off x="822960" y="1783080"/>
            <a:ext cx="822960" cy="82296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004011" y="1964131"/>
            <a:ext cx="460858" cy="460858"/>
          </a:xfrm>
          <a:prstGeom prst="rect">
            <a:avLst/>
          </a:prstGeom>
        </p:spPr>
      </p:pic>
      <p:sp>
        <p:nvSpPr>
          <p:cNvPr id="7" name="Text 3"/>
          <p:cNvSpPr/>
          <p:nvPr/>
        </p:nvSpPr>
        <p:spPr>
          <a:xfrm>
            <a:off x="822960" y="2788920"/>
            <a:ext cx="2936138" cy="457200"/>
          </a:xfrm>
          <a:prstGeom prst="rect">
            <a:avLst/>
          </a:prstGeom>
          <a:noFill/>
          <a:ln/>
        </p:spPr>
        <p:txBody>
          <a:bodyPr wrap="square" lIns="0" tIns="0" rIns="0" bIns="0" rtlCol="0" anchor="t"/>
          <a:lstStyle/>
          <a:p>
            <a:pPr algn="l" indent="0" marL="0">
              <a:buNone/>
            </a:pPr>
            <a:r>
              <a:rPr lang="en-US" sz="2400" b="1" dirty="0">
                <a:solidFill>
                  <a:srgbClr val="1B365D"/>
                </a:solidFill>
                <a:latin typeface="Calibri" pitchFamily="34" charset="0"/>
                <a:ea typeface="Calibri" pitchFamily="34" charset="-122"/>
                <a:cs typeface="Calibri" pitchFamily="34" charset="-120"/>
              </a:rPr>
              <a:t>Classifier (Jev)</a:t>
            </a:r>
            <a:endParaRPr lang="en-US" sz="2400" dirty="0"/>
          </a:p>
        </p:txBody>
      </p:sp>
      <p:sp>
        <p:nvSpPr>
          <p:cNvPr id="8" name="Text 4"/>
          <p:cNvSpPr/>
          <p:nvPr/>
        </p:nvSpPr>
        <p:spPr>
          <a:xfrm>
            <a:off x="822960" y="3246120"/>
            <a:ext cx="2936138"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Decides labels</a:t>
            </a:r>
            <a:endParaRPr lang="en-US" sz="1500" dirty="0"/>
          </a:p>
        </p:txBody>
      </p:sp>
      <p:sp>
        <p:nvSpPr>
          <p:cNvPr id="9" name="Text 5"/>
          <p:cNvSpPr/>
          <p:nvPr/>
        </p:nvSpPr>
        <p:spPr>
          <a:xfrm>
            <a:off x="822960" y="3703320"/>
            <a:ext cx="293613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Five typed answers in one call, each with a probability</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Queue, action, priority, risk flag, injection flag</a:t>
            </a:r>
            <a:endParaRPr lang="en-US" sz="1500" dirty="0"/>
          </a:p>
        </p:txBody>
      </p:sp>
      <p:sp>
        <p:nvSpPr>
          <p:cNvPr id="10" name="Shape 6"/>
          <p:cNvSpPr/>
          <p:nvPr/>
        </p:nvSpPr>
        <p:spPr>
          <a:xfrm>
            <a:off x="4353458" y="1508760"/>
            <a:ext cx="3484778" cy="3703320"/>
          </a:xfrm>
          <a:prstGeom prst="roundRect">
            <a:avLst>
              <a:gd name="adj" fmla="val 2099"/>
            </a:avLst>
          </a:prstGeom>
          <a:solidFill>
            <a:srgbClr val="FFFFFF"/>
          </a:solidFill>
          <a:ln/>
        </p:spPr>
      </p:sp>
      <p:sp>
        <p:nvSpPr>
          <p:cNvPr id="11" name="Shape 7"/>
          <p:cNvSpPr/>
          <p:nvPr/>
        </p:nvSpPr>
        <p:spPr>
          <a:xfrm>
            <a:off x="4627778" y="1783080"/>
            <a:ext cx="822960" cy="822960"/>
          </a:xfrm>
          <a:prstGeom prst="ellipse">
            <a:avLst/>
          </a:prstGeom>
          <a:solidFill>
            <a:srgbClr val="5F6B7A"/>
          </a:solidFill>
          <a:ln w="12700">
            <a:solidFill>
              <a:srgbClr val="5F6B7A"/>
            </a:solidFill>
            <a:prstDash val="solid"/>
          </a:ln>
        </p:spPr>
      </p:sp>
      <p:pic>
        <p:nvPicPr>
          <p:cNvPr id="12" name="Image 1" descr="preencoded.png">    </p:cNvPr>
          <p:cNvPicPr>
            <a:picLocks noChangeAspect="1"/>
          </p:cNvPicPr>
          <p:nvPr/>
        </p:nvPicPr>
        <p:blipFill>
          <a:blip r:embed="rId2"/>
          <a:stretch>
            <a:fillRect/>
          </a:stretch>
        </p:blipFill>
        <p:spPr>
          <a:xfrm>
            <a:off x="4808830" y="1964131"/>
            <a:ext cx="460858" cy="460858"/>
          </a:xfrm>
          <a:prstGeom prst="rect">
            <a:avLst/>
          </a:prstGeom>
        </p:spPr>
      </p:pic>
      <p:sp>
        <p:nvSpPr>
          <p:cNvPr id="13" name="Text 8"/>
          <p:cNvSpPr/>
          <p:nvPr/>
        </p:nvSpPr>
        <p:spPr>
          <a:xfrm>
            <a:off x="4627778" y="2788920"/>
            <a:ext cx="2936138" cy="457200"/>
          </a:xfrm>
          <a:prstGeom prst="rect">
            <a:avLst/>
          </a:prstGeom>
          <a:noFill/>
          <a:ln/>
        </p:spPr>
        <p:txBody>
          <a:bodyPr wrap="square" lIns="0" tIns="0" rIns="0" bIns="0" rtlCol="0" anchor="t"/>
          <a:lstStyle/>
          <a:p>
            <a:pPr algn="l" indent="0" marL="0">
              <a:buNone/>
            </a:pPr>
            <a:r>
              <a:rPr lang="en-US" sz="2400" b="1" dirty="0">
                <a:solidFill>
                  <a:srgbClr val="1B365D"/>
                </a:solidFill>
                <a:latin typeface="Calibri" pitchFamily="34" charset="0"/>
                <a:ea typeface="Calibri" pitchFamily="34" charset="-122"/>
                <a:cs typeface="Calibri" pitchFamily="34" charset="-120"/>
              </a:rPr>
              <a:t>Written rules and code</a:t>
            </a:r>
            <a:endParaRPr lang="en-US" sz="2400" dirty="0"/>
          </a:p>
        </p:txBody>
      </p:sp>
      <p:sp>
        <p:nvSpPr>
          <p:cNvPr id="14" name="Text 9"/>
          <p:cNvSpPr/>
          <p:nvPr/>
        </p:nvSpPr>
        <p:spPr>
          <a:xfrm>
            <a:off x="4627778" y="3246120"/>
            <a:ext cx="2936138"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Decide everything else</a:t>
            </a:r>
            <a:endParaRPr lang="en-US" sz="1500" dirty="0"/>
          </a:p>
        </p:txBody>
      </p:sp>
      <p:sp>
        <p:nvSpPr>
          <p:cNvPr id="15" name="Text 10"/>
          <p:cNvSpPr/>
          <p:nvPr/>
        </p:nvSpPr>
        <p:spPr>
          <a:xfrm>
            <a:off x="4627778" y="3703320"/>
            <a:ext cx="293613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Verdict: allow, deny, or review</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Routing: path A, B, or C; C if Jev is under 70% sure</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The action runs only if the rules allow it</a:t>
            </a:r>
            <a:endParaRPr lang="en-US" sz="1500" dirty="0"/>
          </a:p>
        </p:txBody>
      </p:sp>
      <p:sp>
        <p:nvSpPr>
          <p:cNvPr id="16" name="Shape 11"/>
          <p:cNvSpPr/>
          <p:nvPr/>
        </p:nvSpPr>
        <p:spPr>
          <a:xfrm>
            <a:off x="8158277" y="1508760"/>
            <a:ext cx="3484778" cy="3703320"/>
          </a:xfrm>
          <a:prstGeom prst="roundRect">
            <a:avLst>
              <a:gd name="adj" fmla="val 2099"/>
            </a:avLst>
          </a:prstGeom>
          <a:solidFill>
            <a:srgbClr val="FFFFFF"/>
          </a:solidFill>
          <a:ln/>
        </p:spPr>
      </p:sp>
      <p:sp>
        <p:nvSpPr>
          <p:cNvPr id="17" name="Shape 12"/>
          <p:cNvSpPr/>
          <p:nvPr/>
        </p:nvSpPr>
        <p:spPr>
          <a:xfrm>
            <a:off x="8432597" y="1783080"/>
            <a:ext cx="822960" cy="82296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613648" y="1964131"/>
            <a:ext cx="460858" cy="460858"/>
          </a:xfrm>
          <a:prstGeom prst="rect">
            <a:avLst/>
          </a:prstGeom>
        </p:spPr>
      </p:pic>
      <p:sp>
        <p:nvSpPr>
          <p:cNvPr id="19" name="Text 13"/>
          <p:cNvSpPr/>
          <p:nvPr/>
        </p:nvSpPr>
        <p:spPr>
          <a:xfrm>
            <a:off x="8432597" y="2788920"/>
            <a:ext cx="2936138" cy="457200"/>
          </a:xfrm>
          <a:prstGeom prst="rect">
            <a:avLst/>
          </a:prstGeom>
          <a:noFill/>
          <a:ln/>
        </p:spPr>
        <p:txBody>
          <a:bodyPr wrap="square" lIns="0" tIns="0" rIns="0" bIns="0" rtlCol="0" anchor="t"/>
          <a:lstStyle/>
          <a:p>
            <a:pPr algn="l" indent="0" marL="0">
              <a:buNone/>
            </a:pPr>
            <a:r>
              <a:rPr lang="en-US" sz="2400" b="1" dirty="0">
                <a:solidFill>
                  <a:srgbClr val="1B365D"/>
                </a:solidFill>
                <a:latin typeface="Calibri" pitchFamily="34" charset="0"/>
                <a:ea typeface="Calibri" pitchFamily="34" charset="-122"/>
                <a:cs typeface="Calibri" pitchFamily="34" charset="-120"/>
              </a:rPr>
              <a:t>LLM</a:t>
            </a:r>
            <a:endParaRPr lang="en-US" sz="2400" dirty="0"/>
          </a:p>
        </p:txBody>
      </p:sp>
      <p:sp>
        <p:nvSpPr>
          <p:cNvPr id="20" name="Text 14"/>
          <p:cNvSpPr/>
          <p:nvPr/>
        </p:nvSpPr>
        <p:spPr>
          <a:xfrm>
            <a:off x="8432597" y="3246120"/>
            <a:ext cx="2936138"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Only writes text</a:t>
            </a:r>
            <a:endParaRPr lang="en-US" sz="1500" dirty="0"/>
          </a:p>
        </p:txBody>
      </p:sp>
      <p:sp>
        <p:nvSpPr>
          <p:cNvPr id="21" name="Text 15"/>
          <p:cNvSpPr/>
          <p:nvPr/>
        </p:nvSpPr>
        <p:spPr>
          <a:xfrm>
            <a:off x="8432597" y="3703320"/>
            <a:ext cx="293613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Answers from the help articles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Writes the reply after the action</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Writes a summary for a person</a:t>
            </a:r>
            <a:endParaRPr lang="en-US" sz="1500" dirty="0"/>
          </a:p>
        </p:txBody>
      </p:sp>
      <p:sp>
        <p:nvSpPr>
          <p:cNvPr id="22" name="Shape 16"/>
          <p:cNvSpPr/>
          <p:nvPr/>
        </p:nvSpPr>
        <p:spPr>
          <a:xfrm>
            <a:off x="548640" y="534924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32120"/>
            <a:ext cx="457200" cy="457200"/>
          </a:xfrm>
          <a:prstGeom prst="rect">
            <a:avLst/>
          </a:prstGeom>
        </p:spPr>
      </p:pic>
      <p:sp>
        <p:nvSpPr>
          <p:cNvPr id="24" name="Text 17"/>
          <p:cNvSpPr/>
          <p:nvPr/>
        </p:nvSpPr>
        <p:spPr>
          <a:xfrm>
            <a:off x="1508760" y="53492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Support agent: </a:t>
            </a:r>
            <a:pPr algn="l" indent="0" marL="0">
              <a:buNone/>
            </a:pPr>
            <a:r>
              <a:rPr lang="en-US" sz="1800" dirty="0">
                <a:solidFill>
                  <a:srgbClr val="FFFFFF"/>
                </a:solidFill>
                <a:latin typeface="Calibri" pitchFamily="34" charset="0"/>
                <a:ea typeface="Calibri" pitchFamily="34" charset="-122"/>
                <a:cs typeface="Calibri" pitchFamily="34" charset="-120"/>
              </a:rPr>
              <a:t>on path C, or when the user says not solved, the LLM writes a summary and a support agent takes over. The LLM does not decide.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flow of one request: seven steps and a handoff</a:t>
            </a:r>
            <a:endParaRPr lang="en-US" sz="3600" dirty="0"/>
          </a:p>
        </p:txBody>
      </p:sp>
      <p:sp>
        <p:nvSpPr>
          <p:cNvPr id="4" name="Shape 1"/>
          <p:cNvSpPr/>
          <p:nvPr/>
        </p:nvSpPr>
        <p:spPr>
          <a:xfrm>
            <a:off x="548640" y="1508760"/>
            <a:ext cx="2468880" cy="914400"/>
          </a:xfrm>
          <a:prstGeom prst="roundRect">
            <a:avLst>
              <a:gd name="adj" fmla="val 8000"/>
            </a:avLst>
          </a:prstGeom>
          <a:solidFill>
            <a:srgbClr val="FFFFFF"/>
          </a:solidFill>
          <a:ln w="12700">
            <a:solidFill>
              <a:srgbClr val="5F6B7A"/>
            </a:solidFill>
            <a:prstDash val="solid"/>
          </a:ln>
        </p:spPr>
      </p:sp>
      <p:sp>
        <p:nvSpPr>
          <p:cNvPr id="5" name="Shape 2"/>
          <p:cNvSpPr/>
          <p:nvPr/>
        </p:nvSpPr>
        <p:spPr>
          <a:xfrm>
            <a:off x="658368" y="1728216"/>
            <a:ext cx="475488" cy="475488"/>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762975" y="1832823"/>
            <a:ext cx="266273" cy="266273"/>
          </a:xfrm>
          <a:prstGeom prst="rect">
            <a:avLst/>
          </a:prstGeom>
        </p:spPr>
      </p:pic>
      <p:sp>
        <p:nvSpPr>
          <p:cNvPr id="7" name="Text 3"/>
          <p:cNvSpPr/>
          <p:nvPr/>
        </p:nvSpPr>
        <p:spPr>
          <a:xfrm>
            <a:off x="1234440" y="1508760"/>
            <a:ext cx="1691640" cy="91440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1  </a:t>
            </a:r>
            <a:pPr algn="l" indent="0" marL="0">
              <a:buNone/>
            </a:pPr>
            <a:r>
              <a:rPr lang="en-US" sz="1400" dirty="0">
                <a:solidFill>
                  <a:srgbClr val="2B3440"/>
                </a:solidFill>
                <a:latin typeface="Calibri" pitchFamily="34" charset="0"/>
                <a:ea typeface="Calibri" pitchFamily="34" charset="-122"/>
                <a:cs typeface="Calibri" pitchFamily="34" charset="-120"/>
              </a:rPr>
              <a:t>User writes a request</a:t>
            </a:r>
            <a:endParaRPr lang="en-US" sz="1400" dirty="0"/>
          </a:p>
        </p:txBody>
      </p:sp>
      <p:sp>
        <p:nvSpPr>
          <p:cNvPr id="8" name="Shape 4"/>
          <p:cNvSpPr/>
          <p:nvPr/>
        </p:nvSpPr>
        <p:spPr>
          <a:xfrm>
            <a:off x="3429000" y="1508760"/>
            <a:ext cx="2468880" cy="914400"/>
          </a:xfrm>
          <a:prstGeom prst="roundRect">
            <a:avLst>
              <a:gd name="adj" fmla="val 8000"/>
            </a:avLst>
          </a:prstGeom>
          <a:solidFill>
            <a:srgbClr val="DFE4EA"/>
          </a:solidFill>
          <a:ln w="12700">
            <a:solidFill>
              <a:srgbClr val="5F6B7A"/>
            </a:solidFill>
            <a:prstDash val="solid"/>
          </a:ln>
        </p:spPr>
      </p:sp>
      <p:sp>
        <p:nvSpPr>
          <p:cNvPr id="9" name="Shape 5"/>
          <p:cNvSpPr/>
          <p:nvPr/>
        </p:nvSpPr>
        <p:spPr>
          <a:xfrm>
            <a:off x="3538728" y="1728216"/>
            <a:ext cx="475488" cy="475488"/>
          </a:xfrm>
          <a:prstGeom prst="ellipse">
            <a:avLst/>
          </a:prstGeom>
          <a:solidFill>
            <a:srgbClr val="5F6B7A"/>
          </a:solidFill>
          <a:ln w="12700">
            <a:solidFill>
              <a:srgbClr val="5F6B7A"/>
            </a:solidFill>
            <a:prstDash val="solid"/>
          </a:ln>
        </p:spPr>
      </p:sp>
      <p:pic>
        <p:nvPicPr>
          <p:cNvPr id="10" name="Image 1" descr="preencoded.png">    </p:cNvPr>
          <p:cNvPicPr>
            <a:picLocks noChangeAspect="1"/>
          </p:cNvPicPr>
          <p:nvPr/>
        </p:nvPicPr>
        <p:blipFill>
          <a:blip r:embed="rId2"/>
          <a:stretch>
            <a:fillRect/>
          </a:stretch>
        </p:blipFill>
        <p:spPr>
          <a:xfrm>
            <a:off x="3643335" y="1832823"/>
            <a:ext cx="266273" cy="266273"/>
          </a:xfrm>
          <a:prstGeom prst="rect">
            <a:avLst/>
          </a:prstGeom>
        </p:spPr>
      </p:pic>
      <p:sp>
        <p:nvSpPr>
          <p:cNvPr id="11" name="Text 6"/>
          <p:cNvSpPr/>
          <p:nvPr/>
        </p:nvSpPr>
        <p:spPr>
          <a:xfrm>
            <a:off x="4114800" y="1508760"/>
            <a:ext cx="1691640" cy="91440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2  </a:t>
            </a:r>
            <a:pPr algn="l" indent="0" marL="0">
              <a:buNone/>
            </a:pPr>
            <a:r>
              <a:rPr lang="en-US" sz="1400" dirty="0">
                <a:solidFill>
                  <a:srgbClr val="2B3440"/>
                </a:solidFill>
                <a:latin typeface="Calibri" pitchFamily="34" charset="0"/>
                <a:ea typeface="Calibri" pitchFamily="34" charset="-122"/>
                <a:cs typeface="Calibri" pitchFamily="34" charset="-120"/>
              </a:rPr>
              <a:t>System saves it and looks up the account</a:t>
            </a:r>
            <a:endParaRPr lang="en-US" sz="1400" dirty="0"/>
          </a:p>
        </p:txBody>
      </p:sp>
      <p:sp>
        <p:nvSpPr>
          <p:cNvPr id="12" name="Shape 7"/>
          <p:cNvSpPr/>
          <p:nvPr/>
        </p:nvSpPr>
        <p:spPr>
          <a:xfrm>
            <a:off x="6309360" y="1508760"/>
            <a:ext cx="2468880" cy="914400"/>
          </a:xfrm>
          <a:prstGeom prst="roundRect">
            <a:avLst>
              <a:gd name="adj" fmla="val 8000"/>
            </a:avLst>
          </a:prstGeom>
          <a:solidFill>
            <a:srgbClr val="D6E4F3"/>
          </a:solidFill>
          <a:ln w="12700">
            <a:solidFill>
              <a:srgbClr val="2F5F98"/>
            </a:solidFill>
            <a:prstDash val="solid"/>
          </a:ln>
        </p:spPr>
      </p:sp>
      <p:sp>
        <p:nvSpPr>
          <p:cNvPr id="13" name="Shape 8"/>
          <p:cNvSpPr/>
          <p:nvPr/>
        </p:nvSpPr>
        <p:spPr>
          <a:xfrm>
            <a:off x="6419088" y="1728216"/>
            <a:ext cx="475488" cy="475488"/>
          </a:xfrm>
          <a:prstGeom prst="ellipse">
            <a:avLst/>
          </a:prstGeom>
          <a:solidFill>
            <a:srgbClr val="2F5F98"/>
          </a:solidFill>
          <a:ln w="12700">
            <a:solidFill>
              <a:srgbClr val="2F5F98"/>
            </a:solidFill>
            <a:prstDash val="solid"/>
          </a:ln>
        </p:spPr>
      </p:sp>
      <p:pic>
        <p:nvPicPr>
          <p:cNvPr id="14" name="Image 2" descr="preencoded.png">    </p:cNvPr>
          <p:cNvPicPr>
            <a:picLocks noChangeAspect="1"/>
          </p:cNvPicPr>
          <p:nvPr/>
        </p:nvPicPr>
        <p:blipFill>
          <a:blip r:embed="rId3"/>
          <a:stretch>
            <a:fillRect/>
          </a:stretch>
        </p:blipFill>
        <p:spPr>
          <a:xfrm>
            <a:off x="6523695" y="1832823"/>
            <a:ext cx="266273" cy="266273"/>
          </a:xfrm>
          <a:prstGeom prst="rect">
            <a:avLst/>
          </a:prstGeom>
        </p:spPr>
      </p:pic>
      <p:sp>
        <p:nvSpPr>
          <p:cNvPr id="15" name="Text 9"/>
          <p:cNvSpPr/>
          <p:nvPr/>
        </p:nvSpPr>
        <p:spPr>
          <a:xfrm>
            <a:off x="6995160" y="1508760"/>
            <a:ext cx="1691640" cy="91440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3  </a:t>
            </a:r>
            <a:pPr algn="l" indent="0" marL="0">
              <a:buNone/>
            </a:pPr>
            <a:r>
              <a:rPr lang="en-US" sz="1400" dirty="0">
                <a:solidFill>
                  <a:srgbClr val="2B3440"/>
                </a:solidFill>
                <a:latin typeface="Calibri" pitchFamily="34" charset="0"/>
                <a:ea typeface="Calibri" pitchFamily="34" charset="-122"/>
                <a:cs typeface="Calibri" pitchFamily="34" charset="-120"/>
              </a:rPr>
              <a:t>Routing: Jev classifies, fixed rules choose path A, B, or C</a:t>
            </a:r>
            <a:endParaRPr lang="en-US" sz="1400" dirty="0"/>
          </a:p>
        </p:txBody>
      </p:sp>
      <p:sp>
        <p:nvSpPr>
          <p:cNvPr id="16" name="Shape 10"/>
          <p:cNvSpPr/>
          <p:nvPr/>
        </p:nvSpPr>
        <p:spPr>
          <a:xfrm>
            <a:off x="3017520" y="1965960"/>
            <a:ext cx="411480" cy="0"/>
          </a:xfrm>
          <a:prstGeom prst="line">
            <a:avLst/>
          </a:prstGeom>
          <a:noFill/>
          <a:ln w="25400">
            <a:solidFill>
              <a:srgbClr val="5F6B7A"/>
            </a:solidFill>
            <a:prstDash val="solid"/>
            <a:tailEnd type="triangle"/>
          </a:ln>
        </p:spPr>
      </p:sp>
      <p:sp>
        <p:nvSpPr>
          <p:cNvPr id="17" name="Shape 11"/>
          <p:cNvSpPr/>
          <p:nvPr/>
        </p:nvSpPr>
        <p:spPr>
          <a:xfrm>
            <a:off x="5897880" y="1965960"/>
            <a:ext cx="411480" cy="0"/>
          </a:xfrm>
          <a:prstGeom prst="line">
            <a:avLst/>
          </a:prstGeom>
          <a:noFill/>
          <a:ln w="25400">
            <a:solidFill>
              <a:srgbClr val="5F6B7A"/>
            </a:solidFill>
            <a:prstDash val="solid"/>
            <a:tailEnd type="triangle"/>
          </a:ln>
        </p:spPr>
      </p:sp>
      <p:sp>
        <p:nvSpPr>
          <p:cNvPr id="18" name="Shape 12"/>
          <p:cNvSpPr/>
          <p:nvPr/>
        </p:nvSpPr>
        <p:spPr>
          <a:xfrm>
            <a:off x="7543800" y="2423160"/>
            <a:ext cx="0" cy="228600"/>
          </a:xfrm>
          <a:prstGeom prst="line">
            <a:avLst/>
          </a:prstGeom>
          <a:noFill/>
          <a:ln w="25400">
            <a:solidFill>
              <a:srgbClr val="5F6B7A"/>
            </a:solidFill>
            <a:prstDash val="solid"/>
          </a:ln>
        </p:spPr>
      </p:sp>
      <p:sp>
        <p:nvSpPr>
          <p:cNvPr id="19" name="Shape 13"/>
          <p:cNvSpPr/>
          <p:nvPr/>
        </p:nvSpPr>
        <p:spPr>
          <a:xfrm>
            <a:off x="4663440" y="2651760"/>
            <a:ext cx="2880360" cy="0"/>
          </a:xfrm>
          <a:prstGeom prst="line">
            <a:avLst/>
          </a:prstGeom>
          <a:noFill/>
          <a:ln w="25400">
            <a:solidFill>
              <a:srgbClr val="5F6B7A"/>
            </a:solidFill>
            <a:prstDash val="solid"/>
          </a:ln>
        </p:spPr>
      </p:sp>
      <p:sp>
        <p:nvSpPr>
          <p:cNvPr id="20" name="Shape 14"/>
          <p:cNvSpPr/>
          <p:nvPr/>
        </p:nvSpPr>
        <p:spPr>
          <a:xfrm>
            <a:off x="4663440" y="2651760"/>
            <a:ext cx="0" cy="320040"/>
          </a:xfrm>
          <a:prstGeom prst="line">
            <a:avLst/>
          </a:prstGeom>
          <a:noFill/>
          <a:ln w="25400">
            <a:solidFill>
              <a:srgbClr val="5F6B7A"/>
            </a:solidFill>
            <a:prstDash val="solid"/>
            <a:tailEnd type="triangle"/>
          </a:ln>
        </p:spPr>
      </p:sp>
      <p:sp>
        <p:nvSpPr>
          <p:cNvPr id="21" name="Shape 15"/>
          <p:cNvSpPr/>
          <p:nvPr/>
        </p:nvSpPr>
        <p:spPr>
          <a:xfrm>
            <a:off x="7543800" y="2651760"/>
            <a:ext cx="0" cy="320040"/>
          </a:xfrm>
          <a:prstGeom prst="line">
            <a:avLst/>
          </a:prstGeom>
          <a:noFill/>
          <a:ln w="25400">
            <a:solidFill>
              <a:srgbClr val="5F6B7A"/>
            </a:solidFill>
            <a:prstDash val="solid"/>
            <a:tailEnd type="triangle"/>
          </a:ln>
        </p:spPr>
      </p:sp>
      <p:sp>
        <p:nvSpPr>
          <p:cNvPr id="22" name="Shape 16"/>
          <p:cNvSpPr/>
          <p:nvPr/>
        </p:nvSpPr>
        <p:spPr>
          <a:xfrm>
            <a:off x="3429000" y="2971800"/>
            <a:ext cx="2468880" cy="1051560"/>
          </a:xfrm>
          <a:prstGeom prst="roundRect">
            <a:avLst>
              <a:gd name="adj" fmla="val 6957"/>
            </a:avLst>
          </a:prstGeom>
          <a:solidFill>
            <a:srgbClr val="DFE4EA"/>
          </a:solidFill>
          <a:ln w="12700">
            <a:solidFill>
              <a:srgbClr val="5F6B7A"/>
            </a:solidFill>
            <a:prstDash val="solid"/>
          </a:ln>
        </p:spPr>
      </p:sp>
      <p:sp>
        <p:nvSpPr>
          <p:cNvPr id="23" name="Shape 17"/>
          <p:cNvSpPr/>
          <p:nvPr/>
        </p:nvSpPr>
        <p:spPr>
          <a:xfrm>
            <a:off x="3538728" y="3259836"/>
            <a:ext cx="475488" cy="475488"/>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3643335" y="3364443"/>
            <a:ext cx="266273" cy="266273"/>
          </a:xfrm>
          <a:prstGeom prst="rect">
            <a:avLst/>
          </a:prstGeom>
        </p:spPr>
      </p:pic>
      <p:sp>
        <p:nvSpPr>
          <p:cNvPr id="25" name="Text 18"/>
          <p:cNvSpPr/>
          <p:nvPr/>
        </p:nvSpPr>
        <p:spPr>
          <a:xfrm>
            <a:off x="4114800" y="2971800"/>
            <a:ext cx="1691640" cy="105156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4A  </a:t>
            </a:r>
            <a:pPr algn="l" indent="0" marL="0">
              <a:buNone/>
            </a:pPr>
            <a:r>
              <a:rPr lang="en-US" sz="1400" dirty="0">
                <a:solidFill>
                  <a:srgbClr val="2B3440"/>
                </a:solidFill>
                <a:latin typeface="Calibri" pitchFamily="34" charset="0"/>
                <a:ea typeface="Calibri" pitchFamily="34" charset="-122"/>
                <a:cs typeface="Calibri" pitchFamily="34" charset="-120"/>
              </a:rPr>
              <a:t>Path A: fixed code writes a plan (no model)</a:t>
            </a:r>
            <a:endParaRPr lang="en-US" sz="1400" dirty="0"/>
          </a:p>
        </p:txBody>
      </p:sp>
      <p:sp>
        <p:nvSpPr>
          <p:cNvPr id="26" name="Shape 19"/>
          <p:cNvSpPr/>
          <p:nvPr/>
        </p:nvSpPr>
        <p:spPr>
          <a:xfrm>
            <a:off x="6309360" y="2971800"/>
            <a:ext cx="2468880" cy="1051560"/>
          </a:xfrm>
          <a:prstGeom prst="roundRect">
            <a:avLst>
              <a:gd name="adj" fmla="val 6957"/>
            </a:avLst>
          </a:prstGeom>
          <a:solidFill>
            <a:srgbClr val="D6E4F3"/>
          </a:solidFill>
          <a:ln w="12700">
            <a:solidFill>
              <a:srgbClr val="2F5F98"/>
            </a:solidFill>
            <a:prstDash val="solid"/>
          </a:ln>
        </p:spPr>
      </p:sp>
      <p:sp>
        <p:nvSpPr>
          <p:cNvPr id="27" name="Shape 20"/>
          <p:cNvSpPr/>
          <p:nvPr/>
        </p:nvSpPr>
        <p:spPr>
          <a:xfrm>
            <a:off x="6419088" y="3259836"/>
            <a:ext cx="475488" cy="475488"/>
          </a:xfrm>
          <a:prstGeom prst="ellipse">
            <a:avLst/>
          </a:prstGeom>
          <a:solidFill>
            <a:srgbClr val="2F5F98"/>
          </a:solidFill>
          <a:ln w="12700">
            <a:solidFill>
              <a:srgbClr val="2F5F98"/>
            </a:solidFill>
            <a:prstDash val="solid"/>
          </a:ln>
        </p:spPr>
      </p:sp>
      <p:pic>
        <p:nvPicPr>
          <p:cNvPr id="28" name="Image 4" descr="preencoded.png">    </p:cNvPr>
          <p:cNvPicPr>
            <a:picLocks noChangeAspect="1"/>
          </p:cNvPicPr>
          <p:nvPr/>
        </p:nvPicPr>
        <p:blipFill>
          <a:blip r:embed="rId5"/>
          <a:stretch>
            <a:fillRect/>
          </a:stretch>
        </p:blipFill>
        <p:spPr>
          <a:xfrm>
            <a:off x="6523695" y="3364443"/>
            <a:ext cx="266273" cy="266273"/>
          </a:xfrm>
          <a:prstGeom prst="rect">
            <a:avLst/>
          </a:prstGeom>
        </p:spPr>
      </p:pic>
      <p:sp>
        <p:nvSpPr>
          <p:cNvPr id="29" name="Text 21"/>
          <p:cNvSpPr/>
          <p:nvPr/>
        </p:nvSpPr>
        <p:spPr>
          <a:xfrm>
            <a:off x="6995160" y="2971800"/>
            <a:ext cx="1691640" cy="105156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4B  </a:t>
            </a:r>
            <a:pPr algn="l" indent="0" marL="0">
              <a:buNone/>
            </a:pPr>
            <a:r>
              <a:rPr lang="en-US" sz="1400" dirty="0">
                <a:solidFill>
                  <a:srgbClr val="2B3440"/>
                </a:solidFill>
                <a:latin typeface="Calibri" pitchFamily="34" charset="0"/>
                <a:ea typeface="Calibri" pitchFamily="34" charset="-122"/>
                <a:cs typeface="Calibri" pitchFamily="34" charset="-120"/>
              </a:rPr>
              <a:t>Path B: LLM answers from the help articles</a:t>
            </a:r>
            <a:endParaRPr lang="en-US" sz="1400" dirty="0"/>
          </a:p>
        </p:txBody>
      </p:sp>
      <p:sp>
        <p:nvSpPr>
          <p:cNvPr id="30" name="Text 22"/>
          <p:cNvSpPr/>
          <p:nvPr/>
        </p:nvSpPr>
        <p:spPr>
          <a:xfrm>
            <a:off x="4736592" y="2679192"/>
            <a:ext cx="1097280" cy="256032"/>
          </a:xfrm>
          <a:prstGeom prst="rect">
            <a:avLst/>
          </a:prstGeom>
          <a:noFill/>
          <a:ln/>
        </p:spPr>
        <p:txBody>
          <a:bodyPr wrap="square" lIns="0" tIns="0" rIns="0" bIns="0" rtlCol="0" anchor="ctr"/>
          <a:lstStyle/>
          <a:p>
            <a:pPr algn="l" indent="0" marL="0">
              <a:buNone/>
            </a:pPr>
            <a:r>
              <a:rPr lang="en-US" sz="1200" b="1" dirty="0">
                <a:solidFill>
                  <a:srgbClr val="56636F"/>
                </a:solidFill>
                <a:latin typeface="Calibri" pitchFamily="34" charset="0"/>
                <a:ea typeface="Calibri" pitchFamily="34" charset="-122"/>
                <a:cs typeface="Calibri" pitchFamily="34" charset="-120"/>
              </a:rPr>
              <a:t>A: action</a:t>
            </a:r>
            <a:endParaRPr lang="en-US" sz="1200" dirty="0"/>
          </a:p>
        </p:txBody>
      </p:sp>
      <p:sp>
        <p:nvSpPr>
          <p:cNvPr id="31" name="Text 23"/>
          <p:cNvSpPr/>
          <p:nvPr/>
        </p:nvSpPr>
        <p:spPr>
          <a:xfrm>
            <a:off x="7616952" y="2679192"/>
            <a:ext cx="1188720" cy="256032"/>
          </a:xfrm>
          <a:prstGeom prst="rect">
            <a:avLst/>
          </a:prstGeom>
          <a:noFill/>
          <a:ln/>
        </p:spPr>
        <p:txBody>
          <a:bodyPr wrap="square" lIns="0" tIns="0" rIns="0" bIns="0" rtlCol="0" anchor="ctr"/>
          <a:lstStyle/>
          <a:p>
            <a:pPr algn="l" indent="0" marL="0">
              <a:buNone/>
            </a:pPr>
            <a:r>
              <a:rPr lang="en-US" sz="1200" b="1" dirty="0">
                <a:solidFill>
                  <a:srgbClr val="56636F"/>
                </a:solidFill>
                <a:latin typeface="Calibri" pitchFamily="34" charset="0"/>
                <a:ea typeface="Calibri" pitchFamily="34" charset="-122"/>
                <a:cs typeface="Calibri" pitchFamily="34" charset="-120"/>
              </a:rPr>
              <a:t>B: question</a:t>
            </a:r>
            <a:endParaRPr lang="en-US" sz="1200" dirty="0"/>
          </a:p>
        </p:txBody>
      </p:sp>
      <p:sp>
        <p:nvSpPr>
          <p:cNvPr id="32" name="Shape 24"/>
          <p:cNvSpPr/>
          <p:nvPr/>
        </p:nvSpPr>
        <p:spPr>
          <a:xfrm>
            <a:off x="4663440" y="4023360"/>
            <a:ext cx="0" cy="411480"/>
          </a:xfrm>
          <a:prstGeom prst="line">
            <a:avLst/>
          </a:prstGeom>
          <a:noFill/>
          <a:ln w="25400">
            <a:solidFill>
              <a:srgbClr val="5F6B7A"/>
            </a:solidFill>
            <a:prstDash val="solid"/>
            <a:tailEnd type="triangle"/>
          </a:ln>
        </p:spPr>
      </p:sp>
      <p:sp>
        <p:nvSpPr>
          <p:cNvPr id="33" name="Shape 25"/>
          <p:cNvSpPr/>
          <p:nvPr/>
        </p:nvSpPr>
        <p:spPr>
          <a:xfrm>
            <a:off x="7543800" y="4023360"/>
            <a:ext cx="0" cy="228600"/>
          </a:xfrm>
          <a:prstGeom prst="line">
            <a:avLst/>
          </a:prstGeom>
          <a:noFill/>
          <a:ln w="25400">
            <a:solidFill>
              <a:srgbClr val="5F6B7A"/>
            </a:solidFill>
            <a:prstDash val="solid"/>
          </a:ln>
        </p:spPr>
      </p:sp>
      <p:sp>
        <p:nvSpPr>
          <p:cNvPr id="34" name="Shape 26"/>
          <p:cNvSpPr/>
          <p:nvPr/>
        </p:nvSpPr>
        <p:spPr>
          <a:xfrm>
            <a:off x="4663440" y="4251960"/>
            <a:ext cx="2880360" cy="0"/>
          </a:xfrm>
          <a:prstGeom prst="line">
            <a:avLst/>
          </a:prstGeom>
          <a:noFill/>
          <a:ln w="25400">
            <a:solidFill>
              <a:srgbClr val="5F6B7A"/>
            </a:solidFill>
            <a:prstDash val="solid"/>
          </a:ln>
        </p:spPr>
      </p:sp>
      <p:sp>
        <p:nvSpPr>
          <p:cNvPr id="35" name="Shape 27"/>
          <p:cNvSpPr/>
          <p:nvPr/>
        </p:nvSpPr>
        <p:spPr>
          <a:xfrm>
            <a:off x="3429000" y="4434840"/>
            <a:ext cx="2468880" cy="1051560"/>
          </a:xfrm>
          <a:prstGeom prst="roundRect">
            <a:avLst>
              <a:gd name="adj" fmla="val 6957"/>
            </a:avLst>
          </a:prstGeom>
          <a:solidFill>
            <a:srgbClr val="DFE4EA"/>
          </a:solidFill>
          <a:ln w="12700">
            <a:solidFill>
              <a:srgbClr val="5F6B7A"/>
            </a:solidFill>
            <a:prstDash val="solid"/>
          </a:ln>
        </p:spPr>
      </p:sp>
      <p:sp>
        <p:nvSpPr>
          <p:cNvPr id="36" name="Shape 28"/>
          <p:cNvSpPr/>
          <p:nvPr/>
        </p:nvSpPr>
        <p:spPr>
          <a:xfrm>
            <a:off x="3538728" y="4722876"/>
            <a:ext cx="475488" cy="475488"/>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3643335" y="4827483"/>
            <a:ext cx="266273" cy="266273"/>
          </a:xfrm>
          <a:prstGeom prst="rect">
            <a:avLst/>
          </a:prstGeom>
        </p:spPr>
      </p:pic>
      <p:sp>
        <p:nvSpPr>
          <p:cNvPr id="38" name="Text 29"/>
          <p:cNvSpPr/>
          <p:nvPr/>
        </p:nvSpPr>
        <p:spPr>
          <a:xfrm>
            <a:off x="4114800" y="4434840"/>
            <a:ext cx="1691640" cy="105156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5  </a:t>
            </a:r>
            <a:pPr algn="l" indent="0" marL="0">
              <a:buNone/>
            </a:pPr>
            <a:r>
              <a:rPr lang="en-US" sz="1400" dirty="0">
                <a:solidFill>
                  <a:srgbClr val="2B3440"/>
                </a:solidFill>
                <a:latin typeface="Calibri" pitchFamily="34" charset="0"/>
                <a:ea typeface="Calibri" pitchFamily="34" charset="-122"/>
                <a:cs typeface="Calibri" pitchFamily="34" charset="-120"/>
              </a:rPr>
              <a:t>System does the action only if the written rules allow it</a:t>
            </a:r>
            <a:endParaRPr lang="en-US" sz="1400" dirty="0"/>
          </a:p>
        </p:txBody>
      </p:sp>
      <p:sp>
        <p:nvSpPr>
          <p:cNvPr id="39" name="Shape 30"/>
          <p:cNvSpPr/>
          <p:nvPr/>
        </p:nvSpPr>
        <p:spPr>
          <a:xfrm>
            <a:off x="6309360" y="4434840"/>
            <a:ext cx="2468880" cy="1051560"/>
          </a:xfrm>
          <a:prstGeom prst="roundRect">
            <a:avLst>
              <a:gd name="adj" fmla="val 6957"/>
            </a:avLst>
          </a:prstGeom>
          <a:solidFill>
            <a:srgbClr val="D6E4F3"/>
          </a:solidFill>
          <a:ln w="12700">
            <a:solidFill>
              <a:srgbClr val="2F5F98"/>
            </a:solidFill>
            <a:prstDash val="solid"/>
          </a:ln>
        </p:spPr>
      </p:sp>
      <p:sp>
        <p:nvSpPr>
          <p:cNvPr id="40" name="Shape 31"/>
          <p:cNvSpPr/>
          <p:nvPr/>
        </p:nvSpPr>
        <p:spPr>
          <a:xfrm>
            <a:off x="6419088" y="4722876"/>
            <a:ext cx="475488" cy="475488"/>
          </a:xfrm>
          <a:prstGeom prst="ellipse">
            <a:avLst/>
          </a:prstGeom>
          <a:solidFill>
            <a:srgbClr val="2F5F98"/>
          </a:solidFill>
          <a:ln w="12700">
            <a:solidFill>
              <a:srgbClr val="2F5F98"/>
            </a:solidFill>
            <a:prstDash val="solid"/>
          </a:ln>
        </p:spPr>
      </p:sp>
      <p:pic>
        <p:nvPicPr>
          <p:cNvPr id="41" name="Image 6" descr="preencoded.png">    </p:cNvPr>
          <p:cNvPicPr>
            <a:picLocks noChangeAspect="1"/>
          </p:cNvPicPr>
          <p:nvPr/>
        </p:nvPicPr>
        <p:blipFill>
          <a:blip r:embed="rId7"/>
          <a:stretch>
            <a:fillRect/>
          </a:stretch>
        </p:blipFill>
        <p:spPr>
          <a:xfrm>
            <a:off x="6523695" y="4827483"/>
            <a:ext cx="266273" cy="266273"/>
          </a:xfrm>
          <a:prstGeom prst="rect">
            <a:avLst/>
          </a:prstGeom>
        </p:spPr>
      </p:pic>
      <p:sp>
        <p:nvSpPr>
          <p:cNvPr id="42" name="Text 32"/>
          <p:cNvSpPr/>
          <p:nvPr/>
        </p:nvSpPr>
        <p:spPr>
          <a:xfrm>
            <a:off x="6995160" y="4434840"/>
            <a:ext cx="1691640" cy="105156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6  </a:t>
            </a:r>
            <a:pPr algn="l" indent="0" marL="0">
              <a:buNone/>
            </a:pPr>
            <a:r>
              <a:rPr lang="en-US" sz="1400" dirty="0">
                <a:solidFill>
                  <a:srgbClr val="2B3440"/>
                </a:solidFill>
                <a:latin typeface="Calibri" pitchFamily="34" charset="0"/>
                <a:ea typeface="Calibri" pitchFamily="34" charset="-122"/>
                <a:cs typeface="Calibri" pitchFamily="34" charset="-120"/>
              </a:rPr>
              <a:t>User gets the result and says if it solved the request</a:t>
            </a:r>
            <a:endParaRPr lang="en-US" sz="1400" dirty="0"/>
          </a:p>
        </p:txBody>
      </p:sp>
      <p:sp>
        <p:nvSpPr>
          <p:cNvPr id="43" name="Shape 33"/>
          <p:cNvSpPr/>
          <p:nvPr/>
        </p:nvSpPr>
        <p:spPr>
          <a:xfrm>
            <a:off x="9189720" y="4434840"/>
            <a:ext cx="2468880" cy="1051560"/>
          </a:xfrm>
          <a:prstGeom prst="roundRect">
            <a:avLst>
              <a:gd name="adj" fmla="val 6957"/>
            </a:avLst>
          </a:prstGeom>
          <a:solidFill>
            <a:srgbClr val="D3EBE8"/>
          </a:solidFill>
          <a:ln w="12700">
            <a:solidFill>
              <a:srgbClr val="1F7A7A"/>
            </a:solidFill>
            <a:prstDash val="solid"/>
          </a:ln>
        </p:spPr>
      </p:sp>
      <p:sp>
        <p:nvSpPr>
          <p:cNvPr id="44" name="Shape 34"/>
          <p:cNvSpPr/>
          <p:nvPr/>
        </p:nvSpPr>
        <p:spPr>
          <a:xfrm>
            <a:off x="9299448" y="4722876"/>
            <a:ext cx="475488" cy="475488"/>
          </a:xfrm>
          <a:prstGeom prst="ellipse">
            <a:avLst/>
          </a:prstGeom>
          <a:solidFill>
            <a:srgbClr val="1F7A7A"/>
          </a:solidFill>
          <a:ln w="12700">
            <a:solidFill>
              <a:srgbClr val="1F7A7A"/>
            </a:solidFill>
            <a:prstDash val="solid"/>
          </a:ln>
        </p:spPr>
      </p:sp>
      <p:pic>
        <p:nvPicPr>
          <p:cNvPr id="45" name="Image 7" descr="preencoded.png">    </p:cNvPr>
          <p:cNvPicPr>
            <a:picLocks noChangeAspect="1"/>
          </p:cNvPicPr>
          <p:nvPr/>
        </p:nvPicPr>
        <p:blipFill>
          <a:blip r:embed="rId8"/>
          <a:stretch>
            <a:fillRect/>
          </a:stretch>
        </p:blipFill>
        <p:spPr>
          <a:xfrm>
            <a:off x="9404055" y="4827483"/>
            <a:ext cx="266273" cy="266273"/>
          </a:xfrm>
          <a:prstGeom prst="rect">
            <a:avLst/>
          </a:prstGeom>
        </p:spPr>
      </p:pic>
      <p:sp>
        <p:nvSpPr>
          <p:cNvPr id="46" name="Text 35"/>
          <p:cNvSpPr/>
          <p:nvPr/>
        </p:nvSpPr>
        <p:spPr>
          <a:xfrm>
            <a:off x="9875520" y="4434840"/>
            <a:ext cx="1691640" cy="105156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H  </a:t>
            </a:r>
            <a:pPr algn="l" indent="0" marL="0">
              <a:buNone/>
            </a:pPr>
            <a:r>
              <a:rPr lang="en-US" sz="1400" dirty="0">
                <a:solidFill>
                  <a:srgbClr val="2B3440"/>
                </a:solidFill>
                <a:latin typeface="Calibri" pitchFamily="34" charset="0"/>
                <a:ea typeface="Calibri" pitchFamily="34" charset="-122"/>
                <a:cs typeface="Calibri" pitchFamily="34" charset="-120"/>
              </a:rPr>
              <a:t>Handoff: LLM summarizes the chat; a support agent takes over</a:t>
            </a:r>
            <a:endParaRPr lang="en-US" sz="1400" dirty="0"/>
          </a:p>
        </p:txBody>
      </p:sp>
      <p:sp>
        <p:nvSpPr>
          <p:cNvPr id="47" name="Shape 36"/>
          <p:cNvSpPr/>
          <p:nvPr/>
        </p:nvSpPr>
        <p:spPr>
          <a:xfrm>
            <a:off x="5897880" y="4960620"/>
            <a:ext cx="411480" cy="0"/>
          </a:xfrm>
          <a:prstGeom prst="line">
            <a:avLst/>
          </a:prstGeom>
          <a:noFill/>
          <a:ln w="25400">
            <a:solidFill>
              <a:srgbClr val="5F6B7A"/>
            </a:solidFill>
            <a:prstDash val="solid"/>
            <a:tailEnd type="triangle"/>
          </a:ln>
        </p:spPr>
      </p:sp>
      <p:sp>
        <p:nvSpPr>
          <p:cNvPr id="48" name="Shape 37"/>
          <p:cNvSpPr/>
          <p:nvPr/>
        </p:nvSpPr>
        <p:spPr>
          <a:xfrm>
            <a:off x="8778240" y="4960620"/>
            <a:ext cx="411480" cy="0"/>
          </a:xfrm>
          <a:prstGeom prst="line">
            <a:avLst/>
          </a:prstGeom>
          <a:noFill/>
          <a:ln w="25400">
            <a:solidFill>
              <a:srgbClr val="1F7A7A"/>
            </a:solidFill>
            <a:prstDash val="solid"/>
            <a:tailEnd type="triangle"/>
          </a:ln>
        </p:spPr>
      </p:sp>
      <p:sp>
        <p:nvSpPr>
          <p:cNvPr id="49" name="Text 38"/>
          <p:cNvSpPr/>
          <p:nvPr/>
        </p:nvSpPr>
        <p:spPr>
          <a:xfrm>
            <a:off x="8778240" y="4668012"/>
            <a:ext cx="411480" cy="256032"/>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No</a:t>
            </a:r>
            <a:endParaRPr lang="en-US" sz="1200" dirty="0"/>
          </a:p>
        </p:txBody>
      </p:sp>
      <p:sp>
        <p:nvSpPr>
          <p:cNvPr id="50" name="Shape 39"/>
          <p:cNvSpPr/>
          <p:nvPr/>
        </p:nvSpPr>
        <p:spPr>
          <a:xfrm>
            <a:off x="8778240" y="1965960"/>
            <a:ext cx="1645920" cy="0"/>
          </a:xfrm>
          <a:prstGeom prst="line">
            <a:avLst/>
          </a:prstGeom>
          <a:noFill/>
          <a:ln w="25400">
            <a:solidFill>
              <a:srgbClr val="1F7A7A"/>
            </a:solidFill>
            <a:prstDash val="solid"/>
          </a:ln>
        </p:spPr>
      </p:sp>
      <p:sp>
        <p:nvSpPr>
          <p:cNvPr id="51" name="Shape 40"/>
          <p:cNvSpPr/>
          <p:nvPr/>
        </p:nvSpPr>
        <p:spPr>
          <a:xfrm>
            <a:off x="10424160" y="1965960"/>
            <a:ext cx="0" cy="2468880"/>
          </a:xfrm>
          <a:prstGeom prst="line">
            <a:avLst/>
          </a:prstGeom>
          <a:noFill/>
          <a:ln w="25400">
            <a:solidFill>
              <a:srgbClr val="1F7A7A"/>
            </a:solidFill>
            <a:prstDash val="solid"/>
            <a:tailEnd type="triangle"/>
          </a:ln>
        </p:spPr>
      </p:sp>
      <p:sp>
        <p:nvSpPr>
          <p:cNvPr id="52" name="Text 41"/>
          <p:cNvSpPr/>
          <p:nvPr/>
        </p:nvSpPr>
        <p:spPr>
          <a:xfrm>
            <a:off x="10497312" y="2880360"/>
            <a:ext cx="1145743" cy="640080"/>
          </a:xfrm>
          <a:prstGeom prst="rect">
            <a:avLst/>
          </a:prstGeom>
          <a:noFill/>
          <a:ln/>
        </p:spPr>
        <p:txBody>
          <a:bodyPr wrap="square" lIns="0" tIns="0" rIns="0" bIns="0" rtlCol="0" anchor="ctr"/>
          <a:lstStyle/>
          <a:p>
            <a:pPr algn="l" indent="0" marL="0">
              <a:buNone/>
            </a:pPr>
            <a:r>
              <a:rPr lang="en-US" sz="1200" b="1" dirty="0">
                <a:solidFill>
                  <a:srgbClr val="1F7A7A"/>
                </a:solidFill>
                <a:latin typeface="Calibri" pitchFamily="34" charset="0"/>
                <a:ea typeface="Calibri" pitchFamily="34" charset="-122"/>
                <a:cs typeface="Calibri" pitchFamily="34" charset="-120"/>
              </a:rPr>
              <a:t>C: support agent</a:t>
            </a:r>
            <a:endParaRPr lang="en-US" sz="1200" dirty="0"/>
          </a:p>
          <a:p>
            <a:pPr algn="l" indent="0" marL="0">
              <a:buNone/>
            </a:pPr>
            <a:r>
              <a:rPr lang="en-US" sz="1200" b="1" dirty="0">
                <a:solidFill>
                  <a:srgbClr val="1F7A7A"/>
                </a:solidFill>
                <a:latin typeface="Calibri" pitchFamily="34" charset="0"/>
                <a:ea typeface="Calibri" pitchFamily="34" charset="-122"/>
                <a:cs typeface="Calibri" pitchFamily="34" charset="-120"/>
              </a:rPr>
              <a:t>Nothing runs</a:t>
            </a:r>
            <a:endParaRPr lang="en-US" sz="1200" dirty="0"/>
          </a:p>
        </p:txBody>
      </p:sp>
      <p:sp>
        <p:nvSpPr>
          <p:cNvPr id="53" name="Text 42"/>
          <p:cNvSpPr/>
          <p:nvPr/>
        </p:nvSpPr>
        <p:spPr>
          <a:xfrm>
            <a:off x="8887968" y="2103120"/>
            <a:ext cx="1463040" cy="914400"/>
          </a:xfrm>
          <a:prstGeom prst="rect">
            <a:avLst/>
          </a:prstGeom>
          <a:noFill/>
          <a:ln/>
        </p:spPr>
        <p:txBody>
          <a:bodyPr wrap="square" lIns="0" tIns="0" rIns="0" bIns="0" rtlCol="0" anchor="t"/>
          <a:lstStyle/>
          <a:p>
            <a:pPr algn="r" indent="0" marL="0">
              <a:buNone/>
            </a:pPr>
            <a:r>
              <a:rPr lang="en-US" sz="1200" b="1" dirty="0">
                <a:solidFill>
                  <a:srgbClr val="1F7A7A"/>
                </a:solidFill>
                <a:latin typeface="Calibri" pitchFamily="34" charset="0"/>
                <a:ea typeface="Calibri" pitchFamily="34" charset="-122"/>
                <a:cs typeface="Calibri" pitchFamily="34" charset="-120"/>
              </a:rPr>
              <a:t>Path C if:</a:t>
            </a:r>
            <a:endParaRPr lang="en-US" sz="1200" dirty="0"/>
          </a:p>
          <a:p>
            <a:pPr algn="r" indent="0" marL="0">
              <a:buNone/>
            </a:pPr>
            <a:r>
              <a:rPr lang="en-US" sz="1200" dirty="0">
                <a:solidFill>
                  <a:srgbClr val="1F7A7A"/>
                </a:solidFill>
                <a:latin typeface="Calibri" pitchFamily="34" charset="0"/>
                <a:ea typeface="Calibri" pitchFamily="34" charset="-122"/>
                <a:cs typeface="Calibri" pitchFamily="34" charset="-120"/>
              </a:rPr>
              <a:t>injection or Critical</a:t>
            </a:r>
            <a:endParaRPr lang="en-US" sz="1200" dirty="0"/>
          </a:p>
          <a:p>
            <a:pPr algn="r" indent="0" marL="0">
              <a:buNone/>
            </a:pPr>
            <a:r>
              <a:rPr lang="en-US" sz="1200" dirty="0">
                <a:solidFill>
                  <a:srgbClr val="1F7A7A"/>
                </a:solidFill>
                <a:latin typeface="Calibri" pitchFamily="34" charset="0"/>
                <a:ea typeface="Calibri" pitchFamily="34" charset="-122"/>
                <a:cs typeface="Calibri" pitchFamily="34" charset="-120"/>
              </a:rPr>
              <a:t>a rule asks</a:t>
            </a:r>
            <a:endParaRPr lang="en-US" sz="1200" dirty="0"/>
          </a:p>
          <a:p>
            <a:pPr algn="r" indent="0" marL="0">
              <a:buNone/>
            </a:pPr>
            <a:r>
              <a:rPr lang="en-US" sz="1200" dirty="0">
                <a:solidFill>
                  <a:srgbClr val="1F7A7A"/>
                </a:solidFill>
                <a:latin typeface="Calibri" pitchFamily="34" charset="0"/>
                <a:ea typeface="Calibri" pitchFamily="34" charset="-122"/>
                <a:cs typeface="Calibri" pitchFamily="34" charset="-120"/>
              </a:rPr>
              <a:t>Jev is under 70% sure</a:t>
            </a:r>
            <a:endParaRPr lang="en-US" sz="1200" dirty="0"/>
          </a:p>
        </p:txBody>
      </p:sp>
      <p:sp>
        <p:nvSpPr>
          <p:cNvPr id="54" name="Shape 43"/>
          <p:cNvSpPr/>
          <p:nvPr/>
        </p:nvSpPr>
        <p:spPr>
          <a:xfrm>
            <a:off x="7543800" y="5486400"/>
            <a:ext cx="0" cy="274320"/>
          </a:xfrm>
          <a:prstGeom prst="line">
            <a:avLst/>
          </a:prstGeom>
          <a:noFill/>
          <a:ln w="25400">
            <a:solidFill>
              <a:srgbClr val="5F6B7A"/>
            </a:solidFill>
            <a:prstDash val="solid"/>
            <a:tailEnd type="triangle"/>
          </a:ln>
        </p:spPr>
      </p:sp>
      <p:sp>
        <p:nvSpPr>
          <p:cNvPr id="55" name="Text 44"/>
          <p:cNvSpPr/>
          <p:nvPr/>
        </p:nvSpPr>
        <p:spPr>
          <a:xfrm>
            <a:off x="7635240" y="5495544"/>
            <a:ext cx="548640" cy="256032"/>
          </a:xfrm>
          <a:prstGeom prst="rect">
            <a:avLst/>
          </a:prstGeom>
          <a:noFill/>
          <a:ln/>
        </p:spPr>
        <p:txBody>
          <a:bodyPr wrap="square" lIns="0" tIns="0" rIns="0" bIns="0" rtlCol="0" anchor="ctr"/>
          <a:lstStyle/>
          <a:p>
            <a:pPr algn="l" indent="0" marL="0">
              <a:buNone/>
            </a:pPr>
            <a:r>
              <a:rPr lang="en-US" sz="1200" b="1" dirty="0">
                <a:solidFill>
                  <a:srgbClr val="56636F"/>
                </a:solidFill>
                <a:latin typeface="Calibri" pitchFamily="34" charset="0"/>
                <a:ea typeface="Calibri" pitchFamily="34" charset="-122"/>
                <a:cs typeface="Calibri" pitchFamily="34" charset="-120"/>
              </a:rPr>
              <a:t>Yes</a:t>
            </a:r>
            <a:endParaRPr lang="en-US" sz="1200" dirty="0"/>
          </a:p>
        </p:txBody>
      </p:sp>
      <p:sp>
        <p:nvSpPr>
          <p:cNvPr id="56" name="Shape 45"/>
          <p:cNvSpPr/>
          <p:nvPr/>
        </p:nvSpPr>
        <p:spPr>
          <a:xfrm>
            <a:off x="6309360" y="5760720"/>
            <a:ext cx="2468880" cy="548640"/>
          </a:xfrm>
          <a:prstGeom prst="roundRect">
            <a:avLst>
              <a:gd name="adj" fmla="val 13333"/>
            </a:avLst>
          </a:prstGeom>
          <a:solidFill>
            <a:srgbClr val="DFE4EA"/>
          </a:solidFill>
          <a:ln w="12700">
            <a:solidFill>
              <a:srgbClr val="5F6B7A"/>
            </a:solidFill>
            <a:prstDash val="solid"/>
          </a:ln>
        </p:spPr>
      </p:sp>
      <p:sp>
        <p:nvSpPr>
          <p:cNvPr id="57" name="Shape 46"/>
          <p:cNvSpPr/>
          <p:nvPr/>
        </p:nvSpPr>
        <p:spPr>
          <a:xfrm>
            <a:off x="6419088" y="5797296"/>
            <a:ext cx="475488" cy="475488"/>
          </a:xfrm>
          <a:prstGeom prst="ellipse">
            <a:avLst/>
          </a:prstGeom>
          <a:solidFill>
            <a:srgbClr val="5F6B7A"/>
          </a:solidFill>
          <a:ln w="12700">
            <a:solidFill>
              <a:srgbClr val="5F6B7A"/>
            </a:solidFill>
            <a:prstDash val="solid"/>
          </a:ln>
        </p:spPr>
      </p:sp>
      <p:pic>
        <p:nvPicPr>
          <p:cNvPr id="58" name="Image 8" descr="preencoded.png">    </p:cNvPr>
          <p:cNvPicPr>
            <a:picLocks noChangeAspect="1"/>
          </p:cNvPicPr>
          <p:nvPr/>
        </p:nvPicPr>
        <p:blipFill>
          <a:blip r:embed="rId9"/>
          <a:stretch>
            <a:fillRect/>
          </a:stretch>
        </p:blipFill>
        <p:spPr>
          <a:xfrm>
            <a:off x="6523695" y="5901903"/>
            <a:ext cx="266273" cy="266273"/>
          </a:xfrm>
          <a:prstGeom prst="rect">
            <a:avLst/>
          </a:prstGeom>
        </p:spPr>
      </p:pic>
      <p:sp>
        <p:nvSpPr>
          <p:cNvPr id="59" name="Text 47"/>
          <p:cNvSpPr/>
          <p:nvPr/>
        </p:nvSpPr>
        <p:spPr>
          <a:xfrm>
            <a:off x="6995160" y="5760720"/>
            <a:ext cx="1691640" cy="54864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7  </a:t>
            </a:r>
            <a:pPr algn="l" indent="0" marL="0">
              <a:buNone/>
            </a:pPr>
            <a:r>
              <a:rPr lang="en-US" sz="1400" dirty="0">
                <a:solidFill>
                  <a:srgbClr val="2B3440"/>
                </a:solidFill>
                <a:latin typeface="Calibri" pitchFamily="34" charset="0"/>
                <a:ea typeface="Calibri" pitchFamily="34" charset="-122"/>
                <a:cs typeface="Calibri" pitchFamily="34" charset="-120"/>
              </a:rPr>
              <a:t>System writes a log</a:t>
            </a:r>
            <a:endParaRPr lang="en-US" sz="1400" dirty="0"/>
          </a:p>
        </p:txBody>
      </p:sp>
      <p:sp>
        <p:nvSpPr>
          <p:cNvPr id="60" name="Shape 48"/>
          <p:cNvSpPr/>
          <p:nvPr/>
        </p:nvSpPr>
        <p:spPr>
          <a:xfrm>
            <a:off x="10424160" y="5486400"/>
            <a:ext cx="0" cy="548640"/>
          </a:xfrm>
          <a:prstGeom prst="line">
            <a:avLst/>
          </a:prstGeom>
          <a:noFill/>
          <a:ln w="25400">
            <a:solidFill>
              <a:srgbClr val="1F7A7A"/>
            </a:solidFill>
            <a:prstDash val="solid"/>
          </a:ln>
        </p:spPr>
      </p:sp>
      <p:sp>
        <p:nvSpPr>
          <p:cNvPr id="61" name="Shape 49"/>
          <p:cNvSpPr/>
          <p:nvPr/>
        </p:nvSpPr>
        <p:spPr>
          <a:xfrm flipH="1">
            <a:off x="8778240" y="6035040"/>
            <a:ext cx="1645920" cy="0"/>
          </a:xfrm>
          <a:prstGeom prst="line">
            <a:avLst/>
          </a:prstGeom>
          <a:noFill/>
          <a:ln w="25400">
            <a:solidFill>
              <a:srgbClr val="1F7A7A"/>
            </a:solidFill>
            <a:prstDash val="solid"/>
            <a:tailEnd type="triangle"/>
          </a:ln>
        </p:spPr>
      </p:sp>
      <p:sp>
        <p:nvSpPr>
          <p:cNvPr id="62" name="Text 50"/>
          <p:cNvSpPr/>
          <p:nvPr/>
        </p:nvSpPr>
        <p:spPr>
          <a:xfrm>
            <a:off x="548640" y="4526280"/>
            <a:ext cx="1280160" cy="274320"/>
          </a:xfrm>
          <a:prstGeom prst="roundRect">
            <a:avLst>
              <a:gd name="adj" fmla="val 26667"/>
            </a:avLst>
          </a:prstGeom>
          <a:solidFill>
            <a:srgbClr val="DFE4EA"/>
          </a:solidFill>
          <a:ln w="12700">
            <a:solidFill>
              <a:srgbClr val="5F6B7A"/>
            </a:solidFill>
          </a:ln>
        </p:spPr>
        <p:txBody>
          <a:bodyPr wrap="square" lIns="91440" tIns="0" rIns="91440" bIns="0" rtlCol="0" anchor="ctr"/>
          <a:lstStyle/>
          <a:p>
            <a:pPr algn="l"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63" name="Text 51"/>
          <p:cNvSpPr/>
          <p:nvPr/>
        </p:nvSpPr>
        <p:spPr>
          <a:xfrm>
            <a:off x="548640" y="4892040"/>
            <a:ext cx="1280160" cy="274320"/>
          </a:xfrm>
          <a:prstGeom prst="roundRect">
            <a:avLst>
              <a:gd name="adj" fmla="val 26667"/>
            </a:avLst>
          </a:prstGeom>
          <a:solidFill>
            <a:srgbClr val="D6E4F3"/>
          </a:solidFill>
          <a:ln w="12700">
            <a:solidFill>
              <a:srgbClr val="2F5F98"/>
            </a:solidFill>
          </a:ln>
        </p:spPr>
        <p:txBody>
          <a:bodyPr wrap="square" lIns="91440" tIns="0" rIns="91440" bIns="0" rtlCol="0" anchor="ctr"/>
          <a:lstStyle/>
          <a:p>
            <a:pPr algn="l"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64" name="Text 52"/>
          <p:cNvSpPr/>
          <p:nvPr/>
        </p:nvSpPr>
        <p:spPr>
          <a:xfrm>
            <a:off x="548640" y="5257800"/>
            <a:ext cx="1280160" cy="274320"/>
          </a:xfrm>
          <a:prstGeom prst="roundRect">
            <a:avLst>
              <a:gd name="adj" fmla="val 26667"/>
            </a:avLst>
          </a:prstGeom>
          <a:solidFill>
            <a:srgbClr val="D3EBE8"/>
          </a:solidFill>
          <a:ln w="12700">
            <a:solidFill>
              <a:srgbClr val="1F7A7A"/>
            </a:solidFill>
          </a:ln>
        </p:spPr>
        <p:txBody>
          <a:bodyPr wrap="square" lIns="91440" tIns="0" rIns="91440" bIns="0" rtlCol="0" anchor="ctr"/>
          <a:lstStyle/>
          <a:p>
            <a:pPr algn="l" indent="0" marL="0">
              <a:buNone/>
            </a:pPr>
            <a:r>
              <a:rPr lang="en-US" sz="1200" dirty="0">
                <a:solidFill>
                  <a:srgbClr val="2B3440"/>
                </a:solidFill>
                <a:latin typeface="Calibri" pitchFamily="34" charset="0"/>
                <a:ea typeface="Calibri" pitchFamily="34" charset="-122"/>
                <a:cs typeface="Calibri" pitchFamily="34" charset="-120"/>
              </a:rPr>
              <a:t>Support agent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Written rules cover the two risky actions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54480"/>
                <a:gridCol w="5120640"/>
                <a:gridCol w="4419295"/>
              </a:tblGrid>
              <a:tr h="38404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36576" marB="36576">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36576" marB="36576">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36576" marB="36576">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r>
              <a:tr h="457200">
                <a:tc>
                  <a:txBody>
                    <a:bodyPr/>
                    <a:lstStyle/>
                    <a:p>
                      <a:pPr indent="0" marL="0">
                        <a:buNone/>
                      </a:pPr>
                      <a:r>
                        <a:rPr lang="en-US" sz="1400" b="1" dirty="0">
                          <a:solidFill>
                            <a:srgbClr val="2B3440"/>
                          </a:solidFill>
                          <a:latin typeface="Calibri" pitchFamily="34" charset="0"/>
                          <a:ea typeface="Calibri" pitchFamily="34" charset="-122"/>
                          <a:cs typeface="Calibri" pitchFamily="34" charset="-120"/>
                        </a:rPr>
                        <a:t>Both</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Only the account owner can ask</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teammate: deny</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2B3440"/>
                          </a:solidFill>
                          <a:latin typeface="Calibri" pitchFamily="34" charset="0"/>
                          <a:ea typeface="Calibri" pitchFamily="34" charset="-122"/>
                          <a:cs typeface="Calibri" pitchFamily="34" charset="-120"/>
                        </a:rPr>
                        <a:t>Both</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Only the account of the sender</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another customer named: deny</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594360">
                <a:tc>
                  <a:txBody>
                    <a:bodyPr/>
                    <a:lstStyle/>
                    <a:p>
                      <a:pPr indent="0" marL="0">
                        <a:buNone/>
                      </a:pPr>
                      <a:r>
                        <a:rPr lang="en-US" sz="1400" b="1" dirty="0">
                          <a:solidFill>
                            <a:srgbClr val="2B3440"/>
                          </a:solidFill>
                          <a:latin typeface="Calibri" pitchFamily="34" charset="0"/>
                          <a:ea typeface="Calibri" pitchFamily="34" charset="-122"/>
                          <a:cs typeface="Calibri" pitchFamily="34" charset="-120"/>
                        </a:rPr>
                        <a:t>Refund</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inside: pass · outside, unused: review · outside, used: deny</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594360">
                <a:tc>
                  <a:txBody>
                    <a:bodyPr/>
                    <a:lstStyle/>
                    <a:p>
                      <a:pPr indent="0" marL="0">
                        <a:buNone/>
                      </a:pPr>
                      <a:r>
                        <a:rPr lang="en-US" sz="1400" b="1" dirty="0">
                          <a:solidFill>
                            <a:srgbClr val="2B3440"/>
                          </a:solidFill>
                          <a:latin typeface="Calibri" pitchFamily="34" charset="0"/>
                          <a:ea typeface="Calibri" pitchFamily="34" charset="-122"/>
                          <a:cs typeface="Calibri" pitchFamily="34" charset="-120"/>
                        </a:rPr>
                        <a:t>Refund</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Credit pack only while none is used; a renewal not charged yet can be cancelled</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unused or not charged: pass · used or not settled: deny</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594360">
                <a:tc>
                  <a:txBody>
                    <a:bodyPr/>
                    <a:lstStyle/>
                    <a:p>
                      <a:pPr indent="0" marL="0">
                        <a:buNone/>
                      </a:pPr>
                      <a:r>
                        <a:rPr lang="en-US" sz="1400" b="1" dirty="0">
                          <a:solidFill>
                            <a:srgbClr val="2B3440"/>
                          </a:solidFill>
                          <a:latin typeface="Calibri" pitchFamily="34" charset="0"/>
                          <a:ea typeface="Calibri" pitchFamily="34" charset="-122"/>
                          <a:cs typeface="Calibri" pitchFamily="34" charset="-120"/>
                        </a:rPr>
                        <a:t>Refund</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A purchase is refunded once; over $100, or 2+ refunds in 90 days</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done before: deny · over limit: review</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2B3440"/>
                          </a:solidFill>
                          <a:latin typeface="Calibri" pitchFamily="34" charset="0"/>
                          <a:ea typeface="Calibri" pitchFamily="34" charset="-122"/>
                          <a:cs typeface="Calibri" pitchFamily="34" charset="-120"/>
                        </a:rPr>
                        <a:t>Delete data</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Deleting cannot be undone; done once</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indent="0" marL="0">
                        <a:buNone/>
                      </a:pPr>
                      <a:r>
                        <a:rPr lang="en-US" sz="1400" dirty="0">
                          <a:solidFill>
                            <a:srgbClr val="2B3440"/>
                          </a:solidFill>
                          <a:latin typeface="Calibri" pitchFamily="34" charset="0"/>
                          <a:ea typeface="Calibri" pitchFamily="34" charset="-122"/>
                          <a:cs typeface="Calibri" pitchFamily="34" charset="-120"/>
                        </a:rPr>
                        <a:t>done before: deny · else review</a:t>
                      </a:r>
                      <a:endParaRPr lang="en-US" sz="1400" dirty="0">
                        <a:latin typeface="Calibri" charset="0"/>
                        <a:ea typeface="Calibri" charset="0"/>
                        <a:cs typeface="Calibri" charset="0"/>
                      </a:endParaRPr>
                    </a:p>
                  </a:txBody>
                  <a:tcPr marL="109728" marR="109728" marT="36576" marB="36576"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bl>
          </a:graphicData>
        </a:graphic>
      </p:graphicFrame>
      <p:sp>
        <p:nvSpPr>
          <p:cNvPr id="5" name="Text 1"/>
          <p:cNvSpPr/>
          <p:nvPr/>
        </p:nvSpPr>
        <p:spPr>
          <a:xfrm>
            <a:off x="548640" y="5897880"/>
            <a:ext cx="110944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The written rules never use the classifier's confidence; only the routing floor in step 3 does. They are the rules of FrameForge, a made-up AI video SaaS.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Step 5: the system does only allowed actions</a:t>
            </a:r>
            <a:endParaRPr lang="en-US" sz="3600" dirty="0"/>
          </a:p>
        </p:txBody>
      </p:sp>
      <p:sp>
        <p:nvSpPr>
          <p:cNvPr id="4" name="Shape 1"/>
          <p:cNvSpPr/>
          <p:nvPr/>
        </p:nvSpPr>
        <p:spPr>
          <a:xfrm>
            <a:off x="548640" y="1508760"/>
            <a:ext cx="3515258" cy="2926080"/>
          </a:xfrm>
          <a:prstGeom prst="roundRect">
            <a:avLst>
              <a:gd name="adj" fmla="val 2500"/>
            </a:avLst>
          </a:prstGeom>
          <a:solidFill>
            <a:srgbClr val="FFFFFF"/>
          </a:solidFill>
          <a:ln/>
        </p:spPr>
      </p:sp>
      <p:sp>
        <p:nvSpPr>
          <p:cNvPr id="5" name="Shape 2"/>
          <p:cNvSpPr/>
          <p:nvPr/>
        </p:nvSpPr>
        <p:spPr>
          <a:xfrm>
            <a:off x="822960" y="1783080"/>
            <a:ext cx="822960" cy="82296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004011" y="1964131"/>
            <a:ext cx="460858" cy="460858"/>
          </a:xfrm>
          <a:prstGeom prst="rect">
            <a:avLst/>
          </a:prstGeom>
        </p:spPr>
      </p:pic>
      <p:sp>
        <p:nvSpPr>
          <p:cNvPr id="7" name="Text 3"/>
          <p:cNvSpPr/>
          <p:nvPr/>
        </p:nvSpPr>
        <p:spPr>
          <a:xfrm>
            <a:off x="777240" y="2788920"/>
            <a:ext cx="305805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Allow</a:t>
            </a:r>
            <a:endParaRPr lang="en-US" sz="2200" dirty="0"/>
          </a:p>
        </p:txBody>
      </p:sp>
      <p:sp>
        <p:nvSpPr>
          <p:cNvPr id="8" name="Text 4"/>
          <p:cNvSpPr/>
          <p:nvPr/>
        </p:nvSpPr>
        <p:spPr>
          <a:xfrm>
            <a:off x="777240" y="3291840"/>
            <a:ext cx="3058058" cy="10058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The system does the action and writes the ledger</a:t>
            </a:r>
            <a:endParaRPr lang="en-US" sz="1600" dirty="0"/>
          </a:p>
        </p:txBody>
      </p:sp>
      <p:sp>
        <p:nvSpPr>
          <p:cNvPr id="9" name="Shape 5"/>
          <p:cNvSpPr/>
          <p:nvPr/>
        </p:nvSpPr>
        <p:spPr>
          <a:xfrm>
            <a:off x="4338218" y="1508760"/>
            <a:ext cx="3515258" cy="2926080"/>
          </a:xfrm>
          <a:prstGeom prst="roundRect">
            <a:avLst>
              <a:gd name="adj" fmla="val 2500"/>
            </a:avLst>
          </a:prstGeom>
          <a:solidFill>
            <a:srgbClr val="FFFFFF"/>
          </a:solidFill>
          <a:ln/>
        </p:spPr>
      </p:sp>
      <p:sp>
        <p:nvSpPr>
          <p:cNvPr id="10" name="Shape 6"/>
          <p:cNvSpPr/>
          <p:nvPr/>
        </p:nvSpPr>
        <p:spPr>
          <a:xfrm>
            <a:off x="4612538" y="1783080"/>
            <a:ext cx="822960" cy="82296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93590" y="1964131"/>
            <a:ext cx="460858" cy="460858"/>
          </a:xfrm>
          <a:prstGeom prst="rect">
            <a:avLst/>
          </a:prstGeom>
        </p:spPr>
      </p:pic>
      <p:sp>
        <p:nvSpPr>
          <p:cNvPr id="12" name="Text 7"/>
          <p:cNvSpPr/>
          <p:nvPr/>
        </p:nvSpPr>
        <p:spPr>
          <a:xfrm>
            <a:off x="4566818" y="2788920"/>
            <a:ext cx="305805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Deny</a:t>
            </a:r>
            <a:endParaRPr lang="en-US" sz="2200" dirty="0"/>
          </a:p>
        </p:txBody>
      </p:sp>
      <p:sp>
        <p:nvSpPr>
          <p:cNvPr id="13" name="Text 8"/>
          <p:cNvSpPr/>
          <p:nvPr/>
        </p:nvSpPr>
        <p:spPr>
          <a:xfrm>
            <a:off x="4566818" y="3291840"/>
            <a:ext cx="3058058" cy="10058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Nothing runs; the reply tells the customer why</a:t>
            </a:r>
            <a:endParaRPr lang="en-US" sz="1600" dirty="0"/>
          </a:p>
        </p:txBody>
      </p:sp>
      <p:sp>
        <p:nvSpPr>
          <p:cNvPr id="14" name="Shape 9"/>
          <p:cNvSpPr/>
          <p:nvPr/>
        </p:nvSpPr>
        <p:spPr>
          <a:xfrm>
            <a:off x="8127797" y="1508760"/>
            <a:ext cx="3515258" cy="2926080"/>
          </a:xfrm>
          <a:prstGeom prst="roundRect">
            <a:avLst>
              <a:gd name="adj" fmla="val 2500"/>
            </a:avLst>
          </a:prstGeom>
          <a:solidFill>
            <a:srgbClr val="FFFFFF"/>
          </a:solidFill>
          <a:ln/>
        </p:spPr>
      </p:sp>
      <p:sp>
        <p:nvSpPr>
          <p:cNvPr id="15" name="Shape 10"/>
          <p:cNvSpPr/>
          <p:nvPr/>
        </p:nvSpPr>
        <p:spPr>
          <a:xfrm>
            <a:off x="8402117" y="1783080"/>
            <a:ext cx="822960" cy="822960"/>
          </a:xfrm>
          <a:prstGeom prst="ellipse">
            <a:avLst/>
          </a:prstGeom>
          <a:solidFill>
            <a:srgbClr val="1F7A7A"/>
          </a:solidFill>
          <a:ln w="12700">
            <a:solidFill>
              <a:srgbClr val="1F7A7A"/>
            </a:solidFill>
            <a:prstDash val="solid"/>
          </a:ln>
        </p:spPr>
      </p:sp>
      <p:pic>
        <p:nvPicPr>
          <p:cNvPr id="16" name="Image 2" descr="preencoded.png">    </p:cNvPr>
          <p:cNvPicPr>
            <a:picLocks noChangeAspect="1"/>
          </p:cNvPicPr>
          <p:nvPr/>
        </p:nvPicPr>
        <p:blipFill>
          <a:blip r:embed="rId3"/>
          <a:stretch>
            <a:fillRect/>
          </a:stretch>
        </p:blipFill>
        <p:spPr>
          <a:xfrm>
            <a:off x="8583168" y="1964131"/>
            <a:ext cx="460858" cy="460858"/>
          </a:xfrm>
          <a:prstGeom prst="rect">
            <a:avLst/>
          </a:prstGeom>
        </p:spPr>
      </p:pic>
      <p:sp>
        <p:nvSpPr>
          <p:cNvPr id="17" name="Text 11"/>
          <p:cNvSpPr/>
          <p:nvPr/>
        </p:nvSpPr>
        <p:spPr>
          <a:xfrm>
            <a:off x="8356397" y="2788920"/>
            <a:ext cx="305805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Review</a:t>
            </a:r>
            <a:endParaRPr lang="en-US" sz="2200" dirty="0"/>
          </a:p>
        </p:txBody>
      </p:sp>
      <p:sp>
        <p:nvSpPr>
          <p:cNvPr id="18" name="Text 12"/>
          <p:cNvSpPr/>
          <p:nvPr/>
        </p:nvSpPr>
        <p:spPr>
          <a:xfrm>
            <a:off x="8356397" y="3291840"/>
            <a:ext cx="3058058" cy="10058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support agent takes over at step H; nothing runs</a:t>
            </a:r>
            <a:endParaRPr lang="en-US" sz="1600" dirty="0"/>
          </a:p>
        </p:txBody>
      </p:sp>
      <p:sp>
        <p:nvSpPr>
          <p:cNvPr id="19" name="Shape 13"/>
          <p:cNvSpPr/>
          <p:nvPr/>
        </p:nvSpPr>
        <p:spPr>
          <a:xfrm>
            <a:off x="548640" y="4754880"/>
            <a:ext cx="11094415" cy="1005840"/>
          </a:xfrm>
          <a:prstGeom prst="roundRect">
            <a:avLst>
              <a:gd name="adj" fmla="val 7273"/>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029200"/>
            <a:ext cx="457200" cy="457200"/>
          </a:xfrm>
          <a:prstGeom prst="rect">
            <a:avLst/>
          </a:prstGeom>
        </p:spPr>
      </p:pic>
      <p:sp>
        <p:nvSpPr>
          <p:cNvPr id="21" name="Text 14"/>
          <p:cNvSpPr/>
          <p:nvPr/>
        </p:nvSpPr>
        <p:spPr>
          <a:xfrm>
            <a:off x="1508760" y="4754880"/>
            <a:ext cx="9859975" cy="10058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deny rule means nothing runs, whatever the models said. </a:t>
            </a:r>
            <a:pPr algn="l" indent="0" marL="0">
              <a:buNone/>
            </a:pPr>
            <a:r>
              <a:rPr lang="en-US" sz="1800" dirty="0">
                <a:solidFill>
                  <a:srgbClr val="FFFFFF"/>
                </a:solidFill>
                <a:latin typeface="Calibri" pitchFamily="34" charset="0"/>
                <a:ea typeface="Calibri" pitchFamily="34" charset="-122"/>
                <a:cs typeface="Calibri" pitchFamily="34" charset="-120"/>
              </a:rPr>
              <a:t>The ledger stops the same action from running twice.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 synthetic data, real model calls</a:t>
            </a:r>
            <a:endParaRPr lang="en-US" sz="3600" dirty="0"/>
          </a:p>
        </p:txBody>
      </p:sp>
      <p:sp>
        <p:nvSpPr>
          <p:cNvPr id="4" name="Shape 1"/>
          <p:cNvSpPr/>
          <p:nvPr/>
        </p:nvSpPr>
        <p:spPr>
          <a:xfrm>
            <a:off x="548640" y="1508760"/>
            <a:ext cx="2567864" cy="1783080"/>
          </a:xfrm>
          <a:prstGeom prst="roundRect">
            <a:avLst>
              <a:gd name="adj" fmla="val 4103"/>
            </a:avLst>
          </a:prstGeom>
          <a:solidFill>
            <a:srgbClr val="FFFFFF"/>
          </a:solidFill>
          <a:ln/>
        </p:spPr>
      </p:sp>
      <p:sp>
        <p:nvSpPr>
          <p:cNvPr id="5" name="Shape 2"/>
          <p:cNvSpPr/>
          <p:nvPr/>
        </p:nvSpPr>
        <p:spPr>
          <a:xfrm>
            <a:off x="822960" y="176479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915668"/>
            <a:ext cx="384048" cy="384048"/>
          </a:xfrm>
          <a:prstGeom prst="rect">
            <a:avLst/>
          </a:prstGeom>
        </p:spPr>
      </p:pic>
      <p:sp>
        <p:nvSpPr>
          <p:cNvPr id="7" name="Text 3"/>
          <p:cNvSpPr/>
          <p:nvPr/>
        </p:nvSpPr>
        <p:spPr>
          <a:xfrm>
            <a:off x="1737360" y="169164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8" name="Text 4"/>
          <p:cNvSpPr/>
          <p:nvPr/>
        </p:nvSpPr>
        <p:spPr>
          <a:xfrm>
            <a:off x="822960" y="269748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9" name="Shape 5"/>
          <p:cNvSpPr/>
          <p:nvPr/>
        </p:nvSpPr>
        <p:spPr>
          <a:xfrm>
            <a:off x="3390824" y="1508760"/>
            <a:ext cx="2567864" cy="1783080"/>
          </a:xfrm>
          <a:prstGeom prst="roundRect">
            <a:avLst>
              <a:gd name="adj" fmla="val 4103"/>
            </a:avLst>
          </a:prstGeom>
          <a:solidFill>
            <a:srgbClr val="FFFFFF"/>
          </a:solidFill>
          <a:ln/>
        </p:spPr>
      </p:sp>
      <p:sp>
        <p:nvSpPr>
          <p:cNvPr id="10" name="Shape 6"/>
          <p:cNvSpPr/>
          <p:nvPr/>
        </p:nvSpPr>
        <p:spPr>
          <a:xfrm>
            <a:off x="3665144" y="176479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3816020" y="1915668"/>
            <a:ext cx="384048" cy="384048"/>
          </a:xfrm>
          <a:prstGeom prst="rect">
            <a:avLst/>
          </a:prstGeom>
        </p:spPr>
      </p:pic>
      <p:sp>
        <p:nvSpPr>
          <p:cNvPr id="12" name="Text 7"/>
          <p:cNvSpPr/>
          <p:nvPr/>
        </p:nvSpPr>
        <p:spPr>
          <a:xfrm>
            <a:off x="4579544" y="169164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21</a:t>
            </a:r>
            <a:endParaRPr lang="en-US" sz="4400" dirty="0"/>
          </a:p>
        </p:txBody>
      </p:sp>
      <p:sp>
        <p:nvSpPr>
          <p:cNvPr id="13" name="Text 8"/>
          <p:cNvSpPr/>
          <p:nvPr/>
        </p:nvSpPr>
        <p:spPr>
          <a:xfrm>
            <a:off x="3665144" y="269748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14" name="Shape 9"/>
          <p:cNvSpPr/>
          <p:nvPr/>
        </p:nvSpPr>
        <p:spPr>
          <a:xfrm>
            <a:off x="6233008" y="1508760"/>
            <a:ext cx="2567864" cy="1783080"/>
          </a:xfrm>
          <a:prstGeom prst="roundRect">
            <a:avLst>
              <a:gd name="adj" fmla="val 4103"/>
            </a:avLst>
          </a:prstGeom>
          <a:solidFill>
            <a:srgbClr val="FFFFFF"/>
          </a:solidFill>
          <a:ln/>
        </p:spPr>
      </p:sp>
      <p:sp>
        <p:nvSpPr>
          <p:cNvPr id="15" name="Shape 10"/>
          <p:cNvSpPr/>
          <p:nvPr/>
        </p:nvSpPr>
        <p:spPr>
          <a:xfrm>
            <a:off x="6507328" y="176479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6658204" y="1915668"/>
            <a:ext cx="384048" cy="384048"/>
          </a:xfrm>
          <a:prstGeom prst="rect">
            <a:avLst/>
          </a:prstGeom>
        </p:spPr>
      </p:pic>
      <p:sp>
        <p:nvSpPr>
          <p:cNvPr id="17" name="Text 11"/>
          <p:cNvSpPr/>
          <p:nvPr/>
        </p:nvSpPr>
        <p:spPr>
          <a:xfrm>
            <a:off x="7421728" y="169164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84</a:t>
            </a:r>
            <a:endParaRPr lang="en-US" sz="4400" dirty="0"/>
          </a:p>
        </p:txBody>
      </p:sp>
      <p:sp>
        <p:nvSpPr>
          <p:cNvPr id="18" name="Text 12"/>
          <p:cNvSpPr/>
          <p:nvPr/>
        </p:nvSpPr>
        <p:spPr>
          <a:xfrm>
            <a:off x="6507328" y="269748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requests</a:t>
            </a:r>
            <a:endParaRPr lang="en-US" sz="1500" dirty="0"/>
          </a:p>
        </p:txBody>
      </p:sp>
      <p:sp>
        <p:nvSpPr>
          <p:cNvPr id="19" name="Shape 13"/>
          <p:cNvSpPr/>
          <p:nvPr/>
        </p:nvSpPr>
        <p:spPr>
          <a:xfrm>
            <a:off x="9075191" y="1508760"/>
            <a:ext cx="2567864" cy="1783080"/>
          </a:xfrm>
          <a:prstGeom prst="roundRect">
            <a:avLst>
              <a:gd name="adj" fmla="val 4103"/>
            </a:avLst>
          </a:prstGeom>
          <a:solidFill>
            <a:srgbClr val="FFFFFF"/>
          </a:solidFill>
          <a:ln/>
        </p:spPr>
      </p:sp>
      <p:sp>
        <p:nvSpPr>
          <p:cNvPr id="20" name="Shape 14"/>
          <p:cNvSpPr/>
          <p:nvPr/>
        </p:nvSpPr>
        <p:spPr>
          <a:xfrm>
            <a:off x="9349511" y="1764792"/>
            <a:ext cx="685800" cy="685800"/>
          </a:xfrm>
          <a:prstGeom prst="ellipse">
            <a:avLst/>
          </a:prstGeom>
          <a:solidFill>
            <a:srgbClr val="2F5F98"/>
          </a:solidFill>
          <a:ln w="12700">
            <a:solidFill>
              <a:srgbClr val="2F5F98"/>
            </a:solidFill>
            <a:prstDash val="solid"/>
          </a:ln>
        </p:spPr>
      </p:sp>
      <p:pic>
        <p:nvPicPr>
          <p:cNvPr id="21" name="Image 3" descr="preencoded.png">    </p:cNvPr>
          <p:cNvPicPr>
            <a:picLocks noChangeAspect="1"/>
          </p:cNvPicPr>
          <p:nvPr/>
        </p:nvPicPr>
        <p:blipFill>
          <a:blip r:embed="rId4"/>
          <a:stretch>
            <a:fillRect/>
          </a:stretch>
        </p:blipFill>
        <p:spPr>
          <a:xfrm>
            <a:off x="9500387" y="1915668"/>
            <a:ext cx="384048" cy="384048"/>
          </a:xfrm>
          <a:prstGeom prst="rect">
            <a:avLst/>
          </a:prstGeom>
        </p:spPr>
      </p:pic>
      <p:sp>
        <p:nvSpPr>
          <p:cNvPr id="22" name="Text 15"/>
          <p:cNvSpPr/>
          <p:nvPr/>
        </p:nvSpPr>
        <p:spPr>
          <a:xfrm>
            <a:off x="10263911" y="169164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a:t>
            </a:r>
            <a:endParaRPr lang="en-US" sz="4400" dirty="0"/>
          </a:p>
        </p:txBody>
      </p:sp>
      <p:sp>
        <p:nvSpPr>
          <p:cNvPr id="23" name="Text 16"/>
          <p:cNvSpPr/>
          <p:nvPr/>
        </p:nvSpPr>
        <p:spPr>
          <a:xfrm>
            <a:off x="9349511" y="269748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24" name="Shape 17"/>
          <p:cNvSpPr/>
          <p:nvPr/>
        </p:nvSpPr>
        <p:spPr>
          <a:xfrm>
            <a:off x="548640" y="3611880"/>
            <a:ext cx="11094415" cy="731520"/>
          </a:xfrm>
          <a:prstGeom prst="roundRect">
            <a:avLst>
              <a:gd name="adj" fmla="val 10000"/>
            </a:avLst>
          </a:prstGeom>
          <a:solidFill>
            <a:srgbClr val="FFFFFF"/>
          </a:solidFill>
          <a:ln/>
        </p:spPr>
      </p:sp>
      <p:sp>
        <p:nvSpPr>
          <p:cNvPr id="25" name="Text 18"/>
          <p:cNvSpPr/>
          <p:nvPr/>
        </p:nvSpPr>
        <p:spPr>
          <a:xfrm>
            <a:off x="777240" y="374904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RQ1</a:t>
            </a:r>
            <a:endParaRPr lang="en-US" sz="1600" dirty="0"/>
          </a:p>
        </p:txBody>
      </p:sp>
      <p:sp>
        <p:nvSpPr>
          <p:cNvPr id="26" name="Text 19"/>
          <p:cNvSpPr/>
          <p:nvPr/>
        </p:nvSpPr>
        <p:spPr>
          <a:xfrm>
            <a:off x="1828800" y="3611880"/>
            <a:ext cx="9585655"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Same system, only the classifier changes: Jev or an LLM. How do silent errors, requests sent to a person, and machine time compare? An ablation removes the 70% floor.</a:t>
            </a:r>
            <a:endParaRPr lang="en-US" sz="1600" dirty="0"/>
          </a:p>
        </p:txBody>
      </p:sp>
      <p:sp>
        <p:nvSpPr>
          <p:cNvPr id="27" name="Shape 20"/>
          <p:cNvSpPr/>
          <p:nvPr/>
        </p:nvSpPr>
        <p:spPr>
          <a:xfrm>
            <a:off x="548640" y="4480560"/>
            <a:ext cx="11094415" cy="731520"/>
          </a:xfrm>
          <a:prstGeom prst="roundRect">
            <a:avLst>
              <a:gd name="adj" fmla="val 10000"/>
            </a:avLst>
          </a:prstGeom>
          <a:solidFill>
            <a:srgbClr val="FFFFFF"/>
          </a:solidFill>
          <a:ln/>
        </p:spPr>
      </p:sp>
      <p:sp>
        <p:nvSpPr>
          <p:cNvPr id="28" name="Text 21"/>
          <p:cNvSpPr/>
          <p:nvPr/>
        </p:nvSpPr>
        <p:spPr>
          <a:xfrm>
            <a:off x="777240" y="46177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RQ2</a:t>
            </a:r>
            <a:endParaRPr lang="en-US" sz="1600" dirty="0"/>
          </a:p>
        </p:txBody>
      </p:sp>
      <p:sp>
        <p:nvSpPr>
          <p:cNvPr id="29" name="Text 22"/>
          <p:cNvSpPr/>
          <p:nvPr/>
        </p:nvSpPr>
        <p:spPr>
          <a:xfrm>
            <a:off x="1828800" y="4480560"/>
            <a:ext cx="9585655"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Is a probability of 0.90 right about 90 times in 100? The floor uses the probability that Jev gives to its own answer.</a:t>
            </a:r>
            <a:endParaRPr lang="en-US" sz="1600" dirty="0"/>
          </a:p>
        </p:txBody>
      </p:sp>
      <p:sp>
        <p:nvSpPr>
          <p:cNvPr id="30" name="Shape 23"/>
          <p:cNvSpPr/>
          <p:nvPr/>
        </p:nvSpPr>
        <p:spPr>
          <a:xfrm>
            <a:off x="548640" y="5349240"/>
            <a:ext cx="11094415" cy="731520"/>
          </a:xfrm>
          <a:prstGeom prst="roundRect">
            <a:avLst>
              <a:gd name="adj" fmla="val 10000"/>
            </a:avLst>
          </a:prstGeom>
          <a:solidFill>
            <a:srgbClr val="FFFFFF"/>
          </a:solidFill>
          <a:ln/>
        </p:spPr>
      </p:sp>
      <p:sp>
        <p:nvSpPr>
          <p:cNvPr id="31" name="Text 24"/>
          <p:cNvSpPr/>
          <p:nvPr/>
        </p:nvSpPr>
        <p:spPr>
          <a:xfrm>
            <a:off x="777240" y="548640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RQ3</a:t>
            </a:r>
            <a:endParaRPr lang="en-US" sz="1600" dirty="0"/>
          </a:p>
        </p:txBody>
      </p:sp>
      <p:sp>
        <p:nvSpPr>
          <p:cNvPr id="32" name="Text 25"/>
          <p:cNvSpPr/>
          <p:nvPr/>
        </p:nvSpPr>
        <p:spPr>
          <a:xfrm>
            <a:off x="1828800" y="5349240"/>
            <a:ext cx="9585655"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If the classifier is wrong or an LLM reply lies, can the system still run an action that the rules forbid?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Result 1: labels are close; Jev is 25 times faster</a:t>
            </a:r>
            <a:endParaRPr lang="en-US" sz="3600" dirty="0"/>
          </a:p>
        </p:txBody>
      </p:sp>
      <p:sp>
        <p:nvSpPr>
          <p:cNvPr id="4" name="Shape 1"/>
          <p:cNvSpPr/>
          <p:nvPr/>
        </p:nvSpPr>
        <p:spPr>
          <a:xfrm>
            <a:off x="548640" y="1508760"/>
            <a:ext cx="731520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183880" y="1508760"/>
            <a:ext cx="3459175" cy="1371600"/>
          </a:xfrm>
          <a:prstGeom prst="roundRect">
            <a:avLst>
              <a:gd name="adj" fmla="val 5333"/>
            </a:avLst>
          </a:prstGeom>
          <a:solidFill>
            <a:srgbClr val="FFFFFF"/>
          </a:solidFill>
          <a:ln/>
        </p:spPr>
      </p:sp>
      <p:sp>
        <p:nvSpPr>
          <p:cNvPr id="7" name="Shape 3"/>
          <p:cNvSpPr/>
          <p:nvPr/>
        </p:nvSpPr>
        <p:spPr>
          <a:xfrm>
            <a:off x="8458200" y="1764792"/>
            <a:ext cx="685800" cy="685800"/>
          </a:xfrm>
          <a:prstGeom prst="ellipse">
            <a:avLst/>
          </a:prstGeom>
          <a:solidFill>
            <a:srgbClr val="2F5F98"/>
          </a:solidFill>
          <a:ln w="12700">
            <a:solidFill>
              <a:srgbClr val="2F5F98"/>
            </a:solidFill>
            <a:prstDash val="solid"/>
          </a:ln>
        </p:spPr>
      </p:sp>
      <p:pic>
        <p:nvPicPr>
          <p:cNvPr id="8" name="Image 0" descr="preencoded.png">    </p:cNvPr>
          <p:cNvPicPr>
            <a:picLocks noChangeAspect="1"/>
          </p:cNvPicPr>
          <p:nvPr/>
        </p:nvPicPr>
        <p:blipFill>
          <a:blip r:embed="rId2"/>
          <a:stretch>
            <a:fillRect/>
          </a:stretch>
        </p:blipFill>
        <p:spPr>
          <a:xfrm>
            <a:off x="8609076" y="1915668"/>
            <a:ext cx="384048" cy="384048"/>
          </a:xfrm>
          <a:prstGeom prst="rect">
            <a:avLst/>
          </a:prstGeom>
        </p:spPr>
      </p:pic>
      <p:sp>
        <p:nvSpPr>
          <p:cNvPr id="9" name="Text 4"/>
          <p:cNvSpPr/>
          <p:nvPr/>
        </p:nvSpPr>
        <p:spPr>
          <a:xfrm>
            <a:off x="9372600" y="1691640"/>
            <a:ext cx="2087575" cy="868680"/>
          </a:xfrm>
          <a:prstGeom prst="rect">
            <a:avLst/>
          </a:prstGeom>
          <a:noFill/>
          <a:ln/>
        </p:spPr>
        <p:txBody>
          <a:bodyPr wrap="square" lIns="0" tIns="0" rIns="0" bIns="0" rtlCol="0" anchor="ctr"/>
          <a:lstStyle/>
          <a:p>
            <a:pPr algn="l" indent="0" marL="0">
              <a:buNone/>
            </a:pPr>
            <a:r>
              <a:rPr lang="en-US" sz="3400" b="1" dirty="0">
                <a:solidFill>
                  <a:srgbClr val="2F5F98"/>
                </a:solidFill>
                <a:latin typeface="Calibri" pitchFamily="34" charset="0"/>
                <a:ea typeface="Calibri" pitchFamily="34" charset="-122"/>
                <a:cs typeface="Calibri" pitchFamily="34" charset="-120"/>
              </a:rPr>
              <a:t>0.25 s</a:t>
            </a:r>
            <a:endParaRPr lang="en-US" sz="3400" dirty="0"/>
          </a:p>
        </p:txBody>
      </p:sp>
      <p:sp>
        <p:nvSpPr>
          <p:cNvPr id="10" name="Text 5"/>
          <p:cNvSpPr/>
          <p:nvPr/>
        </p:nvSpPr>
        <p:spPr>
          <a:xfrm>
            <a:off x="8458200" y="2496312"/>
            <a:ext cx="2910535" cy="292608"/>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median time per classifier call</a:t>
            </a:r>
            <a:endParaRPr lang="en-US" sz="1500" dirty="0"/>
          </a:p>
        </p:txBody>
      </p:sp>
      <p:sp>
        <p:nvSpPr>
          <p:cNvPr id="11" name="Shape 6"/>
          <p:cNvSpPr/>
          <p:nvPr/>
        </p:nvSpPr>
        <p:spPr>
          <a:xfrm>
            <a:off x="8183880" y="3063240"/>
            <a:ext cx="3459175" cy="1371600"/>
          </a:xfrm>
          <a:prstGeom prst="roundRect">
            <a:avLst>
              <a:gd name="adj" fmla="val 5333"/>
            </a:avLst>
          </a:prstGeom>
          <a:solidFill>
            <a:srgbClr val="FFFFFF"/>
          </a:solidFill>
          <a:ln/>
        </p:spPr>
      </p:sp>
      <p:sp>
        <p:nvSpPr>
          <p:cNvPr id="12" name="Shape 7"/>
          <p:cNvSpPr/>
          <p:nvPr/>
        </p:nvSpPr>
        <p:spPr>
          <a:xfrm>
            <a:off x="8458200" y="3319272"/>
            <a:ext cx="685800" cy="68580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3"/>
          <a:stretch>
            <a:fillRect/>
          </a:stretch>
        </p:blipFill>
        <p:spPr>
          <a:xfrm>
            <a:off x="8609076" y="3470148"/>
            <a:ext cx="384048" cy="384048"/>
          </a:xfrm>
          <a:prstGeom prst="rect">
            <a:avLst/>
          </a:prstGeom>
        </p:spPr>
      </p:pic>
      <p:sp>
        <p:nvSpPr>
          <p:cNvPr id="14" name="Text 8"/>
          <p:cNvSpPr/>
          <p:nvPr/>
        </p:nvSpPr>
        <p:spPr>
          <a:xfrm>
            <a:off x="9372600" y="3246120"/>
            <a:ext cx="2087575" cy="868680"/>
          </a:xfrm>
          <a:prstGeom prst="rect">
            <a:avLst/>
          </a:prstGeom>
          <a:noFill/>
          <a:ln/>
        </p:spPr>
        <p:txBody>
          <a:bodyPr wrap="square" lIns="0" tIns="0" rIns="0" bIns="0" rtlCol="0" anchor="ctr"/>
          <a:lstStyle/>
          <a:p>
            <a:pPr algn="l" indent="0" marL="0">
              <a:buNone/>
            </a:pPr>
            <a:r>
              <a:rPr lang="en-US" sz="3400" b="1" dirty="0">
                <a:solidFill>
                  <a:srgbClr val="5F6B7A"/>
                </a:solidFill>
                <a:latin typeface="Calibri" pitchFamily="34" charset="0"/>
                <a:ea typeface="Calibri" pitchFamily="34" charset="-122"/>
                <a:cs typeface="Calibri" pitchFamily="34" charset="-120"/>
              </a:rPr>
              <a:t>6.13 s</a:t>
            </a:r>
            <a:endParaRPr lang="en-US" sz="3400" dirty="0"/>
          </a:p>
        </p:txBody>
      </p:sp>
      <p:sp>
        <p:nvSpPr>
          <p:cNvPr id="15" name="Text 9"/>
          <p:cNvSpPr/>
          <p:nvPr/>
        </p:nvSpPr>
        <p:spPr>
          <a:xfrm>
            <a:off x="8458200" y="4050792"/>
            <a:ext cx="2910535" cy="292608"/>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LLM, median time per classifier call</a:t>
            </a:r>
            <a:endParaRPr lang="en-US" sz="1500" dirty="0"/>
          </a:p>
        </p:txBody>
      </p:sp>
      <p:sp>
        <p:nvSpPr>
          <p:cNvPr id="16" name="Shape 10"/>
          <p:cNvSpPr/>
          <p:nvPr/>
        </p:nvSpPr>
        <p:spPr>
          <a:xfrm>
            <a:off x="8183880" y="4617720"/>
            <a:ext cx="3459175" cy="1371600"/>
          </a:xfrm>
          <a:prstGeom prst="roundRect">
            <a:avLst>
              <a:gd name="adj" fmla="val 5333"/>
            </a:avLst>
          </a:prstGeom>
          <a:solidFill>
            <a:srgbClr val="FFFFFF"/>
          </a:solidFill>
          <a:ln/>
        </p:spPr>
      </p:sp>
      <p:sp>
        <p:nvSpPr>
          <p:cNvPr id="17" name="Shape 11"/>
          <p:cNvSpPr/>
          <p:nvPr/>
        </p:nvSpPr>
        <p:spPr>
          <a:xfrm>
            <a:off x="8458200" y="4873752"/>
            <a:ext cx="685800" cy="68580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4"/>
          <a:stretch>
            <a:fillRect/>
          </a:stretch>
        </p:blipFill>
        <p:spPr>
          <a:xfrm>
            <a:off x="8609076" y="5024628"/>
            <a:ext cx="384048" cy="384048"/>
          </a:xfrm>
          <a:prstGeom prst="rect">
            <a:avLst/>
          </a:prstGeom>
        </p:spPr>
      </p:pic>
      <p:sp>
        <p:nvSpPr>
          <p:cNvPr id="19" name="Text 12"/>
          <p:cNvSpPr/>
          <p:nvPr/>
        </p:nvSpPr>
        <p:spPr>
          <a:xfrm>
            <a:off x="9372600" y="4800600"/>
            <a:ext cx="2087575" cy="868680"/>
          </a:xfrm>
          <a:prstGeom prst="rect">
            <a:avLst/>
          </a:prstGeom>
          <a:noFill/>
          <a:ln/>
        </p:spPr>
        <p:txBody>
          <a:bodyPr wrap="square" lIns="0" tIns="0" rIns="0" bIns="0" rtlCol="0" anchor="ctr"/>
          <a:lstStyle/>
          <a:p>
            <a:pPr algn="l" indent="0" marL="0">
              <a:buNone/>
            </a:pPr>
            <a:r>
              <a:rPr lang="en-US" sz="3400" b="1" dirty="0">
                <a:solidFill>
                  <a:srgbClr val="2F5F98"/>
                </a:solidFill>
                <a:latin typeface="Calibri" pitchFamily="34" charset="0"/>
                <a:ea typeface="Calibri" pitchFamily="34" charset="-122"/>
                <a:cs typeface="Calibri" pitchFamily="34" charset="-120"/>
              </a:rPr>
              <a:t>0 and 1</a:t>
            </a:r>
            <a:endParaRPr lang="en-US" sz="3400" dirty="0"/>
          </a:p>
        </p:txBody>
      </p:sp>
      <p:sp>
        <p:nvSpPr>
          <p:cNvPr id="20" name="Text 13"/>
          <p:cNvSpPr/>
          <p:nvPr/>
        </p:nvSpPr>
        <p:spPr>
          <a:xfrm>
            <a:off x="8458200" y="5605272"/>
            <a:ext cx="2910535" cy="292608"/>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invalid answers (Jev, LLM)</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Result 2: Jev made no silent error; the sample is small</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291840"/>
                <a:gridCol w="1737360"/>
                <a:gridCol w="1554480"/>
                <a:gridCol w="1188720"/>
                <a:gridCol w="1645920"/>
                <a:gridCol w="1676095"/>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Sent to a person</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Silent errors</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Harmful</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Machine time</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time</a:t>
                      </a:r>
                      <a:endParaRPr lang="en-US" sz="15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r>
              <a:tr h="438912">
                <a:tc>
                  <a:txBody>
                    <a:bodyPr/>
                    <a:lstStyle/>
                    <a:p>
                      <a:pPr algn="l" indent="0" marL="0">
                        <a:buNone/>
                      </a:pPr>
                      <a:r>
                        <a:rPr lang="en-US" sz="1600" b="1" dirty="0">
                          <a:solidFill>
                            <a:srgbClr val="2B3440"/>
                          </a:solidFill>
                          <a:latin typeface="Calibri" pitchFamily="34" charset="0"/>
                          <a:ea typeface="Calibri" pitchFamily="34" charset="-122"/>
                          <a:cs typeface="Calibri" pitchFamily="34" charset="-120"/>
                        </a:rPr>
                        <a:t>All to a person</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90.0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38912">
                <a:tc>
                  <a:txBody>
                    <a:bodyPr/>
                    <a:lstStyle/>
                    <a:p>
                      <a:pPr algn="l" indent="0" marL="0">
                        <a:buNone/>
                      </a:pPr>
                      <a:r>
                        <a:rPr lang="en-US" sz="1600" b="1" dirty="0">
                          <a:solidFill>
                            <a:srgbClr val="2B3440"/>
                          </a:solidFill>
                          <a:latin typeface="Calibri" pitchFamily="34" charset="0"/>
                          <a:ea typeface="Calibri" pitchFamily="34" charset="-122"/>
                          <a:cs typeface="Calibri" pitchFamily="34" charset="-120"/>
                        </a:rPr>
                        <a:t>LLM-classifier system</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36.9%</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10.63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43.84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38912">
                <a:tc>
                  <a:txBody>
                    <a:bodyPr/>
                    <a:lstStyle/>
                    <a:p>
                      <a:pPr algn="l" indent="0" marL="0">
                        <a:buNone/>
                      </a:pPr>
                      <a:r>
                        <a:rPr lang="en-US" sz="1600" b="1" dirty="0">
                          <a:solidFill>
                            <a:srgbClr val="2B3440"/>
                          </a:solidFill>
                          <a:latin typeface="Calibri" pitchFamily="34" charset="0"/>
                          <a:ea typeface="Calibri" pitchFamily="34" charset="-122"/>
                          <a:cs typeface="Calibri" pitchFamily="34" charset="-120"/>
                        </a:rPr>
                        <a:t>Jev system (floor 0.70)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41.7%</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2.65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40.15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38912">
                <a:tc>
                  <a:txBody>
                    <a:bodyPr/>
                    <a:lstStyle/>
                    <a:p>
                      <a:pPr algn="l" indent="0" marL="0">
                        <a:buNone/>
                      </a:pPr>
                      <a:r>
                        <a:rPr lang="en-US" sz="1600" b="1" dirty="0">
                          <a:solidFill>
                            <a:srgbClr val="2B3440"/>
                          </a:solidFill>
                          <a:latin typeface="Calibri" pitchFamily="34" charset="0"/>
                          <a:ea typeface="Calibri" pitchFamily="34" charset="-122"/>
                          <a:cs typeface="Calibri" pitchFamily="34" charset="-120"/>
                        </a:rPr>
                        <a:t>Jev without the floor</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35.7%</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2.86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B3440"/>
                          </a:solidFill>
                          <a:latin typeface="Calibri" pitchFamily="34" charset="0"/>
                          <a:ea typeface="Calibri" pitchFamily="34" charset="-122"/>
                          <a:cs typeface="Calibri" pitchFamily="34" charset="-120"/>
                        </a:rPr>
                        <a:t>35.00 s</a:t>
                      </a:r>
                      <a:endParaRPr lang="en-US" sz="1600" dirty="0">
                        <a:latin typeface="Calibri" charset="0"/>
                        <a:ea typeface="Calibri" charset="0"/>
                        <a:cs typeface="Calibri" charset="0"/>
                      </a:endParaRPr>
                    </a:p>
                  </a:txBody>
                  <a:tcPr marL="109728" marR="109728"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3931920"/>
            <a:ext cx="3515258" cy="1783080"/>
          </a:xfrm>
          <a:prstGeom prst="roundRect">
            <a:avLst>
              <a:gd name="adj" fmla="val 4103"/>
            </a:avLst>
          </a:prstGeom>
          <a:solidFill>
            <a:srgbClr val="FFFFFF"/>
          </a:solidFill>
          <a:ln/>
        </p:spPr>
      </p:sp>
      <p:sp>
        <p:nvSpPr>
          <p:cNvPr id="6" name="Shape 2"/>
          <p:cNvSpPr/>
          <p:nvPr/>
        </p:nvSpPr>
        <p:spPr>
          <a:xfrm>
            <a:off x="822960" y="41879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4338828"/>
            <a:ext cx="384048" cy="384048"/>
          </a:xfrm>
          <a:prstGeom prst="rect">
            <a:avLst/>
          </a:prstGeom>
        </p:spPr>
      </p:pic>
      <p:sp>
        <p:nvSpPr>
          <p:cNvPr id="8" name="Text 3"/>
          <p:cNvSpPr/>
          <p:nvPr/>
        </p:nvSpPr>
        <p:spPr>
          <a:xfrm>
            <a:off x="1737360" y="4114800"/>
            <a:ext cx="2143658" cy="868680"/>
          </a:xfrm>
          <a:prstGeom prst="rect">
            <a:avLst/>
          </a:prstGeom>
          <a:noFill/>
          <a:ln/>
        </p:spPr>
        <p:txBody>
          <a:bodyPr wrap="square" lIns="0" tIns="0" rIns="0" bIns="0" rtlCol="0" anchor="ctr"/>
          <a:lstStyle/>
          <a:p>
            <a:pPr algn="l" indent="0" marL="0">
              <a:buNone/>
            </a:pPr>
            <a:r>
              <a:rPr lang="en-US" sz="3600" b="1" dirty="0">
                <a:solidFill>
                  <a:srgbClr val="2F5F98"/>
                </a:solidFill>
                <a:latin typeface="Calibri" pitchFamily="34" charset="0"/>
                <a:ea typeface="Calibri" pitchFamily="34" charset="-122"/>
                <a:cs typeface="Calibri" pitchFamily="34" charset="-120"/>
              </a:rPr>
              <a:t>0 vs 2</a:t>
            </a:r>
            <a:endParaRPr lang="en-US" sz="3600" dirty="0"/>
          </a:p>
        </p:txBody>
      </p:sp>
      <p:sp>
        <p:nvSpPr>
          <p:cNvPr id="9" name="Text 4"/>
          <p:cNvSpPr/>
          <p:nvPr/>
        </p:nvSpPr>
        <p:spPr>
          <a:xfrm>
            <a:off x="822960" y="512064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silent errors (Jev, LLM); none harmful; sign test p = 0.5</a:t>
            </a:r>
            <a:endParaRPr lang="en-US" sz="1500" dirty="0"/>
          </a:p>
        </p:txBody>
      </p:sp>
      <p:sp>
        <p:nvSpPr>
          <p:cNvPr id="10" name="Shape 5"/>
          <p:cNvSpPr/>
          <p:nvPr/>
        </p:nvSpPr>
        <p:spPr>
          <a:xfrm>
            <a:off x="4338218" y="3931920"/>
            <a:ext cx="3515258" cy="1783080"/>
          </a:xfrm>
          <a:prstGeom prst="roundRect">
            <a:avLst>
              <a:gd name="adj" fmla="val 4103"/>
            </a:avLst>
          </a:prstGeom>
          <a:solidFill>
            <a:srgbClr val="FFFFFF"/>
          </a:solidFill>
          <a:ln/>
        </p:spPr>
      </p:sp>
      <p:sp>
        <p:nvSpPr>
          <p:cNvPr id="11" name="Shape 6"/>
          <p:cNvSpPr/>
          <p:nvPr/>
        </p:nvSpPr>
        <p:spPr>
          <a:xfrm>
            <a:off x="4612538" y="41879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63414" y="4338828"/>
            <a:ext cx="384048" cy="384048"/>
          </a:xfrm>
          <a:prstGeom prst="rect">
            <a:avLst/>
          </a:prstGeom>
        </p:spPr>
      </p:pic>
      <p:sp>
        <p:nvSpPr>
          <p:cNvPr id="13" name="Text 7"/>
          <p:cNvSpPr/>
          <p:nvPr/>
        </p:nvSpPr>
        <p:spPr>
          <a:xfrm>
            <a:off x="5526938" y="4114800"/>
            <a:ext cx="2143658" cy="868680"/>
          </a:xfrm>
          <a:prstGeom prst="rect">
            <a:avLst/>
          </a:prstGeom>
          <a:noFill/>
          <a:ln/>
        </p:spPr>
        <p:txBody>
          <a:bodyPr wrap="square" lIns="0" tIns="0" rIns="0" bIns="0" rtlCol="0" anchor="ctr"/>
          <a:lstStyle/>
          <a:p>
            <a:pPr algn="l" indent="0" marL="0">
              <a:buNone/>
            </a:pPr>
            <a:r>
              <a:rPr lang="en-US" sz="3600" b="1" dirty="0">
                <a:solidFill>
                  <a:srgbClr val="2F5F98"/>
                </a:solidFill>
                <a:latin typeface="Calibri" pitchFamily="34" charset="0"/>
                <a:ea typeface="Calibri" pitchFamily="34" charset="-122"/>
                <a:cs typeface="Calibri" pitchFamily="34" charset="-120"/>
              </a:rPr>
              <a:t>2.65 s</a:t>
            </a:r>
            <a:endParaRPr lang="en-US" sz="3600" dirty="0"/>
          </a:p>
        </p:txBody>
      </p:sp>
      <p:sp>
        <p:nvSpPr>
          <p:cNvPr id="14" name="Text 8"/>
          <p:cNvSpPr/>
          <p:nvPr/>
        </p:nvSpPr>
        <p:spPr>
          <a:xfrm>
            <a:off x="4612538" y="512064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machine time per request with Jev, against 10.63 s for the LLM system</a:t>
            </a:r>
            <a:endParaRPr lang="en-US" sz="1500" dirty="0"/>
          </a:p>
        </p:txBody>
      </p:sp>
      <p:sp>
        <p:nvSpPr>
          <p:cNvPr id="15" name="Shape 9"/>
          <p:cNvSpPr/>
          <p:nvPr/>
        </p:nvSpPr>
        <p:spPr>
          <a:xfrm>
            <a:off x="8127797" y="3931920"/>
            <a:ext cx="3515258" cy="1783080"/>
          </a:xfrm>
          <a:prstGeom prst="roundRect">
            <a:avLst>
              <a:gd name="adj" fmla="val 4103"/>
            </a:avLst>
          </a:prstGeom>
          <a:solidFill>
            <a:srgbClr val="FFFFFF"/>
          </a:solidFill>
          <a:ln/>
        </p:spPr>
      </p:sp>
      <p:sp>
        <p:nvSpPr>
          <p:cNvPr id="16" name="Shape 10"/>
          <p:cNvSpPr/>
          <p:nvPr/>
        </p:nvSpPr>
        <p:spPr>
          <a:xfrm>
            <a:off x="8402117" y="41879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8552993" y="4338828"/>
            <a:ext cx="384048" cy="384048"/>
          </a:xfrm>
          <a:prstGeom prst="rect">
            <a:avLst/>
          </a:prstGeom>
        </p:spPr>
      </p:pic>
      <p:sp>
        <p:nvSpPr>
          <p:cNvPr id="18" name="Text 11"/>
          <p:cNvSpPr/>
          <p:nvPr/>
        </p:nvSpPr>
        <p:spPr>
          <a:xfrm>
            <a:off x="9316517" y="4114800"/>
            <a:ext cx="2143658" cy="868680"/>
          </a:xfrm>
          <a:prstGeom prst="rect">
            <a:avLst/>
          </a:prstGeom>
          <a:noFill/>
          <a:ln/>
        </p:spPr>
        <p:txBody>
          <a:bodyPr wrap="square" lIns="0" tIns="0" rIns="0" bIns="0" rtlCol="0" anchor="ctr"/>
          <a:lstStyle/>
          <a:p>
            <a:pPr algn="l" indent="0" marL="0">
              <a:buNone/>
            </a:pPr>
            <a:r>
              <a:rPr lang="en-US" sz="3600" b="1" dirty="0">
                <a:solidFill>
                  <a:srgbClr val="2F5F98"/>
                </a:solidFill>
                <a:latin typeface="Calibri" pitchFamily="34" charset="0"/>
                <a:ea typeface="Calibri" pitchFamily="34" charset="-122"/>
                <a:cs typeface="Calibri" pitchFamily="34" charset="-120"/>
              </a:rPr>
              <a:t>+6.0 pts</a:t>
            </a:r>
            <a:endParaRPr lang="en-US" sz="3600" dirty="0"/>
          </a:p>
        </p:txBody>
      </p:sp>
      <p:sp>
        <p:nvSpPr>
          <p:cNvPr id="19" name="Text 12"/>
          <p:cNvSpPr/>
          <p:nvPr/>
        </p:nvSpPr>
        <p:spPr>
          <a:xfrm>
            <a:off x="8402117" y="512064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person rate from the floor (3 reads not needed); 2 Jev errors removed</a:t>
            </a:r>
            <a:endParaRPr lang="en-US" sz="1500" dirty="0"/>
          </a:p>
        </p:txBody>
      </p:sp>
      <p:sp>
        <p:nvSpPr>
          <p:cNvPr id="20" name="Text 13"/>
          <p:cNvSpPr/>
          <p:nvPr/>
        </p:nvSpPr>
        <p:spPr>
          <a:xfrm>
            <a:off x="548640" y="5852160"/>
            <a:ext cx="10362895" cy="5029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LLM errors: R0022 (a render question put in a queue), R0164 (a mixed billing and render request answered by text). Jev without the floor: R0162, R0164. Only about 21 distinct cases. The LLM reports no confidence, so a floor cannot apply to it.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Result 3: forged requests never ran an unsafe action</a:t>
            </a:r>
            <a:endParaRPr lang="en-US" sz="3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383280"/>
                <a:gridCol w="914400"/>
                <a:gridCol w="731520"/>
                <a:gridCol w="1005840"/>
                <a:gridCol w="914400"/>
              </a:tblGrid>
              <a:tr h="6400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Forged case</a:t>
                      </a:r>
                      <a:endParaRPr lang="en-US" sz="14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Cases</a:t>
                      </a:r>
                      <a:endParaRPr lang="en-US" sz="14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Unsafe</a:t>
                      </a:r>
                      <a:endParaRPr lang="en-US" sz="14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Blocked at step 5</a:t>
                      </a:r>
                      <a:endParaRPr lang="en-US" sz="14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To a person</a:t>
                      </a:r>
                      <a:endParaRPr lang="en-US" sz="14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2F5F98"/>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A teammate asks for a refund or a deletion</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144</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144</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The text names another customer</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A charge that the bank has not settled</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The same state change sent twice</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A refund that the written rules deny</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A rule asks for a person: path C, nothing runs</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B3440"/>
                          </a:solidFill>
                          <a:latin typeface="Calibri" pitchFamily="34" charset="0"/>
                          <a:ea typeface="Calibri" pitchFamily="34" charset="-122"/>
                          <a:cs typeface="Calibri" pitchFamily="34" charset="-120"/>
                        </a:rPr>
                        <a:t>A lying reply (separate text check)</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B344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27432" marB="27432" anchor="ctr">
                    <a:lnL w="12700" cap="flat" cmpd="sng" algn="ctr">
                      <a:solidFill>
                        <a:srgbClr val="C5D0DC"/>
                      </a:solidFill>
                      <a:prstDash val="solid"/>
                      <a:round/>
                      <a:headEnd type="none" w="med" len="med"/>
                      <a:tailEnd type="none" w="med" len="med"/>
                    </a:lnL>
                    <a:lnR w="12700" cap="flat" cmpd="sng" algn="ctr">
                      <a:solidFill>
                        <a:srgbClr val="C5D0DC"/>
                      </a:solidFill>
                      <a:prstDash val="solid"/>
                      <a:round/>
                      <a:headEnd type="none" w="med" len="med"/>
                      <a:tailEnd type="none" w="med" len="med"/>
                    </a:lnR>
                    <a:lnT w="12700" cap="flat" cmpd="sng" algn="ctr">
                      <a:solidFill>
                        <a:srgbClr val="C5D0DC"/>
                      </a:solidFill>
                      <a:prstDash val="solid"/>
                      <a:round/>
                      <a:headEnd type="none" w="med" len="med"/>
                      <a:tailEnd type="none" w="med" len="med"/>
                    </a:lnT>
                    <a:lnB w="12700" cap="flat" cmpd="sng" algn="ctr">
                      <a:solidFill>
                        <a:srgbClr val="C5D0DC"/>
                      </a:solidFill>
                      <a:prstDash val="solid"/>
                      <a:round/>
                      <a:headEnd type="none" w="med" len="med"/>
                      <a:tailEnd type="none" w="med" len="med"/>
                    </a:lnB>
                    <a:solidFill>
                      <a:srgbClr val="FFFFFF"/>
                    </a:solidFill>
                  </a:tcPr>
                </a:tc>
              </a:tr>
            </a:tbl>
          </a:graphicData>
        </a:graphic>
      </p:graphicFrame>
      <p:sp>
        <p:nvSpPr>
          <p:cNvPr id="5" name="Shape 1"/>
          <p:cNvSpPr/>
          <p:nvPr/>
        </p:nvSpPr>
        <p:spPr>
          <a:xfrm>
            <a:off x="7818120" y="1508760"/>
            <a:ext cx="3824935" cy="2103120"/>
          </a:xfrm>
          <a:prstGeom prst="roundRect">
            <a:avLst>
              <a:gd name="adj" fmla="val 3478"/>
            </a:avLst>
          </a:prstGeom>
          <a:solidFill>
            <a:srgbClr val="FFFFFF"/>
          </a:solidFill>
          <a:ln/>
        </p:spPr>
      </p:sp>
      <p:sp>
        <p:nvSpPr>
          <p:cNvPr id="6" name="Shape 2"/>
          <p:cNvSpPr/>
          <p:nvPr/>
        </p:nvSpPr>
        <p:spPr>
          <a:xfrm>
            <a:off x="8092440" y="176479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8243316" y="1915668"/>
            <a:ext cx="384048" cy="384048"/>
          </a:xfrm>
          <a:prstGeom prst="rect">
            <a:avLst/>
          </a:prstGeom>
        </p:spPr>
      </p:pic>
      <p:sp>
        <p:nvSpPr>
          <p:cNvPr id="8" name="Text 3"/>
          <p:cNvSpPr/>
          <p:nvPr/>
        </p:nvSpPr>
        <p:spPr>
          <a:xfrm>
            <a:off x="9006840" y="1691640"/>
            <a:ext cx="2453335" cy="868680"/>
          </a:xfrm>
          <a:prstGeom prst="rect">
            <a:avLst/>
          </a:prstGeom>
          <a:noFill/>
          <a:ln/>
        </p:spPr>
        <p:txBody>
          <a:bodyPr wrap="square" lIns="0" tIns="0" rIns="0" bIns="0" rtlCol="0" anchor="ctr"/>
          <a:lstStyle/>
          <a:p>
            <a:pPr algn="l" indent="0" marL="0">
              <a:buNone/>
            </a:pPr>
            <a:r>
              <a:rPr lang="en-US" sz="3400" b="1" dirty="0">
                <a:solidFill>
                  <a:srgbClr val="2F5F98"/>
                </a:solidFill>
                <a:latin typeface="Calibri" pitchFamily="34" charset="0"/>
                <a:ea typeface="Calibri" pitchFamily="34" charset="-122"/>
                <a:cs typeface="Calibri" pitchFamily="34" charset="-120"/>
              </a:rPr>
              <a:t>365 / 365</a:t>
            </a:r>
            <a:endParaRPr lang="en-US" sz="3400" dirty="0"/>
          </a:p>
        </p:txBody>
      </p:sp>
      <p:sp>
        <p:nvSpPr>
          <p:cNvPr id="9" name="Text 4"/>
          <p:cNvSpPr/>
          <p:nvPr/>
        </p:nvSpPr>
        <p:spPr>
          <a:xfrm>
            <a:off x="8092440" y="2697480"/>
            <a:ext cx="3276295" cy="82296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365 action cases: 264 blocked, 101 to a support agent. The 72 reply-text cases are separate.</a:t>
            </a:r>
            <a:endParaRPr lang="en-US" sz="1500" dirty="0"/>
          </a:p>
        </p:txBody>
      </p:sp>
      <p:sp>
        <p:nvSpPr>
          <p:cNvPr id="10" name="Shape 5"/>
          <p:cNvSpPr/>
          <p:nvPr/>
        </p:nvSpPr>
        <p:spPr>
          <a:xfrm>
            <a:off x="7818120" y="3794760"/>
            <a:ext cx="3824935" cy="2103120"/>
          </a:xfrm>
          <a:prstGeom prst="roundRect">
            <a:avLst>
              <a:gd name="adj" fmla="val 3478"/>
            </a:avLst>
          </a:prstGeom>
          <a:solidFill>
            <a:srgbClr val="FFFFFF"/>
          </a:solidFill>
          <a:ln/>
        </p:spPr>
      </p:sp>
      <p:sp>
        <p:nvSpPr>
          <p:cNvPr id="11" name="Shape 6"/>
          <p:cNvSpPr/>
          <p:nvPr/>
        </p:nvSpPr>
        <p:spPr>
          <a:xfrm>
            <a:off x="8092440" y="4050792"/>
            <a:ext cx="685800" cy="685800"/>
          </a:xfrm>
          <a:prstGeom prst="ellipse">
            <a:avLst/>
          </a:prstGeom>
          <a:solidFill>
            <a:srgbClr val="5F6B7A"/>
          </a:solidFill>
          <a:ln w="12700">
            <a:solidFill>
              <a:srgbClr val="5F6B7A"/>
            </a:solidFill>
            <a:prstDash val="solid"/>
          </a:ln>
        </p:spPr>
      </p:sp>
      <p:pic>
        <p:nvPicPr>
          <p:cNvPr id="12" name="Image 1" descr="preencoded.png">    </p:cNvPr>
          <p:cNvPicPr>
            <a:picLocks noChangeAspect="1"/>
          </p:cNvPicPr>
          <p:nvPr/>
        </p:nvPicPr>
        <p:blipFill>
          <a:blip r:embed="rId2"/>
          <a:stretch>
            <a:fillRect/>
          </a:stretch>
        </p:blipFill>
        <p:spPr>
          <a:xfrm>
            <a:off x="8243316" y="4201668"/>
            <a:ext cx="384048" cy="384048"/>
          </a:xfrm>
          <a:prstGeom prst="rect">
            <a:avLst/>
          </a:prstGeom>
        </p:spPr>
      </p:pic>
      <p:sp>
        <p:nvSpPr>
          <p:cNvPr id="13" name="Text 7"/>
          <p:cNvSpPr/>
          <p:nvPr/>
        </p:nvSpPr>
        <p:spPr>
          <a:xfrm>
            <a:off x="9006840" y="3977640"/>
            <a:ext cx="2453335" cy="868680"/>
          </a:xfrm>
          <a:prstGeom prst="rect">
            <a:avLst/>
          </a:prstGeom>
          <a:noFill/>
          <a:ln/>
        </p:spPr>
        <p:txBody>
          <a:bodyPr wrap="square" lIns="0" tIns="0" rIns="0" bIns="0" rtlCol="0" anchor="ctr"/>
          <a:lstStyle/>
          <a:p>
            <a:pPr algn="l" indent="0" marL="0">
              <a:buNone/>
            </a:pPr>
            <a:r>
              <a:rPr lang="en-US" sz="3400" b="1" dirty="0">
                <a:solidFill>
                  <a:srgbClr val="1B365D"/>
                </a:solidFill>
                <a:latin typeface="Calibri" pitchFamily="34" charset="0"/>
                <a:ea typeface="Calibri" pitchFamily="34" charset="-122"/>
                <a:cs typeface="Calibri" pitchFamily="34" charset="-120"/>
              </a:rPr>
              <a:t>52 and 53</a:t>
            </a:r>
            <a:endParaRPr lang="en-US" sz="3400" dirty="0"/>
          </a:p>
        </p:txBody>
      </p:sp>
      <p:sp>
        <p:nvSpPr>
          <p:cNvPr id="14" name="Text 8"/>
          <p:cNvSpPr/>
          <p:nvPr/>
        </p:nvSpPr>
        <p:spPr>
          <a:xfrm>
            <a:off x="8092440" y="4983480"/>
            <a:ext cx="3276295" cy="82296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of 84 final results would be wrong without the rules and the flags (Jev, LLM)</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3EAF2"/>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Limits and future work</a:t>
            </a:r>
            <a:endParaRPr lang="en-US" sz="3600" dirty="0"/>
          </a:p>
        </p:txBody>
      </p:sp>
      <p:sp>
        <p:nvSpPr>
          <p:cNvPr id="4" name="Shape 1"/>
          <p:cNvSpPr/>
          <p:nvPr/>
        </p:nvSpPr>
        <p:spPr>
          <a:xfrm>
            <a:off x="548640" y="1508760"/>
            <a:ext cx="6309360" cy="4663440"/>
          </a:xfrm>
          <a:prstGeom prst="roundRect">
            <a:avLst>
              <a:gd name="adj" fmla="val 1569"/>
            </a:avLst>
          </a:prstGeom>
          <a:solidFill>
            <a:srgbClr val="FFFFFF"/>
          </a:solidFill>
          <a:ln/>
        </p:spPr>
      </p:sp>
      <p:sp>
        <p:nvSpPr>
          <p:cNvPr id="5" name="Shape 2"/>
          <p:cNvSpPr/>
          <p:nvPr/>
        </p:nvSpPr>
        <p:spPr>
          <a:xfrm>
            <a:off x="868680" y="1737360"/>
            <a:ext cx="640080" cy="64008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7" name="Text 3"/>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8" name="Text 4"/>
          <p:cNvSpPr/>
          <p:nvPr/>
        </p:nvSpPr>
        <p:spPr>
          <a:xfrm>
            <a:off x="868680" y="2560320"/>
            <a:ext cx="5669280" cy="34747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B3440"/>
                </a:solidFill>
                <a:latin typeface="Calibri" pitchFamily="34" charset="0"/>
                <a:ea typeface="Calibri" pitchFamily="34" charset="-122"/>
                <a:cs typeface="Calibri" pitchFamily="34" charset="-120"/>
              </a:rPr>
              <a:t>(a) 0 silent errors in 84 requests is not proof of zero: about 21 distinct cases; 95% upper bound 14% (3 of 21) or 3.6% (3 of 84)</a:t>
            </a:r>
            <a:endParaRPr lang="en-US" sz="1700" dirty="0"/>
          </a:p>
          <a:p>
            <a:pPr marL="342900" indent="-342900">
              <a:spcAft>
                <a:spcPts val="1000"/>
              </a:spcAft>
              <a:buSzPct val="100000"/>
              <a:buChar char="•"/>
            </a:pPr>
            <a:r>
              <a:rPr lang="en-US" sz="1700" dirty="0">
                <a:solidFill>
                  <a:srgbClr val="2B3440"/>
                </a:solidFill>
                <a:latin typeface="Calibri" pitchFamily="34" charset="0"/>
                <a:ea typeface="Calibri" pitchFamily="34" charset="-122"/>
                <a:cs typeface="Calibri" pitchFamily="34" charset="-120"/>
              </a:rPr>
              <a:t>(b) Definitions, help articles, and the 0.70 floor were set on the dev split; an earlier test run was seen, so the test is not a pure hold-out</a:t>
            </a:r>
            <a:endParaRPr lang="en-US" sz="1700" dirty="0"/>
          </a:p>
          <a:p>
            <a:pPr marL="342900" indent="-342900">
              <a:spcAft>
                <a:spcPts val="1000"/>
              </a:spcAft>
              <a:buSzPct val="100000"/>
              <a:buChar char="•"/>
            </a:pPr>
            <a:r>
              <a:rPr lang="en-US" sz="1700" dirty="0">
                <a:solidFill>
                  <a:srgbClr val="2B3440"/>
                </a:solidFill>
                <a:latin typeface="Calibri" pitchFamily="34" charset="0"/>
                <a:ea typeface="Calibri" pitchFamily="34" charset="-122"/>
                <a:cs typeface="Calibri" pitchFamily="34" charset="-120"/>
              </a:rPr>
              <a:t>(c) Two dev templates were reworded after the dev run, because both classifiers read them the other way from the gold label</a:t>
            </a:r>
            <a:endParaRPr lang="en-US" sz="1700" dirty="0"/>
          </a:p>
          <a:p>
            <a:pPr marL="342900" indent="-342900">
              <a:spcAft>
                <a:spcPts val="1000"/>
              </a:spcAft>
              <a:buSzPct val="100000"/>
              <a:buChar char="•"/>
            </a:pPr>
            <a:r>
              <a:rPr lang="en-US" sz="1700" dirty="0">
                <a:solidFill>
                  <a:srgbClr val="2B3440"/>
                </a:solidFill>
                <a:latin typeface="Calibri" pitchFamily="34" charset="0"/>
                <a:ea typeface="Calibri" pitchFamily="34" charset="-122"/>
                <a:cs typeface="Calibri" pitchFamily="34" charset="-120"/>
              </a:rPr>
              <a:t>Synthetic data, our own labels, an assumed 90 s per person, two hosted models</a:t>
            </a:r>
            <a:endParaRPr lang="en-US" sz="1700" dirty="0"/>
          </a:p>
        </p:txBody>
      </p:sp>
      <p:sp>
        <p:nvSpPr>
          <p:cNvPr id="9" name="Shape 5"/>
          <p:cNvSpPr/>
          <p:nvPr/>
        </p:nvSpPr>
        <p:spPr>
          <a:xfrm>
            <a:off x="7132320" y="1508760"/>
            <a:ext cx="4510735" cy="2606040"/>
          </a:xfrm>
          <a:prstGeom prst="roundRect">
            <a:avLst>
              <a:gd name="adj" fmla="val 2807"/>
            </a:avLst>
          </a:prstGeom>
          <a:solidFill>
            <a:srgbClr val="FFFFFF"/>
          </a:solidFill>
          <a:ln/>
        </p:spPr>
      </p:sp>
      <p:sp>
        <p:nvSpPr>
          <p:cNvPr id="10" name="Shape 6"/>
          <p:cNvSpPr/>
          <p:nvPr/>
        </p:nvSpPr>
        <p:spPr>
          <a:xfrm>
            <a:off x="7406640" y="1691640"/>
            <a:ext cx="548640" cy="548640"/>
          </a:xfrm>
          <a:prstGeom prst="ellipse">
            <a:avLst/>
          </a:prstGeom>
          <a:solidFill>
            <a:srgbClr val="5F6B7A"/>
          </a:solidFill>
          <a:ln w="12700">
            <a:solidFill>
              <a:srgbClr val="5F6B7A"/>
            </a:solidFill>
            <a:prstDash val="solid"/>
          </a:ln>
        </p:spPr>
      </p:sp>
      <p:pic>
        <p:nvPicPr>
          <p:cNvPr id="11"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2" name="Text 7"/>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Trade-offs</a:t>
            </a:r>
            <a:endParaRPr lang="en-US" sz="2200" dirty="0"/>
          </a:p>
        </p:txBody>
      </p:sp>
      <p:sp>
        <p:nvSpPr>
          <p:cNvPr id="13" name="Text 8"/>
          <p:cNvSpPr/>
          <p:nvPr/>
        </p:nvSpPr>
        <p:spPr>
          <a:xfrm>
            <a:off x="7406640" y="2377440"/>
            <a:ext cx="3962095"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(d) The floor: +6.0 points of person rate and 3 reads not needed, for 2 fewer silent errors; the LLM has no confidence, so no floor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(e) Jev is faster: 2.65 s against 10.63 s of machine time</a:t>
            </a:r>
            <a:endParaRPr lang="en-US" sz="1500" dirty="0"/>
          </a:p>
        </p:txBody>
      </p:sp>
      <p:sp>
        <p:nvSpPr>
          <p:cNvPr id="14" name="Shape 9"/>
          <p:cNvSpPr/>
          <p:nvPr/>
        </p:nvSpPr>
        <p:spPr>
          <a:xfrm>
            <a:off x="7132320" y="4297680"/>
            <a:ext cx="4510735" cy="1874520"/>
          </a:xfrm>
          <a:prstGeom prst="roundRect">
            <a:avLst>
              <a:gd name="adj" fmla="val 3902"/>
            </a:avLst>
          </a:prstGeom>
          <a:solidFill>
            <a:srgbClr val="FFFFFF"/>
          </a:solidFill>
          <a:ln/>
        </p:spPr>
      </p:sp>
      <p:sp>
        <p:nvSpPr>
          <p:cNvPr id="15" name="Shape 10"/>
          <p:cNvSpPr/>
          <p:nvPr/>
        </p:nvSpPr>
        <p:spPr>
          <a:xfrm>
            <a:off x="7406640" y="4480560"/>
            <a:ext cx="548640" cy="54864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7527341" y="4601261"/>
            <a:ext cx="307238" cy="307238"/>
          </a:xfrm>
          <a:prstGeom prst="rect">
            <a:avLst/>
          </a:prstGeom>
        </p:spPr>
      </p:pic>
      <p:sp>
        <p:nvSpPr>
          <p:cNvPr id="17" name="Text 11"/>
          <p:cNvSpPr/>
          <p:nvPr/>
        </p:nvSpPr>
        <p:spPr>
          <a:xfrm>
            <a:off x="8138160" y="448056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Future work</a:t>
            </a:r>
            <a:endParaRPr lang="en-US" sz="2200" dirty="0"/>
          </a:p>
        </p:txBody>
      </p:sp>
      <p:sp>
        <p:nvSpPr>
          <p:cNvPr id="18" name="Text 12"/>
          <p:cNvSpPr/>
          <p:nvPr/>
        </p:nvSpPr>
        <p:spPr>
          <a:xfrm>
            <a:off x="7406640" y="5166360"/>
            <a:ext cx="3962095" cy="914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Real requests, new types, independent labels</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A real-staff study; several runs; other LLMs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45920"/>
            <a:ext cx="5943600" cy="36576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A model decides labels; written rules and a 70% confidence floor decide the verdict, the path, and the action. The LLM only writes text.</a:t>
            </a:r>
            <a:endParaRPr lang="en-US" sz="1700" dirty="0"/>
          </a:p>
          <a:p>
            <a:pPr marL="342900" indent="-3429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Silent errors: Jev 0, LLM classifier 2, none harmful (sign test p = 0.5, no significant difference). About 21 distinct cases, so 0 is not proof of zero.</a:t>
            </a:r>
            <a:endParaRPr lang="en-US" sz="1700" dirty="0"/>
          </a:p>
          <a:p>
            <a:pPr marL="342900" indent="-3429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The floor removed 2 Jev errors and cost 6.0 points of person rate (3 reads not needed). Jev was faster: 2.65 s against 10.63 s.</a:t>
            </a:r>
            <a:endParaRPr lang="en-US" sz="1700" dirty="0"/>
          </a:p>
          <a:p>
            <a:pPr marL="342900" indent="-3429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The 365 forged action cases ran nothing. Settings were tuned on dev and an earlier test run was seen; real data remain open.</a:t>
            </a:r>
            <a:endParaRPr lang="en-US" sz="17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State Machine Workflow for LLM Agents in SaaS Customer Support</dc:title>
  <dc:subject>PptxGenJS Presentation</dc:subject>
  <dc:creator>Phenikaa School of Computing</dc:creator>
  <cp:lastModifiedBy>Phenikaa School of Computing</cp:lastModifiedBy>
  <cp:revision>1</cp:revision>
  <dcterms:created xsi:type="dcterms:W3CDTF">2026-10-06T06:18:58Z</dcterms:created>
  <dcterms:modified xsi:type="dcterms:W3CDTF">2026-10-06T06:18:58Z</dcterms:modified>
</cp:coreProperties>
</file>