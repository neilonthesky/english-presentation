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group (1,024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High-impact actions</c:v>
                  </c:pt>
                  <c:pt idx="1">
                    <c:v>Security incidents</c:v>
                  </c:pt>
                  <c:pt idx="2">
                    <c:v>Mixed and time-sensitive</c:v>
                  </c:pt>
                  <c:pt idx="3">
                    <c:v>Routine support</c:v>
                  </c:pt>
                  <c:pt idx="4">
                    <c:v>Injection and look-alikes</c:v>
                  </c:pt>
                </c:lvl>
              </c:multiLvlStrCache>
            </c:multiLvlStrRef>
          </c:cat>
          <c:val>
            <c:numRef>
              <c:f>Sheet1!$B$2:$B$6</c:f>
              <c:numCache>
                <c:formatCode>General</c:formatCode>
                <c:ptCount val="5"/>
                <c:pt idx="0">
                  <c:v>359</c:v>
                </c:pt>
                <c:pt idx="1">
                  <c:v>307</c:v>
                </c:pt>
                <c:pt idx="2">
                  <c:v>205</c:v>
                </c:pt>
                <c:pt idx="3">
                  <c:v>102</c:v>
                </c:pt>
                <c:pt idx="4">
                  <c:v>51</c:v>
                </c:pt>
              </c:numCache>
            </c:numRef>
          </c:val>
        </c:ser>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4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Correct answers (%)</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dPt>
            <c:idx val="0"/>
            <c:invertIfNegative val="0"/>
            <c:bubble3D val="0"/>
            <c:spPr>
              <a:solidFill>
                <a:srgbClr val="234B84"/>
              </a:solidFill>
              <a:effectLst/>
            </c:spPr>
          </c:dPt>
          <c:dPt>
            <c:idx val="1"/>
            <c:invertIfNegative val="0"/>
            <c:bubble3D val="0"/>
            <c:spPr>
              <a:solidFill>
                <a:srgbClr val="234B84"/>
              </a:solidFill>
              <a:effectLst/>
            </c:spPr>
          </c:dPt>
          <c:dPt>
            <c:idx val="2"/>
            <c:invertIfNegative val="0"/>
            <c:bubble3D val="0"/>
            <c:spPr>
              <a:solidFill>
                <a:srgbClr val="234B84"/>
              </a:solidFill>
              <a:effectLst/>
            </c:spPr>
          </c:dPt>
          <c:dPt>
            <c:idx val="3"/>
            <c:invertIfNegative val="0"/>
            <c:bubble3D val="0"/>
            <c:spPr>
              <a:solidFill>
                <a:srgbClr val="234B84"/>
              </a:solidFill>
              <a:effectLst/>
            </c:spPr>
          </c:dPt>
          <c:dPt>
            <c:idx val="4"/>
            <c:invertIfNegative val="0"/>
            <c:bubble3D val="0"/>
            <c:spPr>
              <a:solidFill>
                <a:srgbClr val="1F7A7A"/>
              </a:solidFill>
              <a:effectLst/>
            </c:spPr>
          </c:dPt>
          <c:cat>
            <c:multiLvlStrRef>
              <c:f>Sheet1!$A$2:$A$6</c:f>
              <c:multiLvlStrCache>
                <c:ptCount val="5"/>
                <c:lvl>
                  <c:pt idx="0">
                    <c:v>Topic</c:v>
                  </c:pt>
                  <c:pt idx="1">
                    <c:v>Priority</c:v>
                  </c:pt>
                  <c:pt idx="2">
                    <c:v>Action</c:v>
                  </c:pt>
                  <c:pt idx="3">
                    <c:v>Injection flag</c:v>
                  </c:pt>
                  <c:pt idx="4">
                    <c:v>Rule answers</c:v>
                  </c:pt>
                </c:lvl>
              </c:multiLvlStrCache>
            </c:multiLvlStrRef>
          </c:cat>
          <c:val>
            <c:numRef>
              <c:f>Sheet1!$B$2:$B$6</c:f>
              <c:numCache>
                <c:formatCode>General</c:formatCode>
                <c:ptCount val="5"/>
                <c:pt idx="0">
                  <c:v>93.3</c:v>
                </c:pt>
                <c:pt idx="1">
                  <c:v>86.5</c:v>
                </c:pt>
                <c:pt idx="2">
                  <c:v>72.9</c:v>
                </c:pt>
                <c:pt idx="3">
                  <c:v>98.4</c:v>
                </c:pt>
                <c:pt idx="4">
                  <c:v>100</c:v>
                </c:pt>
              </c:numCache>
            </c:numRef>
          </c:val>
        </c:ser>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5DB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1,024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Sheet1!$B$2:$B$3</c:f>
              <c:numCache>
                <c:formatCode>General</c:formatCode>
                <c:ptCount val="2"/>
                <c:pt idx="0">
                  <c:v>795</c:v>
                </c:pt>
                <c:pt idx="1">
                  <c:v>825</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Sheet1!$C$2:$C$3</c:f>
              <c:numCache>
                <c:formatCode>General</c:formatCode>
                <c:ptCount val="2"/>
                <c:pt idx="0">
                  <c:v>198</c:v>
                </c:pt>
                <c:pt idx="1">
                  <c:v>199</c:v>
                </c:pt>
              </c:numCache>
            </c:numRef>
          </c:val>
        </c:ser>
        <c:ser>
          <c:idx val="2"/>
          <c:order val="2"/>
          <c:tx>
            <c:strRef>
              <c:f>Sheet1!$D$1</c:f>
              <c:strCache>
                <c:ptCount val="1"/>
                <c:pt idx="0">
                  <c:v>Wrong outcome</c:v>
                </c:pt>
              </c:strCache>
            </c:strRef>
          </c:tx>
          <c:spPr>
            <a:solidFill>
              <a:srgbClr val="A94A4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Sheet1!$D$2:$D$3</c:f>
              <c:numCache>
                <c:formatCode>General</c:formatCode>
                <c:ptCount val="2"/>
                <c:pt idx="0">
                  <c:v>31</c:v>
                </c:pt>
              </c:numCache>
            </c:numRef>
          </c:val>
        </c:ser>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3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Good morning. When customers request refunds, plan changes, or account deletions, an automated system that handles money and data can cause severe harm. Companies often deploy autonomous LLM agents that read policy text and act directly, but these agents are slow, expensive, and vulnerable to prompt injection. Today, we study an alternative architecture: combining lightweight intent classification and deterministic code rules with LLM response generation, and compare both on consequential customer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Customer support automation goes beyond answering FAQs: it executes consequential actions on customer accounts, such as refunds, plan changes, and deletions. Companies deploy autonomous LLM agents with direct API tools, pasting complex policies into system prompts. Because LLMs evaluate rules probabilistically, prompt injections and hallucinations trigger unauthorized, irreversible actions with no independent code check. External evidence: on the Artificial Analysis Omniscience benchmark, even the model ranked number one of 369 still hallucinates on hard questions, and most companies deploy cheaper open-weight models, so only architecture can stop it. Then the quiz runs on the next two slides: the question with four options, then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15 s. Set up the benchmark: AA-Omniscience scores 369 reasoning models on questions so hard that a good model should refuse or say it does not know; the hallucination rate is the share of wrong answers among all non-correct responses. Ask the question, then read the four options. Say: hands up for your guess. Pause about five seconds and look around; do not give the answer. The next slide shows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20 s. Point at C: about half. The frontier models everyone calls the smartest, GPT, Gemini, Claude, still answer roughly half of the hard questions wrongly instead of refusing. Even the leaderboard minimum, a cheaper open-weight model, is 18%, and most companies deploy models in the 30 to 65% band. A smarter model shrinks the number but cannot reach zero: hallucination is probabilistic. Only architecture stops it: fixed rules outside the model. Land the bridge: a smarter model is not the fix; the fix is the system around the model, separate steps with fixed rules that decide. Support has been built that way for years. The next slide shows that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Support automation has run the same steps for years: a classifier labels the message, fixed rules decide what to do, and something writes the reply. Rules means ordinary program code written by people, such as: a refund above 100 dollars is denied. It runs the same way every time and is not a model. Until 2022, the classifier was a trained intent model that sorts a message into a fixed list of intents, rules ran the flow, and the replies came from templates. From 2023 until now, the classifier is an LLM, and an LLM agent holds the rules, decides, and acts. The steps stay the same, and only the model inside a step changes. Source for the LLM as classifier: Bocklisch et al. 2024, Rasa CALM, arXiv 2402.12234: NLU assigns a message to a fixed list of intents, while an LLM interprets the message and the business logic stays in code. So how do we improve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The autonomous agent reads these rules as prompt text. Our hybrid pipeline evaluates each rule with a deterministic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10 s. Real policies have many rules. Who should apply every rule: an LLM agent, or a fast classifier? We compare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28 s. Meet Jev, a fast classifier from the System One family of TypeSafe AI, version 1.13.0. It gives typed labels, each with a confidence. It also answers our own yes or no questions, one for each written rule, with no fine-tuning. It has no action tool and never writes text. It is cheap: input costs 4.2 cents per million tokens, and its output is free. On the right are recorded answers for one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Fixed code also does the arithmetic: the purchase line states the days since the charge, so Jev reads a number and never subtracts two dates. We found that each rule needs a question that we write: questions made from the text of the rule alone made more errors. Jev supports custom zero-shot questions without task-specific fine-tuning, but the question wording still needs evaluation. This is a reason to try it, not proof that it is the fastest or most accurate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21 s. The first call returns five fields: topic, priority, action, risk flag, and injection flag. The four shown here guide the flow; the risk flag is also recorded. If the injection flag is on, the action becomes Send reply, so an order hidden in the text is ignored. If the action changes the state, the second call answers one yes/no question for each written rule of that action: does this rule block the action? If no rule blocks it, the action runs; if one does, nothing runs. Typed answers constrain the output format, not correctness. The injection flag and the rule answers both come from Jev; neither is an independent policy verifier. Now, three recorded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33 s. This walk-through is 4 slides: press the next key once for each one, and the slides morph into each other. This is the flow of one request. A message enters New, Jev reads the chat, Rules asks one question for each rule, and the LLM writes the reply. A customer asks for a refund.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No rule blocks the refund, so it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second customer asks for a refund. Watch for the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the amount limit blocks the refund.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10 s. This walk-through is 3 slides: press the next key once for each one, and the slides morph into each other. A third customer orders a refund of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danger. The injection flag is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ignores the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Public datasets have no SaaS accounts, so we built our own: 512 FrameForge customers, each with one purchase, a credit balance, and a log of password reset links. Each customer sends 2 requests, so we have 1,024 requests of 26 types in five groups. High-impact actions are the largest group, with 359 requests. We made the set hard on purpose: a written rule denies the action on 199 requests, and 27 requests hide an order in the message. A program writes the requests from a fixed start number and runs the real code of the system to make the correct answers. This is a challenge set, not production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the error counts on this request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We call two hosted models for real: Jev, version 1.13.0, and DeepSeek V4.1 Flash. Both architectures run on the same 1,024 requests, in separate runs. The LLM agent makes two LLM calls: one to classify the request and one to answer for each request. The Jev pipeline makes 1.5 classifier calls and one LLM call. Jev costs 4.2 cents per million input tokens, and its output is free. The LLM costs 15 cents in and 60 cents out per million tokens. At list price, 1,000 requests cost $1.12 for the LLM agent and $0.30 for the Jev pipeline. These are API token charges, not total operating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Now the first result, for Jev alone. Half of the requests need 0.47 seconds or less of Jev time, including rule calls, and all Jev calls cost $0.066 per 1,000 requests. The first call gives the right topic on 93.3 percent of the scored requests, the priority on 86.5 percent, the action on 72.9 percent, and the injection flag on 98.4 percent. 2,050 of 2,050 rule answers match the written rules. The first-call action label is wrong on 278 requests, and none of these end in a wrong outcome. Two refund inputs were changed after earlier failures, so we saw these failures before the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We tested both systems on the same 1,024 requests. Both use the same LLM to write the reply. Only the decision step is different. The LLM agent decides in one step. It serves 795 requests and stops 198. It gets 31 requests wrong. 10 of them cause real damage. 27 are orders that hide inside the message. The Jev pipeline serves 825 requests and stops 199. It gets none wrong. Jev is also faster. One request takes 5.89 seconds, not 12.45. It is cheaper too. One thousand requests cost 30 cents, not $1.12. These numbers come from our own test set. They do not prove that the system is always safe. The two systems differ in model, input, and flow, so the results do not show which part gives the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These are observed results, not three independent safety guards. The injection flag and the rule answers both come from Jev. First, Jev sets the injection flag right on 98.4 percent of the requests, and when it is on, the process sends a reply. Second, 2,050 of 2,050 rule answers match the written rules on this set. Third, the first-call action label is wrong on 278 requests, and none of them end in a wrong outcome. The hybrid pipeline makes 0 errors and 0 harmful runs on this set. Two refund inputs were changed after earlier failures, so we saw these failures before this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Our idea is to limit what each model can trigger. Jev has no action tool. It answers typed questions about the chat and the rules. Fixed code runs the action only when no rule blocks it. The LLM writes the final message after the action or the refusal, and it cannot change that decision. This is fixed execution, not independent policy verification: the code does not recheck the policy facts against the account, so a wrong rule answer can still allow an unsafe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Finally, we measured both automated architectures in separate runs on the same 1,024 requests. The autonomous agent serves 795, stops 198, and makes 31 errors. The hybrid pipeline serves 825, stops 199, and makes 0 errors. The hybrid pipeline needs less than half the average machine time and has 3.8 times lower API cost. Each rule needs a question that we write. Two refund inputs were changed after earlier failures, so we saw these failures before the last test. We did not test programs that learn from examples, or other decision models. Next, we need real tickets, a separate request set, and stronger systems to compare with. The Red Hat link is outside context, not our data. Thank you for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1-1.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10-4.png"/><Relationship Id="rId13" Type="http://schemas.openxmlformats.org/officeDocument/2006/relationships/slideLayout" Target="../slideLayouts/slideLayout1.xml"/><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22-6.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1-6.png"/><Relationship Id="rId2" Type="http://schemas.openxmlformats.org/officeDocument/2006/relationships/image" Target="../media/image-29-2.png"/><Relationship Id="rId3" Type="http://schemas.openxmlformats.org/officeDocument/2006/relationships/image" Target="../media/image-10-5.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0-1.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6.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6.png"/><Relationship Id="rId10" Type="http://schemas.openxmlformats.org/officeDocument/2006/relationships/slideLayout" Target="../slideLayouts/slideLayout1.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0-1.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6.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1-1.png"/><Relationship Id="rId3" Type="http://schemas.openxmlformats.org/officeDocument/2006/relationships/image" Target="../media/image-10-5.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10-6.png"/><Relationship Id="rId3" Type="http://schemas.openxmlformats.org/officeDocument/2006/relationships/image" Target="../media/image-22-3.png"/><Relationship Id="rId4" Type="http://schemas.openxmlformats.org/officeDocument/2006/relationships/image" Target="../media/image-10-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1.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1-1.png"/><Relationship Id="rId3" Type="http://schemas.openxmlformats.org/officeDocument/2006/relationships/image" Target="../media/image-1-1.png"/><Relationship Id="rId4" Type="http://schemas.openxmlformats.org/officeDocument/2006/relationships/image" Target="../media/image-10-1.png"/><Relationship Id="rId5" Type="http://schemas.openxmlformats.org/officeDocument/2006/relationships/image" Target="../media/image-10-1.png"/><Relationship Id="rId6" Type="http://schemas.openxmlformats.org/officeDocument/2006/relationships/image" Target="../media/image-1-1.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0-3.png"/><Relationship Id="rId3" Type="http://schemas.openxmlformats.org/officeDocument/2006/relationships/image" Target="../media/image-22-6.png"/><Relationship Id="rId4"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2-1.png"/><Relationship Id="rId3" Type="http://schemas.openxmlformats.org/officeDocument/2006/relationships/image" Target="../media/image-22-5.png"/><Relationship Id="rId4" Type="http://schemas.openxmlformats.org/officeDocument/2006/relationships/image" Target="../media/image-22-6.png"/><Relationship Id="rId5" Type="http://schemas.openxmlformats.org/officeDocument/2006/relationships/image" Target="../media/image-10-6.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10-4.png"/><Relationship Id="rId2" Type="http://schemas.openxmlformats.org/officeDocument/2006/relationships/image" Target="../media/image-10-5.png"/><Relationship Id="rId3" Type="http://schemas.openxmlformats.org/officeDocument/2006/relationships/image" Target="../media/image-26-3.png"/><Relationship Id="rId4" Type="http://schemas.openxmlformats.org/officeDocument/2006/relationships/image" Target="../media/image-10-6.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6.png"/><Relationship Id="rId3" Type="http://schemas.openxmlformats.org/officeDocument/2006/relationships/image" Target="../media/image-1-1.png"/><Relationship Id="rId4" Type="http://schemas.openxmlformats.org/officeDocument/2006/relationships/image" Target="../media/image-10-6.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developers.redhat.com/articles/2026/10/02/benchmarking-ai-decision-models-against-traditional-guardrails" TargetMode="External"/><Relationship Id="rId2" Type="http://schemas.openxmlformats.org/officeDocument/2006/relationships/image" Target="../media/image-22-1.png"/><Relationship Id="rId3" Type="http://schemas.openxmlformats.org/officeDocument/2006/relationships/image" Target="../media/image-22-5.png"/><Relationship Id="rId4" Type="http://schemas.openxmlformats.org/officeDocument/2006/relationships/image" Target="../media/image-22-6.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29-2.png"/><Relationship Id="rId3" Type="http://schemas.openxmlformats.org/officeDocument/2006/relationships/image" Target="../media/image-22-1.png"/><Relationship Id="rId4" Type="http://schemas.openxmlformats.org/officeDocument/2006/relationships/image" Target="../media/image-10-5.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594360"/>
          </a:xfrm>
          <a:prstGeom prst="rect">
            <a:avLst/>
          </a:prstGeom>
          <a:noFill/>
          <a:ln/>
        </p:spPr>
        <p:txBody>
          <a:bodyPr wrap="square" lIns="0" tIns="0" rIns="0" bIns="0" rtlCol="0" anchor="t"/>
          <a:lstStyle/>
          <a:p>
            <a:pPr indent="0" marL="0">
              <a:spcAft>
                <a:spcPts val="200"/>
              </a:spcAft>
              <a:buNone/>
            </a:pPr>
            <a:r>
              <a:rPr lang="en-US" sz="1600" b="1" dirty="0">
                <a:solidFill>
                  <a:srgbClr val="E3ECF6"/>
                </a:solidFill>
                <a:latin typeface="Calibri" pitchFamily="34" charset="0"/>
                <a:ea typeface="Calibri" pitchFamily="34" charset="-122"/>
                <a:cs typeface="Calibri" pitchFamily="34" charset="-120"/>
              </a:rPr>
              <a:t>Phenikaa School of Computing</a:t>
            </a:r>
            <a:endParaRPr lang="en-US" sz="1600" dirty="0"/>
          </a:p>
          <a:p>
            <a:pPr indent="0" marL="0">
              <a:spcAft>
                <a:spcPts val="200"/>
              </a:spcAft>
              <a:buNone/>
            </a:pPr>
            <a:r>
              <a:rPr lang="en-US" sz="1600" dirty="0">
                <a:solidFill>
                  <a:srgbClr val="E3ECF6"/>
                </a:solidFill>
                <a:latin typeface="Calibri" pitchFamily="34" charset="0"/>
                <a:ea typeface="Calibri" pitchFamily="34" charset="-122"/>
                <a:cs typeface="Calibri" pitchFamily="34" charset="-120"/>
              </a:rPr>
              <a:t>English Writing and Presentation Skills · October 2026</a:t>
            </a:r>
            <a:endParaRPr lang="en-US" sz="1600" dirty="0"/>
          </a:p>
        </p:txBody>
      </p:sp>
      <p:sp>
        <p:nvSpPr>
          <p:cNvPr id="4" name="Text 2"/>
          <p:cNvSpPr/>
          <p:nvPr/>
        </p:nvSpPr>
        <p:spPr>
          <a:xfrm>
            <a:off x="640080" y="1417320"/>
            <a:ext cx="5394960" cy="123444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Customer Support</a:t>
            </a:r>
            <a:endParaRPr lang="en-US" sz="3800" dirty="0"/>
          </a:p>
          <a:p>
            <a:pPr indent="0" marL="0">
              <a:buNone/>
            </a:pPr>
            <a:r>
              <a:rPr lang="en-US" sz="3800" b="1" dirty="0">
                <a:solidFill>
                  <a:srgbClr val="FFFFFF"/>
                </a:solidFill>
                <a:latin typeface="Calibri" pitchFamily="34" charset="0"/>
                <a:ea typeface="Calibri" pitchFamily="34" charset="-122"/>
                <a:cs typeface="Calibri" pitchFamily="34" charset="-120"/>
              </a:rPr>
              <a:t>Automation</a:t>
            </a:r>
            <a:endParaRPr lang="en-US" sz="3800" dirty="0"/>
          </a:p>
        </p:txBody>
      </p:sp>
      <p:sp>
        <p:nvSpPr>
          <p:cNvPr id="5" name="Text 3"/>
          <p:cNvSpPr/>
          <p:nvPr/>
        </p:nvSpPr>
        <p:spPr>
          <a:xfrm>
            <a:off x="640080" y="2724912"/>
            <a:ext cx="5394960" cy="868680"/>
          </a:xfrm>
          <a:prstGeom prst="rect">
            <a:avLst/>
          </a:prstGeom>
          <a:noFill/>
          <a:ln/>
        </p:spPr>
        <p:txBody>
          <a:bodyPr wrap="square" lIns="0" tIns="0" rIns="0" bIns="0" rtlCol="0" anchor="t"/>
          <a:lstStyle/>
          <a:p>
            <a:pPr indent="0" marL="0">
              <a:buNone/>
            </a:pPr>
            <a:r>
              <a:rPr lang="en-US" sz="2000" dirty="0">
                <a:solidFill>
                  <a:srgbClr val="E3ECF6"/>
                </a:solidFill>
                <a:latin typeface="Calibri" pitchFamily="34" charset="0"/>
                <a:ea typeface="Calibri" pitchFamily="34" charset="-122"/>
                <a:cs typeface="Calibri" pitchFamily="34" charset="-120"/>
              </a:rPr>
              <a:t>Intent Classification and Deterministic Rules</a:t>
            </a:r>
            <a:endParaRPr lang="en-US" sz="2000" dirty="0"/>
          </a:p>
          <a:p>
            <a:pPr indent="0" marL="0">
              <a:buNone/>
            </a:pPr>
            <a:r>
              <a:rPr lang="en-US" sz="2000" dirty="0">
                <a:solidFill>
                  <a:srgbClr val="E3ECF6"/>
                </a:solidFill>
                <a:latin typeface="Calibri" pitchFamily="34" charset="0"/>
                <a:ea typeface="Calibri" pitchFamily="34" charset="-122"/>
                <a:cs typeface="Calibri" pitchFamily="34" charset="-120"/>
              </a:rPr>
              <a:t>versus Autonomous LLM Agents</a:t>
            </a:r>
            <a:endParaRPr lang="en-US" sz="2000" dirty="0"/>
          </a:p>
        </p:txBody>
      </p:sp>
      <p:sp>
        <p:nvSpPr>
          <p:cNvPr id="6" name="Text 4"/>
          <p:cNvSpPr/>
          <p:nvPr/>
        </p:nvSpPr>
        <p:spPr>
          <a:xfrm>
            <a:off x="640080" y="3794760"/>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7" name="Text 5"/>
          <p:cNvSpPr/>
          <p:nvPr/>
        </p:nvSpPr>
        <p:spPr>
          <a:xfrm>
            <a:off x="640080" y="4133088"/>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8" name="Text 6"/>
          <p:cNvSpPr/>
          <p:nvPr/>
        </p:nvSpPr>
        <p:spPr>
          <a:xfrm>
            <a:off x="6949440" y="640080"/>
            <a:ext cx="4602175" cy="9601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Two approaches to</a:t>
            </a:r>
            <a:endParaRPr lang="en-US" sz="2600" dirty="0"/>
          </a:p>
          <a:p>
            <a:pPr indent="0" marL="0">
              <a:buNone/>
            </a:pPr>
            <a:r>
              <a:rPr lang="en-US" sz="2600" b="1" dirty="0">
                <a:solidFill>
                  <a:srgbClr val="1B365D"/>
                </a:solidFill>
                <a:latin typeface="Calibri" pitchFamily="34" charset="0"/>
                <a:ea typeface="Calibri" pitchFamily="34" charset="-122"/>
                <a:cs typeface="Calibri" pitchFamily="34" charset="-120"/>
              </a:rPr>
              <a:t>automation</a:t>
            </a:r>
            <a:endParaRPr lang="en-US" sz="2600" dirty="0"/>
          </a:p>
        </p:txBody>
      </p:sp>
      <p:sp>
        <p:nvSpPr>
          <p:cNvPr id="9" name="Text 7"/>
          <p:cNvSpPr/>
          <p:nvPr/>
        </p:nvSpPr>
        <p:spPr>
          <a:xfrm>
            <a:off x="6949440" y="1664208"/>
            <a:ext cx="4602175" cy="411480"/>
          </a:xfrm>
          <a:prstGeom prst="rect">
            <a:avLst/>
          </a:prstGeom>
          <a:noFill/>
          <a:ln/>
        </p:spPr>
        <p:txBody>
          <a:bodyPr wrap="square" lIns="0" tIns="0" rIns="0" bIns="0" rtlCol="0" anchor="t"/>
          <a:lstStyle/>
          <a:p>
            <a:pPr indent="0" marL="0">
              <a:buNone/>
            </a:pPr>
            <a:r>
              <a:rPr lang="en-US" sz="1400" dirty="0">
                <a:solidFill>
                  <a:srgbClr val="2B3440"/>
                </a:solidFill>
                <a:latin typeface="Calibri" pitchFamily="34" charset="0"/>
                <a:ea typeface="Calibri" pitchFamily="34" charset="-122"/>
                <a:cs typeface="Calibri" pitchFamily="34" charset="-120"/>
              </a:rPr>
              <a:t>Which architecture can handle consequential customer actions?</a:t>
            </a:r>
            <a:endParaRPr lang="en-US" sz="1400" dirty="0"/>
          </a:p>
        </p:txBody>
      </p:sp>
      <p:sp>
        <p:nvSpPr>
          <p:cNvPr id="10" name="Shape 8"/>
          <p:cNvSpPr/>
          <p:nvPr/>
        </p:nvSpPr>
        <p:spPr>
          <a:xfrm>
            <a:off x="6949440" y="2176272"/>
            <a:ext cx="2186788" cy="4041648"/>
          </a:xfrm>
          <a:prstGeom prst="roundRect">
            <a:avLst>
              <a:gd name="adj" fmla="val 3345"/>
            </a:avLst>
          </a:prstGeom>
          <a:solidFill>
            <a:srgbClr val="FFFFFF"/>
          </a:solidFill>
          <a:ln/>
        </p:spPr>
      </p:sp>
      <p:sp>
        <p:nvSpPr>
          <p:cNvPr id="11" name="Shape 9"/>
          <p:cNvSpPr/>
          <p:nvPr/>
        </p:nvSpPr>
        <p:spPr>
          <a:xfrm>
            <a:off x="6949440" y="2176272"/>
            <a:ext cx="2186788" cy="749808"/>
          </a:xfrm>
          <a:prstGeom prst="roundRect">
            <a:avLst>
              <a:gd name="adj" fmla="val 9756"/>
            </a:avLst>
          </a:prstGeom>
          <a:solidFill>
            <a:srgbClr val="2F5F98"/>
          </a:solidFill>
          <a:ln w="12700">
            <a:solidFill>
              <a:srgbClr val="2F5F98"/>
            </a:solidFill>
            <a:prstDash val="solid"/>
          </a:ln>
        </p:spPr>
      </p:sp>
      <p:pic>
        <p:nvPicPr>
          <p:cNvPr id="12" name="Image 0" descr="preencoded.png">    </p:cNvPr>
          <p:cNvPicPr>
            <a:picLocks noChangeAspect="1"/>
          </p:cNvPicPr>
          <p:nvPr/>
        </p:nvPicPr>
        <p:blipFill>
          <a:blip r:embed="rId1"/>
          <a:stretch>
            <a:fillRect/>
          </a:stretch>
        </p:blipFill>
        <p:spPr>
          <a:xfrm>
            <a:off x="7095744" y="2322576"/>
            <a:ext cx="457200" cy="457200"/>
          </a:xfrm>
          <a:prstGeom prst="rect">
            <a:avLst/>
          </a:prstGeom>
        </p:spPr>
      </p:pic>
      <p:sp>
        <p:nvSpPr>
          <p:cNvPr id="13" name="Text 10"/>
          <p:cNvSpPr/>
          <p:nvPr/>
        </p:nvSpPr>
        <p:spPr>
          <a:xfrm>
            <a:off x="7607808"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Autonomous</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LLM Agent</a:t>
            </a:r>
            <a:endParaRPr lang="en-US" sz="1500" dirty="0"/>
          </a:p>
        </p:txBody>
      </p:sp>
      <p:sp>
        <p:nvSpPr>
          <p:cNvPr id="14" name="Text 11"/>
          <p:cNvSpPr/>
          <p:nvPr/>
        </p:nvSpPr>
        <p:spPr>
          <a:xfrm>
            <a:off x="7077456"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One monolithic model</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Policies in system prompt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Model decides &amp; executes</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High token &amp; latency cost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Susceptible to injection</a:t>
            </a:r>
            <a:endParaRPr lang="en-US" sz="1400" dirty="0"/>
          </a:p>
        </p:txBody>
      </p:sp>
      <p:sp>
        <p:nvSpPr>
          <p:cNvPr id="15" name="Shape 12"/>
          <p:cNvSpPr/>
          <p:nvPr/>
        </p:nvSpPr>
        <p:spPr>
          <a:xfrm>
            <a:off x="9364828" y="2176272"/>
            <a:ext cx="2186788" cy="4041648"/>
          </a:xfrm>
          <a:prstGeom prst="roundRect">
            <a:avLst>
              <a:gd name="adj" fmla="val 3345"/>
            </a:avLst>
          </a:prstGeom>
          <a:solidFill>
            <a:srgbClr val="FFFFFF"/>
          </a:solidFill>
          <a:ln/>
        </p:spPr>
      </p:sp>
      <p:sp>
        <p:nvSpPr>
          <p:cNvPr id="16" name="Shape 13"/>
          <p:cNvSpPr/>
          <p:nvPr/>
        </p:nvSpPr>
        <p:spPr>
          <a:xfrm>
            <a:off x="9364828" y="2176272"/>
            <a:ext cx="2186788" cy="749808"/>
          </a:xfrm>
          <a:prstGeom prst="roundRect">
            <a:avLst>
              <a:gd name="adj" fmla="val 9756"/>
            </a:avLst>
          </a:prstGeom>
          <a:solidFill>
            <a:srgbClr val="1B365D"/>
          </a:solidFill>
          <a:ln w="12700">
            <a:solidFill>
              <a:srgbClr val="1B365D"/>
            </a:solidFill>
            <a:prstDash val="solid"/>
          </a:ln>
        </p:spPr>
      </p:sp>
      <p:pic>
        <p:nvPicPr>
          <p:cNvPr id="17" name="Image 1" descr="preencoded.png">    </p:cNvPr>
          <p:cNvPicPr>
            <a:picLocks noChangeAspect="1"/>
          </p:cNvPicPr>
          <p:nvPr/>
        </p:nvPicPr>
        <p:blipFill>
          <a:blip r:embed="rId2"/>
          <a:stretch>
            <a:fillRect/>
          </a:stretch>
        </p:blipFill>
        <p:spPr>
          <a:xfrm>
            <a:off x="9511132" y="2322576"/>
            <a:ext cx="457200" cy="457200"/>
          </a:xfrm>
          <a:prstGeom prst="rect">
            <a:avLst/>
          </a:prstGeom>
        </p:spPr>
      </p:pic>
      <p:sp>
        <p:nvSpPr>
          <p:cNvPr id="18" name="Text 14"/>
          <p:cNvSpPr/>
          <p:nvPr/>
        </p:nvSpPr>
        <p:spPr>
          <a:xfrm>
            <a:off x="10023196"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Classifier +</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Rules + LLM</a:t>
            </a:r>
            <a:endParaRPr lang="en-US" sz="1500" dirty="0"/>
          </a:p>
        </p:txBody>
      </p:sp>
      <p:sp>
        <p:nvSpPr>
          <p:cNvPr id="19" name="Text 15"/>
          <p:cNvSpPr/>
          <p:nvPr/>
        </p:nvSpPr>
        <p:spPr>
          <a:xfrm>
            <a:off x="9492844"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Structured intent triage</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Facts parsed by classifier</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Deterministic rules in code</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LLM drafts reply only</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Zero unchecked actions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Consequential actions: why autonomous agents fail alone</a:t>
            </a:r>
            <a:endParaRPr lang="en-US" sz="3600" dirty="0"/>
          </a:p>
        </p:txBody>
      </p:sp>
      <p:sp>
        <p:nvSpPr>
          <p:cNvPr id="4" name="Shape 1"/>
          <p:cNvSpPr/>
          <p:nvPr/>
        </p:nvSpPr>
        <p:spPr>
          <a:xfrm>
            <a:off x="1371600" y="1371600"/>
            <a:ext cx="4023360" cy="1783080"/>
          </a:xfrm>
          <a:prstGeom prst="roundRect">
            <a:avLst>
              <a:gd name="adj" fmla="val 4103"/>
            </a:avLst>
          </a:prstGeom>
          <a:solidFill>
            <a:srgbClr val="FFFFFF"/>
          </a:solidFill>
          <a:ln w="12700">
            <a:solidFill>
              <a:srgbClr val="8C9BAD"/>
            </a:solidFill>
            <a:prstDash val="solid"/>
          </a:ln>
          <a:effectLst>
            <a:outerShdw sx="100000" sy="100000" kx="0" ky="0" algn="bl" rotWithShape="0" blurRad="114300" dist="38100" dir="5400000">
              <a:srgbClr val="1B365D">
                <a:alpha val="18000"/>
              </a:srgbClr>
            </a:outerShdw>
          </a:effectLst>
        </p:spPr>
      </p:sp>
      <p:sp>
        <p:nvSpPr>
          <p:cNvPr id="5" name="Shape 2"/>
          <p:cNvSpPr/>
          <p:nvPr/>
        </p:nvSpPr>
        <p:spPr>
          <a:xfrm>
            <a:off x="1627632" y="1554480"/>
            <a:ext cx="402336" cy="402336"/>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1716146" y="1642994"/>
            <a:ext cx="225308" cy="225308"/>
          </a:xfrm>
          <a:prstGeom prst="rect">
            <a:avLst/>
          </a:prstGeom>
        </p:spPr>
      </p:pic>
      <p:sp>
        <p:nvSpPr>
          <p:cNvPr id="7" name="Text 3"/>
          <p:cNvSpPr/>
          <p:nvPr/>
        </p:nvSpPr>
        <p:spPr>
          <a:xfrm>
            <a:off x="2121408" y="1609344"/>
            <a:ext cx="1828800" cy="292608"/>
          </a:xfrm>
          <a:prstGeom prst="rect">
            <a:avLst/>
          </a:prstGeom>
          <a:noFill/>
          <a:ln/>
        </p:spPr>
        <p:txBody>
          <a:bodyPr wrap="square" lIns="0" tIns="0" rIns="0" bIns="0" rtlCol="0" anchor="t"/>
          <a:lstStyle/>
          <a:p>
            <a:pPr algn="l" indent="0" marL="0">
              <a:buNone/>
            </a:pPr>
            <a:r>
              <a:rPr lang="en-US" sz="1250" b="1" dirty="0">
                <a:solidFill>
                  <a:srgbClr val="56636F"/>
                </a:solidFill>
                <a:latin typeface="Calibri" pitchFamily="34" charset="0"/>
                <a:ea typeface="Calibri" pitchFamily="34" charset="-122"/>
                <a:cs typeface="Calibri" pitchFamily="34" charset="-120"/>
              </a:rPr>
              <a:t>Customer</a:t>
            </a:r>
            <a:endParaRPr lang="en-US" sz="1250" dirty="0"/>
          </a:p>
        </p:txBody>
      </p:sp>
      <p:sp>
        <p:nvSpPr>
          <p:cNvPr id="8" name="Text 4"/>
          <p:cNvSpPr/>
          <p:nvPr/>
        </p:nvSpPr>
        <p:spPr>
          <a:xfrm>
            <a:off x="1600200" y="1956816"/>
            <a:ext cx="3566160" cy="621792"/>
          </a:xfrm>
          <a:prstGeom prst="rect">
            <a:avLst/>
          </a:prstGeom>
          <a:noFill/>
          <a:ln/>
        </p:spPr>
        <p:txBody>
          <a:bodyPr wrap="square" lIns="0" tIns="0" rIns="0" bIns="0" rtlCol="0" anchor="t"/>
          <a:lstStyle/>
          <a:p>
            <a:pPr indent="0" marL="0">
              <a:buNone/>
            </a:pPr>
            <a:r>
              <a:rPr lang="en-US" sz="1600" dirty="0">
                <a:solidFill>
                  <a:srgbClr val="2B3440"/>
                </a:solidFill>
                <a:latin typeface="Calibri" pitchFamily="34" charset="0"/>
                <a:ea typeface="Calibri" pitchFamily="34" charset="-122"/>
                <a:cs typeface="Calibri" pitchFamily="34" charset="-120"/>
              </a:rPr>
              <a:t>Please refund my $500 plan</a:t>
            </a:r>
            <a:endParaRPr lang="en-US" sz="1600" dirty="0"/>
          </a:p>
          <a:p>
            <a:pPr indent="0" marL="0">
              <a:buNone/>
            </a:pPr>
            <a:r>
              <a:rPr lang="en-US" sz="1600" dirty="0">
                <a:solidFill>
                  <a:srgbClr val="2B3440"/>
                </a:solidFill>
                <a:latin typeface="Calibri" pitchFamily="34" charset="0"/>
                <a:ea typeface="Calibri" pitchFamily="34" charset="-122"/>
                <a:cs typeface="Calibri" pitchFamily="34" charset="-120"/>
              </a:rPr>
              <a:t>and delete my old projects.</a:t>
            </a:r>
            <a:endParaRPr lang="en-US" sz="1600" dirty="0"/>
          </a:p>
        </p:txBody>
      </p:sp>
      <p:sp>
        <p:nvSpPr>
          <p:cNvPr id="9" name="Shape 5"/>
          <p:cNvSpPr/>
          <p:nvPr/>
        </p:nvSpPr>
        <p:spPr>
          <a:xfrm>
            <a:off x="1600200" y="2633472"/>
            <a:ext cx="3566160" cy="457200"/>
          </a:xfrm>
          <a:prstGeom prst="roundRect">
            <a:avLst>
              <a:gd name="adj" fmla="val 16000"/>
            </a:avLst>
          </a:prstGeom>
          <a:solidFill>
            <a:srgbClr val="F2F4F7"/>
          </a:solidFill>
          <a:ln w="19050">
            <a:solidFill>
              <a:srgbClr val="6B7A8C"/>
            </a:solidFill>
            <a:prstDash val="dash"/>
          </a:ln>
        </p:spPr>
      </p:sp>
      <p:pic>
        <p:nvPicPr>
          <p:cNvPr id="10" name="Image 1" descr="preencoded.png">    </p:cNvPr>
          <p:cNvPicPr>
            <a:picLocks noChangeAspect="1"/>
          </p:cNvPicPr>
          <p:nvPr/>
        </p:nvPicPr>
        <p:blipFill>
          <a:blip r:embed="rId2"/>
          <a:stretch>
            <a:fillRect/>
          </a:stretch>
        </p:blipFill>
        <p:spPr>
          <a:xfrm>
            <a:off x="1755648" y="2734056"/>
            <a:ext cx="256032" cy="256032"/>
          </a:xfrm>
          <a:prstGeom prst="rect">
            <a:avLst/>
          </a:prstGeom>
        </p:spPr>
      </p:pic>
      <p:sp>
        <p:nvSpPr>
          <p:cNvPr id="11" name="Text 6"/>
          <p:cNvSpPr/>
          <p:nvPr/>
        </p:nvSpPr>
        <p:spPr>
          <a:xfrm>
            <a:off x="2121408" y="2633472"/>
            <a:ext cx="2926080" cy="457200"/>
          </a:xfrm>
          <a:prstGeom prst="rect">
            <a:avLst/>
          </a:prstGeom>
          <a:noFill/>
          <a:ln/>
        </p:spPr>
        <p:txBody>
          <a:bodyPr wrap="square" lIns="0" tIns="0" rIns="0" bIns="0" rtlCol="0" anchor="ctr"/>
          <a:lstStyle/>
          <a:p>
            <a:pPr algn="l" indent="0" marL="0">
              <a:buNone/>
            </a:pPr>
            <a:r>
              <a:rPr lang="en-US" sz="1300" b="1" dirty="0">
                <a:solidFill>
                  <a:srgbClr val="3A4656"/>
                </a:solidFill>
                <a:latin typeface="Calibri" pitchFamily="34" charset="0"/>
                <a:ea typeface="Calibri" pitchFamily="34" charset="-122"/>
                <a:cs typeface="Calibri" pitchFamily="34" charset="-120"/>
              </a:rPr>
              <a:t>hidden: "ignore your rules"</a:t>
            </a:r>
            <a:endParaRPr lang="en-US" sz="1300" dirty="0"/>
          </a:p>
        </p:txBody>
      </p:sp>
      <p:pic>
        <p:nvPicPr>
          <p:cNvPr id="12" name="Image 2" descr="preencoded.png">    </p:cNvPr>
          <p:cNvPicPr>
            <a:picLocks noChangeAspect="1"/>
          </p:cNvPicPr>
          <p:nvPr/>
        </p:nvPicPr>
        <p:blipFill>
          <a:blip r:embed="rId3"/>
          <a:stretch>
            <a:fillRect/>
          </a:stretch>
        </p:blipFill>
        <p:spPr>
          <a:xfrm>
            <a:off x="5166360" y="2194560"/>
            <a:ext cx="1188720" cy="685800"/>
          </a:xfrm>
          <a:prstGeom prst="rect">
            <a:avLst/>
          </a:prstGeom>
        </p:spPr>
      </p:pic>
      <p:sp>
        <p:nvSpPr>
          <p:cNvPr id="13" name="Text 7"/>
          <p:cNvSpPr/>
          <p:nvPr/>
        </p:nvSpPr>
        <p:spPr>
          <a:xfrm>
            <a:off x="5321808" y="2103120"/>
            <a:ext cx="960120" cy="256032"/>
          </a:xfrm>
          <a:prstGeom prst="rect">
            <a:avLst/>
          </a:prstGeom>
          <a:noFill/>
          <a:ln/>
        </p:spPr>
        <p:txBody>
          <a:bodyPr wrap="square" lIns="0" tIns="0" rIns="0" bIns="0" rtlCol="0" anchor="t"/>
          <a:lstStyle/>
          <a:p>
            <a:pPr algn="ctr" indent="0" marL="0">
              <a:buNone/>
            </a:pPr>
            <a:r>
              <a:rPr lang="en-US" sz="1250" b="1" dirty="0">
                <a:solidFill>
                  <a:srgbClr val="A94A4A"/>
                </a:solidFill>
                <a:latin typeface="Calibri" pitchFamily="34" charset="0"/>
                <a:ea typeface="Calibri" pitchFamily="34" charset="-122"/>
                <a:cs typeface="Calibri" pitchFamily="34" charset="-120"/>
              </a:rPr>
              <a:t>prompt injection</a:t>
            </a:r>
            <a:endParaRPr lang="en-US" sz="1250" dirty="0"/>
          </a:p>
        </p:txBody>
      </p:sp>
      <p:sp>
        <p:nvSpPr>
          <p:cNvPr id="14" name="Shape 8"/>
          <p:cNvSpPr/>
          <p:nvPr/>
        </p:nvSpPr>
        <p:spPr>
          <a:xfrm>
            <a:off x="6336792" y="1856232"/>
            <a:ext cx="1051560" cy="1051560"/>
          </a:xfrm>
          <a:prstGeom prst="ellipse">
            <a:avLst/>
          </a:prstGeom>
          <a:solidFill>
            <a:srgbClr val="1B365D"/>
          </a:solidFill>
          <a:ln w="12700">
            <a:solidFill>
              <a:srgbClr val="1B365D"/>
            </a:solidFill>
            <a:prstDash val="solid"/>
          </a:ln>
        </p:spPr>
      </p:sp>
      <p:pic>
        <p:nvPicPr>
          <p:cNvPr id="15" name="Image 3" descr="preencoded.png">    </p:cNvPr>
          <p:cNvPicPr>
            <a:picLocks noChangeAspect="1"/>
          </p:cNvPicPr>
          <p:nvPr/>
        </p:nvPicPr>
        <p:blipFill>
          <a:blip r:embed="rId4"/>
          <a:stretch>
            <a:fillRect/>
          </a:stretch>
        </p:blipFill>
        <p:spPr>
          <a:xfrm>
            <a:off x="6568135" y="2087575"/>
            <a:ext cx="588874" cy="588874"/>
          </a:xfrm>
          <a:prstGeom prst="rect">
            <a:avLst/>
          </a:prstGeom>
        </p:spPr>
      </p:pic>
      <p:sp>
        <p:nvSpPr>
          <p:cNvPr id="16" name="Text 9"/>
          <p:cNvSpPr/>
          <p:nvPr/>
        </p:nvSpPr>
        <p:spPr>
          <a:xfrm>
            <a:off x="5669280" y="3063240"/>
            <a:ext cx="2377440" cy="274320"/>
          </a:xfrm>
          <a:prstGeom prst="rect">
            <a:avLst/>
          </a:prstGeom>
          <a:noFill/>
          <a:ln/>
        </p:spPr>
        <p:txBody>
          <a:bodyPr wrap="square" lIns="0" tIns="0" rIns="0" bIns="0" rtlCol="0" anchor="t"/>
          <a:lstStyle/>
          <a:p>
            <a:pPr algn="ctr" indent="0" marL="0">
              <a:buNone/>
            </a:pPr>
            <a:r>
              <a:rPr lang="en-US" sz="1500" b="1" dirty="0">
                <a:solidFill>
                  <a:srgbClr val="1B365D"/>
                </a:solidFill>
                <a:latin typeface="Calibri" pitchFamily="34" charset="0"/>
                <a:ea typeface="Calibri" pitchFamily="34" charset="-122"/>
                <a:cs typeface="Calibri" pitchFamily="34" charset="-120"/>
              </a:rPr>
              <a:t>Autonomous LLM agent</a:t>
            </a:r>
            <a:endParaRPr lang="en-US" sz="1500" dirty="0"/>
          </a:p>
        </p:txBody>
      </p:sp>
      <p:sp>
        <p:nvSpPr>
          <p:cNvPr id="17" name="Text 10"/>
          <p:cNvSpPr/>
          <p:nvPr/>
        </p:nvSpPr>
        <p:spPr>
          <a:xfrm>
            <a:off x="5669280" y="3346704"/>
            <a:ext cx="2377440" cy="256032"/>
          </a:xfrm>
          <a:prstGeom prst="rect">
            <a:avLst/>
          </a:prstGeom>
          <a:noFill/>
          <a:ln/>
        </p:spPr>
        <p:txBody>
          <a:bodyPr wrap="square" lIns="0" tIns="0" rIns="0" bIns="0" rtlCol="0" anchor="t"/>
          <a:lstStyle/>
          <a:p>
            <a:pPr algn="ctr" indent="0" marL="0">
              <a:buNone/>
            </a:pPr>
            <a:r>
              <a:rPr lang="en-US" sz="1300" dirty="0">
                <a:solidFill>
                  <a:srgbClr val="56636F"/>
                </a:solidFill>
                <a:latin typeface="Calibri" pitchFamily="34" charset="0"/>
                <a:ea typeface="Calibri" pitchFamily="34" charset="-122"/>
                <a:cs typeface="Calibri" pitchFamily="34" charset="-120"/>
              </a:rPr>
              <a:t>rules live in its prompt</a:t>
            </a:r>
            <a:endParaRPr lang="en-US" sz="1300" dirty="0"/>
          </a:p>
        </p:txBody>
      </p:sp>
      <p:pic>
        <p:nvPicPr>
          <p:cNvPr id="18" name="Image 4" descr="preencoded.png">    </p:cNvPr>
          <p:cNvPicPr>
            <a:picLocks noChangeAspect="1"/>
          </p:cNvPicPr>
          <p:nvPr/>
        </p:nvPicPr>
        <p:blipFill>
          <a:blip r:embed="rId5"/>
          <a:stretch>
            <a:fillRect/>
          </a:stretch>
        </p:blipFill>
        <p:spPr>
          <a:xfrm>
            <a:off x="7315200" y="2148840"/>
            <a:ext cx="777240" cy="457200"/>
          </a:xfrm>
          <a:prstGeom prst="rect">
            <a:avLst/>
          </a:prstGeom>
        </p:spPr>
      </p:pic>
      <p:sp>
        <p:nvSpPr>
          <p:cNvPr id="19" name="Text 11"/>
          <p:cNvSpPr/>
          <p:nvPr/>
        </p:nvSpPr>
        <p:spPr>
          <a:xfrm>
            <a:off x="6858000" y="1207008"/>
            <a:ext cx="1188720" cy="548640"/>
          </a:xfrm>
          <a:prstGeom prst="rect">
            <a:avLst/>
          </a:prstGeom>
          <a:noFill/>
          <a:ln/>
        </p:spPr>
        <p:txBody>
          <a:bodyPr wrap="square" lIns="0" tIns="0" rIns="0" bIns="0" rtlCol="0" anchor="t"/>
          <a:lstStyle/>
          <a:p>
            <a:pPr algn="ctr" indent="0" marL="0">
              <a:buNone/>
            </a:pPr>
            <a:r>
              <a:rPr lang="en-US" sz="1250" dirty="0">
                <a:solidFill>
                  <a:srgbClr val="56636F"/>
                </a:solidFill>
                <a:latin typeface="Calibri" pitchFamily="34" charset="0"/>
                <a:ea typeface="Calibri" pitchFamily="34" charset="-122"/>
                <a:cs typeface="Calibri" pitchFamily="34" charset="-120"/>
              </a:rPr>
              <a:t>calls the tool</a:t>
            </a:r>
            <a:endParaRPr lang="en-US" sz="1250" dirty="0"/>
          </a:p>
          <a:p>
            <a:pPr algn="ctr" indent="0" marL="0">
              <a:buNone/>
            </a:pPr>
            <a:r>
              <a:rPr lang="en-US" sz="1250" dirty="0">
                <a:solidFill>
                  <a:srgbClr val="56636F"/>
                </a:solidFill>
                <a:latin typeface="Calibri" pitchFamily="34" charset="0"/>
                <a:ea typeface="Calibri" pitchFamily="34" charset="-122"/>
                <a:cs typeface="Calibri" pitchFamily="34" charset="-120"/>
              </a:rPr>
              <a:t>directly</a:t>
            </a:r>
            <a:endParaRPr lang="en-US" sz="1250" dirty="0"/>
          </a:p>
        </p:txBody>
      </p:sp>
      <p:sp>
        <p:nvSpPr>
          <p:cNvPr id="20" name="Shape 12"/>
          <p:cNvSpPr/>
          <p:nvPr/>
        </p:nvSpPr>
        <p:spPr>
          <a:xfrm>
            <a:off x="8092440" y="1417320"/>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1" name="Image 5" descr="preencoded.png">    </p:cNvPr>
          <p:cNvPicPr>
            <a:picLocks noChangeAspect="1"/>
          </p:cNvPicPr>
          <p:nvPr/>
        </p:nvPicPr>
        <p:blipFill>
          <a:blip r:embed="rId6"/>
          <a:stretch>
            <a:fillRect/>
          </a:stretch>
        </p:blipFill>
        <p:spPr>
          <a:xfrm>
            <a:off x="8302752" y="1517904"/>
            <a:ext cx="274320" cy="274320"/>
          </a:xfrm>
          <a:prstGeom prst="rect">
            <a:avLst/>
          </a:prstGeom>
        </p:spPr>
      </p:pic>
      <p:sp>
        <p:nvSpPr>
          <p:cNvPr id="22" name="Text 13"/>
          <p:cNvSpPr/>
          <p:nvPr/>
        </p:nvSpPr>
        <p:spPr>
          <a:xfrm>
            <a:off x="8705088" y="1417320"/>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Start refund</a:t>
            </a:r>
            <a:endParaRPr lang="en-US" sz="1500" dirty="0"/>
          </a:p>
        </p:txBody>
      </p:sp>
      <p:sp>
        <p:nvSpPr>
          <p:cNvPr id="23" name="Shape 14"/>
          <p:cNvSpPr/>
          <p:nvPr/>
        </p:nvSpPr>
        <p:spPr>
          <a:xfrm>
            <a:off x="8092440" y="2002536"/>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4" name="Image 6" descr="preencoded.png">    </p:cNvPr>
          <p:cNvPicPr>
            <a:picLocks noChangeAspect="1"/>
          </p:cNvPicPr>
          <p:nvPr/>
        </p:nvPicPr>
        <p:blipFill>
          <a:blip r:embed="rId7"/>
          <a:stretch>
            <a:fillRect/>
          </a:stretch>
        </p:blipFill>
        <p:spPr>
          <a:xfrm>
            <a:off x="8302752" y="2103120"/>
            <a:ext cx="274320" cy="274320"/>
          </a:xfrm>
          <a:prstGeom prst="rect">
            <a:avLst/>
          </a:prstGeom>
        </p:spPr>
      </p:pic>
      <p:sp>
        <p:nvSpPr>
          <p:cNvPr id="25" name="Text 15"/>
          <p:cNvSpPr/>
          <p:nvPr/>
        </p:nvSpPr>
        <p:spPr>
          <a:xfrm>
            <a:off x="8705088" y="2002536"/>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Cancel plan</a:t>
            </a:r>
            <a:endParaRPr lang="en-US" sz="1500" dirty="0"/>
          </a:p>
        </p:txBody>
      </p:sp>
      <p:sp>
        <p:nvSpPr>
          <p:cNvPr id="26" name="Shape 16"/>
          <p:cNvSpPr/>
          <p:nvPr/>
        </p:nvSpPr>
        <p:spPr>
          <a:xfrm>
            <a:off x="8092440" y="2587752"/>
            <a:ext cx="2697480" cy="475488"/>
          </a:xfrm>
          <a:prstGeom prst="roundRect">
            <a:avLst>
              <a:gd name="adj" fmla="val 15385"/>
            </a:avLst>
          </a:prstGeom>
          <a:solidFill>
            <a:srgbClr val="A94A4A"/>
          </a:solidFill>
          <a:ln/>
          <a:effectLst>
            <a:outerShdw sx="100000" sy="100000" kx="0" ky="0" algn="bl" rotWithShape="0" blurRad="114300" dist="38100" dir="5400000">
              <a:srgbClr val="1B365D">
                <a:alpha val="18000"/>
              </a:srgbClr>
            </a:outerShdw>
          </a:effectLst>
        </p:spPr>
      </p:sp>
      <p:pic>
        <p:nvPicPr>
          <p:cNvPr id="27" name="Image 7" descr="preencoded.png">    </p:cNvPr>
          <p:cNvPicPr>
            <a:picLocks noChangeAspect="1"/>
          </p:cNvPicPr>
          <p:nvPr/>
        </p:nvPicPr>
        <p:blipFill>
          <a:blip r:embed="rId8"/>
          <a:stretch>
            <a:fillRect/>
          </a:stretch>
        </p:blipFill>
        <p:spPr>
          <a:xfrm>
            <a:off x="8302752" y="2688336"/>
            <a:ext cx="274320" cy="274320"/>
          </a:xfrm>
          <a:prstGeom prst="rect">
            <a:avLst/>
          </a:prstGeom>
        </p:spPr>
      </p:pic>
      <p:sp>
        <p:nvSpPr>
          <p:cNvPr id="28" name="Text 17"/>
          <p:cNvSpPr/>
          <p:nvPr/>
        </p:nvSpPr>
        <p:spPr>
          <a:xfrm>
            <a:off x="8705088" y="2587752"/>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Delete data</a:t>
            </a:r>
            <a:endParaRPr lang="en-US" sz="1500" dirty="0"/>
          </a:p>
        </p:txBody>
      </p:sp>
      <p:sp>
        <p:nvSpPr>
          <p:cNvPr id="29" name="Shape 18"/>
          <p:cNvSpPr/>
          <p:nvPr/>
        </p:nvSpPr>
        <p:spPr>
          <a:xfrm>
            <a:off x="8092440" y="3200400"/>
            <a:ext cx="2697480" cy="475488"/>
          </a:xfrm>
          <a:prstGeom prst="roundRect">
            <a:avLst>
              <a:gd name="adj" fmla="val 15385"/>
            </a:avLst>
          </a:prstGeom>
          <a:solidFill>
            <a:srgbClr val="EEF2F7"/>
          </a:solidFill>
          <a:ln w="19050">
            <a:solidFill>
              <a:srgbClr val="1B365D"/>
            </a:solidFill>
            <a:prstDash val="dash"/>
          </a:ln>
        </p:spPr>
      </p:sp>
      <p:pic>
        <p:nvPicPr>
          <p:cNvPr id="30" name="Image 8" descr="preencoded.png">    </p:cNvPr>
          <p:cNvPicPr>
            <a:picLocks noChangeAspect="1"/>
          </p:cNvPicPr>
          <p:nvPr/>
        </p:nvPicPr>
        <p:blipFill>
          <a:blip r:embed="rId9"/>
          <a:stretch>
            <a:fillRect/>
          </a:stretch>
        </p:blipFill>
        <p:spPr>
          <a:xfrm>
            <a:off x="8275320" y="3300984"/>
            <a:ext cx="274320" cy="274320"/>
          </a:xfrm>
          <a:prstGeom prst="rect">
            <a:avLst/>
          </a:prstGeom>
        </p:spPr>
      </p:pic>
      <p:sp>
        <p:nvSpPr>
          <p:cNvPr id="31" name="Text 19"/>
          <p:cNvSpPr/>
          <p:nvPr/>
        </p:nvSpPr>
        <p:spPr>
          <a:xfrm>
            <a:off x="8677656" y="3200400"/>
            <a:ext cx="2011680" cy="475488"/>
          </a:xfrm>
          <a:prstGeom prst="rect">
            <a:avLst/>
          </a:prstGeom>
          <a:noFill/>
          <a:ln/>
        </p:spPr>
        <p:txBody>
          <a:bodyPr wrap="square" lIns="0" tIns="0" rIns="0" bIns="0" rtlCol="0" anchor="ctr"/>
          <a:lstStyle/>
          <a:p>
            <a:pPr algn="l" indent="0" marL="0">
              <a:buNone/>
            </a:pPr>
            <a:r>
              <a:rPr lang="en-US" sz="1500" b="1" dirty="0">
                <a:solidFill>
                  <a:srgbClr val="1B365D"/>
                </a:solidFill>
                <a:latin typeface="Calibri" pitchFamily="34" charset="0"/>
                <a:ea typeface="Calibri" pitchFamily="34" charset="-122"/>
                <a:cs typeface="Calibri" pitchFamily="34" charset="-120"/>
              </a:rPr>
              <a:t>no safety net</a:t>
            </a:r>
            <a:endParaRPr lang="en-US" sz="1500" dirty="0"/>
          </a:p>
        </p:txBody>
      </p:sp>
      <p:sp>
        <p:nvSpPr>
          <p:cNvPr id="32" name="Shape 20"/>
          <p:cNvSpPr/>
          <p:nvPr/>
        </p:nvSpPr>
        <p:spPr>
          <a:xfrm>
            <a:off x="0" y="4160520"/>
            <a:ext cx="12191695" cy="2697480"/>
          </a:xfrm>
          <a:prstGeom prst="rect">
            <a:avLst/>
          </a:prstGeom>
          <a:solidFill>
            <a:srgbClr val="1F2E4A"/>
          </a:solidFill>
          <a:ln w="12700">
            <a:solidFill>
              <a:srgbClr val="1F2E4A"/>
            </a:solidFill>
            <a:prstDash val="solid"/>
          </a:ln>
        </p:spPr>
      </p:sp>
      <p:sp>
        <p:nvSpPr>
          <p:cNvPr id="33" name="Text 21"/>
          <p:cNvSpPr/>
          <p:nvPr/>
        </p:nvSpPr>
        <p:spPr>
          <a:xfrm>
            <a:off x="822960" y="4389120"/>
            <a:ext cx="5486400" cy="292608"/>
          </a:xfrm>
          <a:prstGeom prst="rect">
            <a:avLst/>
          </a:prstGeom>
          <a:noFill/>
          <a:ln/>
        </p:spPr>
        <p:txBody>
          <a:bodyPr wrap="square" lIns="0" tIns="0" rIns="0" bIns="0" rtlCol="0" anchor="t"/>
          <a:lstStyle/>
          <a:p>
            <a:pPr algn="l" indent="0" marL="0">
              <a:buNone/>
            </a:pPr>
            <a:r>
              <a:rPr lang="en-US" sz="1400" b="1" dirty="0">
                <a:solidFill>
                  <a:srgbClr val="FF8B8B"/>
                </a:solidFill>
                <a:latin typeface="Calibri" pitchFamily="34" charset="0"/>
                <a:ea typeface="Calibri" pitchFamily="34" charset="-122"/>
                <a:cs typeface="Calibri" pitchFamily="34" charset="-120"/>
              </a:rPr>
              <a:t>WHAT ACTUALLY HAPPENS</a:t>
            </a:r>
            <a:endParaRPr lang="en-US" sz="1400" dirty="0"/>
          </a:p>
        </p:txBody>
      </p:sp>
      <p:sp>
        <p:nvSpPr>
          <p:cNvPr id="34" name="Shape 22"/>
          <p:cNvSpPr/>
          <p:nvPr/>
        </p:nvSpPr>
        <p:spPr>
          <a:xfrm>
            <a:off x="1005840" y="5257800"/>
            <a:ext cx="658368" cy="658368"/>
          </a:xfrm>
          <a:prstGeom prst="ellipse">
            <a:avLst/>
          </a:prstGeom>
          <a:solidFill>
            <a:srgbClr val="A94A4A"/>
          </a:solidFill>
          <a:ln w="12700">
            <a:solidFill>
              <a:srgbClr val="A94A4A"/>
            </a:solidFill>
            <a:prstDash val="solid"/>
          </a:ln>
        </p:spPr>
      </p:sp>
      <p:pic>
        <p:nvPicPr>
          <p:cNvPr id="35" name="Image 9" descr="preencoded.png">    </p:cNvPr>
          <p:cNvPicPr>
            <a:picLocks noChangeAspect="1"/>
          </p:cNvPicPr>
          <p:nvPr/>
        </p:nvPicPr>
        <p:blipFill>
          <a:blip r:embed="rId10"/>
          <a:stretch>
            <a:fillRect/>
          </a:stretch>
        </p:blipFill>
        <p:spPr>
          <a:xfrm>
            <a:off x="1150681" y="5402641"/>
            <a:ext cx="368686" cy="368686"/>
          </a:xfrm>
          <a:prstGeom prst="rect">
            <a:avLst/>
          </a:prstGeom>
        </p:spPr>
      </p:pic>
      <p:sp>
        <p:nvSpPr>
          <p:cNvPr id="36" name="Text 23"/>
          <p:cNvSpPr/>
          <p:nvPr/>
        </p:nvSpPr>
        <p:spPr>
          <a:xfrm>
            <a:off x="187452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Prompt injection</a:t>
            </a:r>
            <a:endParaRPr lang="en-US" sz="1800" dirty="0"/>
          </a:p>
        </p:txBody>
      </p:sp>
      <p:sp>
        <p:nvSpPr>
          <p:cNvPr id="37" name="Text 24"/>
          <p:cNvSpPr/>
          <p:nvPr/>
        </p:nvSpPr>
        <p:spPr>
          <a:xfrm>
            <a:off x="187452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order in the text overrides the written rules</a:t>
            </a:r>
            <a:endParaRPr lang="en-US" sz="1400" dirty="0"/>
          </a:p>
        </p:txBody>
      </p:sp>
      <p:sp>
        <p:nvSpPr>
          <p:cNvPr id="38" name="Shape 25"/>
          <p:cNvSpPr/>
          <p:nvPr/>
        </p:nvSpPr>
        <p:spPr>
          <a:xfrm>
            <a:off x="4754880" y="5257800"/>
            <a:ext cx="658368" cy="658368"/>
          </a:xfrm>
          <a:prstGeom prst="ellipse">
            <a:avLst/>
          </a:prstGeom>
          <a:solidFill>
            <a:srgbClr val="A94A4A"/>
          </a:solidFill>
          <a:ln w="12700">
            <a:solidFill>
              <a:srgbClr val="A94A4A"/>
            </a:solidFill>
            <a:prstDash val="solid"/>
          </a:ln>
        </p:spPr>
      </p:sp>
      <p:pic>
        <p:nvPicPr>
          <p:cNvPr id="39" name="Image 10" descr="preencoded.png">    </p:cNvPr>
          <p:cNvPicPr>
            <a:picLocks noChangeAspect="1"/>
          </p:cNvPicPr>
          <p:nvPr/>
        </p:nvPicPr>
        <p:blipFill>
          <a:blip r:embed="rId11"/>
          <a:stretch>
            <a:fillRect/>
          </a:stretch>
        </p:blipFill>
        <p:spPr>
          <a:xfrm>
            <a:off x="4899721" y="5402641"/>
            <a:ext cx="368686" cy="368686"/>
          </a:xfrm>
          <a:prstGeom prst="rect">
            <a:avLst/>
          </a:prstGeom>
        </p:spPr>
      </p:pic>
      <p:sp>
        <p:nvSpPr>
          <p:cNvPr id="40" name="Text 26"/>
          <p:cNvSpPr/>
          <p:nvPr/>
        </p:nvSpPr>
        <p:spPr>
          <a:xfrm>
            <a:off x="562356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Hallucination</a:t>
            </a:r>
            <a:endParaRPr lang="en-US" sz="1800" dirty="0"/>
          </a:p>
        </p:txBody>
      </p:sp>
      <p:sp>
        <p:nvSpPr>
          <p:cNvPr id="41" name="Text 27"/>
          <p:cNvSpPr/>
          <p:nvPr/>
        </p:nvSpPr>
        <p:spPr>
          <a:xfrm>
            <a:off x="562356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edge case of the policy reads as allowed</a:t>
            </a:r>
            <a:endParaRPr lang="en-US" sz="1400" dirty="0"/>
          </a:p>
        </p:txBody>
      </p:sp>
      <p:sp>
        <p:nvSpPr>
          <p:cNvPr id="42" name="Shape 28"/>
          <p:cNvSpPr/>
          <p:nvPr/>
        </p:nvSpPr>
        <p:spPr>
          <a:xfrm>
            <a:off x="8503920" y="5257800"/>
            <a:ext cx="658368" cy="658368"/>
          </a:xfrm>
          <a:prstGeom prst="ellipse">
            <a:avLst/>
          </a:prstGeom>
          <a:solidFill>
            <a:srgbClr val="A94A4A"/>
          </a:solidFill>
          <a:ln w="12700">
            <a:solidFill>
              <a:srgbClr val="A94A4A"/>
            </a:solidFill>
            <a:prstDash val="solid"/>
          </a:ln>
        </p:spPr>
      </p:sp>
      <p:pic>
        <p:nvPicPr>
          <p:cNvPr id="43" name="Image 11" descr="preencoded.png">    </p:cNvPr>
          <p:cNvPicPr>
            <a:picLocks noChangeAspect="1"/>
          </p:cNvPicPr>
          <p:nvPr/>
        </p:nvPicPr>
        <p:blipFill>
          <a:blip r:embed="rId12"/>
          <a:stretch>
            <a:fillRect/>
          </a:stretch>
        </p:blipFill>
        <p:spPr>
          <a:xfrm>
            <a:off x="8648761" y="5402641"/>
            <a:ext cx="368686" cy="368686"/>
          </a:xfrm>
          <a:prstGeom prst="rect">
            <a:avLst/>
          </a:prstGeom>
        </p:spPr>
      </p:pic>
      <p:sp>
        <p:nvSpPr>
          <p:cNvPr id="44" name="Text 29"/>
          <p:cNvSpPr/>
          <p:nvPr/>
        </p:nvSpPr>
        <p:spPr>
          <a:xfrm>
            <a:off x="937260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No safety net</a:t>
            </a:r>
            <a:endParaRPr lang="en-US" sz="1800" dirty="0"/>
          </a:p>
        </p:txBody>
      </p:sp>
      <p:sp>
        <p:nvSpPr>
          <p:cNvPr id="45" name="Text 30"/>
          <p:cNvSpPr/>
          <p:nvPr/>
        </p:nvSpPr>
        <p:spPr>
          <a:xfrm>
            <a:off x="937260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money and data cannot come back</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Quick quiz: guess the error rate</a:t>
            </a:r>
            <a:endParaRPr lang="en-US" sz="3600" dirty="0"/>
          </a:p>
        </p:txBody>
      </p:sp>
      <p:sp>
        <p:nvSpPr>
          <p:cNvPr id="4" name="Text 1"/>
          <p:cNvSpPr/>
          <p:nvPr/>
        </p:nvSpPr>
        <p:spPr>
          <a:xfrm>
            <a:off x="548640" y="1554480"/>
            <a:ext cx="11094415" cy="41148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The smartest AI should say "I don't know" on hard questions. How often does it still answer wrongly?</a:t>
            </a:r>
            <a:endParaRPr lang="en-US" sz="1900" dirty="0"/>
          </a:p>
        </p:txBody>
      </p:sp>
      <p:sp>
        <p:nvSpPr>
          <p:cNvPr id="5" name="Text 2"/>
          <p:cNvSpPr/>
          <p:nvPr/>
        </p:nvSpPr>
        <p:spPr>
          <a:xfrm>
            <a:off x="548640" y="2103120"/>
            <a:ext cx="11094415"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AA-Omniscience: 369 models tested.</a:t>
            </a:r>
            <a:endParaRPr lang="en-US" sz="1400" dirty="0"/>
          </a:p>
        </p:txBody>
      </p:sp>
      <p:sp>
        <p:nvSpPr>
          <p:cNvPr id="6" name="Shape 3"/>
          <p:cNvSpPr/>
          <p:nvPr/>
        </p:nvSpPr>
        <p:spPr>
          <a:xfrm>
            <a:off x="10012680" y="1371600"/>
            <a:ext cx="155448" cy="155448"/>
          </a:xfrm>
          <a:prstGeom prst="ellipse">
            <a:avLst/>
          </a:prstGeom>
          <a:solidFill>
            <a:srgbClr val="A94A4A"/>
          </a:solidFill>
          <a:ln w="12700">
            <a:solidFill>
              <a:srgbClr val="A94A4A"/>
            </a:solidFill>
            <a:prstDash val="solid"/>
          </a:ln>
        </p:spPr>
      </p:sp>
      <p:sp>
        <p:nvSpPr>
          <p:cNvPr id="7" name="Shape 4"/>
          <p:cNvSpPr/>
          <p:nvPr/>
        </p:nvSpPr>
        <p:spPr>
          <a:xfrm>
            <a:off x="10378440" y="1353312"/>
            <a:ext cx="155448" cy="155448"/>
          </a:xfrm>
          <a:prstGeom prst="ellipse">
            <a:avLst/>
          </a:prstGeom>
          <a:solidFill>
            <a:srgbClr val="2F5F98"/>
          </a:solidFill>
          <a:ln w="12700">
            <a:solidFill>
              <a:srgbClr val="2F5F98"/>
            </a:solidFill>
            <a:prstDash val="solid"/>
          </a:ln>
        </p:spPr>
      </p:sp>
      <p:sp>
        <p:nvSpPr>
          <p:cNvPr id="8" name="Shape 5"/>
          <p:cNvSpPr/>
          <p:nvPr/>
        </p:nvSpPr>
        <p:spPr>
          <a:xfrm>
            <a:off x="10698480" y="1389888"/>
            <a:ext cx="155448" cy="155448"/>
          </a:xfrm>
          <a:prstGeom prst="ellipse">
            <a:avLst/>
          </a:prstGeom>
          <a:solidFill>
            <a:srgbClr val="1F7A7A"/>
          </a:solidFill>
          <a:ln w="12700">
            <a:solidFill>
              <a:srgbClr val="1F7A7A"/>
            </a:solidFill>
            <a:prstDash val="solid"/>
          </a:ln>
        </p:spPr>
      </p:sp>
      <p:sp>
        <p:nvSpPr>
          <p:cNvPr id="9" name="Shape 6"/>
          <p:cNvSpPr/>
          <p:nvPr/>
        </p:nvSpPr>
        <p:spPr>
          <a:xfrm>
            <a:off x="11018520" y="1325880"/>
            <a:ext cx="155448" cy="155448"/>
          </a:xfrm>
          <a:prstGeom prst="ellipse">
            <a:avLst/>
          </a:prstGeom>
          <a:solidFill>
            <a:srgbClr val="1B365D"/>
          </a:solidFill>
          <a:ln w="12700">
            <a:solidFill>
              <a:srgbClr val="1B365D"/>
            </a:solidFill>
            <a:prstDash val="solid"/>
          </a:ln>
        </p:spPr>
      </p:sp>
      <p:sp>
        <p:nvSpPr>
          <p:cNvPr id="10" name="Shape 7"/>
          <p:cNvSpPr/>
          <p:nvPr/>
        </p:nvSpPr>
        <p:spPr>
          <a:xfrm>
            <a:off x="11292840" y="1353312"/>
            <a:ext cx="155448" cy="155448"/>
          </a:xfrm>
          <a:prstGeom prst="ellipse">
            <a:avLst/>
          </a:prstGeom>
          <a:solidFill>
            <a:srgbClr val="2F5F98"/>
          </a:solidFill>
          <a:ln w="12700">
            <a:solidFill>
              <a:srgbClr val="2F5F98"/>
            </a:solidFill>
            <a:prstDash val="solid"/>
          </a:ln>
        </p:spPr>
      </p:sp>
      <p:sp>
        <p:nvSpPr>
          <p:cNvPr id="11" name="Shape 8"/>
          <p:cNvSpPr/>
          <p:nvPr/>
        </p:nvSpPr>
        <p:spPr>
          <a:xfrm>
            <a:off x="11521440" y="1371600"/>
            <a:ext cx="155448" cy="155448"/>
          </a:xfrm>
          <a:prstGeom prst="ellipse">
            <a:avLst/>
          </a:prstGeom>
          <a:solidFill>
            <a:srgbClr val="A94A4A"/>
          </a:solidFill>
          <a:ln w="12700">
            <a:solidFill>
              <a:srgbClr val="A94A4A"/>
            </a:solidFill>
            <a:prstDash val="solid"/>
          </a:ln>
        </p:spPr>
      </p:sp>
      <p:sp>
        <p:nvSpPr>
          <p:cNvPr id="12" name="Shape 9"/>
          <p:cNvSpPr/>
          <p:nvPr/>
        </p:nvSpPr>
        <p:spPr>
          <a:xfrm>
            <a:off x="914400" y="4297680"/>
            <a:ext cx="10362895" cy="0"/>
          </a:xfrm>
          <a:prstGeom prst="line">
            <a:avLst/>
          </a:prstGeom>
          <a:noFill/>
          <a:ln w="25400">
            <a:solidFill>
              <a:srgbClr val="8C9BAD"/>
            </a:solidFill>
            <a:prstDash val="solid"/>
          </a:ln>
        </p:spPr>
      </p:sp>
      <p:sp>
        <p:nvSpPr>
          <p:cNvPr id="13" name="Text 10"/>
          <p:cNvSpPr/>
          <p:nvPr/>
        </p:nvSpPr>
        <p:spPr>
          <a:xfrm>
            <a:off x="335265"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0-5%</a:t>
            </a:r>
            <a:endParaRPr lang="en-US" sz="4400" dirty="0"/>
          </a:p>
        </p:txBody>
      </p:sp>
      <p:sp>
        <p:nvSpPr>
          <p:cNvPr id="14" name="Shape 11"/>
          <p:cNvSpPr/>
          <p:nvPr/>
        </p:nvSpPr>
        <p:spPr>
          <a:xfrm>
            <a:off x="1286241" y="4151376"/>
            <a:ext cx="292608" cy="292608"/>
          </a:xfrm>
          <a:prstGeom prst="ellipse">
            <a:avLst/>
          </a:prstGeom>
          <a:solidFill>
            <a:srgbClr val="1B365D"/>
          </a:solidFill>
          <a:ln w="12700">
            <a:solidFill>
              <a:srgbClr val="1B365D"/>
            </a:solidFill>
            <a:prstDash val="solid"/>
          </a:ln>
        </p:spPr>
      </p:sp>
      <p:sp>
        <p:nvSpPr>
          <p:cNvPr id="15" name="Shape 12"/>
          <p:cNvSpPr/>
          <p:nvPr/>
        </p:nvSpPr>
        <p:spPr>
          <a:xfrm>
            <a:off x="1222233" y="4727448"/>
            <a:ext cx="420624" cy="420624"/>
          </a:xfrm>
          <a:prstGeom prst="ellipse">
            <a:avLst/>
          </a:prstGeom>
          <a:solidFill>
            <a:srgbClr val="1B365D"/>
          </a:solidFill>
          <a:ln w="12700">
            <a:solidFill>
              <a:srgbClr val="1B365D"/>
            </a:solidFill>
            <a:prstDash val="solid"/>
          </a:ln>
        </p:spPr>
      </p:sp>
      <p:sp>
        <p:nvSpPr>
          <p:cNvPr id="16" name="Text 13"/>
          <p:cNvSpPr/>
          <p:nvPr/>
        </p:nvSpPr>
        <p:spPr>
          <a:xfrm>
            <a:off x="1222233"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7" name="Text 14"/>
          <p:cNvSpPr/>
          <p:nvPr/>
        </p:nvSpPr>
        <p:spPr>
          <a:xfrm>
            <a:off x="-30495" y="52120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Almost never</a:t>
            </a:r>
            <a:endParaRPr lang="en-US" sz="1800" dirty="0"/>
          </a:p>
        </p:txBody>
      </p:sp>
      <p:sp>
        <p:nvSpPr>
          <p:cNvPr id="18" name="Text 15"/>
          <p:cNvSpPr/>
          <p:nvPr/>
        </p:nvSpPr>
        <p:spPr>
          <a:xfrm>
            <a:off x="1889699"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~20%</a:t>
            </a:r>
            <a:endParaRPr lang="en-US" sz="4400" dirty="0"/>
          </a:p>
        </p:txBody>
      </p:sp>
      <p:sp>
        <p:nvSpPr>
          <p:cNvPr id="19" name="Shape 16"/>
          <p:cNvSpPr/>
          <p:nvPr/>
        </p:nvSpPr>
        <p:spPr>
          <a:xfrm>
            <a:off x="2840675" y="4151376"/>
            <a:ext cx="292608" cy="292608"/>
          </a:xfrm>
          <a:prstGeom prst="ellipse">
            <a:avLst/>
          </a:prstGeom>
          <a:solidFill>
            <a:srgbClr val="1B365D"/>
          </a:solidFill>
          <a:ln w="12700">
            <a:solidFill>
              <a:srgbClr val="1B365D"/>
            </a:solidFill>
            <a:prstDash val="solid"/>
          </a:ln>
        </p:spPr>
      </p:sp>
      <p:sp>
        <p:nvSpPr>
          <p:cNvPr id="20" name="Shape 17"/>
          <p:cNvSpPr/>
          <p:nvPr/>
        </p:nvSpPr>
        <p:spPr>
          <a:xfrm>
            <a:off x="2776667" y="4727448"/>
            <a:ext cx="420624" cy="420624"/>
          </a:xfrm>
          <a:prstGeom prst="ellipse">
            <a:avLst/>
          </a:prstGeom>
          <a:solidFill>
            <a:srgbClr val="1B365D"/>
          </a:solidFill>
          <a:ln w="12700">
            <a:solidFill>
              <a:srgbClr val="1B365D"/>
            </a:solidFill>
            <a:prstDash val="solid"/>
          </a:ln>
        </p:spPr>
      </p:sp>
      <p:sp>
        <p:nvSpPr>
          <p:cNvPr id="21" name="Text 18"/>
          <p:cNvSpPr/>
          <p:nvPr/>
        </p:nvSpPr>
        <p:spPr>
          <a:xfrm>
            <a:off x="2776667"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22" name="Text 19"/>
          <p:cNvSpPr/>
          <p:nvPr/>
        </p:nvSpPr>
        <p:spPr>
          <a:xfrm>
            <a:off x="1523939" y="56692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About one in five</a:t>
            </a:r>
            <a:endParaRPr lang="en-US" sz="1800" dirty="0"/>
          </a:p>
        </p:txBody>
      </p:sp>
      <p:sp>
        <p:nvSpPr>
          <p:cNvPr id="23" name="Text 20"/>
          <p:cNvSpPr/>
          <p:nvPr/>
        </p:nvSpPr>
        <p:spPr>
          <a:xfrm>
            <a:off x="4998568"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~50%</a:t>
            </a:r>
            <a:endParaRPr lang="en-US" sz="4400" dirty="0"/>
          </a:p>
        </p:txBody>
      </p:sp>
      <p:sp>
        <p:nvSpPr>
          <p:cNvPr id="24" name="Shape 21"/>
          <p:cNvSpPr/>
          <p:nvPr/>
        </p:nvSpPr>
        <p:spPr>
          <a:xfrm>
            <a:off x="5949544" y="4151376"/>
            <a:ext cx="292608" cy="292608"/>
          </a:xfrm>
          <a:prstGeom prst="ellipse">
            <a:avLst/>
          </a:prstGeom>
          <a:solidFill>
            <a:srgbClr val="1B365D"/>
          </a:solidFill>
          <a:ln w="12700">
            <a:solidFill>
              <a:srgbClr val="1B365D"/>
            </a:solidFill>
            <a:prstDash val="solid"/>
          </a:ln>
        </p:spPr>
      </p:sp>
      <p:sp>
        <p:nvSpPr>
          <p:cNvPr id="25" name="Shape 22"/>
          <p:cNvSpPr/>
          <p:nvPr/>
        </p:nvSpPr>
        <p:spPr>
          <a:xfrm>
            <a:off x="5885536" y="4727448"/>
            <a:ext cx="420624" cy="420624"/>
          </a:xfrm>
          <a:prstGeom prst="ellipse">
            <a:avLst/>
          </a:prstGeom>
          <a:solidFill>
            <a:srgbClr val="1B365D"/>
          </a:solidFill>
          <a:ln w="12700">
            <a:solidFill>
              <a:srgbClr val="1B365D"/>
            </a:solidFill>
            <a:prstDash val="solid"/>
          </a:ln>
        </p:spPr>
      </p:sp>
      <p:sp>
        <p:nvSpPr>
          <p:cNvPr id="26" name="Text 23"/>
          <p:cNvSpPr/>
          <p:nvPr/>
        </p:nvSpPr>
        <p:spPr>
          <a:xfrm>
            <a:off x="5885536"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7" name="Text 24"/>
          <p:cNvSpPr/>
          <p:nvPr/>
        </p:nvSpPr>
        <p:spPr>
          <a:xfrm>
            <a:off x="4632808" y="52120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About half</a:t>
            </a:r>
            <a:endParaRPr lang="en-US" sz="1800" dirty="0"/>
          </a:p>
        </p:txBody>
      </p:sp>
      <p:sp>
        <p:nvSpPr>
          <p:cNvPr id="28" name="Text 25"/>
          <p:cNvSpPr/>
          <p:nvPr/>
        </p:nvSpPr>
        <p:spPr>
          <a:xfrm>
            <a:off x="9143726"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90%+</a:t>
            </a:r>
            <a:endParaRPr lang="en-US" sz="4400" dirty="0"/>
          </a:p>
        </p:txBody>
      </p:sp>
      <p:sp>
        <p:nvSpPr>
          <p:cNvPr id="29" name="Shape 26"/>
          <p:cNvSpPr/>
          <p:nvPr/>
        </p:nvSpPr>
        <p:spPr>
          <a:xfrm>
            <a:off x="10094702" y="4151376"/>
            <a:ext cx="292608" cy="292608"/>
          </a:xfrm>
          <a:prstGeom prst="ellipse">
            <a:avLst/>
          </a:prstGeom>
          <a:solidFill>
            <a:srgbClr val="1B365D"/>
          </a:solidFill>
          <a:ln w="12700">
            <a:solidFill>
              <a:srgbClr val="1B365D"/>
            </a:solidFill>
            <a:prstDash val="solid"/>
          </a:ln>
        </p:spPr>
      </p:sp>
      <p:sp>
        <p:nvSpPr>
          <p:cNvPr id="30" name="Shape 27"/>
          <p:cNvSpPr/>
          <p:nvPr/>
        </p:nvSpPr>
        <p:spPr>
          <a:xfrm>
            <a:off x="10030694" y="4727448"/>
            <a:ext cx="420624" cy="420624"/>
          </a:xfrm>
          <a:prstGeom prst="ellipse">
            <a:avLst/>
          </a:prstGeom>
          <a:solidFill>
            <a:srgbClr val="1B365D"/>
          </a:solidFill>
          <a:ln w="12700">
            <a:solidFill>
              <a:srgbClr val="1B365D"/>
            </a:solidFill>
            <a:prstDash val="solid"/>
          </a:ln>
        </p:spPr>
      </p:sp>
      <p:sp>
        <p:nvSpPr>
          <p:cNvPr id="31" name="Text 28"/>
          <p:cNvSpPr/>
          <p:nvPr/>
        </p:nvSpPr>
        <p:spPr>
          <a:xfrm>
            <a:off x="10030694"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32" name="Text 29"/>
          <p:cNvSpPr/>
          <p:nvPr/>
        </p:nvSpPr>
        <p:spPr>
          <a:xfrm>
            <a:off x="8777966" y="56692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Nearly always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The answer: about half</a:t>
            </a:r>
            <a:endParaRPr lang="en-US" sz="3600" dirty="0"/>
          </a:p>
        </p:txBody>
      </p:sp>
      <p:sp>
        <p:nvSpPr>
          <p:cNvPr id="4" name="Text 1"/>
          <p:cNvSpPr/>
          <p:nvPr/>
        </p:nvSpPr>
        <p:spPr>
          <a:xfrm>
            <a:off x="548640" y="1554480"/>
            <a:ext cx="11094415" cy="41148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The smartest AI should say "I don't know" on hard questions. How often does it still answer wrongly?</a:t>
            </a:r>
            <a:endParaRPr lang="en-US" sz="1900" dirty="0"/>
          </a:p>
        </p:txBody>
      </p:sp>
      <p:sp>
        <p:nvSpPr>
          <p:cNvPr id="5" name="Text 2"/>
          <p:cNvSpPr/>
          <p:nvPr/>
        </p:nvSpPr>
        <p:spPr>
          <a:xfrm>
            <a:off x="548640" y="2103120"/>
            <a:ext cx="11094415"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The smartest models: about half wrong. The minimum on the board: 18%.</a:t>
            </a:r>
            <a:endParaRPr lang="en-US" sz="1400" dirty="0"/>
          </a:p>
        </p:txBody>
      </p:sp>
      <p:sp>
        <p:nvSpPr>
          <p:cNvPr id="6" name="Shape 3"/>
          <p:cNvSpPr/>
          <p:nvPr/>
        </p:nvSpPr>
        <p:spPr>
          <a:xfrm>
            <a:off x="10012680" y="1371600"/>
            <a:ext cx="155448" cy="155448"/>
          </a:xfrm>
          <a:prstGeom prst="ellipse">
            <a:avLst/>
          </a:prstGeom>
          <a:solidFill>
            <a:srgbClr val="A94A4A"/>
          </a:solidFill>
          <a:ln w="12700">
            <a:solidFill>
              <a:srgbClr val="A94A4A"/>
            </a:solidFill>
            <a:prstDash val="solid"/>
          </a:ln>
        </p:spPr>
      </p:sp>
      <p:sp>
        <p:nvSpPr>
          <p:cNvPr id="7" name="Shape 4"/>
          <p:cNvSpPr/>
          <p:nvPr/>
        </p:nvSpPr>
        <p:spPr>
          <a:xfrm>
            <a:off x="10378440" y="1353312"/>
            <a:ext cx="155448" cy="155448"/>
          </a:xfrm>
          <a:prstGeom prst="ellipse">
            <a:avLst/>
          </a:prstGeom>
          <a:solidFill>
            <a:srgbClr val="2F5F98"/>
          </a:solidFill>
          <a:ln w="12700">
            <a:solidFill>
              <a:srgbClr val="2F5F98"/>
            </a:solidFill>
            <a:prstDash val="solid"/>
          </a:ln>
        </p:spPr>
      </p:sp>
      <p:sp>
        <p:nvSpPr>
          <p:cNvPr id="8" name="Shape 5"/>
          <p:cNvSpPr/>
          <p:nvPr/>
        </p:nvSpPr>
        <p:spPr>
          <a:xfrm>
            <a:off x="10698480" y="1389888"/>
            <a:ext cx="155448" cy="155448"/>
          </a:xfrm>
          <a:prstGeom prst="ellipse">
            <a:avLst/>
          </a:prstGeom>
          <a:solidFill>
            <a:srgbClr val="1F7A7A"/>
          </a:solidFill>
          <a:ln w="12700">
            <a:solidFill>
              <a:srgbClr val="1F7A7A"/>
            </a:solidFill>
            <a:prstDash val="solid"/>
          </a:ln>
        </p:spPr>
      </p:sp>
      <p:sp>
        <p:nvSpPr>
          <p:cNvPr id="9" name="Shape 6"/>
          <p:cNvSpPr/>
          <p:nvPr/>
        </p:nvSpPr>
        <p:spPr>
          <a:xfrm>
            <a:off x="11018520" y="1325880"/>
            <a:ext cx="155448" cy="155448"/>
          </a:xfrm>
          <a:prstGeom prst="ellipse">
            <a:avLst/>
          </a:prstGeom>
          <a:solidFill>
            <a:srgbClr val="1B365D"/>
          </a:solidFill>
          <a:ln w="12700">
            <a:solidFill>
              <a:srgbClr val="1B365D"/>
            </a:solidFill>
            <a:prstDash val="solid"/>
          </a:ln>
        </p:spPr>
      </p:sp>
      <p:sp>
        <p:nvSpPr>
          <p:cNvPr id="10" name="Shape 7"/>
          <p:cNvSpPr/>
          <p:nvPr/>
        </p:nvSpPr>
        <p:spPr>
          <a:xfrm>
            <a:off x="11292840" y="1353312"/>
            <a:ext cx="155448" cy="155448"/>
          </a:xfrm>
          <a:prstGeom prst="ellipse">
            <a:avLst/>
          </a:prstGeom>
          <a:solidFill>
            <a:srgbClr val="2F5F98"/>
          </a:solidFill>
          <a:ln w="12700">
            <a:solidFill>
              <a:srgbClr val="2F5F98"/>
            </a:solidFill>
            <a:prstDash val="solid"/>
          </a:ln>
        </p:spPr>
      </p:sp>
      <p:sp>
        <p:nvSpPr>
          <p:cNvPr id="11" name="Shape 8"/>
          <p:cNvSpPr/>
          <p:nvPr/>
        </p:nvSpPr>
        <p:spPr>
          <a:xfrm>
            <a:off x="11521440" y="1371600"/>
            <a:ext cx="155448" cy="155448"/>
          </a:xfrm>
          <a:prstGeom prst="ellipse">
            <a:avLst/>
          </a:prstGeom>
          <a:solidFill>
            <a:srgbClr val="A94A4A"/>
          </a:solidFill>
          <a:ln w="12700">
            <a:solidFill>
              <a:srgbClr val="A94A4A"/>
            </a:solidFill>
            <a:prstDash val="solid"/>
          </a:ln>
        </p:spPr>
      </p:sp>
      <p:sp>
        <p:nvSpPr>
          <p:cNvPr id="12" name="Shape 9"/>
          <p:cNvSpPr/>
          <p:nvPr/>
        </p:nvSpPr>
        <p:spPr>
          <a:xfrm>
            <a:off x="914400" y="4297680"/>
            <a:ext cx="10362895" cy="0"/>
          </a:xfrm>
          <a:prstGeom prst="line">
            <a:avLst/>
          </a:prstGeom>
          <a:noFill/>
          <a:ln w="25400">
            <a:solidFill>
              <a:srgbClr val="8C9BAD"/>
            </a:solidFill>
            <a:prstDash val="solid"/>
          </a:ln>
        </p:spPr>
      </p:sp>
      <p:sp>
        <p:nvSpPr>
          <p:cNvPr id="13" name="Text 10"/>
          <p:cNvSpPr/>
          <p:nvPr/>
        </p:nvSpPr>
        <p:spPr>
          <a:xfrm>
            <a:off x="335265"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0-5%</a:t>
            </a:r>
            <a:endParaRPr lang="en-US" sz="4400" dirty="0"/>
          </a:p>
        </p:txBody>
      </p:sp>
      <p:sp>
        <p:nvSpPr>
          <p:cNvPr id="14" name="Shape 11"/>
          <p:cNvSpPr/>
          <p:nvPr/>
        </p:nvSpPr>
        <p:spPr>
          <a:xfrm>
            <a:off x="1286241" y="4151376"/>
            <a:ext cx="292608" cy="292608"/>
          </a:xfrm>
          <a:prstGeom prst="ellipse">
            <a:avLst/>
          </a:prstGeom>
          <a:solidFill>
            <a:srgbClr val="77828F"/>
          </a:solidFill>
          <a:ln w="12700">
            <a:solidFill>
              <a:srgbClr val="77828F"/>
            </a:solidFill>
            <a:prstDash val="solid"/>
          </a:ln>
        </p:spPr>
      </p:sp>
      <p:sp>
        <p:nvSpPr>
          <p:cNvPr id="15" name="Shape 12"/>
          <p:cNvSpPr/>
          <p:nvPr/>
        </p:nvSpPr>
        <p:spPr>
          <a:xfrm>
            <a:off x="1222233" y="4727448"/>
            <a:ext cx="420624" cy="420624"/>
          </a:xfrm>
          <a:prstGeom prst="ellipse">
            <a:avLst/>
          </a:prstGeom>
          <a:solidFill>
            <a:srgbClr val="77828F"/>
          </a:solidFill>
          <a:ln w="12700">
            <a:solidFill>
              <a:srgbClr val="77828F"/>
            </a:solidFill>
            <a:prstDash val="solid"/>
          </a:ln>
        </p:spPr>
      </p:sp>
      <p:sp>
        <p:nvSpPr>
          <p:cNvPr id="16" name="Text 13"/>
          <p:cNvSpPr/>
          <p:nvPr/>
        </p:nvSpPr>
        <p:spPr>
          <a:xfrm>
            <a:off x="1222233"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7" name="Text 14"/>
          <p:cNvSpPr/>
          <p:nvPr/>
        </p:nvSpPr>
        <p:spPr>
          <a:xfrm>
            <a:off x="-30495" y="52120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Almost never</a:t>
            </a:r>
            <a:endParaRPr lang="en-US" sz="1800" dirty="0"/>
          </a:p>
        </p:txBody>
      </p:sp>
      <p:sp>
        <p:nvSpPr>
          <p:cNvPr id="18" name="Text 15"/>
          <p:cNvSpPr/>
          <p:nvPr/>
        </p:nvSpPr>
        <p:spPr>
          <a:xfrm>
            <a:off x="1889699"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~20%</a:t>
            </a:r>
            <a:endParaRPr lang="en-US" sz="4400" dirty="0"/>
          </a:p>
        </p:txBody>
      </p:sp>
      <p:sp>
        <p:nvSpPr>
          <p:cNvPr id="19" name="Shape 16"/>
          <p:cNvSpPr/>
          <p:nvPr/>
        </p:nvSpPr>
        <p:spPr>
          <a:xfrm>
            <a:off x="2840675" y="4151376"/>
            <a:ext cx="292608" cy="292608"/>
          </a:xfrm>
          <a:prstGeom prst="ellipse">
            <a:avLst/>
          </a:prstGeom>
          <a:solidFill>
            <a:srgbClr val="77828F"/>
          </a:solidFill>
          <a:ln w="12700">
            <a:solidFill>
              <a:srgbClr val="77828F"/>
            </a:solidFill>
            <a:prstDash val="solid"/>
          </a:ln>
        </p:spPr>
      </p:sp>
      <p:sp>
        <p:nvSpPr>
          <p:cNvPr id="20" name="Shape 17"/>
          <p:cNvSpPr/>
          <p:nvPr/>
        </p:nvSpPr>
        <p:spPr>
          <a:xfrm>
            <a:off x="2776667" y="4727448"/>
            <a:ext cx="420624" cy="420624"/>
          </a:xfrm>
          <a:prstGeom prst="ellipse">
            <a:avLst/>
          </a:prstGeom>
          <a:solidFill>
            <a:srgbClr val="77828F"/>
          </a:solidFill>
          <a:ln w="12700">
            <a:solidFill>
              <a:srgbClr val="77828F"/>
            </a:solidFill>
            <a:prstDash val="solid"/>
          </a:ln>
        </p:spPr>
      </p:sp>
      <p:sp>
        <p:nvSpPr>
          <p:cNvPr id="21" name="Text 18"/>
          <p:cNvSpPr/>
          <p:nvPr/>
        </p:nvSpPr>
        <p:spPr>
          <a:xfrm>
            <a:off x="2776667"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22" name="Text 19"/>
          <p:cNvSpPr/>
          <p:nvPr/>
        </p:nvSpPr>
        <p:spPr>
          <a:xfrm>
            <a:off x="1523939" y="56692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About one in five</a:t>
            </a:r>
            <a:endParaRPr lang="en-US" sz="1800" dirty="0"/>
          </a:p>
        </p:txBody>
      </p:sp>
      <p:sp>
        <p:nvSpPr>
          <p:cNvPr id="23" name="Text 20"/>
          <p:cNvSpPr/>
          <p:nvPr/>
        </p:nvSpPr>
        <p:spPr>
          <a:xfrm>
            <a:off x="4998568" y="3063240"/>
            <a:ext cx="2194560" cy="777240"/>
          </a:xfrm>
          <a:prstGeom prst="rect">
            <a:avLst/>
          </a:prstGeom>
          <a:noFill/>
          <a:ln/>
        </p:spPr>
        <p:txBody>
          <a:bodyPr wrap="square" lIns="0" tIns="0" rIns="0" bIns="0" rtlCol="0" anchor="t"/>
          <a:lstStyle/>
          <a:p>
            <a:pPr algn="ctr" indent="0" marL="0">
              <a:buNone/>
            </a:pPr>
            <a:r>
              <a:rPr lang="en-US" sz="4400" b="1" dirty="0">
                <a:solidFill>
                  <a:srgbClr val="1F7A7A"/>
                </a:solidFill>
                <a:latin typeface="Calibri" pitchFamily="34" charset="0"/>
                <a:ea typeface="Calibri" pitchFamily="34" charset="-122"/>
                <a:cs typeface="Calibri" pitchFamily="34" charset="-120"/>
              </a:rPr>
              <a:t>~50%</a:t>
            </a:r>
            <a:endParaRPr lang="en-US" sz="4400" dirty="0"/>
          </a:p>
        </p:txBody>
      </p:sp>
      <p:sp>
        <p:nvSpPr>
          <p:cNvPr id="24" name="Shape 21"/>
          <p:cNvSpPr/>
          <p:nvPr/>
        </p:nvSpPr>
        <p:spPr>
          <a:xfrm>
            <a:off x="5949544" y="4151376"/>
            <a:ext cx="292608" cy="292608"/>
          </a:xfrm>
          <a:prstGeom prst="ellipse">
            <a:avLst/>
          </a:prstGeom>
          <a:solidFill>
            <a:srgbClr val="1F7A7A"/>
          </a:solidFill>
          <a:ln w="12700">
            <a:solidFill>
              <a:srgbClr val="1F7A7A"/>
            </a:solidFill>
            <a:prstDash val="solid"/>
          </a:ln>
        </p:spPr>
      </p:sp>
      <p:sp>
        <p:nvSpPr>
          <p:cNvPr id="25" name="Shape 22"/>
          <p:cNvSpPr/>
          <p:nvPr/>
        </p:nvSpPr>
        <p:spPr>
          <a:xfrm>
            <a:off x="5885536" y="4727448"/>
            <a:ext cx="420624" cy="420624"/>
          </a:xfrm>
          <a:prstGeom prst="ellipse">
            <a:avLst/>
          </a:prstGeom>
          <a:solidFill>
            <a:srgbClr val="1F7A7A"/>
          </a:solidFill>
          <a:ln w="12700">
            <a:solidFill>
              <a:srgbClr val="1F7A7A"/>
            </a:solidFill>
            <a:prstDash val="solid"/>
          </a:ln>
        </p:spPr>
      </p:sp>
      <p:sp>
        <p:nvSpPr>
          <p:cNvPr id="26" name="Text 23"/>
          <p:cNvSpPr/>
          <p:nvPr/>
        </p:nvSpPr>
        <p:spPr>
          <a:xfrm>
            <a:off x="5885536"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7" name="Text 24"/>
          <p:cNvSpPr/>
          <p:nvPr/>
        </p:nvSpPr>
        <p:spPr>
          <a:xfrm>
            <a:off x="4632808" y="5212080"/>
            <a:ext cx="2926080" cy="365760"/>
          </a:xfrm>
          <a:prstGeom prst="rect">
            <a:avLst/>
          </a:prstGeom>
          <a:noFill/>
          <a:ln/>
        </p:spPr>
        <p:txBody>
          <a:bodyPr wrap="square" lIns="0" tIns="0" rIns="0" bIns="0" rtlCol="0" anchor="t"/>
          <a:lstStyle/>
          <a:p>
            <a:pPr algn="ctr" indent="0" marL="0">
              <a:buNone/>
            </a:pPr>
            <a:r>
              <a:rPr lang="en-US" sz="1800" b="1" dirty="0">
                <a:solidFill>
                  <a:srgbClr val="1F7A7A"/>
                </a:solidFill>
                <a:latin typeface="Calibri" pitchFamily="34" charset="0"/>
                <a:ea typeface="Calibri" pitchFamily="34" charset="-122"/>
                <a:cs typeface="Calibri" pitchFamily="34" charset="-120"/>
              </a:rPr>
              <a:t>About half</a:t>
            </a:r>
            <a:endParaRPr lang="en-US" sz="1800" dirty="0"/>
          </a:p>
        </p:txBody>
      </p:sp>
      <p:sp>
        <p:nvSpPr>
          <p:cNvPr id="28" name="Text 25"/>
          <p:cNvSpPr/>
          <p:nvPr/>
        </p:nvSpPr>
        <p:spPr>
          <a:xfrm>
            <a:off x="9143726"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90%+</a:t>
            </a:r>
            <a:endParaRPr lang="en-US" sz="4400" dirty="0"/>
          </a:p>
        </p:txBody>
      </p:sp>
      <p:sp>
        <p:nvSpPr>
          <p:cNvPr id="29" name="Shape 26"/>
          <p:cNvSpPr/>
          <p:nvPr/>
        </p:nvSpPr>
        <p:spPr>
          <a:xfrm>
            <a:off x="10094702" y="4151376"/>
            <a:ext cx="292608" cy="292608"/>
          </a:xfrm>
          <a:prstGeom prst="ellipse">
            <a:avLst/>
          </a:prstGeom>
          <a:solidFill>
            <a:srgbClr val="77828F"/>
          </a:solidFill>
          <a:ln w="12700">
            <a:solidFill>
              <a:srgbClr val="77828F"/>
            </a:solidFill>
            <a:prstDash val="solid"/>
          </a:ln>
        </p:spPr>
      </p:sp>
      <p:sp>
        <p:nvSpPr>
          <p:cNvPr id="30" name="Shape 27"/>
          <p:cNvSpPr/>
          <p:nvPr/>
        </p:nvSpPr>
        <p:spPr>
          <a:xfrm>
            <a:off x="10030694" y="4727448"/>
            <a:ext cx="420624" cy="420624"/>
          </a:xfrm>
          <a:prstGeom prst="ellipse">
            <a:avLst/>
          </a:prstGeom>
          <a:solidFill>
            <a:srgbClr val="77828F"/>
          </a:solidFill>
          <a:ln w="12700">
            <a:solidFill>
              <a:srgbClr val="77828F"/>
            </a:solidFill>
            <a:prstDash val="solid"/>
          </a:ln>
        </p:spPr>
      </p:sp>
      <p:sp>
        <p:nvSpPr>
          <p:cNvPr id="31" name="Text 28"/>
          <p:cNvSpPr/>
          <p:nvPr/>
        </p:nvSpPr>
        <p:spPr>
          <a:xfrm>
            <a:off x="10030694"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32" name="Text 29"/>
          <p:cNvSpPr/>
          <p:nvPr/>
        </p:nvSpPr>
        <p:spPr>
          <a:xfrm>
            <a:off x="8777966" y="56692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Nearly always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A short history of support automation</a:t>
            </a:r>
            <a:endParaRPr lang="en-US" sz="3600" dirty="0"/>
          </a:p>
        </p:txBody>
      </p:sp>
      <p:pic>
        <p:nvPicPr>
          <p:cNvPr id="4"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5" name="Image 1" descr="preencoded.png">    </p:cNvPr>
          <p:cNvPicPr>
            <a:picLocks noChangeAspect="1"/>
          </p:cNvPicPr>
          <p:nvPr/>
        </p:nvPicPr>
        <p:blipFill>
          <a:blip r:embed="rId2"/>
          <a:stretch>
            <a:fillRect/>
          </a:stretch>
        </p:blipFill>
        <p:spPr>
          <a:xfrm>
            <a:off x="502920" y="4922215"/>
            <a:ext cx="822960" cy="822960"/>
          </a:xfrm>
          <a:prstGeom prst="rect">
            <a:avLst/>
          </a:prstGeom>
        </p:spPr>
      </p:pic>
      <p:pic>
        <p:nvPicPr>
          <p:cNvPr id="6" name="Image 2" descr="preencoded.png">    </p:cNvPr>
          <p:cNvPicPr>
            <a:picLocks noChangeAspect="1"/>
          </p:cNvPicPr>
          <p:nvPr/>
        </p:nvPicPr>
        <p:blipFill>
          <a:blip r:embed="rId3"/>
          <a:stretch>
            <a:fillRect/>
          </a:stretch>
        </p:blipFill>
        <p:spPr>
          <a:xfrm>
            <a:off x="3550615" y="3246120"/>
            <a:ext cx="822960" cy="822960"/>
          </a:xfrm>
          <a:prstGeom prst="rect">
            <a:avLst/>
          </a:prstGeom>
        </p:spPr>
      </p:pic>
      <p:sp>
        <p:nvSpPr>
          <p:cNvPr id="7" name="Text 1"/>
          <p:cNvSpPr/>
          <p:nvPr/>
        </p:nvSpPr>
        <p:spPr>
          <a:xfrm>
            <a:off x="6903720" y="1493215"/>
            <a:ext cx="822960" cy="822960"/>
          </a:xfrm>
          <a:prstGeom prst="ellipse">
            <a:avLst>
              <a:gd name="adj" fmla="val 8889"/>
            </a:avLst>
          </a:prstGeom>
          <a:solidFill>
            <a:srgbClr val="234B84"/>
          </a:solidFill>
          <a:ln w="12700">
            <a:solidFill>
              <a:srgbClr val="FFFFFF"/>
            </a:solid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a:t>
            </a:r>
            <a:endParaRPr lang="en-US" sz="4000" dirty="0"/>
          </a:p>
        </p:txBody>
      </p:sp>
      <p:pic>
        <p:nvPicPr>
          <p:cNvPr id="8" name="Image 3" descr="preencoded.png">    </p:cNvPr>
          <p:cNvPicPr>
            <a:picLocks noChangeAspect="1"/>
          </p:cNvPicPr>
          <p:nvPr/>
        </p:nvPicPr>
        <p:blipFill>
          <a:blip r:embed="rId4"/>
          <a:stretch>
            <a:fillRect/>
          </a:stretch>
        </p:blipFill>
        <p:spPr>
          <a:xfrm>
            <a:off x="1726387" y="4615891"/>
            <a:ext cx="402336" cy="402336"/>
          </a:xfrm>
          <a:prstGeom prst="rect">
            <a:avLst/>
          </a:prstGeom>
        </p:spPr>
      </p:pic>
      <p:sp>
        <p:nvSpPr>
          <p:cNvPr id="9" name="Shape 2"/>
          <p:cNvSpPr/>
          <p:nvPr/>
        </p:nvSpPr>
        <p:spPr>
          <a:xfrm>
            <a:off x="11183112" y="3410712"/>
            <a:ext cx="182880" cy="182880"/>
          </a:xfrm>
          <a:prstGeom prst="ellipse">
            <a:avLst/>
          </a:prstGeom>
          <a:solidFill>
            <a:srgbClr val="1B365D"/>
          </a:solidFill>
          <a:ln w="25400">
            <a:solidFill>
              <a:srgbClr val="FFFFFF"/>
            </a:solidFill>
            <a:prstDash val="solid"/>
          </a:ln>
        </p:spPr>
      </p:sp>
      <p:sp>
        <p:nvSpPr>
          <p:cNvPr id="10" name="Text 3"/>
          <p:cNvSpPr/>
          <p:nvPr/>
        </p:nvSpPr>
        <p:spPr>
          <a:xfrm>
            <a:off x="1143000" y="5623560"/>
            <a:ext cx="2743200" cy="292608"/>
          </a:xfrm>
          <a:prstGeom prst="rect">
            <a:avLst/>
          </a:prstGeom>
          <a:noFill/>
          <a:ln/>
        </p:spPr>
        <p:txBody>
          <a:bodyPr wrap="square" lIns="0" tIns="0" rIns="0" bIns="0" rtlCol="0" anchor="t"/>
          <a:lstStyle/>
          <a:p>
            <a:pPr algn="l" indent="0" marL="0">
              <a:buNone/>
            </a:pPr>
            <a:r>
              <a:rPr lang="en-US" sz="1600" b="1" dirty="0">
                <a:solidFill>
                  <a:srgbClr val="1B365D"/>
                </a:solidFill>
                <a:latin typeface="Calibri" pitchFamily="34" charset="0"/>
                <a:ea typeface="Calibri" pitchFamily="34" charset="-122"/>
                <a:cs typeface="Calibri" pitchFamily="34" charset="-120"/>
              </a:rPr>
              <a:t>until 2022</a:t>
            </a:r>
            <a:endParaRPr lang="en-US" sz="1600" dirty="0"/>
          </a:p>
        </p:txBody>
      </p:sp>
      <p:sp>
        <p:nvSpPr>
          <p:cNvPr id="11" name="Text 4"/>
          <p:cNvSpPr/>
          <p:nvPr/>
        </p:nvSpPr>
        <p:spPr>
          <a:xfrm>
            <a:off x="1143000" y="5907024"/>
            <a:ext cx="384048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Classifier + rules</a:t>
            </a:r>
            <a:endParaRPr lang="en-US" sz="2200" dirty="0"/>
          </a:p>
        </p:txBody>
      </p:sp>
      <p:sp>
        <p:nvSpPr>
          <p:cNvPr id="12" name="Text 5"/>
          <p:cNvSpPr/>
          <p:nvPr/>
        </p:nvSpPr>
        <p:spPr>
          <a:xfrm>
            <a:off x="1143000" y="6327648"/>
            <a:ext cx="5029200" cy="32004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 trained model labels the message, fixed rules run the flow</a:t>
            </a:r>
            <a:endParaRPr lang="en-US" sz="1600" dirty="0"/>
          </a:p>
        </p:txBody>
      </p:sp>
      <p:sp>
        <p:nvSpPr>
          <p:cNvPr id="13" name="Text 6"/>
          <p:cNvSpPr/>
          <p:nvPr/>
        </p:nvSpPr>
        <p:spPr>
          <a:xfrm>
            <a:off x="4267505" y="3977640"/>
            <a:ext cx="2743200" cy="292608"/>
          </a:xfrm>
          <a:prstGeom prst="rect">
            <a:avLst/>
          </a:prstGeom>
          <a:noFill/>
          <a:ln/>
        </p:spPr>
        <p:txBody>
          <a:bodyPr wrap="square" lIns="0" tIns="0" rIns="0" bIns="0" rtlCol="0" anchor="t"/>
          <a:lstStyle/>
          <a:p>
            <a:pPr algn="l" indent="0" marL="0">
              <a:buNone/>
            </a:pPr>
            <a:r>
              <a:rPr lang="en-US" sz="1600" b="1" dirty="0">
                <a:solidFill>
                  <a:srgbClr val="2F5F98"/>
                </a:solidFill>
                <a:latin typeface="Calibri" pitchFamily="34" charset="0"/>
                <a:ea typeface="Calibri" pitchFamily="34" charset="-122"/>
                <a:cs typeface="Calibri" pitchFamily="34" charset="-120"/>
              </a:rPr>
              <a:t>2023-now</a:t>
            </a:r>
            <a:endParaRPr lang="en-US" sz="1600" dirty="0"/>
          </a:p>
        </p:txBody>
      </p:sp>
      <p:sp>
        <p:nvSpPr>
          <p:cNvPr id="14" name="Text 7"/>
          <p:cNvSpPr/>
          <p:nvPr/>
        </p:nvSpPr>
        <p:spPr>
          <a:xfrm>
            <a:off x="4267505" y="4261104"/>
            <a:ext cx="512064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LLM Classifier + Agent</a:t>
            </a:r>
            <a:endParaRPr lang="en-US" sz="2200" dirty="0"/>
          </a:p>
        </p:txBody>
      </p:sp>
      <p:sp>
        <p:nvSpPr>
          <p:cNvPr id="15" name="Text 8"/>
          <p:cNvSpPr/>
          <p:nvPr/>
        </p:nvSpPr>
        <p:spPr>
          <a:xfrm>
            <a:off x="4267505" y="4681728"/>
            <a:ext cx="530352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An LLM labels the message, then an LLM agent</a:t>
            </a:r>
            <a:endParaRPr lang="en-US" sz="1600" dirty="0"/>
          </a:p>
        </p:txBody>
      </p:sp>
      <p:sp>
        <p:nvSpPr>
          <p:cNvPr id="16" name="Text 9"/>
          <p:cNvSpPr/>
          <p:nvPr/>
        </p:nvSpPr>
        <p:spPr>
          <a:xfrm>
            <a:off x="4267505" y="4956048"/>
            <a:ext cx="530352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holds the rules, decides, and acts</a:t>
            </a:r>
            <a:endParaRPr lang="en-US" sz="1600" dirty="0"/>
          </a:p>
        </p:txBody>
      </p:sp>
      <p:sp>
        <p:nvSpPr>
          <p:cNvPr id="17" name="Text 10"/>
          <p:cNvSpPr/>
          <p:nvPr/>
        </p:nvSpPr>
        <p:spPr>
          <a:xfrm>
            <a:off x="9144000" y="731520"/>
            <a:ext cx="2743200" cy="292608"/>
          </a:xfrm>
          <a:prstGeom prst="rect">
            <a:avLst/>
          </a:prstGeom>
          <a:noFill/>
          <a:ln/>
        </p:spPr>
        <p:txBody>
          <a:bodyPr wrap="square" lIns="0" tIns="0" rIns="0" bIns="0" rtlCol="0" anchor="t"/>
          <a:lstStyle/>
          <a:p>
            <a:pPr algn="l" indent="0" marL="0">
              <a:buNone/>
            </a:pPr>
            <a:r>
              <a:rPr lang="en-US" sz="1600" b="1" dirty="0">
                <a:solidFill>
                  <a:srgbClr val="234B84"/>
                </a:solidFill>
                <a:latin typeface="Calibri" pitchFamily="34" charset="0"/>
                <a:ea typeface="Calibri" pitchFamily="34" charset="-122"/>
                <a:cs typeface="Calibri" pitchFamily="34" charset="-120"/>
              </a:rPr>
              <a:t>next</a:t>
            </a:r>
            <a:endParaRPr lang="en-US" sz="1600" dirty="0"/>
          </a:p>
        </p:txBody>
      </p:sp>
      <p:sp>
        <p:nvSpPr>
          <p:cNvPr id="18" name="Text 11"/>
          <p:cNvSpPr/>
          <p:nvPr/>
        </p:nvSpPr>
        <p:spPr>
          <a:xfrm>
            <a:off x="9144000" y="1024128"/>
            <a:ext cx="329184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How do we improve it?</a:t>
            </a:r>
            <a:endParaRPr lang="en-US" sz="2200" dirty="0"/>
          </a:p>
        </p:txBody>
      </p:sp>
      <p:sp>
        <p:nvSpPr>
          <p:cNvPr id="19" name="Text 12"/>
          <p:cNvSpPr/>
          <p:nvPr/>
        </p:nvSpPr>
        <p:spPr>
          <a:xfrm>
            <a:off x="2212848" y="4992624"/>
            <a:ext cx="1645920" cy="292608"/>
          </a:xfrm>
          <a:prstGeom prst="rect">
            <a:avLst/>
          </a:prstGeom>
          <a:noFill/>
          <a:ln/>
        </p:spPr>
        <p:txBody>
          <a:bodyPr wrap="square" lIns="0" tIns="0" rIns="0" bIns="0" rtlCol="0" anchor="t"/>
          <a:lstStyle/>
          <a:p>
            <a:pPr algn="l" indent="0" marL="0">
              <a:buNone/>
            </a:pPr>
            <a:r>
              <a:rPr lang="en-US" sz="1500" b="1" dirty="0">
                <a:solidFill>
                  <a:srgbClr val="1B365D"/>
                </a:solidFill>
                <a:latin typeface="Calibri" pitchFamily="34" charset="0"/>
                <a:ea typeface="Calibri" pitchFamily="34" charset="-122"/>
                <a:cs typeface="Calibri" pitchFamily="34" charset="-120"/>
              </a:rPr>
              <a:t>start here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action meets a written rule: allow or deny</a:t>
            </a:r>
            <a:endParaRPr lang="en-US" sz="3600" dirty="0"/>
          </a:p>
        </p:txBody>
      </p:sp>
      <p:sp>
        <p:nvSpPr>
          <p:cNvPr id="4" name="Shape 1"/>
          <p:cNvSpPr/>
          <p:nvPr/>
        </p:nvSpPr>
        <p:spPr>
          <a:xfrm>
            <a:off x="548640" y="1417320"/>
            <a:ext cx="11094415" cy="731520"/>
          </a:xfrm>
          <a:prstGeom prst="roundRect">
            <a:avLst>
              <a:gd name="adj" fmla="val 10000"/>
            </a:avLst>
          </a:prstGeom>
          <a:solidFill>
            <a:srgbClr val="A2C4BE"/>
          </a:solidFill>
          <a:ln/>
        </p:spPr>
      </p:sp>
      <p:sp>
        <p:nvSpPr>
          <p:cNvPr id="5"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Any change</a:t>
            </a:r>
            <a:endParaRPr lang="en-US" sz="2200" dirty="0"/>
          </a:p>
        </p:txBody>
      </p:sp>
      <p:sp>
        <p:nvSpPr>
          <p:cNvPr id="6"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7"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8" name="Shape 5"/>
          <p:cNvSpPr/>
          <p:nvPr/>
        </p:nvSpPr>
        <p:spPr>
          <a:xfrm>
            <a:off x="548640" y="2258568"/>
            <a:ext cx="11094415" cy="731520"/>
          </a:xfrm>
          <a:prstGeom prst="roundRect">
            <a:avLst>
              <a:gd name="adj" fmla="val 10000"/>
            </a:avLst>
          </a:prstGeom>
          <a:solidFill>
            <a:srgbClr val="FFFFFF"/>
          </a:solidFill>
          <a:ln/>
        </p:spPr>
      </p:sp>
      <p:sp>
        <p:nvSpPr>
          <p:cNvPr id="9"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0"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1"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2" name="Shape 9"/>
          <p:cNvSpPr/>
          <p:nvPr/>
        </p:nvSpPr>
        <p:spPr>
          <a:xfrm>
            <a:off x="548640" y="3099816"/>
            <a:ext cx="11094415" cy="731520"/>
          </a:xfrm>
          <a:prstGeom prst="roundRect">
            <a:avLst>
              <a:gd name="adj" fmla="val 10000"/>
            </a:avLst>
          </a:prstGeom>
          <a:solidFill>
            <a:srgbClr val="FFFFFF"/>
          </a:solidFill>
          <a:ln/>
        </p:spPr>
      </p:sp>
      <p:sp>
        <p:nvSpPr>
          <p:cNvPr id="13"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Reset password</a:t>
            </a:r>
            <a:endParaRPr lang="en-US" sz="2200" dirty="0"/>
          </a:p>
        </p:txBody>
      </p:sp>
      <p:sp>
        <p:nvSpPr>
          <p:cNvPr id="14"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Link to an address that is not on file</a:t>
            </a:r>
            <a:endParaRPr lang="en-US" sz="2200" dirty="0"/>
          </a:p>
        </p:txBody>
      </p:sp>
      <p:sp>
        <p:nvSpPr>
          <p:cNvPr id="15"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6" name="Shape 13"/>
          <p:cNvSpPr/>
          <p:nvPr/>
        </p:nvSpPr>
        <p:spPr>
          <a:xfrm>
            <a:off x="548640" y="3941064"/>
            <a:ext cx="11094415" cy="731520"/>
          </a:xfrm>
          <a:prstGeom prst="roundRect">
            <a:avLst>
              <a:gd name="adj" fmla="val 10000"/>
            </a:avLst>
          </a:prstGeom>
          <a:solidFill>
            <a:srgbClr val="FFFFFF"/>
          </a:solidFill>
          <a:ln/>
        </p:spPr>
      </p:sp>
      <p:sp>
        <p:nvSpPr>
          <p:cNvPr id="17"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18"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19"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0" name="Shape 17"/>
          <p:cNvSpPr/>
          <p:nvPr/>
        </p:nvSpPr>
        <p:spPr>
          <a:xfrm>
            <a:off x="548640" y="4782312"/>
            <a:ext cx="11094415" cy="731520"/>
          </a:xfrm>
          <a:prstGeom prst="roundRect">
            <a:avLst>
              <a:gd name="adj" fmla="val 10000"/>
            </a:avLst>
          </a:prstGeom>
          <a:solidFill>
            <a:srgbClr val="FFFFFF"/>
          </a:solidFill>
          <a:ln/>
        </p:spPr>
      </p:sp>
      <p:sp>
        <p:nvSpPr>
          <p:cNvPr id="21"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2"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3"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4"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Two ways to apply the rules. </a:t>
            </a:r>
            <a:pPr algn="l" indent="0" marL="0">
              <a:buNone/>
            </a:pPr>
            <a:r>
              <a:rPr lang="en-US" sz="1700" dirty="0">
                <a:solidFill>
                  <a:srgbClr val="1B365D"/>
                </a:solidFill>
                <a:latin typeface="Calibri" pitchFamily="34" charset="0"/>
                <a:ea typeface="Calibri" pitchFamily="34" charset="-122"/>
                <a:cs typeface="Calibri" pitchFamily="34" charset="-120"/>
              </a:rPr>
              <a:t>Autonomous agent: reads rules in prompt text.   Hybrid pipeline: intent classifier and a deterministic check.</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4"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Refunds only within 14 days</a:t>
            </a:r>
            <a:endParaRPr lang="en-US" sz="1000" dirty="0"/>
          </a:p>
        </p:txBody>
      </p:sp>
      <p:sp>
        <p:nvSpPr>
          <p:cNvPr id="5"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No refund after credits are used</a:t>
            </a:r>
            <a:endParaRPr lang="en-US" sz="1000" dirty="0"/>
          </a:p>
        </p:txBody>
      </p:sp>
      <p:sp>
        <p:nvSpPr>
          <p:cNvPr id="6"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Refund limit: $100 per request</a:t>
            </a:r>
            <a:endParaRPr lang="en-US" sz="1000" dirty="0"/>
          </a:p>
        </p:txBody>
      </p:sp>
      <p:sp>
        <p:nvSpPr>
          <p:cNvPr id="7"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Max 2 refunds in 90 days</a:t>
            </a:r>
            <a:endParaRPr lang="en-US" sz="1000" dirty="0"/>
          </a:p>
        </p:txBody>
      </p:sp>
      <p:sp>
        <p:nvSpPr>
          <p:cNvPr id="8"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Cancel needs a confirmation</a:t>
            </a:r>
            <a:endParaRPr lang="en-US" sz="1000" dirty="0"/>
          </a:p>
        </p:txBody>
      </p:sp>
      <p:sp>
        <p:nvSpPr>
          <p:cNvPr id="9"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Deleting data is never allowed</a:t>
            </a:r>
            <a:endParaRPr lang="en-US" sz="1000" dirty="0"/>
          </a:p>
        </p:txBody>
      </p:sp>
      <p:sp>
        <p:nvSpPr>
          <p:cNvPr id="10"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Reset links go to the e-mail on file</a:t>
            </a:r>
            <a:endParaRPr lang="en-US" sz="1000" dirty="0"/>
          </a:p>
        </p:txBody>
      </p:sp>
      <p:sp>
        <p:nvSpPr>
          <p:cNvPr id="11"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Cancel a plan only once</a:t>
            </a:r>
            <a:endParaRPr lang="en-US" sz="1000" dirty="0"/>
          </a:p>
        </p:txBody>
      </p:sp>
      <p:sp>
        <p:nvSpPr>
          <p:cNvPr id="12"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Annual plans: refund within 30 days</a:t>
            </a:r>
            <a:endParaRPr lang="en-US" sz="1000" dirty="0"/>
          </a:p>
        </p:txBody>
      </p:sp>
      <p:sp>
        <p:nvSpPr>
          <p:cNvPr id="13"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Bank must settle the charge first</a:t>
            </a:r>
            <a:endParaRPr lang="en-US" sz="1000" dirty="0"/>
          </a:p>
        </p:txBody>
      </p:sp>
      <p:sp>
        <p:nvSpPr>
          <p:cNvPr id="14"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refunds on promo credits</a:t>
            </a:r>
            <a:endParaRPr lang="en-US" sz="1000" dirty="0"/>
          </a:p>
        </p:txBody>
      </p:sp>
      <p:sp>
        <p:nvSpPr>
          <p:cNvPr id="15"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Escalate any chargeback</a:t>
            </a:r>
            <a:endParaRPr lang="en-US" sz="1000" dirty="0"/>
          </a:p>
        </p:txBody>
      </p:sp>
      <p:sp>
        <p:nvSpPr>
          <p:cNvPr id="16"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share another account</a:t>
            </a:r>
            <a:endParaRPr lang="en-US" sz="1000" dirty="0"/>
          </a:p>
        </p:txBody>
      </p:sp>
      <p:sp>
        <p:nvSpPr>
          <p:cNvPr id="17"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Verify the sender's identity</a:t>
            </a:r>
            <a:endParaRPr lang="en-US" sz="1000" dirty="0"/>
          </a:p>
        </p:txBody>
      </p:sp>
      <p:sp>
        <p:nvSpPr>
          <p:cNvPr id="18"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plan per customer</a:t>
            </a:r>
            <a:endParaRPr lang="en-US" sz="1000" dirty="0"/>
          </a:p>
        </p:txBody>
      </p:sp>
      <p:sp>
        <p:nvSpPr>
          <p:cNvPr id="19"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Log every state change</a:t>
            </a:r>
            <a:endParaRPr lang="en-US" sz="1000" dirty="0"/>
          </a:p>
        </p:txBody>
      </p:sp>
      <p:sp>
        <p:nvSpPr>
          <p:cNvPr id="20"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discounts without approval</a:t>
            </a:r>
            <a:endParaRPr lang="en-US" sz="1000" dirty="0"/>
          </a:p>
        </p:txBody>
      </p:sp>
      <p:sp>
        <p:nvSpPr>
          <p:cNvPr id="21"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Reply within 24 hours</a:t>
            </a:r>
            <a:endParaRPr lang="en-US" sz="1000" dirty="0"/>
          </a:p>
        </p:txBody>
      </p:sp>
      <p:sp>
        <p:nvSpPr>
          <p:cNvPr id="22"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VIP accounts go to a manager</a:t>
            </a:r>
            <a:endParaRPr lang="en-US" sz="1000" dirty="0"/>
          </a:p>
        </p:txBody>
      </p:sp>
      <p:sp>
        <p:nvSpPr>
          <p:cNvPr id="23"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Mask card numbers in replies</a:t>
            </a:r>
            <a:endParaRPr lang="en-US" sz="1000" dirty="0"/>
          </a:p>
        </p:txBody>
      </p:sp>
      <p:sp>
        <p:nvSpPr>
          <p:cNvPr id="24"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promise a fix date</a:t>
            </a:r>
            <a:endParaRPr lang="en-US" sz="1000" dirty="0"/>
          </a:p>
        </p:txBody>
      </p:sp>
      <p:sp>
        <p:nvSpPr>
          <p:cNvPr id="25"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Close chats after 7 quiet days</a:t>
            </a:r>
            <a:endParaRPr lang="en-US" sz="1000" dirty="0"/>
          </a:p>
        </p:txBody>
      </p:sp>
      <p:sp>
        <p:nvSpPr>
          <p:cNvPr id="26"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plan downgrade mid-cycle</a:t>
            </a:r>
            <a:endParaRPr lang="en-US" sz="1000" dirty="0"/>
          </a:p>
        </p:txBody>
      </p:sp>
      <p:sp>
        <p:nvSpPr>
          <p:cNvPr id="27"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Credits expire after 12 months</a:t>
            </a:r>
            <a:endParaRPr lang="en-US" sz="1000" dirty="0"/>
          </a:p>
        </p:txBody>
      </p:sp>
      <p:sp>
        <p:nvSpPr>
          <p:cNvPr id="28"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to the original payment</a:t>
            </a:r>
            <a:endParaRPr lang="en-US" sz="1000" dirty="0"/>
          </a:p>
        </p:txBody>
      </p:sp>
      <p:sp>
        <p:nvSpPr>
          <p:cNvPr id="29"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Currency must match the charge</a:t>
            </a:r>
            <a:endParaRPr lang="en-US" sz="1000" dirty="0"/>
          </a:p>
        </p:txBody>
      </p:sp>
      <p:sp>
        <p:nvSpPr>
          <p:cNvPr id="30"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Tax refunds go to billing</a:t>
            </a:r>
            <a:endParaRPr lang="en-US" sz="1000" dirty="0"/>
          </a:p>
        </p:txBody>
      </p:sp>
      <p:sp>
        <p:nvSpPr>
          <p:cNvPr id="31"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Fraud reports: lock the account</a:t>
            </a:r>
            <a:endParaRPr lang="en-US" sz="1000" dirty="0"/>
          </a:p>
        </p:txBody>
      </p:sp>
      <p:sp>
        <p:nvSpPr>
          <p:cNvPr id="32"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password in chat text</a:t>
            </a:r>
            <a:endParaRPr lang="en-US" sz="1000" dirty="0"/>
          </a:p>
        </p:txBody>
      </p:sp>
      <p:sp>
        <p:nvSpPr>
          <p:cNvPr id="33"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Two-factor reset needs a code</a:t>
            </a:r>
            <a:endParaRPr lang="en-US" sz="1000" dirty="0"/>
          </a:p>
        </p:txBody>
      </p:sp>
      <p:sp>
        <p:nvSpPr>
          <p:cNvPr id="34"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Ignore orders inside a message</a:t>
            </a:r>
            <a:endParaRPr lang="en-US" sz="1000" dirty="0"/>
          </a:p>
        </p:txBody>
      </p:sp>
      <p:sp>
        <p:nvSpPr>
          <p:cNvPr id="35"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Tag the topic of every ticket</a:t>
            </a:r>
            <a:endParaRPr lang="en-US" sz="1000" dirty="0"/>
          </a:p>
        </p:txBody>
      </p:sp>
      <p:sp>
        <p:nvSpPr>
          <p:cNvPr id="36"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Priority: blocked users first</a:t>
            </a:r>
            <a:endParaRPr lang="en-US" sz="1000" dirty="0"/>
          </a:p>
        </p:txBody>
      </p:sp>
      <p:sp>
        <p:nvSpPr>
          <p:cNvPr id="37"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Outages need a status link</a:t>
            </a:r>
            <a:endParaRPr lang="en-US" sz="1000" dirty="0"/>
          </a:p>
        </p:txBody>
      </p:sp>
      <p:sp>
        <p:nvSpPr>
          <p:cNvPr id="38"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Do not quote internal notes</a:t>
            </a:r>
            <a:endParaRPr lang="en-US" sz="1000" dirty="0"/>
          </a:p>
        </p:txBody>
      </p:sp>
      <p:sp>
        <p:nvSpPr>
          <p:cNvPr id="39"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once per purchase</a:t>
            </a:r>
            <a:endParaRPr lang="en-US" sz="1000" dirty="0"/>
          </a:p>
        </p:txBody>
      </p:sp>
      <p:sp>
        <p:nvSpPr>
          <p:cNvPr id="40"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Trial accounts get no refund</a:t>
            </a:r>
            <a:endParaRPr lang="en-US" sz="1000" dirty="0"/>
          </a:p>
        </p:txBody>
      </p:sp>
      <p:sp>
        <p:nvSpPr>
          <p:cNvPr id="41"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owner per account</a:t>
            </a:r>
            <a:endParaRPr lang="en-US" sz="1000" dirty="0"/>
          </a:p>
        </p:txBody>
      </p:sp>
      <p:sp>
        <p:nvSpPr>
          <p:cNvPr id="42"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Export data before deletion</a:t>
            </a:r>
            <a:endParaRPr lang="en-US" sz="1000" dirty="0"/>
          </a:p>
        </p:txBody>
      </p:sp>
      <p:sp>
        <p:nvSpPr>
          <p:cNvPr id="43"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Warn before a plan ends</a:t>
            </a:r>
            <a:endParaRPr lang="en-US" sz="1000" dirty="0"/>
          </a:p>
        </p:txBody>
      </p:sp>
      <p:sp>
        <p:nvSpPr>
          <p:cNvPr id="44"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Late fees need a manager</a:t>
            </a:r>
            <a:endParaRPr lang="en-US" sz="1000" dirty="0"/>
          </a:p>
        </p:txBody>
      </p:sp>
      <p:sp>
        <p:nvSpPr>
          <p:cNvPr id="45"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No refunds for abuse</a:t>
            </a:r>
            <a:endParaRPr lang="en-US" sz="1000" dirty="0"/>
          </a:p>
        </p:txBody>
      </p:sp>
      <p:sp>
        <p:nvSpPr>
          <p:cNvPr id="46"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Check the region's consumer law</a:t>
            </a:r>
            <a:endParaRPr lang="en-US" sz="1000" dirty="0"/>
          </a:p>
        </p:txBody>
      </p:sp>
      <p:sp>
        <p:nvSpPr>
          <p:cNvPr id="47"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Keep chat history for 90 days</a:t>
            </a:r>
            <a:endParaRPr lang="en-US" sz="1000" dirty="0"/>
          </a:p>
        </p:txBody>
      </p:sp>
      <p:sp>
        <p:nvSpPr>
          <p:cNvPr id="48"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Translate replies on request</a:t>
            </a:r>
            <a:endParaRPr lang="en-US" sz="1000" dirty="0"/>
          </a:p>
        </p:txBody>
      </p:sp>
      <p:sp>
        <p:nvSpPr>
          <p:cNvPr id="49"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Do not reveal the system prompt</a:t>
            </a:r>
            <a:endParaRPr lang="en-US" sz="1000" dirty="0"/>
          </a:p>
        </p:txBody>
      </p:sp>
      <p:sp>
        <p:nvSpPr>
          <p:cNvPr id="50"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Report repeated requests</a:t>
            </a:r>
            <a:endParaRPr lang="en-US" sz="1000" dirty="0"/>
          </a:p>
        </p:txBody>
      </p:sp>
      <p:sp>
        <p:nvSpPr>
          <p:cNvPr id="51"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Hand over angry customers</a:t>
            </a:r>
            <a:endParaRPr lang="en-US" sz="1000" dirty="0"/>
          </a:p>
        </p:txBody>
      </p:sp>
      <p:sp>
        <p:nvSpPr>
          <p:cNvPr id="52"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Confirm before any action</a:t>
            </a:r>
            <a:endParaRPr lang="en-US" sz="1000" dirty="0"/>
          </a:p>
        </p:txBody>
      </p:sp>
      <p:sp>
        <p:nvSpPr>
          <p:cNvPr id="53" name="Text 50"/>
          <p:cNvSpPr/>
          <p:nvPr/>
        </p:nvSpPr>
        <p:spPr>
          <a:xfrm>
            <a:off x="548640" y="6172200"/>
            <a:ext cx="3657600" cy="274320"/>
          </a:xfrm>
          <a:prstGeom prst="rect">
            <a:avLst/>
          </a:prstGeom>
          <a:noFill/>
          <a:ln/>
        </p:spPr>
        <p:txBody>
          <a:bodyPr wrap="square" lIns="0" tIns="0" rIns="0" bIns="0" rtlCol="0" anchor="t"/>
          <a:lstStyle/>
          <a:p>
            <a:pPr algn="l" indent="0" marL="0">
              <a:buNone/>
            </a:pPr>
            <a:r>
              <a:rPr lang="en-US" sz="1200" dirty="0">
                <a:solidFill>
                  <a:srgbClr val="56636F"/>
                </a:solidFill>
                <a:latin typeface="Calibri" pitchFamily="34" charset="0"/>
                <a:ea typeface="Calibri" pitchFamily="34" charset="-122"/>
                <a:cs typeface="Calibri" pitchFamily="34" charset="-120"/>
              </a:rPr>
              <a:t>Illustration, not our data.</a:t>
            </a:r>
            <a:endParaRPr lang="en-US" sz="1200" dirty="0"/>
          </a:p>
        </p:txBody>
      </p:sp>
      <p:sp>
        <p:nvSpPr>
          <p:cNvPr id="54" name="Text 51"/>
          <p:cNvSpPr/>
          <p:nvPr/>
        </p:nvSpPr>
        <p:spPr>
          <a:xfrm>
            <a:off x="7772400" y="5577840"/>
            <a:ext cx="3840480" cy="822960"/>
          </a:xfrm>
          <a:prstGeom prst="roundRect">
            <a:avLst>
              <a:gd name="adj" fmla="val 8889"/>
            </a:avLst>
          </a:prstGeom>
          <a:solidFill>
            <a:srgbClr val="1F7A7A"/>
          </a:solidFill>
          <a:ln/>
        </p:spPr>
        <p:txBody>
          <a:bodyPr wrap="square" lIns="137160" tIns="73152" rIns="137160" bIns="73152"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Who should apply every rule: an LLM agent, or a fast classifier?</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Meet Jev, a fast classifier</a:t>
            </a:r>
            <a:endParaRPr lang="en-US" sz="3600" dirty="0"/>
          </a:p>
        </p:txBody>
      </p:sp>
      <p:sp>
        <p:nvSpPr>
          <p:cNvPr id="4" name="Shape 1"/>
          <p:cNvSpPr/>
          <p:nvPr/>
        </p:nvSpPr>
        <p:spPr>
          <a:xfrm>
            <a:off x="548640" y="1371600"/>
            <a:ext cx="6400800" cy="914400"/>
          </a:xfrm>
          <a:prstGeom prst="roundRect">
            <a:avLst>
              <a:gd name="adj" fmla="val 8000"/>
            </a:avLst>
          </a:prstGeom>
          <a:solidFill>
            <a:srgbClr val="FFFFFF"/>
          </a:solidFill>
          <a:ln/>
        </p:spPr>
      </p:sp>
      <p:sp>
        <p:nvSpPr>
          <p:cNvPr id="5" name="Shape 2"/>
          <p:cNvSpPr/>
          <p:nvPr/>
        </p:nvSpPr>
        <p:spPr>
          <a:xfrm>
            <a:off x="777240" y="1508760"/>
            <a:ext cx="640080" cy="64008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18058" y="1649578"/>
            <a:ext cx="358445" cy="358445"/>
          </a:xfrm>
          <a:prstGeom prst="rect">
            <a:avLst/>
          </a:prstGeom>
        </p:spPr>
      </p:pic>
      <p:sp>
        <p:nvSpPr>
          <p:cNvPr id="7" name="Text 3"/>
          <p:cNvSpPr/>
          <p:nvPr/>
        </p:nvSpPr>
        <p:spPr>
          <a:xfrm>
            <a:off x="1600200" y="1463040"/>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Typed labels, each with a confidence</a:t>
            </a:r>
            <a:endParaRPr lang="en-US" sz="2000" dirty="0"/>
          </a:p>
        </p:txBody>
      </p:sp>
      <p:sp>
        <p:nvSpPr>
          <p:cNvPr id="8" name="Text 4"/>
          <p:cNvSpPr/>
          <p:nvPr/>
        </p:nvSpPr>
        <p:spPr>
          <a:xfrm>
            <a:off x="1600200" y="1847088"/>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Topic, action, priority, risk, injection: fixed answers.</a:t>
            </a:r>
            <a:endParaRPr lang="en-US" sz="1500" dirty="0"/>
          </a:p>
        </p:txBody>
      </p:sp>
      <p:sp>
        <p:nvSpPr>
          <p:cNvPr id="9" name="Shape 5"/>
          <p:cNvSpPr/>
          <p:nvPr/>
        </p:nvSpPr>
        <p:spPr>
          <a:xfrm>
            <a:off x="548640" y="2414016"/>
            <a:ext cx="6400800" cy="914400"/>
          </a:xfrm>
          <a:prstGeom prst="roundRect">
            <a:avLst>
              <a:gd name="adj" fmla="val 8000"/>
            </a:avLst>
          </a:prstGeom>
          <a:solidFill>
            <a:srgbClr val="FFFFFF"/>
          </a:solidFill>
          <a:ln/>
        </p:spPr>
      </p:sp>
      <p:sp>
        <p:nvSpPr>
          <p:cNvPr id="10" name="Shape 6"/>
          <p:cNvSpPr/>
          <p:nvPr/>
        </p:nvSpPr>
        <p:spPr>
          <a:xfrm>
            <a:off x="777240" y="2551176"/>
            <a:ext cx="640080" cy="640080"/>
          </a:xfrm>
          <a:prstGeom prst="ellipse">
            <a:avLst/>
          </a:prstGeom>
          <a:solidFill>
            <a:srgbClr val="234B84"/>
          </a:solidFill>
          <a:ln w="12700">
            <a:solidFill>
              <a:srgbClr val="234B84"/>
            </a:solidFill>
            <a:prstDash val="solid"/>
          </a:ln>
        </p:spPr>
      </p:sp>
      <p:pic>
        <p:nvPicPr>
          <p:cNvPr id="11" name="Image 1" descr="preencoded.png">    </p:cNvPr>
          <p:cNvPicPr>
            <a:picLocks noChangeAspect="1"/>
          </p:cNvPicPr>
          <p:nvPr/>
        </p:nvPicPr>
        <p:blipFill>
          <a:blip r:embed="rId2"/>
          <a:stretch>
            <a:fillRect/>
          </a:stretch>
        </p:blipFill>
        <p:spPr>
          <a:xfrm>
            <a:off x="918058" y="2691994"/>
            <a:ext cx="358445" cy="358445"/>
          </a:xfrm>
          <a:prstGeom prst="rect">
            <a:avLst/>
          </a:prstGeom>
        </p:spPr>
      </p:pic>
      <p:sp>
        <p:nvSpPr>
          <p:cNvPr id="12" name="Text 7"/>
          <p:cNvSpPr/>
          <p:nvPr/>
        </p:nvSpPr>
        <p:spPr>
          <a:xfrm>
            <a:off x="1600200" y="2505456"/>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Answers our own yes/no questions</a:t>
            </a:r>
            <a:endParaRPr lang="en-US" sz="2000" dirty="0"/>
          </a:p>
        </p:txBody>
      </p:sp>
      <p:sp>
        <p:nvSpPr>
          <p:cNvPr id="13" name="Text 8"/>
          <p:cNvSpPr/>
          <p:nvPr/>
        </p:nvSpPr>
        <p:spPr>
          <a:xfrm>
            <a:off x="1600200" y="2889504"/>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One zero-shot question for each rule, with no fine-tuning.</a:t>
            </a:r>
            <a:endParaRPr lang="en-US" sz="1500" dirty="0"/>
          </a:p>
        </p:txBody>
      </p:sp>
      <p:sp>
        <p:nvSpPr>
          <p:cNvPr id="14" name="Shape 9"/>
          <p:cNvSpPr/>
          <p:nvPr/>
        </p:nvSpPr>
        <p:spPr>
          <a:xfrm>
            <a:off x="548640" y="3456432"/>
            <a:ext cx="6400800" cy="914400"/>
          </a:xfrm>
          <a:prstGeom prst="roundRect">
            <a:avLst>
              <a:gd name="adj" fmla="val 8000"/>
            </a:avLst>
          </a:prstGeom>
          <a:solidFill>
            <a:srgbClr val="FFFFFF"/>
          </a:solidFill>
          <a:ln/>
        </p:spPr>
      </p:sp>
      <p:sp>
        <p:nvSpPr>
          <p:cNvPr id="15" name="Shape 10"/>
          <p:cNvSpPr/>
          <p:nvPr/>
        </p:nvSpPr>
        <p:spPr>
          <a:xfrm>
            <a:off x="777240" y="3593592"/>
            <a:ext cx="640080" cy="640080"/>
          </a:xfrm>
          <a:prstGeom prst="ellipse">
            <a:avLst/>
          </a:prstGeom>
          <a:solidFill>
            <a:srgbClr val="234B84"/>
          </a:solidFill>
          <a:ln w="12700">
            <a:solidFill>
              <a:srgbClr val="234B84"/>
            </a:solidFill>
            <a:prstDash val="solid"/>
          </a:ln>
        </p:spPr>
      </p:sp>
      <p:pic>
        <p:nvPicPr>
          <p:cNvPr id="16" name="Image 2" descr="preencoded.png">    </p:cNvPr>
          <p:cNvPicPr>
            <a:picLocks noChangeAspect="1"/>
          </p:cNvPicPr>
          <p:nvPr/>
        </p:nvPicPr>
        <p:blipFill>
          <a:blip r:embed="rId3"/>
          <a:stretch>
            <a:fillRect/>
          </a:stretch>
        </p:blipFill>
        <p:spPr>
          <a:xfrm>
            <a:off x="918058" y="3734410"/>
            <a:ext cx="358445" cy="358445"/>
          </a:xfrm>
          <a:prstGeom prst="rect">
            <a:avLst/>
          </a:prstGeom>
        </p:spPr>
      </p:pic>
      <p:sp>
        <p:nvSpPr>
          <p:cNvPr id="17" name="Text 11"/>
          <p:cNvSpPr/>
          <p:nvPr/>
        </p:nvSpPr>
        <p:spPr>
          <a:xfrm>
            <a:off x="1600200" y="3547872"/>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Cannot act and never writes text</a:t>
            </a:r>
            <a:endParaRPr lang="en-US" sz="2000" dirty="0"/>
          </a:p>
        </p:txBody>
      </p:sp>
      <p:sp>
        <p:nvSpPr>
          <p:cNvPr id="18" name="Text 12"/>
          <p:cNvSpPr/>
          <p:nvPr/>
        </p:nvSpPr>
        <p:spPr>
          <a:xfrm>
            <a:off x="1600200" y="3931920"/>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It only answers. It cannot run an action or write a reply.</a:t>
            </a:r>
            <a:endParaRPr lang="en-US" sz="1500" dirty="0"/>
          </a:p>
        </p:txBody>
      </p:sp>
      <p:sp>
        <p:nvSpPr>
          <p:cNvPr id="19" name="Shape 13"/>
          <p:cNvSpPr/>
          <p:nvPr/>
        </p:nvSpPr>
        <p:spPr>
          <a:xfrm>
            <a:off x="548640" y="4498848"/>
            <a:ext cx="6400800" cy="914400"/>
          </a:xfrm>
          <a:prstGeom prst="roundRect">
            <a:avLst>
              <a:gd name="adj" fmla="val 8000"/>
            </a:avLst>
          </a:prstGeom>
          <a:solidFill>
            <a:srgbClr val="FFFFFF"/>
          </a:solidFill>
          <a:ln/>
        </p:spPr>
      </p:sp>
      <p:sp>
        <p:nvSpPr>
          <p:cNvPr id="20" name="Shape 14"/>
          <p:cNvSpPr/>
          <p:nvPr/>
        </p:nvSpPr>
        <p:spPr>
          <a:xfrm>
            <a:off x="777240" y="4636008"/>
            <a:ext cx="640080" cy="640080"/>
          </a:xfrm>
          <a:prstGeom prst="ellipse">
            <a:avLst/>
          </a:prstGeom>
          <a:solidFill>
            <a:srgbClr val="234B84"/>
          </a:solidFill>
          <a:ln w="12700">
            <a:solidFill>
              <a:srgbClr val="234B84"/>
            </a:solidFill>
            <a:prstDash val="solid"/>
          </a:ln>
        </p:spPr>
      </p:sp>
      <p:pic>
        <p:nvPicPr>
          <p:cNvPr id="21" name="Image 3" descr="preencoded.png">    </p:cNvPr>
          <p:cNvPicPr>
            <a:picLocks noChangeAspect="1"/>
          </p:cNvPicPr>
          <p:nvPr/>
        </p:nvPicPr>
        <p:blipFill>
          <a:blip r:embed="rId4"/>
          <a:stretch>
            <a:fillRect/>
          </a:stretch>
        </p:blipFill>
        <p:spPr>
          <a:xfrm>
            <a:off x="918058" y="4776826"/>
            <a:ext cx="358445" cy="358445"/>
          </a:xfrm>
          <a:prstGeom prst="rect">
            <a:avLst/>
          </a:prstGeom>
        </p:spPr>
      </p:pic>
      <p:sp>
        <p:nvSpPr>
          <p:cNvPr id="22" name="Text 15"/>
          <p:cNvSpPr/>
          <p:nvPr/>
        </p:nvSpPr>
        <p:spPr>
          <a:xfrm>
            <a:off x="1600200" y="4590288"/>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Cheap per call</a:t>
            </a:r>
            <a:endParaRPr lang="en-US" sz="2000" dirty="0"/>
          </a:p>
        </p:txBody>
      </p:sp>
      <p:sp>
        <p:nvSpPr>
          <p:cNvPr id="23" name="Text 16"/>
          <p:cNvSpPr/>
          <p:nvPr/>
        </p:nvSpPr>
        <p:spPr>
          <a:xfrm>
            <a:off x="1600200" y="4974336"/>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Input: $0.042 per million tokens. Output: free.</a:t>
            </a:r>
            <a:endParaRPr lang="en-US" sz="1500" dirty="0"/>
          </a:p>
        </p:txBody>
      </p:sp>
      <p:sp>
        <p:nvSpPr>
          <p:cNvPr id="24" name="Shape 17"/>
          <p:cNvSpPr/>
          <p:nvPr/>
        </p:nvSpPr>
        <p:spPr>
          <a:xfrm>
            <a:off x="7269480" y="1371600"/>
            <a:ext cx="4373575" cy="4041648"/>
          </a:xfrm>
          <a:prstGeom prst="roundRect">
            <a:avLst>
              <a:gd name="adj" fmla="val 1810"/>
            </a:avLst>
          </a:prstGeom>
          <a:solidFill>
            <a:srgbClr val="FFFFFF"/>
          </a:solidFill>
          <a:ln/>
        </p:spPr>
      </p:sp>
      <p:sp>
        <p:nvSpPr>
          <p:cNvPr id="25" name="Text 18"/>
          <p:cNvSpPr/>
          <p:nvPr/>
        </p:nvSpPr>
        <p:spPr>
          <a:xfrm>
            <a:off x="7543800" y="1481328"/>
            <a:ext cx="3824935"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What Jev returns</a:t>
            </a:r>
            <a:endParaRPr lang="en-US" sz="2000" dirty="0"/>
          </a:p>
        </p:txBody>
      </p:sp>
      <p:sp>
        <p:nvSpPr>
          <p:cNvPr id="26" name="Text 19"/>
          <p:cNvSpPr/>
          <p:nvPr/>
        </p:nvSpPr>
        <p:spPr>
          <a:xfrm>
            <a:off x="7543800" y="1847088"/>
            <a:ext cx="382493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Recorded answers for one request</a:t>
            </a:r>
            <a:endParaRPr lang="en-US" sz="1400" dirty="0"/>
          </a:p>
        </p:txBody>
      </p:sp>
      <p:sp>
        <p:nvSpPr>
          <p:cNvPr id="27" name="Text 20"/>
          <p:cNvSpPr/>
          <p:nvPr/>
        </p:nvSpPr>
        <p:spPr>
          <a:xfrm>
            <a:off x="7543800" y="2286000"/>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28" name="Text 21"/>
          <p:cNvSpPr/>
          <p:nvPr/>
        </p:nvSpPr>
        <p:spPr>
          <a:xfrm>
            <a:off x="7543800" y="3310128"/>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29" name="Text 22"/>
          <p:cNvSpPr/>
          <p:nvPr/>
        </p:nvSpPr>
        <p:spPr>
          <a:xfrm>
            <a:off x="7543800" y="4334256"/>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Rule: Amount limit</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ok</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0.97</a:t>
            </a:r>
            <a:endParaRPr lang="en-US" sz="1600" dirty="0"/>
          </a:p>
        </p:txBody>
      </p:sp>
      <p:sp>
        <p:nvSpPr>
          <p:cNvPr id="30" name="Shape 23"/>
          <p:cNvSpPr/>
          <p:nvPr/>
        </p:nvSpPr>
        <p:spPr>
          <a:xfrm>
            <a:off x="548640" y="5806440"/>
            <a:ext cx="11094415" cy="594360"/>
          </a:xfrm>
          <a:prstGeom prst="roundRect">
            <a:avLst>
              <a:gd name="adj" fmla="val 12308"/>
            </a:avLst>
          </a:prstGeom>
          <a:solidFill>
            <a:srgbClr val="1F7A7A"/>
          </a:solidFill>
          <a:ln/>
        </p:spPr>
      </p:sp>
      <p:pic>
        <p:nvPicPr>
          <p:cNvPr id="31" name="Image 4" descr="preencoded.png">    </p:cNvPr>
          <p:cNvPicPr>
            <a:picLocks noChangeAspect="1"/>
          </p:cNvPicPr>
          <p:nvPr/>
        </p:nvPicPr>
        <p:blipFill>
          <a:blip r:embed="rId5"/>
          <a:stretch>
            <a:fillRect/>
          </a:stretch>
        </p:blipFill>
        <p:spPr>
          <a:xfrm>
            <a:off x="822960" y="5875020"/>
            <a:ext cx="457200" cy="457200"/>
          </a:xfrm>
          <a:prstGeom prst="rect">
            <a:avLst/>
          </a:prstGeom>
        </p:spPr>
      </p:pic>
      <p:sp>
        <p:nvSpPr>
          <p:cNvPr id="32" name="Text 24"/>
          <p:cNvSpPr/>
          <p:nvPr/>
        </p:nvSpPr>
        <p:spPr>
          <a:xfrm>
            <a:off x="1508760" y="5806440"/>
            <a:ext cx="9859975" cy="5943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Jev: </a:t>
            </a:r>
            <a:pPr algn="l" indent="0" marL="0">
              <a:buNone/>
            </a:pPr>
            <a:r>
              <a:rPr lang="en-US" sz="1800" dirty="0">
                <a:solidFill>
                  <a:srgbClr val="FFFFFF"/>
                </a:solidFill>
                <a:latin typeface="Calibri" pitchFamily="34" charset="0"/>
                <a:ea typeface="Calibri" pitchFamily="34" charset="-122"/>
                <a:cs typeface="Calibri" pitchFamily="34" charset="-120"/>
              </a:rPr>
              <a:t>System One family, TypeSafe AI (Almeida, 2026), version 1.13.0.</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reads the chat first, then one rule at a time</a:t>
            </a:r>
            <a:endParaRPr lang="en-US" sz="3600" dirty="0"/>
          </a:p>
        </p:txBody>
      </p:sp>
      <p:sp>
        <p:nvSpPr>
          <p:cNvPr id="4" name="Shape 1"/>
          <p:cNvSpPr/>
          <p:nvPr/>
        </p:nvSpPr>
        <p:spPr>
          <a:xfrm>
            <a:off x="548640" y="1463040"/>
            <a:ext cx="3515258" cy="2331720"/>
          </a:xfrm>
          <a:prstGeom prst="roundRect">
            <a:avLst>
              <a:gd name="adj" fmla="val 3137"/>
            </a:avLst>
          </a:prstGeom>
          <a:solidFill>
            <a:srgbClr val="FFFFFF"/>
          </a:solidFill>
          <a:ln/>
        </p:spPr>
      </p:sp>
      <p:sp>
        <p:nvSpPr>
          <p:cNvPr id="5"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897941" y="1766621"/>
            <a:ext cx="307238" cy="307238"/>
          </a:xfrm>
          <a:prstGeom prst="rect">
            <a:avLst/>
          </a:prstGeom>
        </p:spPr>
      </p:pic>
      <p:sp>
        <p:nvSpPr>
          <p:cNvPr id="7"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8" name="Text 4"/>
          <p:cNvSpPr/>
          <p:nvPr/>
        </p:nvSpPr>
        <p:spPr>
          <a:xfrm>
            <a:off x="822960" y="2468880"/>
            <a:ext cx="2966618"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name of the sender</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Both calls read it</a:t>
            </a:r>
            <a:endParaRPr lang="en-US" sz="1700" dirty="0"/>
          </a:p>
        </p:txBody>
      </p:sp>
      <p:sp>
        <p:nvSpPr>
          <p:cNvPr id="9" name="Shape 5"/>
          <p:cNvSpPr/>
          <p:nvPr/>
        </p:nvSpPr>
        <p:spPr>
          <a:xfrm>
            <a:off x="2306269" y="3822192"/>
            <a:ext cx="0" cy="292608"/>
          </a:xfrm>
          <a:prstGeom prst="line">
            <a:avLst/>
          </a:prstGeom>
          <a:noFill/>
          <a:ln w="25400">
            <a:solidFill>
              <a:srgbClr val="5F6B7A"/>
            </a:solidFill>
            <a:prstDash val="solid"/>
            <a:tailEnd type="triangle"/>
          </a:ln>
        </p:spPr>
      </p:sp>
      <p:sp>
        <p:nvSpPr>
          <p:cNvPr id="10" name="Shape 6"/>
          <p:cNvSpPr/>
          <p:nvPr/>
        </p:nvSpPr>
        <p:spPr>
          <a:xfrm>
            <a:off x="4338218" y="1463040"/>
            <a:ext cx="3515258" cy="2331720"/>
          </a:xfrm>
          <a:prstGeom prst="roundRect">
            <a:avLst>
              <a:gd name="adj" fmla="val 3137"/>
            </a:avLst>
          </a:prstGeom>
          <a:solidFill>
            <a:srgbClr val="FFFFFF"/>
          </a:solidFill>
          <a:ln/>
        </p:spPr>
      </p:sp>
      <p:sp>
        <p:nvSpPr>
          <p:cNvPr id="11"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687519" y="1766621"/>
            <a:ext cx="307238" cy="307238"/>
          </a:xfrm>
          <a:prstGeom prst="rect">
            <a:avLst/>
          </a:prstGeom>
        </p:spPr>
      </p:pic>
      <p:sp>
        <p:nvSpPr>
          <p:cNvPr id="13"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4" name="Text 9"/>
          <p:cNvSpPr/>
          <p:nvPr/>
        </p:nvSpPr>
        <p:spPr>
          <a:xfrm>
            <a:off x="4612538"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5" name="Text 10"/>
          <p:cNvSpPr/>
          <p:nvPr/>
        </p:nvSpPr>
        <p:spPr>
          <a:xfrm>
            <a:off x="5636666"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6" name="Text 11"/>
          <p:cNvSpPr/>
          <p:nvPr/>
        </p:nvSpPr>
        <p:spPr>
          <a:xfrm>
            <a:off x="6660794"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7" name="Text 12"/>
          <p:cNvSpPr/>
          <p:nvPr/>
        </p:nvSpPr>
        <p:spPr>
          <a:xfrm>
            <a:off x="4612538"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18" name="Text 13"/>
          <p:cNvSpPr/>
          <p:nvPr/>
        </p:nvSpPr>
        <p:spPr>
          <a:xfrm>
            <a:off x="5636666"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19" name="Text 14"/>
          <p:cNvSpPr/>
          <p:nvPr/>
        </p:nvSpPr>
        <p:spPr>
          <a:xfrm>
            <a:off x="6660794"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0" name="Text 15"/>
          <p:cNvSpPr/>
          <p:nvPr/>
        </p:nvSpPr>
        <p:spPr>
          <a:xfrm>
            <a:off x="4612538" y="3273552"/>
            <a:ext cx="2966618" cy="45720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Second call only. Code states the days since the charge.</a:t>
            </a:r>
            <a:endParaRPr lang="en-US" sz="1400" dirty="0"/>
          </a:p>
        </p:txBody>
      </p:sp>
      <p:sp>
        <p:nvSpPr>
          <p:cNvPr id="21" name="Shape 16"/>
          <p:cNvSpPr/>
          <p:nvPr/>
        </p:nvSpPr>
        <p:spPr>
          <a:xfrm>
            <a:off x="6095848" y="3822192"/>
            <a:ext cx="0" cy="292608"/>
          </a:xfrm>
          <a:prstGeom prst="line">
            <a:avLst/>
          </a:prstGeom>
          <a:noFill/>
          <a:ln w="25400">
            <a:solidFill>
              <a:srgbClr val="5F6B7A"/>
            </a:solidFill>
            <a:prstDash val="solid"/>
            <a:tailEnd type="triangle"/>
          </a:ln>
        </p:spPr>
      </p:sp>
      <p:sp>
        <p:nvSpPr>
          <p:cNvPr id="22" name="Shape 17"/>
          <p:cNvSpPr/>
          <p:nvPr/>
        </p:nvSpPr>
        <p:spPr>
          <a:xfrm>
            <a:off x="8127797" y="1463040"/>
            <a:ext cx="3515258" cy="2331720"/>
          </a:xfrm>
          <a:prstGeom prst="roundRect">
            <a:avLst>
              <a:gd name="adj" fmla="val 3137"/>
            </a:avLst>
          </a:prstGeom>
          <a:solidFill>
            <a:srgbClr val="FFFFFF"/>
          </a:solidFill>
          <a:ln/>
        </p:spPr>
      </p:sp>
      <p:sp>
        <p:nvSpPr>
          <p:cNvPr id="23" name="Shape 18"/>
          <p:cNvSpPr/>
          <p:nvPr/>
        </p:nvSpPr>
        <p:spPr>
          <a:xfrm>
            <a:off x="8356397" y="1645920"/>
            <a:ext cx="548640" cy="548640"/>
          </a:xfrm>
          <a:prstGeom prst="ellipse">
            <a:avLst/>
          </a:prstGeom>
          <a:solidFill>
            <a:srgbClr val="2F5F98"/>
          </a:solidFill>
          <a:ln w="12700">
            <a:solidFill>
              <a:srgbClr val="2F5F98"/>
            </a:solidFill>
            <a:prstDash val="solid"/>
          </a:ln>
        </p:spPr>
      </p:sp>
      <p:pic>
        <p:nvPicPr>
          <p:cNvPr id="24" name="Image 2" descr="preencoded.png">    </p:cNvPr>
          <p:cNvPicPr>
            <a:picLocks noChangeAspect="1"/>
          </p:cNvPicPr>
          <p:nvPr/>
        </p:nvPicPr>
        <p:blipFill>
          <a:blip r:embed="rId3"/>
          <a:stretch>
            <a:fillRect/>
          </a:stretch>
        </p:blipFill>
        <p:spPr>
          <a:xfrm>
            <a:off x="8477098" y="1766621"/>
            <a:ext cx="307238" cy="307238"/>
          </a:xfrm>
          <a:prstGeom prst="rect">
            <a:avLst/>
          </a:prstGeom>
        </p:spPr>
      </p:pic>
      <p:sp>
        <p:nvSpPr>
          <p:cNvPr id="25" name="Text 19"/>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question per rule</a:t>
            </a:r>
            <a:endParaRPr lang="en-US" sz="2000" dirty="0"/>
          </a:p>
        </p:txBody>
      </p:sp>
      <p:sp>
        <p:nvSpPr>
          <p:cNvPr id="26" name="Text 20"/>
          <p:cNvSpPr/>
          <p:nvPr/>
        </p:nvSpPr>
        <p:spPr>
          <a:xfrm>
            <a:off x="8402117" y="2423160"/>
            <a:ext cx="296661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amount above $100?</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charge older than 14 days?</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auto-renewal already off?</a:t>
            </a:r>
            <a:endParaRPr lang="en-US" sz="1500" dirty="0"/>
          </a:p>
        </p:txBody>
      </p:sp>
      <p:sp>
        <p:nvSpPr>
          <p:cNvPr id="27" name="Shape 21"/>
          <p:cNvSpPr/>
          <p:nvPr/>
        </p:nvSpPr>
        <p:spPr>
          <a:xfrm>
            <a:off x="9885426" y="3822192"/>
            <a:ext cx="0" cy="292608"/>
          </a:xfrm>
          <a:prstGeom prst="line">
            <a:avLst/>
          </a:prstGeom>
          <a:noFill/>
          <a:ln w="25400">
            <a:solidFill>
              <a:srgbClr val="5F6B7A"/>
            </a:solidFill>
            <a:prstDash val="solid"/>
            <a:tailEnd type="triangle"/>
          </a:ln>
        </p:spPr>
      </p:sp>
      <p:sp>
        <p:nvSpPr>
          <p:cNvPr id="28" name="Text 22"/>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call 1 reads the chat; call 2 adds the account and the questions</a:t>
            </a:r>
            <a:endParaRPr lang="en-US" sz="2400" dirty="0"/>
          </a:p>
        </p:txBody>
      </p:sp>
      <p:sp>
        <p:nvSpPr>
          <p:cNvPr id="29" name="Shape 23"/>
          <p:cNvSpPr/>
          <p:nvPr/>
        </p:nvSpPr>
        <p:spPr>
          <a:xfrm>
            <a:off x="548640" y="5074920"/>
            <a:ext cx="11094415" cy="731520"/>
          </a:xfrm>
          <a:prstGeom prst="roundRect">
            <a:avLst>
              <a:gd name="adj" fmla="val 10000"/>
            </a:avLst>
          </a:prstGeom>
          <a:solidFill>
            <a:srgbClr val="1F7A7A"/>
          </a:solidFill>
          <a:ln/>
        </p:spPr>
      </p:sp>
      <p:pic>
        <p:nvPicPr>
          <p:cNvPr id="30" name="Image 3" descr="preencoded.png">    </p:cNvPr>
          <p:cNvPicPr>
            <a:picLocks noChangeAspect="1"/>
          </p:cNvPicPr>
          <p:nvPr/>
        </p:nvPicPr>
        <p:blipFill>
          <a:blip r:embed="rId4"/>
          <a:stretch>
            <a:fillRect/>
          </a:stretch>
        </p:blipFill>
        <p:spPr>
          <a:xfrm>
            <a:off x="822960" y="5212080"/>
            <a:ext cx="457200" cy="457200"/>
          </a:xfrm>
          <a:prstGeom prst="rect">
            <a:avLst/>
          </a:prstGeom>
        </p:spPr>
      </p:pic>
      <p:sp>
        <p:nvSpPr>
          <p:cNvPr id="31" name="Text 24"/>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questions, not fixed checks. </a:t>
            </a:r>
            <a:pPr algn="l" indent="0" marL="0">
              <a:buNone/>
            </a:pPr>
            <a:r>
              <a:rPr lang="en-US" sz="1800" dirty="0">
                <a:solidFill>
                  <a:srgbClr val="FFFFFF"/>
                </a:solidFill>
                <a:latin typeface="Calibri" pitchFamily="34" charset="0"/>
                <a:ea typeface="Calibri" pitchFamily="34" charset="-122"/>
                <a:cs typeface="Calibri" pitchFamily="34" charset="-120"/>
              </a:rPr>
              <a:t>A table picks account lines; Jev's answers can still be wrong.</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returns five fields, then one answer per rule</a:t>
            </a:r>
            <a:endParaRPr lang="en-US" sz="3600" dirty="0"/>
          </a:p>
        </p:txBody>
      </p:sp>
      <p:sp>
        <p:nvSpPr>
          <p:cNvPr id="4" name="Text 1"/>
          <p:cNvSpPr/>
          <p:nvPr/>
        </p:nvSpPr>
        <p:spPr>
          <a:xfrm>
            <a:off x="548640" y="1371600"/>
            <a:ext cx="8582924" cy="329184"/>
          </a:xfrm>
          <a:prstGeom prst="roundRect">
            <a:avLst>
              <a:gd name="adj" fmla="val 38889"/>
            </a:avLst>
          </a:prstGeom>
          <a:solidFill>
            <a:srgbClr val="2F5F98"/>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1: five fields (four shown)</a:t>
            </a:r>
            <a:endParaRPr lang="en-US" sz="1400" dirty="0"/>
          </a:p>
        </p:txBody>
      </p:sp>
      <p:sp>
        <p:nvSpPr>
          <p:cNvPr id="5" name="Text 2"/>
          <p:cNvSpPr/>
          <p:nvPr/>
        </p:nvSpPr>
        <p:spPr>
          <a:xfrm>
            <a:off x="9634484" y="1371600"/>
            <a:ext cx="2008571" cy="329184"/>
          </a:xfrm>
          <a:prstGeom prst="roundRect">
            <a:avLst>
              <a:gd name="adj" fmla="val 38889"/>
            </a:avLst>
          </a:prstGeom>
          <a:solidFill>
            <a:srgbClr val="1F7A7A"/>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2: one per rule</a:t>
            </a:r>
            <a:endParaRPr lang="en-US" sz="1400" dirty="0"/>
          </a:p>
        </p:txBody>
      </p:sp>
      <p:sp>
        <p:nvSpPr>
          <p:cNvPr id="6" name="Shape 3"/>
          <p:cNvSpPr/>
          <p:nvPr/>
        </p:nvSpPr>
        <p:spPr>
          <a:xfrm>
            <a:off x="9223004" y="3383280"/>
            <a:ext cx="411480" cy="365760"/>
          </a:xfrm>
          <a:prstGeom prst="rightArrow">
            <a:avLst/>
          </a:prstGeom>
          <a:solidFill>
            <a:srgbClr val="5F6B7A"/>
          </a:solidFill>
          <a:ln w="12700">
            <a:solidFill>
              <a:srgbClr val="5F6B7A"/>
            </a:solidFill>
            <a:prstDash val="solid"/>
          </a:ln>
        </p:spPr>
      </p:sp>
      <p:sp>
        <p:nvSpPr>
          <p:cNvPr id="7" name="Shape 4"/>
          <p:cNvSpPr/>
          <p:nvPr/>
        </p:nvSpPr>
        <p:spPr>
          <a:xfrm>
            <a:off x="548640" y="1783080"/>
            <a:ext cx="2008571" cy="3566160"/>
          </a:xfrm>
          <a:prstGeom prst="roundRect">
            <a:avLst>
              <a:gd name="adj" fmla="val 3642"/>
            </a:avLst>
          </a:prstGeom>
          <a:solidFill>
            <a:srgbClr val="FFFFFF"/>
          </a:solidFill>
          <a:ln/>
        </p:spPr>
      </p:sp>
      <p:sp>
        <p:nvSpPr>
          <p:cNvPr id="8" name="Shape 5"/>
          <p:cNvSpPr/>
          <p:nvPr/>
        </p:nvSpPr>
        <p:spPr>
          <a:xfrm>
            <a:off x="731520" y="1965960"/>
            <a:ext cx="548640" cy="548640"/>
          </a:xfrm>
          <a:prstGeom prst="ellipse">
            <a:avLst/>
          </a:prstGeom>
          <a:solidFill>
            <a:srgbClr val="2F5F98"/>
          </a:solidFill>
          <a:ln w="12700">
            <a:solidFill>
              <a:srgbClr val="2F5F98"/>
            </a:solidFill>
            <a:prstDash val="solid"/>
          </a:ln>
        </p:spPr>
      </p:sp>
      <p:pic>
        <p:nvPicPr>
          <p:cNvPr id="9" name="Image 0" descr="preencoded.png">    </p:cNvPr>
          <p:cNvPicPr>
            <a:picLocks noChangeAspect="1"/>
          </p:cNvPicPr>
          <p:nvPr/>
        </p:nvPicPr>
        <p:blipFill>
          <a:blip r:embed="rId1"/>
          <a:stretch>
            <a:fillRect/>
          </a:stretch>
        </p:blipFill>
        <p:spPr>
          <a:xfrm>
            <a:off x="852221" y="2086661"/>
            <a:ext cx="307238" cy="307238"/>
          </a:xfrm>
          <a:prstGeom prst="rect">
            <a:avLst/>
          </a:prstGeom>
        </p:spPr>
      </p:pic>
      <p:sp>
        <p:nvSpPr>
          <p:cNvPr id="10" name="Text 6"/>
          <p:cNvSpPr/>
          <p:nvPr/>
        </p:nvSpPr>
        <p:spPr>
          <a:xfrm>
            <a:off x="731520"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11" name="Text 7"/>
          <p:cNvSpPr/>
          <p:nvPr/>
        </p:nvSpPr>
        <p:spPr>
          <a:xfrm>
            <a:off x="731520"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2" name="Text 8"/>
          <p:cNvSpPr/>
          <p:nvPr/>
        </p:nvSpPr>
        <p:spPr>
          <a:xfrm>
            <a:off x="731520" y="3566160"/>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Account</a:t>
            </a:r>
            <a:endParaRPr lang="en-US" sz="1300" dirty="0"/>
          </a:p>
        </p:txBody>
      </p:sp>
      <p:sp>
        <p:nvSpPr>
          <p:cNvPr id="13" name="Text 9"/>
          <p:cNvSpPr/>
          <p:nvPr/>
        </p:nvSpPr>
        <p:spPr>
          <a:xfrm>
            <a:off x="1505102" y="3566160"/>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Payments</a:t>
            </a:r>
            <a:endParaRPr lang="en-US" sz="1300" dirty="0"/>
          </a:p>
        </p:txBody>
      </p:sp>
      <p:sp>
        <p:nvSpPr>
          <p:cNvPr id="14" name="Text 10"/>
          <p:cNvSpPr/>
          <p:nvPr/>
        </p:nvSpPr>
        <p:spPr>
          <a:xfrm>
            <a:off x="731520" y="3895344"/>
            <a:ext cx="1413662"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Plans and Credits</a:t>
            </a:r>
            <a:endParaRPr lang="en-US" sz="1300" dirty="0"/>
          </a:p>
        </p:txBody>
      </p:sp>
      <p:sp>
        <p:nvSpPr>
          <p:cNvPr id="15" name="Text 11"/>
          <p:cNvSpPr/>
          <p:nvPr/>
        </p:nvSpPr>
        <p:spPr>
          <a:xfrm>
            <a:off x="731520" y="4224528"/>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Product Help</a:t>
            </a:r>
            <a:endParaRPr lang="en-US" sz="1300" dirty="0"/>
          </a:p>
        </p:txBody>
      </p:sp>
      <p:sp>
        <p:nvSpPr>
          <p:cNvPr id="16" name="Text 12"/>
          <p:cNvSpPr/>
          <p:nvPr/>
        </p:nvSpPr>
        <p:spPr>
          <a:xfrm>
            <a:off x="731520" y="4553712"/>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Refunds</a:t>
            </a:r>
            <a:endParaRPr lang="en-US" sz="1300" dirty="0"/>
          </a:p>
        </p:txBody>
      </p:sp>
      <p:sp>
        <p:nvSpPr>
          <p:cNvPr id="17" name="Text 13"/>
          <p:cNvSpPr/>
          <p:nvPr/>
        </p:nvSpPr>
        <p:spPr>
          <a:xfrm>
            <a:off x="1505102" y="4553712"/>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Security</a:t>
            </a:r>
            <a:endParaRPr lang="en-US" sz="1300" dirty="0"/>
          </a:p>
        </p:txBody>
      </p:sp>
      <p:sp>
        <p:nvSpPr>
          <p:cNvPr id="18" name="Shape 14"/>
          <p:cNvSpPr/>
          <p:nvPr/>
        </p:nvSpPr>
        <p:spPr>
          <a:xfrm>
            <a:off x="2740091" y="1783080"/>
            <a:ext cx="2008571" cy="3566160"/>
          </a:xfrm>
          <a:prstGeom prst="roundRect">
            <a:avLst>
              <a:gd name="adj" fmla="val 3642"/>
            </a:avLst>
          </a:prstGeom>
          <a:solidFill>
            <a:srgbClr val="FFFFFF"/>
          </a:solidFill>
          <a:ln/>
        </p:spPr>
      </p:sp>
      <p:sp>
        <p:nvSpPr>
          <p:cNvPr id="19" name="Shape 15"/>
          <p:cNvSpPr/>
          <p:nvPr/>
        </p:nvSpPr>
        <p:spPr>
          <a:xfrm>
            <a:off x="2922971" y="1965960"/>
            <a:ext cx="548640" cy="548640"/>
          </a:xfrm>
          <a:prstGeom prst="ellipse">
            <a:avLst/>
          </a:prstGeom>
          <a:solidFill>
            <a:srgbClr val="2F5F98"/>
          </a:solidFill>
          <a:ln w="12700">
            <a:solidFill>
              <a:srgbClr val="2F5F98"/>
            </a:solidFill>
            <a:prstDash val="solid"/>
          </a:ln>
        </p:spPr>
      </p:sp>
      <p:pic>
        <p:nvPicPr>
          <p:cNvPr id="20" name="Image 1" descr="preencoded.png">    </p:cNvPr>
          <p:cNvPicPr>
            <a:picLocks noChangeAspect="1"/>
          </p:cNvPicPr>
          <p:nvPr/>
        </p:nvPicPr>
        <p:blipFill>
          <a:blip r:embed="rId2"/>
          <a:stretch>
            <a:fillRect/>
          </a:stretch>
        </p:blipFill>
        <p:spPr>
          <a:xfrm>
            <a:off x="3043672" y="2086661"/>
            <a:ext cx="307238" cy="307238"/>
          </a:xfrm>
          <a:prstGeom prst="rect">
            <a:avLst/>
          </a:prstGeom>
        </p:spPr>
      </p:pic>
      <p:sp>
        <p:nvSpPr>
          <p:cNvPr id="21" name="Text 16"/>
          <p:cNvSpPr/>
          <p:nvPr/>
        </p:nvSpPr>
        <p:spPr>
          <a:xfrm>
            <a:off x="2922971"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22" name="Text 17"/>
          <p:cNvSpPr/>
          <p:nvPr/>
        </p:nvSpPr>
        <p:spPr>
          <a:xfrm>
            <a:off x="2922971"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23" name="Text 18"/>
          <p:cNvSpPr/>
          <p:nvPr/>
        </p:nvSpPr>
        <p:spPr>
          <a:xfrm>
            <a:off x="2922971"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Low</a:t>
            </a:r>
            <a:endParaRPr lang="en-US" sz="1300" dirty="0"/>
          </a:p>
        </p:txBody>
      </p:sp>
      <p:sp>
        <p:nvSpPr>
          <p:cNvPr id="24" name="Text 19"/>
          <p:cNvSpPr/>
          <p:nvPr/>
        </p:nvSpPr>
        <p:spPr>
          <a:xfrm>
            <a:off x="3411261" y="3566160"/>
            <a:ext cx="629107"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Medium</a:t>
            </a:r>
            <a:endParaRPr lang="en-US" sz="1300" dirty="0"/>
          </a:p>
        </p:txBody>
      </p:sp>
      <p:sp>
        <p:nvSpPr>
          <p:cNvPr id="25" name="Text 20"/>
          <p:cNvSpPr/>
          <p:nvPr/>
        </p:nvSpPr>
        <p:spPr>
          <a:xfrm>
            <a:off x="2922971" y="3895344"/>
            <a:ext cx="486461"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High</a:t>
            </a:r>
            <a:endParaRPr lang="en-US" sz="1300" dirty="0"/>
          </a:p>
        </p:txBody>
      </p:sp>
      <p:sp>
        <p:nvSpPr>
          <p:cNvPr id="26" name="Text 21"/>
          <p:cNvSpPr/>
          <p:nvPr/>
        </p:nvSpPr>
        <p:spPr>
          <a:xfrm>
            <a:off x="3482584" y="3895344"/>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Critical</a:t>
            </a:r>
            <a:endParaRPr lang="en-US" sz="1300" dirty="0"/>
          </a:p>
        </p:txBody>
      </p:sp>
      <p:sp>
        <p:nvSpPr>
          <p:cNvPr id="27" name="Shape 22"/>
          <p:cNvSpPr/>
          <p:nvPr/>
        </p:nvSpPr>
        <p:spPr>
          <a:xfrm>
            <a:off x="4931542" y="1783080"/>
            <a:ext cx="2008571" cy="3566160"/>
          </a:xfrm>
          <a:prstGeom prst="roundRect">
            <a:avLst>
              <a:gd name="adj" fmla="val 3642"/>
            </a:avLst>
          </a:prstGeom>
          <a:solidFill>
            <a:srgbClr val="FFFFFF"/>
          </a:solidFill>
          <a:ln/>
        </p:spPr>
      </p:sp>
      <p:sp>
        <p:nvSpPr>
          <p:cNvPr id="28" name="Shape 23"/>
          <p:cNvSpPr/>
          <p:nvPr/>
        </p:nvSpPr>
        <p:spPr>
          <a:xfrm>
            <a:off x="5114422" y="1965960"/>
            <a:ext cx="548640" cy="548640"/>
          </a:xfrm>
          <a:prstGeom prst="ellipse">
            <a:avLst/>
          </a:prstGeom>
          <a:solidFill>
            <a:srgbClr val="2F5F98"/>
          </a:solidFill>
          <a:ln w="12700">
            <a:solidFill>
              <a:srgbClr val="2F5F98"/>
            </a:solidFill>
            <a:prstDash val="solid"/>
          </a:ln>
        </p:spPr>
      </p:sp>
      <p:pic>
        <p:nvPicPr>
          <p:cNvPr id="29" name="Image 2" descr="preencoded.png">    </p:cNvPr>
          <p:cNvPicPr>
            <a:picLocks noChangeAspect="1"/>
          </p:cNvPicPr>
          <p:nvPr/>
        </p:nvPicPr>
        <p:blipFill>
          <a:blip r:embed="rId3"/>
          <a:stretch>
            <a:fillRect/>
          </a:stretch>
        </p:blipFill>
        <p:spPr>
          <a:xfrm>
            <a:off x="5235123" y="2086661"/>
            <a:ext cx="307238" cy="307238"/>
          </a:xfrm>
          <a:prstGeom prst="rect">
            <a:avLst/>
          </a:prstGeom>
        </p:spPr>
      </p:pic>
      <p:sp>
        <p:nvSpPr>
          <p:cNvPr id="30" name="Text 24"/>
          <p:cNvSpPr/>
          <p:nvPr/>
        </p:nvSpPr>
        <p:spPr>
          <a:xfrm>
            <a:off x="5114422"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31" name="Text 25"/>
          <p:cNvSpPr/>
          <p:nvPr/>
        </p:nvSpPr>
        <p:spPr>
          <a:xfrm>
            <a:off x="5114422"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32" name="Text 26"/>
          <p:cNvSpPr/>
          <p:nvPr/>
        </p:nvSpPr>
        <p:spPr>
          <a:xfrm>
            <a:off x="5114422" y="3566160"/>
            <a:ext cx="91440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Send reply</a:t>
            </a:r>
            <a:endParaRPr lang="en-US" sz="1300" dirty="0"/>
          </a:p>
        </p:txBody>
      </p:sp>
      <p:sp>
        <p:nvSpPr>
          <p:cNvPr id="33" name="Text 27"/>
          <p:cNvSpPr/>
          <p:nvPr/>
        </p:nvSpPr>
        <p:spPr>
          <a:xfrm>
            <a:off x="5114422" y="3895344"/>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Start refund</a:t>
            </a:r>
            <a:endParaRPr lang="en-US" sz="1300" dirty="0"/>
          </a:p>
        </p:txBody>
      </p:sp>
      <p:sp>
        <p:nvSpPr>
          <p:cNvPr id="34" name="Text 28"/>
          <p:cNvSpPr/>
          <p:nvPr/>
        </p:nvSpPr>
        <p:spPr>
          <a:xfrm>
            <a:off x="5114422" y="4224528"/>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Delete data</a:t>
            </a:r>
            <a:endParaRPr lang="en-US" sz="1300" dirty="0"/>
          </a:p>
        </p:txBody>
      </p:sp>
      <p:sp>
        <p:nvSpPr>
          <p:cNvPr id="35" name="Text 29"/>
          <p:cNvSpPr/>
          <p:nvPr/>
        </p:nvSpPr>
        <p:spPr>
          <a:xfrm>
            <a:off x="5114422" y="4553712"/>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Cancel plan</a:t>
            </a:r>
            <a:endParaRPr lang="en-US" sz="1300" dirty="0"/>
          </a:p>
        </p:txBody>
      </p:sp>
      <p:sp>
        <p:nvSpPr>
          <p:cNvPr id="36" name="Text 30"/>
          <p:cNvSpPr/>
          <p:nvPr/>
        </p:nvSpPr>
        <p:spPr>
          <a:xfrm>
            <a:off x="5114422" y="4882896"/>
            <a:ext cx="119969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Reset password</a:t>
            </a:r>
            <a:endParaRPr lang="en-US" sz="1300" dirty="0"/>
          </a:p>
        </p:txBody>
      </p:sp>
      <p:sp>
        <p:nvSpPr>
          <p:cNvPr id="37" name="Shape 31"/>
          <p:cNvSpPr/>
          <p:nvPr/>
        </p:nvSpPr>
        <p:spPr>
          <a:xfrm>
            <a:off x="7122993" y="1783080"/>
            <a:ext cx="2008571" cy="3566160"/>
          </a:xfrm>
          <a:prstGeom prst="roundRect">
            <a:avLst>
              <a:gd name="adj" fmla="val 3642"/>
            </a:avLst>
          </a:prstGeom>
          <a:solidFill>
            <a:srgbClr val="FFFFFF"/>
          </a:solidFill>
          <a:ln/>
        </p:spPr>
      </p:sp>
      <p:sp>
        <p:nvSpPr>
          <p:cNvPr id="38" name="Shape 32"/>
          <p:cNvSpPr/>
          <p:nvPr/>
        </p:nvSpPr>
        <p:spPr>
          <a:xfrm>
            <a:off x="7305873" y="1965960"/>
            <a:ext cx="548640" cy="548640"/>
          </a:xfrm>
          <a:prstGeom prst="ellipse">
            <a:avLst/>
          </a:prstGeom>
          <a:solidFill>
            <a:srgbClr val="2F5F98"/>
          </a:solidFill>
          <a:ln w="12700">
            <a:solidFill>
              <a:srgbClr val="2F5F98"/>
            </a:solidFill>
            <a:prstDash val="solid"/>
          </a:ln>
        </p:spPr>
      </p:sp>
      <p:pic>
        <p:nvPicPr>
          <p:cNvPr id="39" name="Image 3" descr="preencoded.png">    </p:cNvPr>
          <p:cNvPicPr>
            <a:picLocks noChangeAspect="1"/>
          </p:cNvPicPr>
          <p:nvPr/>
        </p:nvPicPr>
        <p:blipFill>
          <a:blip r:embed="rId4"/>
          <a:stretch>
            <a:fillRect/>
          </a:stretch>
        </p:blipFill>
        <p:spPr>
          <a:xfrm>
            <a:off x="7426574" y="2086661"/>
            <a:ext cx="307238" cy="307238"/>
          </a:xfrm>
          <a:prstGeom prst="rect">
            <a:avLst/>
          </a:prstGeom>
        </p:spPr>
      </p:pic>
      <p:sp>
        <p:nvSpPr>
          <p:cNvPr id="40" name="Text 33"/>
          <p:cNvSpPr/>
          <p:nvPr/>
        </p:nvSpPr>
        <p:spPr>
          <a:xfrm>
            <a:off x="7305873"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41" name="Text 34"/>
          <p:cNvSpPr/>
          <p:nvPr/>
        </p:nvSpPr>
        <p:spPr>
          <a:xfrm>
            <a:off x="7305873"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42" name="Text 35"/>
          <p:cNvSpPr/>
          <p:nvPr/>
        </p:nvSpPr>
        <p:spPr>
          <a:xfrm>
            <a:off x="7305873" y="3566160"/>
            <a:ext cx="343814"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on</a:t>
            </a:r>
            <a:endParaRPr lang="en-US" sz="1300" dirty="0"/>
          </a:p>
        </p:txBody>
      </p:sp>
      <p:sp>
        <p:nvSpPr>
          <p:cNvPr id="43" name="Text 36"/>
          <p:cNvSpPr/>
          <p:nvPr/>
        </p:nvSpPr>
        <p:spPr>
          <a:xfrm>
            <a:off x="7722840"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off</a:t>
            </a:r>
            <a:endParaRPr lang="en-US" sz="1300" dirty="0"/>
          </a:p>
        </p:txBody>
      </p:sp>
      <p:sp>
        <p:nvSpPr>
          <p:cNvPr id="44" name="Text 37"/>
          <p:cNvSpPr/>
          <p:nvPr/>
        </p:nvSpPr>
        <p:spPr>
          <a:xfrm>
            <a:off x="7305873" y="3977640"/>
            <a:ext cx="1642811" cy="1005840"/>
          </a:xfrm>
          <a:prstGeom prst="rect">
            <a:avLst/>
          </a:prstGeom>
          <a:noFill/>
          <a:ln/>
        </p:spPr>
        <p:txBody>
          <a:bodyPr wrap="square" lIns="0" tIns="0" rIns="0" bIns="0" rtlCol="0" anchor="t"/>
          <a:lstStyle/>
          <a:p>
            <a:pPr algn="l" indent="0" marL="0">
              <a:buNone/>
            </a:pPr>
            <a:r>
              <a:rPr lang="en-US" sz="1400" b="1" dirty="0">
                <a:solidFill>
                  <a:srgbClr val="B91C1C"/>
                </a:solidFill>
                <a:latin typeface="Calibri" pitchFamily="34" charset="0"/>
                <a:ea typeface="Calibri" pitchFamily="34" charset="-122"/>
                <a:cs typeface="Calibri" pitchFamily="34" charset="-120"/>
              </a:rPr>
              <a:t>If on: </a:t>
            </a:r>
            <a:pPr algn="l" indent="0" marL="0">
              <a:buNone/>
            </a:pPr>
            <a:r>
              <a:rPr lang="en-US" sz="1400" dirty="0">
                <a:solidFill>
                  <a:srgbClr val="2B3440"/>
                </a:solidFill>
                <a:latin typeface="Calibri" pitchFamily="34" charset="0"/>
                <a:ea typeface="Calibri" pitchFamily="34" charset="-122"/>
                <a:cs typeface="Calibri" pitchFamily="34" charset="-120"/>
              </a:rPr>
              <a:t>the action is Send reply, so the orders in the text are ignored.</a:t>
            </a:r>
            <a:endParaRPr lang="en-US" sz="1400" dirty="0"/>
          </a:p>
        </p:txBody>
      </p:sp>
      <p:sp>
        <p:nvSpPr>
          <p:cNvPr id="45" name="Shape 38"/>
          <p:cNvSpPr/>
          <p:nvPr/>
        </p:nvSpPr>
        <p:spPr>
          <a:xfrm>
            <a:off x="9634484" y="1783080"/>
            <a:ext cx="2008571" cy="3566160"/>
          </a:xfrm>
          <a:prstGeom prst="roundRect">
            <a:avLst>
              <a:gd name="adj" fmla="val 3642"/>
            </a:avLst>
          </a:prstGeom>
          <a:solidFill>
            <a:srgbClr val="A2C4BE"/>
          </a:solidFill>
          <a:ln/>
        </p:spPr>
      </p:sp>
      <p:sp>
        <p:nvSpPr>
          <p:cNvPr id="46" name="Shape 39"/>
          <p:cNvSpPr/>
          <p:nvPr/>
        </p:nvSpPr>
        <p:spPr>
          <a:xfrm>
            <a:off x="9817364" y="1965960"/>
            <a:ext cx="548640" cy="548640"/>
          </a:xfrm>
          <a:prstGeom prst="ellipse">
            <a:avLst/>
          </a:prstGeom>
          <a:solidFill>
            <a:srgbClr val="1F7A7A"/>
          </a:solidFill>
          <a:ln w="12700">
            <a:solidFill>
              <a:srgbClr val="1F7A7A"/>
            </a:solidFill>
            <a:prstDash val="solid"/>
          </a:ln>
        </p:spPr>
      </p:sp>
      <p:pic>
        <p:nvPicPr>
          <p:cNvPr id="47" name="Image 4" descr="preencoded.png">    </p:cNvPr>
          <p:cNvPicPr>
            <a:picLocks noChangeAspect="1"/>
          </p:cNvPicPr>
          <p:nvPr/>
        </p:nvPicPr>
        <p:blipFill>
          <a:blip r:embed="rId5"/>
          <a:stretch>
            <a:fillRect/>
          </a:stretch>
        </p:blipFill>
        <p:spPr>
          <a:xfrm>
            <a:off x="9938065" y="2086661"/>
            <a:ext cx="307238" cy="307238"/>
          </a:xfrm>
          <a:prstGeom prst="rect">
            <a:avLst/>
          </a:prstGeom>
        </p:spPr>
      </p:pic>
      <p:sp>
        <p:nvSpPr>
          <p:cNvPr id="48" name="Text 40"/>
          <p:cNvSpPr/>
          <p:nvPr/>
        </p:nvSpPr>
        <p:spPr>
          <a:xfrm>
            <a:off x="9817364"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Rules</a:t>
            </a:r>
            <a:endParaRPr lang="en-US" sz="2000" dirty="0"/>
          </a:p>
        </p:txBody>
      </p:sp>
      <p:sp>
        <p:nvSpPr>
          <p:cNvPr id="49" name="Text 41"/>
          <p:cNvSpPr/>
          <p:nvPr/>
        </p:nvSpPr>
        <p:spPr>
          <a:xfrm>
            <a:off x="9817364"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One yes/no question for each rule</a:t>
            </a:r>
            <a:endParaRPr lang="en-US" sz="1500" dirty="0"/>
          </a:p>
        </p:txBody>
      </p:sp>
      <p:sp>
        <p:nvSpPr>
          <p:cNvPr id="50" name="Text 42"/>
          <p:cNvSpPr/>
          <p:nvPr/>
        </p:nvSpPr>
        <p:spPr>
          <a:xfrm>
            <a:off x="9817364" y="3566160"/>
            <a:ext cx="629107"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Blocks</a:t>
            </a:r>
            <a:endParaRPr lang="en-US" sz="1300" dirty="0"/>
          </a:p>
        </p:txBody>
      </p:sp>
      <p:sp>
        <p:nvSpPr>
          <p:cNvPr id="51" name="Text 43"/>
          <p:cNvSpPr/>
          <p:nvPr/>
        </p:nvSpPr>
        <p:spPr>
          <a:xfrm>
            <a:off x="9817364" y="3895344"/>
            <a:ext cx="1199693"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Does not block</a:t>
            </a:r>
            <a:endParaRPr lang="en-US" sz="1300" dirty="0"/>
          </a:p>
        </p:txBody>
      </p:sp>
      <p:sp>
        <p:nvSpPr>
          <p:cNvPr id="52" name="Text 44"/>
          <p:cNvSpPr/>
          <p:nvPr/>
        </p:nvSpPr>
        <p:spPr>
          <a:xfrm>
            <a:off x="9817364" y="4306824"/>
            <a:ext cx="1642811" cy="640080"/>
          </a:xfrm>
          <a:prstGeom prst="rect">
            <a:avLst/>
          </a:prstGeom>
          <a:noFill/>
          <a:ln/>
        </p:spPr>
        <p:txBody>
          <a:bodyPr wrap="square" lIns="0" tIns="0" rIns="0" bIns="0" rtlCol="0" anchor="t"/>
          <a:lstStyle/>
          <a:p>
            <a:pPr algn="l" indent="0" marL="0">
              <a:buNone/>
            </a:pPr>
            <a:r>
              <a:rPr lang="en-US" sz="1400" dirty="0">
                <a:solidFill>
                  <a:srgbClr val="1B365D"/>
                </a:solidFill>
                <a:latin typeface="Calibri" pitchFamily="34" charset="0"/>
                <a:ea typeface="Calibri" pitchFamily="34" charset="-122"/>
                <a:cs typeface="Calibri" pitchFamily="34" charset="-120"/>
              </a:rPr>
              <a:t>Only if the action changes the state</a:t>
            </a:r>
            <a:endParaRPr lang="en-US" sz="1400" dirty="0"/>
          </a:p>
        </p:txBody>
      </p:sp>
      <p:sp>
        <p:nvSpPr>
          <p:cNvPr id="53" name="Shape 45"/>
          <p:cNvSpPr/>
          <p:nvPr/>
        </p:nvSpPr>
        <p:spPr>
          <a:xfrm>
            <a:off x="548640" y="5532120"/>
            <a:ext cx="11094415" cy="731520"/>
          </a:xfrm>
          <a:prstGeom prst="roundRect">
            <a:avLst>
              <a:gd name="adj" fmla="val 10000"/>
            </a:avLst>
          </a:prstGeom>
          <a:solidFill>
            <a:srgbClr val="1F7A7A"/>
          </a:solidFill>
          <a:ln/>
        </p:spPr>
      </p:sp>
      <p:pic>
        <p:nvPicPr>
          <p:cNvPr id="54" name="Image 5" descr="preencoded.png">    </p:cNvPr>
          <p:cNvPicPr>
            <a:picLocks noChangeAspect="1"/>
          </p:cNvPicPr>
          <p:nvPr/>
        </p:nvPicPr>
        <p:blipFill>
          <a:blip r:embed="rId6"/>
          <a:stretch>
            <a:fillRect/>
          </a:stretch>
        </p:blipFill>
        <p:spPr>
          <a:xfrm>
            <a:off x="822960" y="5669280"/>
            <a:ext cx="457200" cy="457200"/>
          </a:xfrm>
          <a:prstGeom prst="rect">
            <a:avLst/>
          </a:prstGeom>
        </p:spPr>
      </p:pic>
      <p:sp>
        <p:nvSpPr>
          <p:cNvPr id="55" name="Text 46"/>
          <p:cNvSpPr/>
          <p:nvPr/>
        </p:nvSpPr>
        <p:spPr>
          <a:xfrm>
            <a:off x="1508760" y="55321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Typed answers do not guarantee truth: </a:t>
            </a:r>
            <a:pPr algn="l" indent="0" marL="0">
              <a:buNone/>
            </a:pPr>
            <a:r>
              <a:rPr lang="en-US" sz="1800" dirty="0">
                <a:solidFill>
                  <a:srgbClr val="FFFFFF"/>
                </a:solidFill>
                <a:latin typeface="Calibri" pitchFamily="34" charset="0"/>
                <a:ea typeface="Calibri" pitchFamily="34" charset="-122"/>
                <a:cs typeface="Calibri" pitchFamily="34" charset="-120"/>
              </a:rPr>
              <a:t>code follows Jev's answers. A missed violation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8" name="!!state-0#0"/>
          <p:cNvSpPr/>
          <p:nvPr/>
        </p:nvSpPr>
        <p:spPr>
          <a:xfrm>
            <a:off x="548640" y="3246120"/>
            <a:ext cx="1463040" cy="1234440"/>
          </a:xfrm>
          <a:prstGeom prst="roundRect">
            <a:avLst>
              <a:gd name="adj" fmla="val 5926"/>
            </a:avLst>
          </a:prstGeom>
          <a:solidFill>
            <a:srgbClr val="AEB7C2"/>
          </a:solidFill>
          <a:ln/>
        </p:spPr>
      </p:sp>
      <p:sp>
        <p:nvSpPr>
          <p:cNvPr id="9" name="!!state-0#1"/>
          <p:cNvSpPr/>
          <p:nvPr/>
        </p:nvSpPr>
        <p:spPr>
          <a:xfrm>
            <a:off x="1051560" y="335584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3456432"/>
            <a:ext cx="256032" cy="256032"/>
          </a:xfrm>
          <a:prstGeom prst="rect">
            <a:avLst/>
          </a:prstGeom>
        </p:spPr>
      </p:pic>
      <p:sp>
        <p:nvSpPr>
          <p:cNvPr id="11" name="!!state-0#3"/>
          <p:cNvSpPr/>
          <p:nvPr/>
        </p:nvSpPr>
        <p:spPr>
          <a:xfrm>
            <a:off x="585216" y="386791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3863340"/>
            <a:ext cx="258013" cy="0"/>
          </a:xfrm>
          <a:prstGeom prst="line">
            <a:avLst/>
          </a:prstGeom>
          <a:noFill/>
          <a:ln w="25400">
            <a:solidFill>
              <a:srgbClr val="9AA6B3"/>
            </a:solidFill>
            <a:prstDash val="solid"/>
            <a:tailEnd type="triangle"/>
          </a:ln>
        </p:spPr>
      </p:sp>
      <p:sp>
        <p:nvSpPr>
          <p:cNvPr id="13" name="!!state-1#0"/>
          <p:cNvSpPr/>
          <p:nvPr/>
        </p:nvSpPr>
        <p:spPr>
          <a:xfrm>
            <a:off x="2306269" y="3246120"/>
            <a:ext cx="1463040" cy="1234440"/>
          </a:xfrm>
          <a:prstGeom prst="roundRect">
            <a:avLst>
              <a:gd name="adj" fmla="val 5926"/>
            </a:avLst>
          </a:prstGeom>
          <a:solidFill>
            <a:srgbClr val="E9EDF2"/>
          </a:solidFill>
          <a:ln/>
        </p:spPr>
      </p:sp>
      <p:sp>
        <p:nvSpPr>
          <p:cNvPr id="14" name="!!state-1#1"/>
          <p:cNvSpPr/>
          <p:nvPr/>
        </p:nvSpPr>
        <p:spPr>
          <a:xfrm>
            <a:off x="2809189" y="3355848"/>
            <a:ext cx="457200" cy="457200"/>
          </a:xfrm>
          <a:prstGeom prst="ellipse">
            <a:avLst/>
          </a:prstGeom>
          <a:solidFill>
            <a:srgbClr val="AEB7C2"/>
          </a:solidFill>
          <a:ln w="12700">
            <a:solidFill>
              <a:srgbClr val="AEB7C2"/>
            </a:solidFill>
            <a:prstDash val="solid"/>
          </a:ln>
        </p:spPr>
      </p:sp>
      <p:pic>
        <p:nvPicPr>
          <p:cNvPr id="15" name="!!state-1#2" descr="preencoded.png">    </p:cNvPr>
          <p:cNvPicPr>
            <a:picLocks noChangeAspect="1"/>
          </p:cNvPicPr>
          <p:nvPr/>
        </p:nvPicPr>
        <p:blipFill>
          <a:blip r:embed="rId3"/>
          <a:stretch>
            <a:fillRect/>
          </a:stretch>
        </p:blipFill>
        <p:spPr>
          <a:xfrm>
            <a:off x="2909773" y="3456432"/>
            <a:ext cx="256032" cy="256032"/>
          </a:xfrm>
          <a:prstGeom prst="rect">
            <a:avLst/>
          </a:prstGeom>
        </p:spPr>
      </p:pic>
      <p:sp>
        <p:nvSpPr>
          <p:cNvPr id="16" name="!!state-1#3"/>
          <p:cNvSpPr/>
          <p:nvPr/>
        </p:nvSpPr>
        <p:spPr>
          <a:xfrm>
            <a:off x="2342845"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3863340"/>
            <a:ext cx="258013" cy="0"/>
          </a:xfrm>
          <a:prstGeom prst="line">
            <a:avLst/>
          </a:prstGeom>
          <a:noFill/>
          <a:ln w="25400">
            <a:solidFill>
              <a:srgbClr val="9AA6B3"/>
            </a:solidFill>
            <a:prstDash val="solid"/>
            <a:tailEnd type="triangle"/>
          </a:ln>
        </p:spPr>
      </p:sp>
      <p:sp>
        <p:nvSpPr>
          <p:cNvPr id="18" name="!!state-2#0"/>
          <p:cNvSpPr/>
          <p:nvPr/>
        </p:nvSpPr>
        <p:spPr>
          <a:xfrm>
            <a:off x="4063898" y="3246120"/>
            <a:ext cx="1463040" cy="1234440"/>
          </a:xfrm>
          <a:prstGeom prst="roundRect">
            <a:avLst>
              <a:gd name="adj" fmla="val 5926"/>
            </a:avLst>
          </a:prstGeom>
          <a:solidFill>
            <a:srgbClr val="E9EDF2"/>
          </a:solidFill>
          <a:ln/>
        </p:spPr>
      </p:sp>
      <p:sp>
        <p:nvSpPr>
          <p:cNvPr id="19" name="!!state-2#1"/>
          <p:cNvSpPr/>
          <p:nvPr/>
        </p:nvSpPr>
        <p:spPr>
          <a:xfrm>
            <a:off x="4566818" y="335584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3456432"/>
            <a:ext cx="256032" cy="256032"/>
          </a:xfrm>
          <a:prstGeom prst="rect">
            <a:avLst/>
          </a:prstGeom>
        </p:spPr>
      </p:pic>
      <p:sp>
        <p:nvSpPr>
          <p:cNvPr id="21" name="!!state-2#3"/>
          <p:cNvSpPr/>
          <p:nvPr/>
        </p:nvSpPr>
        <p:spPr>
          <a:xfrm>
            <a:off x="410047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3863340"/>
            <a:ext cx="258013" cy="0"/>
          </a:xfrm>
          <a:prstGeom prst="line">
            <a:avLst/>
          </a:prstGeom>
          <a:noFill/>
          <a:ln w="25400">
            <a:solidFill>
              <a:srgbClr val="9AA6B3"/>
            </a:solidFill>
            <a:prstDash val="solid"/>
            <a:tailEnd type="triangle"/>
          </a:ln>
        </p:spPr>
      </p:sp>
      <p:sp>
        <p:nvSpPr>
          <p:cNvPr id="23" name="!!state-3#0"/>
          <p:cNvSpPr/>
          <p:nvPr/>
        </p:nvSpPr>
        <p:spPr>
          <a:xfrm>
            <a:off x="5821528" y="3246120"/>
            <a:ext cx="1463040" cy="1234440"/>
          </a:xfrm>
          <a:prstGeom prst="roundRect">
            <a:avLst>
              <a:gd name="adj" fmla="val 5926"/>
            </a:avLst>
          </a:prstGeom>
          <a:solidFill>
            <a:srgbClr val="E9EDF2"/>
          </a:solidFill>
          <a:ln/>
        </p:spPr>
      </p:sp>
      <p:sp>
        <p:nvSpPr>
          <p:cNvPr id="24" name="!!state-3#1"/>
          <p:cNvSpPr/>
          <p:nvPr/>
        </p:nvSpPr>
        <p:spPr>
          <a:xfrm>
            <a:off x="6324448" y="335584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3456432"/>
            <a:ext cx="256032" cy="256032"/>
          </a:xfrm>
          <a:prstGeom prst="rect">
            <a:avLst/>
          </a:prstGeom>
        </p:spPr>
      </p:pic>
      <p:sp>
        <p:nvSpPr>
          <p:cNvPr id="26" name="!!state-3#3"/>
          <p:cNvSpPr/>
          <p:nvPr/>
        </p:nvSpPr>
        <p:spPr>
          <a:xfrm>
            <a:off x="585810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3863340"/>
            <a:ext cx="258013" cy="0"/>
          </a:xfrm>
          <a:prstGeom prst="line">
            <a:avLst/>
          </a:prstGeom>
          <a:noFill/>
          <a:ln w="25400">
            <a:solidFill>
              <a:srgbClr val="9AA6B3"/>
            </a:solidFill>
            <a:prstDash val="solid"/>
            <a:tailEnd type="triangle"/>
          </a:ln>
        </p:spPr>
      </p:sp>
      <p:sp>
        <p:nvSpPr>
          <p:cNvPr id="28" name="!!state-4#0"/>
          <p:cNvSpPr/>
          <p:nvPr/>
        </p:nvSpPr>
        <p:spPr>
          <a:xfrm>
            <a:off x="7579157" y="3246120"/>
            <a:ext cx="1463040" cy="1234440"/>
          </a:xfrm>
          <a:prstGeom prst="roundRect">
            <a:avLst>
              <a:gd name="adj" fmla="val 5926"/>
            </a:avLst>
          </a:prstGeom>
          <a:solidFill>
            <a:srgbClr val="E9EDF2"/>
          </a:solidFill>
          <a:ln/>
        </p:spPr>
      </p:sp>
      <p:sp>
        <p:nvSpPr>
          <p:cNvPr id="29" name="!!state-4#1"/>
          <p:cNvSpPr/>
          <p:nvPr/>
        </p:nvSpPr>
        <p:spPr>
          <a:xfrm>
            <a:off x="8082077" y="335584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3456432"/>
            <a:ext cx="256032" cy="256032"/>
          </a:xfrm>
          <a:prstGeom prst="rect">
            <a:avLst/>
          </a:prstGeom>
        </p:spPr>
      </p:pic>
      <p:sp>
        <p:nvSpPr>
          <p:cNvPr id="31" name="!!state-4#3"/>
          <p:cNvSpPr/>
          <p:nvPr/>
        </p:nvSpPr>
        <p:spPr>
          <a:xfrm>
            <a:off x="7615733"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3863340"/>
            <a:ext cx="258013" cy="0"/>
          </a:xfrm>
          <a:prstGeom prst="line">
            <a:avLst/>
          </a:prstGeom>
          <a:noFill/>
          <a:ln w="25400">
            <a:solidFill>
              <a:srgbClr val="9AA6B3"/>
            </a:solidFill>
            <a:prstDash val="solid"/>
            <a:tailEnd type="triangle"/>
          </a:ln>
        </p:spPr>
      </p:sp>
      <p:sp>
        <p:nvSpPr>
          <p:cNvPr id="33" name="!!state-5#0"/>
          <p:cNvSpPr/>
          <p:nvPr/>
        </p:nvSpPr>
        <p:spPr>
          <a:xfrm>
            <a:off x="9336786" y="3406140"/>
            <a:ext cx="1005840" cy="914400"/>
          </a:xfrm>
          <a:prstGeom prst="roundRect">
            <a:avLst>
              <a:gd name="adj" fmla="val 8000"/>
            </a:avLst>
          </a:prstGeom>
          <a:solidFill>
            <a:srgbClr val="E9EDF2"/>
          </a:solidFill>
          <a:ln/>
        </p:spPr>
      </p:sp>
      <p:sp>
        <p:nvSpPr>
          <p:cNvPr id="34" name="!!state-5#1"/>
          <p:cNvSpPr/>
          <p:nvPr/>
        </p:nvSpPr>
        <p:spPr>
          <a:xfrm>
            <a:off x="9675114" y="349758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3570000"/>
            <a:ext cx="184343" cy="184343"/>
          </a:xfrm>
          <a:prstGeom prst="rect">
            <a:avLst/>
          </a:prstGeom>
        </p:spPr>
      </p:pic>
      <p:sp>
        <p:nvSpPr>
          <p:cNvPr id="36" name="!!state-5#3"/>
          <p:cNvSpPr/>
          <p:nvPr/>
        </p:nvSpPr>
        <p:spPr>
          <a:xfrm>
            <a:off x="9355074"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3863340"/>
            <a:ext cx="258013" cy="0"/>
          </a:xfrm>
          <a:prstGeom prst="line">
            <a:avLst/>
          </a:prstGeom>
          <a:noFill/>
          <a:ln w="25400">
            <a:solidFill>
              <a:srgbClr val="9AA6B3"/>
            </a:solidFill>
            <a:prstDash val="solid"/>
            <a:tailEnd type="triangle"/>
          </a:ln>
        </p:spPr>
      </p:sp>
      <p:sp>
        <p:nvSpPr>
          <p:cNvPr id="38" name="!!state-6#0"/>
          <p:cNvSpPr/>
          <p:nvPr/>
        </p:nvSpPr>
        <p:spPr>
          <a:xfrm>
            <a:off x="10637215" y="3406140"/>
            <a:ext cx="1005840" cy="914400"/>
          </a:xfrm>
          <a:prstGeom prst="roundRect">
            <a:avLst>
              <a:gd name="adj" fmla="val 8000"/>
            </a:avLst>
          </a:prstGeom>
          <a:solidFill>
            <a:srgbClr val="E9EDF2"/>
          </a:solidFill>
          <a:ln/>
        </p:spPr>
      </p:sp>
      <p:sp>
        <p:nvSpPr>
          <p:cNvPr id="39" name="!!state-6#1"/>
          <p:cNvSpPr/>
          <p:nvPr/>
        </p:nvSpPr>
        <p:spPr>
          <a:xfrm>
            <a:off x="10975543" y="349758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3570000"/>
            <a:ext cx="184343" cy="184343"/>
          </a:xfrm>
          <a:prstGeom prst="rect">
            <a:avLst/>
          </a:prstGeom>
        </p:spPr>
      </p:pic>
      <p:sp>
        <p:nvSpPr>
          <p:cNvPr id="41" name="!!state-6#3"/>
          <p:cNvSpPr/>
          <p:nvPr/>
        </p:nvSpPr>
        <p:spPr>
          <a:xfrm>
            <a:off x="10655503"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4480560"/>
            <a:ext cx="0" cy="201168"/>
          </a:xfrm>
          <a:prstGeom prst="line">
            <a:avLst/>
          </a:prstGeom>
          <a:noFill/>
          <a:ln w="25400">
            <a:solidFill>
              <a:srgbClr val="9AA6B3"/>
            </a:solidFill>
            <a:prstDash val="solid"/>
          </a:ln>
        </p:spPr>
      </p:sp>
      <p:sp>
        <p:nvSpPr>
          <p:cNvPr id="43" name="!!deny#1"/>
          <p:cNvSpPr/>
          <p:nvPr/>
        </p:nvSpPr>
        <p:spPr>
          <a:xfrm>
            <a:off x="4795418" y="4681728"/>
            <a:ext cx="3515258" cy="0"/>
          </a:xfrm>
          <a:prstGeom prst="line">
            <a:avLst/>
          </a:prstGeom>
          <a:noFill/>
          <a:ln w="25400">
            <a:solidFill>
              <a:srgbClr val="9AA6B3"/>
            </a:solidFill>
            <a:prstDash val="solid"/>
          </a:ln>
        </p:spPr>
      </p:sp>
      <p:sp>
        <p:nvSpPr>
          <p:cNvPr id="44" name="!!deny#2"/>
          <p:cNvSpPr/>
          <p:nvPr/>
        </p:nvSpPr>
        <p:spPr>
          <a:xfrm flipV="1">
            <a:off x="8310677" y="4480560"/>
            <a:ext cx="0" cy="201168"/>
          </a:xfrm>
          <a:prstGeom prst="line">
            <a:avLst/>
          </a:prstGeom>
          <a:noFill/>
          <a:ln w="25400">
            <a:solidFill>
              <a:srgbClr val="9AA6B3"/>
            </a:solidFill>
            <a:prstDash val="solid"/>
            <a:tailEnd type="triangle"/>
          </a:ln>
        </p:spPr>
      </p:sp>
      <p:sp>
        <p:nvSpPr>
          <p:cNvPr id="45" name="!!deny#3"/>
          <p:cNvSpPr/>
          <p:nvPr/>
        </p:nvSpPr>
        <p:spPr>
          <a:xfrm>
            <a:off x="4795418" y="470916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ring#0"/>
          <p:cNvSpPr/>
          <p:nvPr/>
        </p:nvSpPr>
        <p:spPr>
          <a:xfrm>
            <a:off x="502920" y="320040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25400">
            <a:solidFill>
              <a:srgbClr val="9AA6B3"/>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E9EDF2"/>
          </a:solidFill>
          <a:ln/>
        </p:spPr>
      </p:sp>
      <p:sp>
        <p:nvSpPr>
          <p:cNvPr id="19"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E9EDF2"/>
          </a:solidFill>
          <a:ln/>
        </p:spPr>
      </p:sp>
      <p:sp>
        <p:nvSpPr>
          <p:cNvPr id="29"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25400">
            <a:solidFill>
              <a:srgbClr val="9AA6B3"/>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E9EDF2"/>
          </a:solidFill>
          <a:ln/>
        </p:spPr>
      </p:sp>
      <p:sp>
        <p:nvSpPr>
          <p:cNvPr id="34"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25400">
            <a:solidFill>
              <a:srgbClr val="9AA6B3"/>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E9EDF2"/>
          </a:solidFill>
          <a:ln/>
        </p:spPr>
      </p:sp>
      <p:sp>
        <p:nvSpPr>
          <p:cNvPr id="39"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0"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1"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52"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0.85</a:t>
            </a:r>
            <a:endParaRPr lang="en-US" sz="1600" dirty="0"/>
          </a:p>
        </p:txBody>
      </p:sp>
      <p:sp>
        <p:nvSpPr>
          <p:cNvPr id="53"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0.92</a:t>
            </a:r>
            <a:endParaRPr lang="en-US" sz="1600" dirty="0"/>
          </a:p>
        </p:txBody>
      </p:sp>
      <p:sp>
        <p:nvSpPr>
          <p:cNvPr id="54"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5"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A6BCD6"/>
          </a:solidFill>
          <a:ln/>
        </p:spPr>
      </p:sp>
      <p:sp>
        <p:nvSpPr>
          <p:cNvPr id="19"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E9EDF2"/>
          </a:solidFill>
          <a:ln/>
        </p:spPr>
      </p:sp>
      <p:sp>
        <p:nvSpPr>
          <p:cNvPr id="29"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25400">
            <a:solidFill>
              <a:srgbClr val="9AA6B3"/>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E9EDF2"/>
          </a:solidFill>
          <a:ln/>
        </p:spPr>
      </p:sp>
      <p:sp>
        <p:nvSpPr>
          <p:cNvPr id="34"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25400">
            <a:solidFill>
              <a:srgbClr val="9AA6B3"/>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E9EDF2"/>
          </a:solidFill>
          <a:ln/>
        </p:spPr>
      </p:sp>
      <p:sp>
        <p:nvSpPr>
          <p:cNvPr id="39"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0"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1"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2"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3"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0.90</a:t>
            </a:r>
            <a:endParaRPr lang="en-US" sz="1600" dirty="0"/>
          </a:p>
        </p:txBody>
      </p:sp>
      <p:sp>
        <p:nvSpPr>
          <p:cNvPr id="54"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5"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6"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7"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8"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No rule blocks the refund: it runs.</a:t>
            </a:r>
            <a:endParaRPr lang="en-US" sz="1600" dirty="0"/>
          </a:p>
        </p:txBody>
      </p:sp>
      <p:sp>
        <p:nvSpPr>
          <p:cNvPr id="59"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A6BCD6"/>
          </a:solidFill>
          <a:ln/>
        </p:spPr>
      </p:sp>
      <p:sp>
        <p:nvSpPr>
          <p:cNvPr id="19"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44450">
            <a:solidFill>
              <a:srgbClr val="1B365D"/>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AEB7C2"/>
          </a:solidFill>
          <a:ln/>
        </p:spPr>
      </p:sp>
      <p:sp>
        <p:nvSpPr>
          <p:cNvPr id="24"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44450">
            <a:solidFill>
              <a:srgbClr val="1B365D"/>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A6BCD6"/>
          </a:solidFill>
          <a:ln/>
        </p:spPr>
      </p:sp>
      <p:sp>
        <p:nvSpPr>
          <p:cNvPr id="29"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44450">
            <a:solidFill>
              <a:srgbClr val="1B365D"/>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AEB7C2"/>
          </a:solidFill>
          <a:ln/>
        </p:spPr>
      </p:sp>
      <p:sp>
        <p:nvSpPr>
          <p:cNvPr id="34"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44450">
            <a:solidFill>
              <a:srgbClr val="1B365D"/>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AEB7C2"/>
          </a:solidFill>
          <a:ln/>
        </p:spPr>
      </p:sp>
      <p:sp>
        <p:nvSpPr>
          <p:cNvPr id="39"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0"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“Thanks for reaching out, Nam. I've started a refund of $66 for your Pro annual plan (FF-10038), and it was approved. The money will return to your original payment method in 5 to 10 business days.”</a:t>
            </a:r>
            <a:endParaRPr lang="en-US" sz="1900" dirty="0"/>
          </a:p>
        </p:txBody>
      </p:sp>
      <p:sp>
        <p:nvSpPr>
          <p:cNvPr id="51"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45309"/>
                </a:solidFill>
                <a:latin typeface="Calibri" pitchFamily="34" charset="0"/>
                <a:ea typeface="Calibri" pitchFamily="34" charset="-122"/>
                <a:cs typeface="Calibri" pitchFamily="34" charset="-120"/>
              </a:rPr>
              <a:t>a refund that a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8" name="!!state-0#0"/>
          <p:cNvSpPr/>
          <p:nvPr/>
        </p:nvSpPr>
        <p:spPr>
          <a:xfrm>
            <a:off x="548640" y="3246120"/>
            <a:ext cx="1463040" cy="1234440"/>
          </a:xfrm>
          <a:prstGeom prst="roundRect">
            <a:avLst>
              <a:gd name="adj" fmla="val 5926"/>
            </a:avLst>
          </a:prstGeom>
          <a:solidFill>
            <a:srgbClr val="AEB7C2"/>
          </a:solidFill>
          <a:ln/>
        </p:spPr>
      </p:sp>
      <p:sp>
        <p:nvSpPr>
          <p:cNvPr id="9" name="!!state-0#1"/>
          <p:cNvSpPr/>
          <p:nvPr/>
        </p:nvSpPr>
        <p:spPr>
          <a:xfrm>
            <a:off x="1051560" y="335584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3456432"/>
            <a:ext cx="256032" cy="256032"/>
          </a:xfrm>
          <a:prstGeom prst="rect">
            <a:avLst/>
          </a:prstGeom>
        </p:spPr>
      </p:pic>
      <p:sp>
        <p:nvSpPr>
          <p:cNvPr id="11" name="!!state-0#3"/>
          <p:cNvSpPr/>
          <p:nvPr/>
        </p:nvSpPr>
        <p:spPr>
          <a:xfrm>
            <a:off x="585216" y="386791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3863340"/>
            <a:ext cx="258013" cy="0"/>
          </a:xfrm>
          <a:prstGeom prst="line">
            <a:avLst/>
          </a:prstGeom>
          <a:noFill/>
          <a:ln w="25400">
            <a:solidFill>
              <a:srgbClr val="9AA6B3"/>
            </a:solidFill>
            <a:prstDash val="solid"/>
            <a:tailEnd type="triangle"/>
          </a:ln>
        </p:spPr>
      </p:sp>
      <p:sp>
        <p:nvSpPr>
          <p:cNvPr id="13" name="!!state-1#0"/>
          <p:cNvSpPr/>
          <p:nvPr/>
        </p:nvSpPr>
        <p:spPr>
          <a:xfrm>
            <a:off x="2306269" y="3246120"/>
            <a:ext cx="1463040" cy="1234440"/>
          </a:xfrm>
          <a:prstGeom prst="roundRect">
            <a:avLst>
              <a:gd name="adj" fmla="val 5926"/>
            </a:avLst>
          </a:prstGeom>
          <a:solidFill>
            <a:srgbClr val="E9EDF2"/>
          </a:solidFill>
          <a:ln/>
        </p:spPr>
      </p:sp>
      <p:sp>
        <p:nvSpPr>
          <p:cNvPr id="14" name="!!state-1#1"/>
          <p:cNvSpPr/>
          <p:nvPr/>
        </p:nvSpPr>
        <p:spPr>
          <a:xfrm>
            <a:off x="2809189" y="3355848"/>
            <a:ext cx="457200" cy="457200"/>
          </a:xfrm>
          <a:prstGeom prst="ellipse">
            <a:avLst/>
          </a:prstGeom>
          <a:solidFill>
            <a:srgbClr val="AEB7C2"/>
          </a:solidFill>
          <a:ln w="12700">
            <a:solidFill>
              <a:srgbClr val="AEB7C2"/>
            </a:solidFill>
            <a:prstDash val="solid"/>
          </a:ln>
        </p:spPr>
      </p:sp>
      <p:pic>
        <p:nvPicPr>
          <p:cNvPr id="15" name="!!state-1#2" descr="preencoded.png">    </p:cNvPr>
          <p:cNvPicPr>
            <a:picLocks noChangeAspect="1"/>
          </p:cNvPicPr>
          <p:nvPr/>
        </p:nvPicPr>
        <p:blipFill>
          <a:blip r:embed="rId3"/>
          <a:stretch>
            <a:fillRect/>
          </a:stretch>
        </p:blipFill>
        <p:spPr>
          <a:xfrm>
            <a:off x="2909773" y="3456432"/>
            <a:ext cx="256032" cy="256032"/>
          </a:xfrm>
          <a:prstGeom prst="rect">
            <a:avLst/>
          </a:prstGeom>
        </p:spPr>
      </p:pic>
      <p:sp>
        <p:nvSpPr>
          <p:cNvPr id="16" name="!!state-1#3"/>
          <p:cNvSpPr/>
          <p:nvPr/>
        </p:nvSpPr>
        <p:spPr>
          <a:xfrm>
            <a:off x="2342845"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3863340"/>
            <a:ext cx="258013" cy="0"/>
          </a:xfrm>
          <a:prstGeom prst="line">
            <a:avLst/>
          </a:prstGeom>
          <a:noFill/>
          <a:ln w="25400">
            <a:solidFill>
              <a:srgbClr val="9AA6B3"/>
            </a:solidFill>
            <a:prstDash val="solid"/>
            <a:tailEnd type="triangle"/>
          </a:ln>
        </p:spPr>
      </p:sp>
      <p:sp>
        <p:nvSpPr>
          <p:cNvPr id="18" name="!!state-2#0"/>
          <p:cNvSpPr/>
          <p:nvPr/>
        </p:nvSpPr>
        <p:spPr>
          <a:xfrm>
            <a:off x="4063898" y="3246120"/>
            <a:ext cx="1463040" cy="1234440"/>
          </a:xfrm>
          <a:prstGeom prst="roundRect">
            <a:avLst>
              <a:gd name="adj" fmla="val 5926"/>
            </a:avLst>
          </a:prstGeom>
          <a:solidFill>
            <a:srgbClr val="E9EDF2"/>
          </a:solidFill>
          <a:ln/>
        </p:spPr>
      </p:sp>
      <p:sp>
        <p:nvSpPr>
          <p:cNvPr id="19" name="!!state-2#1"/>
          <p:cNvSpPr/>
          <p:nvPr/>
        </p:nvSpPr>
        <p:spPr>
          <a:xfrm>
            <a:off x="4566818" y="335584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3456432"/>
            <a:ext cx="256032" cy="256032"/>
          </a:xfrm>
          <a:prstGeom prst="rect">
            <a:avLst/>
          </a:prstGeom>
        </p:spPr>
      </p:pic>
      <p:sp>
        <p:nvSpPr>
          <p:cNvPr id="21" name="!!state-2#3"/>
          <p:cNvSpPr/>
          <p:nvPr/>
        </p:nvSpPr>
        <p:spPr>
          <a:xfrm>
            <a:off x="410047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3863340"/>
            <a:ext cx="258013" cy="0"/>
          </a:xfrm>
          <a:prstGeom prst="line">
            <a:avLst/>
          </a:prstGeom>
          <a:noFill/>
          <a:ln w="25400">
            <a:solidFill>
              <a:srgbClr val="9AA6B3"/>
            </a:solidFill>
            <a:prstDash val="solid"/>
            <a:tailEnd type="triangle"/>
          </a:ln>
        </p:spPr>
      </p:sp>
      <p:sp>
        <p:nvSpPr>
          <p:cNvPr id="23" name="!!state-3#0"/>
          <p:cNvSpPr/>
          <p:nvPr/>
        </p:nvSpPr>
        <p:spPr>
          <a:xfrm>
            <a:off x="5821528" y="3246120"/>
            <a:ext cx="1463040" cy="1234440"/>
          </a:xfrm>
          <a:prstGeom prst="roundRect">
            <a:avLst>
              <a:gd name="adj" fmla="val 5926"/>
            </a:avLst>
          </a:prstGeom>
          <a:solidFill>
            <a:srgbClr val="E9EDF2"/>
          </a:solidFill>
          <a:ln/>
        </p:spPr>
      </p:sp>
      <p:sp>
        <p:nvSpPr>
          <p:cNvPr id="24" name="!!state-3#1"/>
          <p:cNvSpPr/>
          <p:nvPr/>
        </p:nvSpPr>
        <p:spPr>
          <a:xfrm>
            <a:off x="6324448" y="335584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3456432"/>
            <a:ext cx="256032" cy="256032"/>
          </a:xfrm>
          <a:prstGeom prst="rect">
            <a:avLst/>
          </a:prstGeom>
        </p:spPr>
      </p:pic>
      <p:sp>
        <p:nvSpPr>
          <p:cNvPr id="26" name="!!state-3#3"/>
          <p:cNvSpPr/>
          <p:nvPr/>
        </p:nvSpPr>
        <p:spPr>
          <a:xfrm>
            <a:off x="585810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3863340"/>
            <a:ext cx="258013" cy="0"/>
          </a:xfrm>
          <a:prstGeom prst="line">
            <a:avLst/>
          </a:prstGeom>
          <a:noFill/>
          <a:ln w="25400">
            <a:solidFill>
              <a:srgbClr val="9AA6B3"/>
            </a:solidFill>
            <a:prstDash val="solid"/>
            <a:tailEnd type="triangle"/>
          </a:ln>
        </p:spPr>
      </p:sp>
      <p:sp>
        <p:nvSpPr>
          <p:cNvPr id="28" name="!!state-4#0"/>
          <p:cNvSpPr/>
          <p:nvPr/>
        </p:nvSpPr>
        <p:spPr>
          <a:xfrm>
            <a:off x="7579157" y="3246120"/>
            <a:ext cx="1463040" cy="1234440"/>
          </a:xfrm>
          <a:prstGeom prst="roundRect">
            <a:avLst>
              <a:gd name="adj" fmla="val 5926"/>
            </a:avLst>
          </a:prstGeom>
          <a:solidFill>
            <a:srgbClr val="E9EDF2"/>
          </a:solidFill>
          <a:ln/>
        </p:spPr>
      </p:sp>
      <p:sp>
        <p:nvSpPr>
          <p:cNvPr id="29" name="!!state-4#1"/>
          <p:cNvSpPr/>
          <p:nvPr/>
        </p:nvSpPr>
        <p:spPr>
          <a:xfrm>
            <a:off x="8082077" y="335584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3456432"/>
            <a:ext cx="256032" cy="256032"/>
          </a:xfrm>
          <a:prstGeom prst="rect">
            <a:avLst/>
          </a:prstGeom>
        </p:spPr>
      </p:pic>
      <p:sp>
        <p:nvSpPr>
          <p:cNvPr id="31" name="!!state-4#3"/>
          <p:cNvSpPr/>
          <p:nvPr/>
        </p:nvSpPr>
        <p:spPr>
          <a:xfrm>
            <a:off x="7615733"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3863340"/>
            <a:ext cx="258013" cy="0"/>
          </a:xfrm>
          <a:prstGeom prst="line">
            <a:avLst/>
          </a:prstGeom>
          <a:noFill/>
          <a:ln w="25400">
            <a:solidFill>
              <a:srgbClr val="9AA6B3"/>
            </a:solidFill>
            <a:prstDash val="solid"/>
            <a:tailEnd type="triangle"/>
          </a:ln>
        </p:spPr>
      </p:sp>
      <p:sp>
        <p:nvSpPr>
          <p:cNvPr id="33" name="!!state-5#0"/>
          <p:cNvSpPr/>
          <p:nvPr/>
        </p:nvSpPr>
        <p:spPr>
          <a:xfrm>
            <a:off x="9336786" y="3406140"/>
            <a:ext cx="1005840" cy="914400"/>
          </a:xfrm>
          <a:prstGeom prst="roundRect">
            <a:avLst>
              <a:gd name="adj" fmla="val 8000"/>
            </a:avLst>
          </a:prstGeom>
          <a:solidFill>
            <a:srgbClr val="E9EDF2"/>
          </a:solidFill>
          <a:ln/>
        </p:spPr>
      </p:sp>
      <p:sp>
        <p:nvSpPr>
          <p:cNvPr id="34" name="!!state-5#1"/>
          <p:cNvSpPr/>
          <p:nvPr/>
        </p:nvSpPr>
        <p:spPr>
          <a:xfrm>
            <a:off x="9675114" y="349758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3570000"/>
            <a:ext cx="184343" cy="184343"/>
          </a:xfrm>
          <a:prstGeom prst="rect">
            <a:avLst/>
          </a:prstGeom>
        </p:spPr>
      </p:pic>
      <p:sp>
        <p:nvSpPr>
          <p:cNvPr id="36" name="!!state-5#3"/>
          <p:cNvSpPr/>
          <p:nvPr/>
        </p:nvSpPr>
        <p:spPr>
          <a:xfrm>
            <a:off x="9355074"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3863340"/>
            <a:ext cx="258013" cy="0"/>
          </a:xfrm>
          <a:prstGeom prst="line">
            <a:avLst/>
          </a:prstGeom>
          <a:noFill/>
          <a:ln w="25400">
            <a:solidFill>
              <a:srgbClr val="9AA6B3"/>
            </a:solidFill>
            <a:prstDash val="solid"/>
            <a:tailEnd type="triangle"/>
          </a:ln>
        </p:spPr>
      </p:sp>
      <p:sp>
        <p:nvSpPr>
          <p:cNvPr id="38" name="!!state-6#0"/>
          <p:cNvSpPr/>
          <p:nvPr/>
        </p:nvSpPr>
        <p:spPr>
          <a:xfrm>
            <a:off x="10637215" y="3406140"/>
            <a:ext cx="1005840" cy="914400"/>
          </a:xfrm>
          <a:prstGeom prst="roundRect">
            <a:avLst>
              <a:gd name="adj" fmla="val 8000"/>
            </a:avLst>
          </a:prstGeom>
          <a:solidFill>
            <a:srgbClr val="E9EDF2"/>
          </a:solidFill>
          <a:ln/>
        </p:spPr>
      </p:sp>
      <p:sp>
        <p:nvSpPr>
          <p:cNvPr id="39" name="!!state-6#1"/>
          <p:cNvSpPr/>
          <p:nvPr/>
        </p:nvSpPr>
        <p:spPr>
          <a:xfrm>
            <a:off x="10975543" y="349758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3570000"/>
            <a:ext cx="184343" cy="184343"/>
          </a:xfrm>
          <a:prstGeom prst="rect">
            <a:avLst/>
          </a:prstGeom>
        </p:spPr>
      </p:pic>
      <p:sp>
        <p:nvSpPr>
          <p:cNvPr id="41" name="!!state-6#3"/>
          <p:cNvSpPr/>
          <p:nvPr/>
        </p:nvSpPr>
        <p:spPr>
          <a:xfrm>
            <a:off x="10655503"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4480560"/>
            <a:ext cx="0" cy="201168"/>
          </a:xfrm>
          <a:prstGeom prst="line">
            <a:avLst/>
          </a:prstGeom>
          <a:noFill/>
          <a:ln w="25400">
            <a:solidFill>
              <a:srgbClr val="9AA6B3"/>
            </a:solidFill>
            <a:prstDash val="solid"/>
          </a:ln>
        </p:spPr>
      </p:sp>
      <p:sp>
        <p:nvSpPr>
          <p:cNvPr id="43" name="!!deny#1"/>
          <p:cNvSpPr/>
          <p:nvPr/>
        </p:nvSpPr>
        <p:spPr>
          <a:xfrm>
            <a:off x="4795418" y="4681728"/>
            <a:ext cx="3515258" cy="0"/>
          </a:xfrm>
          <a:prstGeom prst="line">
            <a:avLst/>
          </a:prstGeom>
          <a:noFill/>
          <a:ln w="25400">
            <a:solidFill>
              <a:srgbClr val="9AA6B3"/>
            </a:solidFill>
            <a:prstDash val="solid"/>
          </a:ln>
        </p:spPr>
      </p:sp>
      <p:sp>
        <p:nvSpPr>
          <p:cNvPr id="44" name="!!deny#2"/>
          <p:cNvSpPr/>
          <p:nvPr/>
        </p:nvSpPr>
        <p:spPr>
          <a:xfrm flipV="1">
            <a:off x="8310677" y="4480560"/>
            <a:ext cx="0" cy="201168"/>
          </a:xfrm>
          <a:prstGeom prst="line">
            <a:avLst/>
          </a:prstGeom>
          <a:noFill/>
          <a:ln w="25400">
            <a:solidFill>
              <a:srgbClr val="9AA6B3"/>
            </a:solidFill>
            <a:prstDash val="solid"/>
            <a:tailEnd type="triangle"/>
          </a:ln>
        </p:spPr>
      </p:sp>
      <p:sp>
        <p:nvSpPr>
          <p:cNvPr id="45" name="!!deny#3"/>
          <p:cNvSpPr/>
          <p:nvPr/>
        </p:nvSpPr>
        <p:spPr>
          <a:xfrm>
            <a:off x="4795418" y="470916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ring#0"/>
          <p:cNvSpPr/>
          <p:nvPr/>
        </p:nvSpPr>
        <p:spPr>
          <a:xfrm>
            <a:off x="502920" y="320040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45309"/>
                </a:solidFill>
                <a:latin typeface="Calibri" pitchFamily="34" charset="0"/>
                <a:ea typeface="Calibri" pitchFamily="34" charset="-122"/>
                <a:cs typeface="Calibri" pitchFamily="34" charset="-120"/>
              </a:rPr>
              <a:t>a refund that a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B45309"/>
          </a:solidFill>
          <a:ln/>
        </p:spPr>
      </p:sp>
      <p:sp>
        <p:nvSpPr>
          <p:cNvPr id="19"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E9EDF2"/>
          </a:solidFill>
          <a:ln/>
        </p:spPr>
      </p:sp>
      <p:sp>
        <p:nvSpPr>
          <p:cNvPr id="29"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25400">
            <a:solidFill>
              <a:srgbClr val="9AA6B3"/>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E9EDF2"/>
          </a:solidFill>
          <a:ln/>
        </p:spPr>
      </p:sp>
      <p:sp>
        <p:nvSpPr>
          <p:cNvPr id="34"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25400">
            <a:solidFill>
              <a:srgbClr val="9AA6B3"/>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E9EDF2"/>
          </a:solidFill>
          <a:ln/>
        </p:spPr>
      </p:sp>
      <p:sp>
        <p:nvSpPr>
          <p:cNvPr id="39"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0"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1"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2"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3"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4"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5" name="panel-2#5"/>
          <p:cNvSpPr/>
          <p:nvPr/>
        </p:nvSpPr>
        <p:spPr>
          <a:xfrm>
            <a:off x="777240" y="4992624"/>
            <a:ext cx="2039661" cy="530352"/>
          </a:xfrm>
          <a:prstGeom prst="roundRect">
            <a:avLst>
              <a:gd name="adj" fmla="val 13793"/>
            </a:avLst>
          </a:prstGeom>
          <a:solidFill>
            <a:srgbClr val="FDEBC8"/>
          </a:solidFill>
          <a:ln w="12700">
            <a:solidFill>
              <a:srgbClr val="B45309"/>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B45309"/>
                </a:solidFill>
                <a:latin typeface="Calibri" pitchFamily="34" charset="0"/>
                <a:ea typeface="Calibri" pitchFamily="34" charset="-122"/>
                <a:cs typeface="Calibri" pitchFamily="34" charset="-120"/>
              </a:rPr>
              <a:t>blocks  0.99</a:t>
            </a:r>
            <a:endParaRPr lang="en-US" sz="1600" dirty="0"/>
          </a:p>
        </p:txBody>
      </p:sp>
      <p:sp>
        <p:nvSpPr>
          <p:cNvPr id="56"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7"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8"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Amount limit blocks the refund: it is $297 and the limit is $100. Nothing runs.</a:t>
            </a:r>
            <a:endParaRPr lang="en-US" sz="1600" dirty="0"/>
          </a:p>
        </p:txBody>
      </p:sp>
      <p:sp>
        <p:nvSpPr>
          <p:cNvPr id="59"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45309"/>
                </a:solidFill>
                <a:latin typeface="Calibri" pitchFamily="34" charset="0"/>
                <a:ea typeface="Calibri" pitchFamily="34" charset="-122"/>
                <a:cs typeface="Calibri" pitchFamily="34" charset="-120"/>
              </a:rPr>
              <a:t>a refund that a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B45309"/>
          </a:solidFill>
          <a:ln/>
        </p:spPr>
      </p:sp>
      <p:sp>
        <p:nvSpPr>
          <p:cNvPr id="19"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A6BCD6"/>
          </a:solidFill>
          <a:ln/>
        </p:spPr>
      </p:sp>
      <p:sp>
        <p:nvSpPr>
          <p:cNvPr id="29"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44450">
            <a:solidFill>
              <a:srgbClr val="1B365D"/>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AEB7C2"/>
          </a:solidFill>
          <a:ln/>
        </p:spPr>
      </p:sp>
      <p:sp>
        <p:nvSpPr>
          <p:cNvPr id="34"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44450">
            <a:solidFill>
              <a:srgbClr val="1B365D"/>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AEB7C2"/>
          </a:solidFill>
          <a:ln/>
        </p:spPr>
      </p:sp>
      <p:sp>
        <p:nvSpPr>
          <p:cNvPr id="39"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44450">
            <a:solidFill>
              <a:srgbClr val="B45309"/>
            </a:solidFill>
            <a:prstDash val="solid"/>
          </a:ln>
        </p:spPr>
      </p:sp>
      <p:sp>
        <p:nvSpPr>
          <p:cNvPr id="43" name="!!deny#1"/>
          <p:cNvSpPr/>
          <p:nvPr/>
        </p:nvSpPr>
        <p:spPr>
          <a:xfrm>
            <a:off x="4795418" y="3401568"/>
            <a:ext cx="3515258" cy="0"/>
          </a:xfrm>
          <a:prstGeom prst="line">
            <a:avLst/>
          </a:prstGeom>
          <a:noFill/>
          <a:ln w="44450">
            <a:solidFill>
              <a:srgbClr val="B45309"/>
            </a:solidFill>
            <a:prstDash val="solid"/>
          </a:ln>
        </p:spPr>
      </p:sp>
      <p:sp>
        <p:nvSpPr>
          <p:cNvPr id="44" name="!!deny#2"/>
          <p:cNvSpPr/>
          <p:nvPr/>
        </p:nvSpPr>
        <p:spPr>
          <a:xfrm flipV="1">
            <a:off x="8310677" y="3200400"/>
            <a:ext cx="0" cy="201168"/>
          </a:xfrm>
          <a:prstGeom prst="line">
            <a:avLst/>
          </a:prstGeom>
          <a:noFill/>
          <a:ln w="44450">
            <a:solidFill>
              <a:srgbClr val="B45309"/>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skipped</a:t>
            </a:r>
            <a:endParaRPr lang="en-US" sz="1400" dirty="0"/>
          </a:p>
        </p:txBody>
      </p:sp>
      <p:sp>
        <p:nvSpPr>
          <p:cNvPr id="47" name="!!card#0"/>
          <p:cNvSpPr/>
          <p:nvPr/>
        </p:nvSpPr>
        <p:spPr>
          <a:xfrm>
            <a:off x="548640" y="3749040"/>
            <a:ext cx="11094415" cy="2423160"/>
          </a:xfrm>
          <a:prstGeom prst="roundRect">
            <a:avLst>
              <a:gd name="adj" fmla="val 3019"/>
            </a:avLst>
          </a:prstGeom>
          <a:solidFill>
            <a:srgbClr val="FFFFFF"/>
          </a:solidFill>
          <a:ln/>
        </p:spPr>
      </p:sp>
      <p:sp>
        <p:nvSpPr>
          <p:cNvPr id="48"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9"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0"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1"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“Thanks for reaching out about a refund for your Max annual plan. I can't start this refund here because it's $297, which is above the $100 limit for refunds in this chat. Here is what you can do: cancel the plan's next renewal before it's charged, at no cost.”</a:t>
            </a:r>
            <a:endParaRPr lang="en-US" sz="1900" dirty="0"/>
          </a:p>
        </p:txBody>
      </p:sp>
      <p:sp>
        <p:nvSpPr>
          <p:cNvPr id="52"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8" name="!!state-0#0"/>
          <p:cNvSpPr/>
          <p:nvPr/>
        </p:nvSpPr>
        <p:spPr>
          <a:xfrm>
            <a:off x="548640" y="3246120"/>
            <a:ext cx="1463040" cy="1234440"/>
          </a:xfrm>
          <a:prstGeom prst="roundRect">
            <a:avLst>
              <a:gd name="adj" fmla="val 5926"/>
            </a:avLst>
          </a:prstGeom>
          <a:solidFill>
            <a:srgbClr val="AEB7C2"/>
          </a:solidFill>
          <a:ln/>
        </p:spPr>
      </p:sp>
      <p:sp>
        <p:nvSpPr>
          <p:cNvPr id="9" name="!!state-0#1"/>
          <p:cNvSpPr/>
          <p:nvPr/>
        </p:nvSpPr>
        <p:spPr>
          <a:xfrm>
            <a:off x="1051560" y="335584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3456432"/>
            <a:ext cx="256032" cy="256032"/>
          </a:xfrm>
          <a:prstGeom prst="rect">
            <a:avLst/>
          </a:prstGeom>
        </p:spPr>
      </p:pic>
      <p:sp>
        <p:nvSpPr>
          <p:cNvPr id="11" name="!!state-0#3"/>
          <p:cNvSpPr/>
          <p:nvPr/>
        </p:nvSpPr>
        <p:spPr>
          <a:xfrm>
            <a:off x="585216" y="386791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3863340"/>
            <a:ext cx="258013" cy="0"/>
          </a:xfrm>
          <a:prstGeom prst="line">
            <a:avLst/>
          </a:prstGeom>
          <a:noFill/>
          <a:ln w="25400">
            <a:solidFill>
              <a:srgbClr val="9AA6B3"/>
            </a:solidFill>
            <a:prstDash val="solid"/>
            <a:tailEnd type="triangle"/>
          </a:ln>
        </p:spPr>
      </p:sp>
      <p:sp>
        <p:nvSpPr>
          <p:cNvPr id="13" name="!!state-1#0"/>
          <p:cNvSpPr/>
          <p:nvPr/>
        </p:nvSpPr>
        <p:spPr>
          <a:xfrm>
            <a:off x="2306269" y="3246120"/>
            <a:ext cx="1463040" cy="1234440"/>
          </a:xfrm>
          <a:prstGeom prst="roundRect">
            <a:avLst>
              <a:gd name="adj" fmla="val 5926"/>
            </a:avLst>
          </a:prstGeom>
          <a:solidFill>
            <a:srgbClr val="E9EDF2"/>
          </a:solidFill>
          <a:ln/>
        </p:spPr>
      </p:sp>
      <p:sp>
        <p:nvSpPr>
          <p:cNvPr id="14" name="!!state-1#1"/>
          <p:cNvSpPr/>
          <p:nvPr/>
        </p:nvSpPr>
        <p:spPr>
          <a:xfrm>
            <a:off x="2809189" y="3355848"/>
            <a:ext cx="457200" cy="457200"/>
          </a:xfrm>
          <a:prstGeom prst="ellipse">
            <a:avLst/>
          </a:prstGeom>
          <a:solidFill>
            <a:srgbClr val="AEB7C2"/>
          </a:solidFill>
          <a:ln w="12700">
            <a:solidFill>
              <a:srgbClr val="AEB7C2"/>
            </a:solidFill>
            <a:prstDash val="solid"/>
          </a:ln>
        </p:spPr>
      </p:sp>
      <p:pic>
        <p:nvPicPr>
          <p:cNvPr id="15" name="!!state-1#2" descr="preencoded.png">    </p:cNvPr>
          <p:cNvPicPr>
            <a:picLocks noChangeAspect="1"/>
          </p:cNvPicPr>
          <p:nvPr/>
        </p:nvPicPr>
        <p:blipFill>
          <a:blip r:embed="rId3"/>
          <a:stretch>
            <a:fillRect/>
          </a:stretch>
        </p:blipFill>
        <p:spPr>
          <a:xfrm>
            <a:off x="2909773" y="3456432"/>
            <a:ext cx="256032" cy="256032"/>
          </a:xfrm>
          <a:prstGeom prst="rect">
            <a:avLst/>
          </a:prstGeom>
        </p:spPr>
      </p:pic>
      <p:sp>
        <p:nvSpPr>
          <p:cNvPr id="16" name="!!state-1#3"/>
          <p:cNvSpPr/>
          <p:nvPr/>
        </p:nvSpPr>
        <p:spPr>
          <a:xfrm>
            <a:off x="2342845"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3863340"/>
            <a:ext cx="258013" cy="0"/>
          </a:xfrm>
          <a:prstGeom prst="line">
            <a:avLst/>
          </a:prstGeom>
          <a:noFill/>
          <a:ln w="25400">
            <a:solidFill>
              <a:srgbClr val="9AA6B3"/>
            </a:solidFill>
            <a:prstDash val="solid"/>
            <a:tailEnd type="triangle"/>
          </a:ln>
        </p:spPr>
      </p:sp>
      <p:sp>
        <p:nvSpPr>
          <p:cNvPr id="18" name="!!state-2#0"/>
          <p:cNvSpPr/>
          <p:nvPr/>
        </p:nvSpPr>
        <p:spPr>
          <a:xfrm>
            <a:off x="4063898" y="3246120"/>
            <a:ext cx="1463040" cy="1234440"/>
          </a:xfrm>
          <a:prstGeom prst="roundRect">
            <a:avLst>
              <a:gd name="adj" fmla="val 5926"/>
            </a:avLst>
          </a:prstGeom>
          <a:solidFill>
            <a:srgbClr val="E9EDF2"/>
          </a:solidFill>
          <a:ln/>
        </p:spPr>
      </p:sp>
      <p:sp>
        <p:nvSpPr>
          <p:cNvPr id="19" name="!!state-2#1"/>
          <p:cNvSpPr/>
          <p:nvPr/>
        </p:nvSpPr>
        <p:spPr>
          <a:xfrm>
            <a:off x="4566818" y="335584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3456432"/>
            <a:ext cx="256032" cy="256032"/>
          </a:xfrm>
          <a:prstGeom prst="rect">
            <a:avLst/>
          </a:prstGeom>
        </p:spPr>
      </p:pic>
      <p:sp>
        <p:nvSpPr>
          <p:cNvPr id="21" name="!!state-2#3"/>
          <p:cNvSpPr/>
          <p:nvPr/>
        </p:nvSpPr>
        <p:spPr>
          <a:xfrm>
            <a:off x="410047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3863340"/>
            <a:ext cx="258013" cy="0"/>
          </a:xfrm>
          <a:prstGeom prst="line">
            <a:avLst/>
          </a:prstGeom>
          <a:noFill/>
          <a:ln w="25400">
            <a:solidFill>
              <a:srgbClr val="9AA6B3"/>
            </a:solidFill>
            <a:prstDash val="solid"/>
            <a:tailEnd type="triangle"/>
          </a:ln>
        </p:spPr>
      </p:sp>
      <p:sp>
        <p:nvSpPr>
          <p:cNvPr id="23" name="!!state-3#0"/>
          <p:cNvSpPr/>
          <p:nvPr/>
        </p:nvSpPr>
        <p:spPr>
          <a:xfrm>
            <a:off x="5821528" y="3246120"/>
            <a:ext cx="1463040" cy="1234440"/>
          </a:xfrm>
          <a:prstGeom prst="roundRect">
            <a:avLst>
              <a:gd name="adj" fmla="val 5926"/>
            </a:avLst>
          </a:prstGeom>
          <a:solidFill>
            <a:srgbClr val="E9EDF2"/>
          </a:solidFill>
          <a:ln/>
        </p:spPr>
      </p:sp>
      <p:sp>
        <p:nvSpPr>
          <p:cNvPr id="24" name="!!state-3#1"/>
          <p:cNvSpPr/>
          <p:nvPr/>
        </p:nvSpPr>
        <p:spPr>
          <a:xfrm>
            <a:off x="6324448" y="335584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3456432"/>
            <a:ext cx="256032" cy="256032"/>
          </a:xfrm>
          <a:prstGeom prst="rect">
            <a:avLst/>
          </a:prstGeom>
        </p:spPr>
      </p:pic>
      <p:sp>
        <p:nvSpPr>
          <p:cNvPr id="26" name="!!state-3#3"/>
          <p:cNvSpPr/>
          <p:nvPr/>
        </p:nvSpPr>
        <p:spPr>
          <a:xfrm>
            <a:off x="585810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3863340"/>
            <a:ext cx="258013" cy="0"/>
          </a:xfrm>
          <a:prstGeom prst="line">
            <a:avLst/>
          </a:prstGeom>
          <a:noFill/>
          <a:ln w="25400">
            <a:solidFill>
              <a:srgbClr val="9AA6B3"/>
            </a:solidFill>
            <a:prstDash val="solid"/>
            <a:tailEnd type="triangle"/>
          </a:ln>
        </p:spPr>
      </p:sp>
      <p:sp>
        <p:nvSpPr>
          <p:cNvPr id="28" name="!!state-4#0"/>
          <p:cNvSpPr/>
          <p:nvPr/>
        </p:nvSpPr>
        <p:spPr>
          <a:xfrm>
            <a:off x="7579157" y="3246120"/>
            <a:ext cx="1463040" cy="1234440"/>
          </a:xfrm>
          <a:prstGeom prst="roundRect">
            <a:avLst>
              <a:gd name="adj" fmla="val 5926"/>
            </a:avLst>
          </a:prstGeom>
          <a:solidFill>
            <a:srgbClr val="E9EDF2"/>
          </a:solidFill>
          <a:ln/>
        </p:spPr>
      </p:sp>
      <p:sp>
        <p:nvSpPr>
          <p:cNvPr id="29" name="!!state-4#1"/>
          <p:cNvSpPr/>
          <p:nvPr/>
        </p:nvSpPr>
        <p:spPr>
          <a:xfrm>
            <a:off x="8082077" y="335584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3456432"/>
            <a:ext cx="256032" cy="256032"/>
          </a:xfrm>
          <a:prstGeom prst="rect">
            <a:avLst/>
          </a:prstGeom>
        </p:spPr>
      </p:pic>
      <p:sp>
        <p:nvSpPr>
          <p:cNvPr id="31" name="!!state-4#3"/>
          <p:cNvSpPr/>
          <p:nvPr/>
        </p:nvSpPr>
        <p:spPr>
          <a:xfrm>
            <a:off x="7615733"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3863340"/>
            <a:ext cx="258013" cy="0"/>
          </a:xfrm>
          <a:prstGeom prst="line">
            <a:avLst/>
          </a:prstGeom>
          <a:noFill/>
          <a:ln w="25400">
            <a:solidFill>
              <a:srgbClr val="9AA6B3"/>
            </a:solidFill>
            <a:prstDash val="solid"/>
            <a:tailEnd type="triangle"/>
          </a:ln>
        </p:spPr>
      </p:sp>
      <p:sp>
        <p:nvSpPr>
          <p:cNvPr id="33" name="!!state-5#0"/>
          <p:cNvSpPr/>
          <p:nvPr/>
        </p:nvSpPr>
        <p:spPr>
          <a:xfrm>
            <a:off x="9336786" y="3406140"/>
            <a:ext cx="1005840" cy="914400"/>
          </a:xfrm>
          <a:prstGeom prst="roundRect">
            <a:avLst>
              <a:gd name="adj" fmla="val 8000"/>
            </a:avLst>
          </a:prstGeom>
          <a:solidFill>
            <a:srgbClr val="E9EDF2"/>
          </a:solidFill>
          <a:ln/>
        </p:spPr>
      </p:sp>
      <p:sp>
        <p:nvSpPr>
          <p:cNvPr id="34" name="!!state-5#1"/>
          <p:cNvSpPr/>
          <p:nvPr/>
        </p:nvSpPr>
        <p:spPr>
          <a:xfrm>
            <a:off x="9675114" y="349758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3570000"/>
            <a:ext cx="184343" cy="184343"/>
          </a:xfrm>
          <a:prstGeom prst="rect">
            <a:avLst/>
          </a:prstGeom>
        </p:spPr>
      </p:pic>
      <p:sp>
        <p:nvSpPr>
          <p:cNvPr id="36" name="!!state-5#3"/>
          <p:cNvSpPr/>
          <p:nvPr/>
        </p:nvSpPr>
        <p:spPr>
          <a:xfrm>
            <a:off x="9355074"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3863340"/>
            <a:ext cx="258013" cy="0"/>
          </a:xfrm>
          <a:prstGeom prst="line">
            <a:avLst/>
          </a:prstGeom>
          <a:noFill/>
          <a:ln w="25400">
            <a:solidFill>
              <a:srgbClr val="9AA6B3"/>
            </a:solidFill>
            <a:prstDash val="solid"/>
            <a:tailEnd type="triangle"/>
          </a:ln>
        </p:spPr>
      </p:sp>
      <p:sp>
        <p:nvSpPr>
          <p:cNvPr id="38" name="!!state-6#0"/>
          <p:cNvSpPr/>
          <p:nvPr/>
        </p:nvSpPr>
        <p:spPr>
          <a:xfrm>
            <a:off x="10637215" y="3406140"/>
            <a:ext cx="1005840" cy="914400"/>
          </a:xfrm>
          <a:prstGeom prst="roundRect">
            <a:avLst>
              <a:gd name="adj" fmla="val 8000"/>
            </a:avLst>
          </a:prstGeom>
          <a:solidFill>
            <a:srgbClr val="E9EDF2"/>
          </a:solidFill>
          <a:ln/>
        </p:spPr>
      </p:sp>
      <p:sp>
        <p:nvSpPr>
          <p:cNvPr id="39" name="!!state-6#1"/>
          <p:cNvSpPr/>
          <p:nvPr/>
        </p:nvSpPr>
        <p:spPr>
          <a:xfrm>
            <a:off x="10975543" y="349758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3570000"/>
            <a:ext cx="184343" cy="184343"/>
          </a:xfrm>
          <a:prstGeom prst="rect">
            <a:avLst/>
          </a:prstGeom>
        </p:spPr>
      </p:pic>
      <p:sp>
        <p:nvSpPr>
          <p:cNvPr id="41" name="!!state-6#3"/>
          <p:cNvSpPr/>
          <p:nvPr/>
        </p:nvSpPr>
        <p:spPr>
          <a:xfrm>
            <a:off x="10655503"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4480560"/>
            <a:ext cx="0" cy="201168"/>
          </a:xfrm>
          <a:prstGeom prst="line">
            <a:avLst/>
          </a:prstGeom>
          <a:noFill/>
          <a:ln w="25400">
            <a:solidFill>
              <a:srgbClr val="9AA6B3"/>
            </a:solidFill>
            <a:prstDash val="solid"/>
          </a:ln>
        </p:spPr>
      </p:sp>
      <p:sp>
        <p:nvSpPr>
          <p:cNvPr id="43" name="!!deny#1"/>
          <p:cNvSpPr/>
          <p:nvPr/>
        </p:nvSpPr>
        <p:spPr>
          <a:xfrm>
            <a:off x="4795418" y="4681728"/>
            <a:ext cx="3515258" cy="0"/>
          </a:xfrm>
          <a:prstGeom prst="line">
            <a:avLst/>
          </a:prstGeom>
          <a:noFill/>
          <a:ln w="25400">
            <a:solidFill>
              <a:srgbClr val="9AA6B3"/>
            </a:solidFill>
            <a:prstDash val="solid"/>
          </a:ln>
        </p:spPr>
      </p:sp>
      <p:sp>
        <p:nvSpPr>
          <p:cNvPr id="44" name="!!deny#2"/>
          <p:cNvSpPr/>
          <p:nvPr/>
        </p:nvSpPr>
        <p:spPr>
          <a:xfrm flipV="1">
            <a:off x="8310677" y="4480560"/>
            <a:ext cx="0" cy="201168"/>
          </a:xfrm>
          <a:prstGeom prst="line">
            <a:avLst/>
          </a:prstGeom>
          <a:noFill/>
          <a:ln w="25400">
            <a:solidFill>
              <a:srgbClr val="9AA6B3"/>
            </a:solidFill>
            <a:prstDash val="solid"/>
            <a:tailEnd type="triangle"/>
          </a:ln>
        </p:spPr>
      </p:sp>
      <p:sp>
        <p:nvSpPr>
          <p:cNvPr id="45" name="!!deny#3"/>
          <p:cNvSpPr/>
          <p:nvPr/>
        </p:nvSpPr>
        <p:spPr>
          <a:xfrm>
            <a:off x="4795418" y="470916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46" name="!!ring#0"/>
          <p:cNvSpPr/>
          <p:nvPr/>
        </p:nvSpPr>
        <p:spPr>
          <a:xfrm>
            <a:off x="502920" y="320040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BE4F4F"/>
          </a:solidFill>
          <a:ln/>
        </p:spPr>
      </p:sp>
      <p:sp>
        <p:nvSpPr>
          <p:cNvPr id="14" name="!!state-1#1"/>
          <p:cNvSpPr/>
          <p:nvPr/>
        </p:nvSpPr>
        <p:spPr>
          <a:xfrm>
            <a:off x="2809189" y="2075688"/>
            <a:ext cx="457200" cy="457200"/>
          </a:xfrm>
          <a:prstGeom prst="ellipse">
            <a:avLst/>
          </a:prstGeom>
          <a:solidFill>
            <a:srgbClr val="BE4F4F"/>
          </a:solidFill>
          <a:ln w="12700">
            <a:solidFill>
              <a:srgbClr val="BE4F4F"/>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25400">
            <a:solidFill>
              <a:srgbClr val="9AA6B3"/>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E9EDF2"/>
          </a:solidFill>
          <a:ln/>
        </p:spPr>
      </p:sp>
      <p:sp>
        <p:nvSpPr>
          <p:cNvPr id="19"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E9EDF2"/>
          </a:solidFill>
          <a:ln/>
        </p:spPr>
      </p:sp>
      <p:sp>
        <p:nvSpPr>
          <p:cNvPr id="29"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25400">
            <a:solidFill>
              <a:srgbClr val="9AA6B3"/>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E9EDF2"/>
          </a:solidFill>
          <a:ln/>
        </p:spPr>
      </p:sp>
      <p:sp>
        <p:nvSpPr>
          <p:cNvPr id="34"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25400">
            <a:solidFill>
              <a:srgbClr val="9AA6B3"/>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E9EDF2"/>
          </a:solidFill>
          <a:ln/>
        </p:spPr>
      </p:sp>
      <p:sp>
        <p:nvSpPr>
          <p:cNvPr id="39"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0"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0.68</a:t>
            </a:r>
            <a:endParaRPr lang="en-US" sz="1600" dirty="0"/>
          </a:p>
        </p:txBody>
      </p:sp>
      <p:sp>
        <p:nvSpPr>
          <p:cNvPr id="51"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0.65</a:t>
            </a:r>
            <a:endParaRPr lang="en-US" sz="1600" dirty="0"/>
          </a:p>
        </p:txBody>
      </p:sp>
      <p:sp>
        <p:nvSpPr>
          <p:cNvPr id="52"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0.46</a:t>
            </a:r>
            <a:endParaRPr lang="en-US" sz="1600" dirty="0"/>
          </a:p>
        </p:txBody>
      </p:sp>
      <p:sp>
        <p:nvSpPr>
          <p:cNvPr id="53" name="panel-1#3"/>
          <p:cNvSpPr/>
          <p:nvPr/>
        </p:nvSpPr>
        <p:spPr>
          <a:xfrm>
            <a:off x="8858021" y="4389120"/>
            <a:ext cx="2556434" cy="822960"/>
          </a:xfrm>
          <a:prstGeom prst="roundRect">
            <a:avLst>
              <a:gd name="adj" fmla="val 8889"/>
            </a:avLst>
          </a:prstGeom>
          <a:solidFill>
            <a:srgbClr val="BE4F4F"/>
          </a:solidFill>
          <a:ln w="12700">
            <a:solidFill>
              <a:srgbClr val="BE4F4F"/>
            </a:solidFill>
          </a:ln>
        </p:spPr>
        <p:txBody>
          <a:bodyPr wrap="square" lIns="109728" tIns="36576" rIns="109728" bIns="36576" rtlCol="0" anchor="ctr"/>
          <a:lstStyle/>
          <a:p>
            <a:pPr algn="l" indent="0" marL="0">
              <a:buNone/>
            </a:pPr>
            <a:r>
              <a:rPr lang="en-US" sz="1400" dirty="0">
                <a:solidFill>
                  <a:srgbClr val="FFFFF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FFFFFF"/>
                </a:solidFill>
                <a:latin typeface="Calibri" pitchFamily="34" charset="0"/>
                <a:ea typeface="Calibri" pitchFamily="34" charset="-122"/>
                <a:cs typeface="Calibri" pitchFamily="34" charset="-120"/>
              </a:rPr>
              <a:t>on</a:t>
            </a:r>
            <a:endParaRPr lang="en-US" sz="1600" dirty="0"/>
          </a:p>
          <a:p>
            <a:pPr algn="l" indent="0" marL="0">
              <a:buNone/>
            </a:pPr>
            <a:r>
              <a:rPr lang="en-US" sz="1400" dirty="0">
                <a:solidFill>
                  <a:srgbClr val="FFFFFF"/>
                </a:solidFill>
                <a:latin typeface="Calibri" pitchFamily="34" charset="0"/>
                <a:ea typeface="Calibri" pitchFamily="34" charset="-122"/>
                <a:cs typeface="Calibri" pitchFamily="34" charset="-120"/>
              </a:rPr>
              <a:t>confidence 0.91</a:t>
            </a:r>
            <a:endParaRPr lang="en-US" sz="1600" dirty="0"/>
          </a:p>
        </p:txBody>
      </p:sp>
      <p:sp>
        <p:nvSpPr>
          <p:cNvPr id="54"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600" dirty="0"/>
          </a:p>
        </p:txBody>
      </p:sp>
      <p:sp>
        <p:nvSpPr>
          <p:cNvPr id="55"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BE4F4F"/>
          </a:solidFill>
          <a:ln/>
        </p:spPr>
      </p:sp>
      <p:sp>
        <p:nvSpPr>
          <p:cNvPr id="14" name="!!state-1#1"/>
          <p:cNvSpPr/>
          <p:nvPr/>
        </p:nvSpPr>
        <p:spPr>
          <a:xfrm>
            <a:off x="2809189" y="2075688"/>
            <a:ext cx="457200" cy="457200"/>
          </a:xfrm>
          <a:prstGeom prst="ellipse">
            <a:avLst/>
          </a:prstGeom>
          <a:solidFill>
            <a:srgbClr val="BE4F4F"/>
          </a:solidFill>
          <a:ln w="12700">
            <a:solidFill>
              <a:srgbClr val="BE4F4F"/>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A6BCD6"/>
          </a:solidFill>
          <a:ln/>
        </p:spPr>
      </p:sp>
      <p:sp>
        <p:nvSpPr>
          <p:cNvPr id="19"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A6BCD6"/>
          </a:solidFill>
          <a:ln/>
        </p:spPr>
      </p:sp>
      <p:sp>
        <p:nvSpPr>
          <p:cNvPr id="29"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44450">
            <a:solidFill>
              <a:srgbClr val="1B365D"/>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AEB7C2"/>
          </a:solidFill>
          <a:ln/>
        </p:spPr>
      </p:sp>
      <p:sp>
        <p:nvSpPr>
          <p:cNvPr id="34"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44450">
            <a:solidFill>
              <a:srgbClr val="1B365D"/>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AEB7C2"/>
          </a:solidFill>
          <a:ln/>
        </p:spPr>
      </p:sp>
      <p:sp>
        <p:nvSpPr>
          <p:cNvPr id="39"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44450">
            <a:solidFill>
              <a:srgbClr val="BE4F4F"/>
            </a:solidFill>
            <a:prstDash val="solid"/>
          </a:ln>
        </p:spPr>
      </p:sp>
      <p:sp>
        <p:nvSpPr>
          <p:cNvPr id="43" name="!!deny#1"/>
          <p:cNvSpPr/>
          <p:nvPr/>
        </p:nvSpPr>
        <p:spPr>
          <a:xfrm>
            <a:off x="4795418" y="3401568"/>
            <a:ext cx="3515258" cy="0"/>
          </a:xfrm>
          <a:prstGeom prst="line">
            <a:avLst/>
          </a:prstGeom>
          <a:noFill/>
          <a:ln w="44450">
            <a:solidFill>
              <a:srgbClr val="BE4F4F"/>
            </a:solidFill>
            <a:prstDash val="solid"/>
          </a:ln>
        </p:spPr>
      </p:sp>
      <p:sp>
        <p:nvSpPr>
          <p:cNvPr id="44" name="!!deny#2"/>
          <p:cNvSpPr/>
          <p:nvPr/>
        </p:nvSpPr>
        <p:spPr>
          <a:xfrm flipV="1">
            <a:off x="8310677" y="3200400"/>
            <a:ext cx="0" cy="201168"/>
          </a:xfrm>
          <a:prstGeom prst="line">
            <a:avLst/>
          </a:prstGeom>
          <a:noFill/>
          <a:ln w="44450">
            <a:solidFill>
              <a:srgbClr val="BE4F4F"/>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46"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E4F4F"/>
                </a:solidFill>
                <a:latin typeface="Calibri" pitchFamily="34" charset="0"/>
                <a:ea typeface="Calibri" pitchFamily="34" charset="-122"/>
                <a:cs typeface="Calibri" pitchFamily="34" charset="-120"/>
              </a:rPr>
              <a:t>skipped</a:t>
            </a:r>
            <a:endParaRPr lang="en-US" sz="1400" dirty="0"/>
          </a:p>
        </p:txBody>
      </p:sp>
      <p:sp>
        <p:nvSpPr>
          <p:cNvPr id="47" name="!!card#0"/>
          <p:cNvSpPr/>
          <p:nvPr/>
        </p:nvSpPr>
        <p:spPr>
          <a:xfrm>
            <a:off x="548640" y="3749040"/>
            <a:ext cx="11094415" cy="2423160"/>
          </a:xfrm>
          <a:prstGeom prst="roundRect">
            <a:avLst>
              <a:gd name="adj" fmla="val 3019"/>
            </a:avLst>
          </a:prstGeom>
          <a:solidFill>
            <a:srgbClr val="FFFFFF"/>
          </a:solidFill>
          <a:ln/>
        </p:spPr>
      </p:sp>
      <p:sp>
        <p:nvSpPr>
          <p:cNvPr id="48"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9"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0"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1"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“I understand you'd like all your payments refunded. The annual Max plan charge from August 12 falls outside the 30-day refund window and its credits have already been used, so a refund isn't possible. Here is what you can do: cancel your upcoming renewal before it's charged, at no cost.”</a:t>
            </a:r>
            <a:endParaRPr lang="en-US" sz="1900" dirty="0"/>
          </a:p>
        </p:txBody>
      </p:sp>
      <p:sp>
        <p:nvSpPr>
          <p:cNvPr id="52"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Test data: 512 customers, 1,024 requests</a:t>
            </a:r>
            <a:endParaRPr lang="en-US" sz="3600" dirty="0"/>
          </a:p>
        </p:txBody>
      </p:sp>
      <p:sp>
        <p:nvSpPr>
          <p:cNvPr id="4" name="Shape 1"/>
          <p:cNvSpPr/>
          <p:nvPr/>
        </p:nvSpPr>
        <p:spPr>
          <a:xfrm>
            <a:off x="548640" y="1463040"/>
            <a:ext cx="7223760" cy="4663440"/>
          </a:xfrm>
          <a:prstGeom prst="roundRect">
            <a:avLst>
              <a:gd name="adj" fmla="val 1569"/>
            </a:avLst>
          </a:prstGeom>
          <a:solidFill>
            <a:srgbClr val="FFFFFF"/>
          </a:solidFill>
          <a:ln/>
        </p:spPr>
      </p:sp>
      <p:graphicFrame>
        <p:nvGraphicFramePr>
          <p:cNvPr id="5" name="Chart 0" descr=""/>
          <p:cNvGraphicFramePr/>
          <p:nvPr/>
        </p:nvGraphicFramePr>
        <p:xfrm>
          <a:off x="731520" y="1554480"/>
          <a:ext cx="6858000" cy="448056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046720" y="1463040"/>
            <a:ext cx="3596335" cy="1371600"/>
          </a:xfrm>
          <a:prstGeom prst="roundRect">
            <a:avLst>
              <a:gd name="adj" fmla="val 5333"/>
            </a:avLst>
          </a:prstGeom>
          <a:solidFill>
            <a:srgbClr val="FFFFFF"/>
          </a:solidFill>
          <a:ln/>
        </p:spPr>
      </p:sp>
      <p:sp>
        <p:nvSpPr>
          <p:cNvPr id="7" name="Shape 3"/>
          <p:cNvSpPr/>
          <p:nvPr/>
        </p:nvSpPr>
        <p:spPr>
          <a:xfrm>
            <a:off x="8275320" y="169164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416138" y="1832458"/>
            <a:ext cx="358445" cy="358445"/>
          </a:xfrm>
          <a:prstGeom prst="rect">
            <a:avLst/>
          </a:prstGeom>
        </p:spPr>
      </p:pic>
      <p:sp>
        <p:nvSpPr>
          <p:cNvPr id="9" name="Text 4"/>
          <p:cNvSpPr/>
          <p:nvPr/>
        </p:nvSpPr>
        <p:spPr>
          <a:xfrm>
            <a:off x="9098280" y="1600200"/>
            <a:ext cx="2407615" cy="502920"/>
          </a:xfrm>
          <a:prstGeom prst="rect">
            <a:avLst/>
          </a:prstGeom>
          <a:noFill/>
          <a:ln/>
        </p:spPr>
        <p:txBody>
          <a:bodyPr wrap="square" lIns="0" tIns="0" rIns="0" bIns="0" rtlCol="0" anchor="ctr"/>
          <a:lstStyle/>
          <a:p>
            <a:pPr algn="l" indent="0" marL="0">
              <a:buNone/>
            </a:pPr>
            <a:r>
              <a:rPr lang="en-US" sz="2600" b="1" dirty="0">
                <a:solidFill>
                  <a:srgbClr val="234B84"/>
                </a:solidFill>
                <a:latin typeface="Calibri" pitchFamily="34" charset="0"/>
                <a:ea typeface="Calibri" pitchFamily="34" charset="-122"/>
                <a:cs typeface="Calibri" pitchFamily="34" charset="-120"/>
              </a:rPr>
              <a:t>512 customers</a:t>
            </a:r>
            <a:endParaRPr lang="en-US" sz="2600" dirty="0"/>
          </a:p>
        </p:txBody>
      </p:sp>
      <p:sp>
        <p:nvSpPr>
          <p:cNvPr id="10" name="Text 5"/>
          <p:cNvSpPr/>
          <p:nvPr/>
        </p:nvSpPr>
        <p:spPr>
          <a:xfrm>
            <a:off x="9098280" y="212140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2 requests each: 1,024 requests of 26 types</a:t>
            </a:r>
            <a:endParaRPr lang="en-US" sz="1500" dirty="0"/>
          </a:p>
        </p:txBody>
      </p:sp>
      <p:sp>
        <p:nvSpPr>
          <p:cNvPr id="11" name="Shape 6"/>
          <p:cNvSpPr/>
          <p:nvPr/>
        </p:nvSpPr>
        <p:spPr>
          <a:xfrm>
            <a:off x="8046720" y="3108960"/>
            <a:ext cx="3596335" cy="1371600"/>
          </a:xfrm>
          <a:prstGeom prst="roundRect">
            <a:avLst>
              <a:gd name="adj" fmla="val 5333"/>
            </a:avLst>
          </a:prstGeom>
          <a:solidFill>
            <a:srgbClr val="FFFFFF"/>
          </a:solidFill>
          <a:ln/>
        </p:spPr>
      </p:sp>
      <p:sp>
        <p:nvSpPr>
          <p:cNvPr id="12" name="Shape 7"/>
          <p:cNvSpPr/>
          <p:nvPr/>
        </p:nvSpPr>
        <p:spPr>
          <a:xfrm>
            <a:off x="8275320" y="3337560"/>
            <a:ext cx="640080" cy="640080"/>
          </a:xfrm>
          <a:prstGeom prst="ellipse">
            <a:avLst/>
          </a:prstGeom>
          <a:solidFill>
            <a:srgbClr val="1F7A7A"/>
          </a:solidFill>
          <a:ln w="12700">
            <a:solidFill>
              <a:srgbClr val="1F7A7A"/>
            </a:solidFill>
            <a:prstDash val="solid"/>
          </a:ln>
        </p:spPr>
      </p:sp>
      <p:pic>
        <p:nvPicPr>
          <p:cNvPr id="13" name="Image 1" descr="preencoded.png">    </p:cNvPr>
          <p:cNvPicPr>
            <a:picLocks noChangeAspect="1"/>
          </p:cNvPicPr>
          <p:nvPr/>
        </p:nvPicPr>
        <p:blipFill>
          <a:blip r:embed="rId3"/>
          <a:stretch>
            <a:fillRect/>
          </a:stretch>
        </p:blipFill>
        <p:spPr>
          <a:xfrm>
            <a:off x="8416138" y="3478378"/>
            <a:ext cx="358445" cy="358445"/>
          </a:xfrm>
          <a:prstGeom prst="rect">
            <a:avLst/>
          </a:prstGeom>
        </p:spPr>
      </p:pic>
      <p:sp>
        <p:nvSpPr>
          <p:cNvPr id="14" name="Text 8"/>
          <p:cNvSpPr/>
          <p:nvPr/>
        </p:nvSpPr>
        <p:spPr>
          <a:xfrm>
            <a:off x="9098280" y="3246120"/>
            <a:ext cx="2407615" cy="502920"/>
          </a:xfrm>
          <a:prstGeom prst="rect">
            <a:avLst/>
          </a:prstGeom>
          <a:noFill/>
          <a:ln/>
        </p:spPr>
        <p:txBody>
          <a:bodyPr wrap="square" lIns="0" tIns="0" rIns="0" bIns="0" rtlCol="0" anchor="ctr"/>
          <a:lstStyle/>
          <a:p>
            <a:pPr algn="l" indent="0" marL="0">
              <a:buNone/>
            </a:pPr>
            <a:r>
              <a:rPr lang="en-US" sz="2600" b="1" dirty="0">
                <a:solidFill>
                  <a:srgbClr val="1F7A7A"/>
                </a:solidFill>
                <a:latin typeface="Calibri" pitchFamily="34" charset="0"/>
                <a:ea typeface="Calibri" pitchFamily="34" charset="-122"/>
                <a:cs typeface="Calibri" pitchFamily="34" charset="-120"/>
              </a:rPr>
              <a:t>199 of 1,024</a:t>
            </a:r>
            <a:endParaRPr lang="en-US" sz="2600" dirty="0"/>
          </a:p>
        </p:txBody>
      </p:sp>
      <p:sp>
        <p:nvSpPr>
          <p:cNvPr id="15" name="Text 9"/>
          <p:cNvSpPr/>
          <p:nvPr/>
        </p:nvSpPr>
        <p:spPr>
          <a:xfrm>
            <a:off x="9098280" y="376732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where a written rule denies the action</a:t>
            </a:r>
            <a:endParaRPr lang="en-US" sz="1500" dirty="0"/>
          </a:p>
        </p:txBody>
      </p:sp>
      <p:sp>
        <p:nvSpPr>
          <p:cNvPr id="16" name="Shape 10"/>
          <p:cNvSpPr/>
          <p:nvPr/>
        </p:nvSpPr>
        <p:spPr>
          <a:xfrm>
            <a:off x="8046720" y="4754880"/>
            <a:ext cx="3596335" cy="1371600"/>
          </a:xfrm>
          <a:prstGeom prst="roundRect">
            <a:avLst>
              <a:gd name="adj" fmla="val 5333"/>
            </a:avLst>
          </a:prstGeom>
          <a:solidFill>
            <a:srgbClr val="FFFFFF"/>
          </a:solidFill>
          <a:ln/>
        </p:spPr>
      </p:sp>
      <p:sp>
        <p:nvSpPr>
          <p:cNvPr id="17" name="Shape 11"/>
          <p:cNvSpPr/>
          <p:nvPr/>
        </p:nvSpPr>
        <p:spPr>
          <a:xfrm>
            <a:off x="8275320" y="498348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416138" y="5124298"/>
            <a:ext cx="358445" cy="358445"/>
          </a:xfrm>
          <a:prstGeom prst="rect">
            <a:avLst/>
          </a:prstGeom>
        </p:spPr>
      </p:pic>
      <p:sp>
        <p:nvSpPr>
          <p:cNvPr id="19" name="Text 12"/>
          <p:cNvSpPr/>
          <p:nvPr/>
        </p:nvSpPr>
        <p:spPr>
          <a:xfrm>
            <a:off x="9098280" y="4892040"/>
            <a:ext cx="2407615" cy="502920"/>
          </a:xfrm>
          <a:prstGeom prst="rect">
            <a:avLst/>
          </a:prstGeom>
          <a:noFill/>
          <a:ln/>
        </p:spPr>
        <p:txBody>
          <a:bodyPr wrap="square" lIns="0" tIns="0" rIns="0" bIns="0" rtlCol="0" anchor="ctr"/>
          <a:lstStyle/>
          <a:p>
            <a:pPr algn="l" indent="0" marL="0">
              <a:buNone/>
            </a:pPr>
            <a:r>
              <a:rPr lang="en-US" sz="2600" b="1" dirty="0">
                <a:solidFill>
                  <a:srgbClr val="234B84"/>
                </a:solidFill>
                <a:latin typeface="Calibri" pitchFamily="34" charset="0"/>
                <a:ea typeface="Calibri" pitchFamily="34" charset="-122"/>
                <a:cs typeface="Calibri" pitchFamily="34" charset="-120"/>
              </a:rPr>
              <a:t>27 attacks</a:t>
            </a:r>
            <a:endParaRPr lang="en-US" sz="2600" dirty="0"/>
          </a:p>
        </p:txBody>
      </p:sp>
      <p:sp>
        <p:nvSpPr>
          <p:cNvPr id="20" name="Text 13"/>
          <p:cNvSpPr/>
          <p:nvPr/>
        </p:nvSpPr>
        <p:spPr>
          <a:xfrm>
            <a:off x="9098280" y="541324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that hide an order in the message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request ends served, stopped, or in error</a:t>
            </a:r>
            <a:endParaRPr lang="en-US" sz="3600" dirty="0"/>
          </a:p>
        </p:txBody>
      </p:sp>
      <p:sp>
        <p:nvSpPr>
          <p:cNvPr id="4" name="Shape 1"/>
          <p:cNvSpPr/>
          <p:nvPr/>
        </p:nvSpPr>
        <p:spPr>
          <a:xfrm>
            <a:off x="548640" y="1463040"/>
            <a:ext cx="11094415" cy="2743200"/>
          </a:xfrm>
          <a:prstGeom prst="roundRect">
            <a:avLst>
              <a:gd name="adj" fmla="val 2667"/>
            </a:avLst>
          </a:prstGeom>
          <a:solidFill>
            <a:srgbClr val="FFFFFF"/>
          </a:solidFill>
          <a:ln/>
        </p:spPr>
      </p:sp>
      <p:sp>
        <p:nvSpPr>
          <p:cNvPr id="5" name="Shape 2"/>
          <p:cNvSpPr/>
          <p:nvPr/>
        </p:nvSpPr>
        <p:spPr>
          <a:xfrm>
            <a:off x="914400" y="1783080"/>
            <a:ext cx="777240" cy="77724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1085393" y="1954073"/>
            <a:ext cx="435254" cy="435254"/>
          </a:xfrm>
          <a:prstGeom prst="rect">
            <a:avLst/>
          </a:prstGeom>
        </p:spPr>
      </p:pic>
      <p:sp>
        <p:nvSpPr>
          <p:cNvPr id="7" name="Text 3"/>
          <p:cNvSpPr/>
          <p:nvPr/>
        </p:nvSpPr>
        <p:spPr>
          <a:xfrm>
            <a:off x="1828800" y="1783080"/>
            <a:ext cx="2235098" cy="77724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8" name="Text 4"/>
          <p:cNvSpPr/>
          <p:nvPr/>
        </p:nvSpPr>
        <p:spPr>
          <a:xfrm>
            <a:off x="914400"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The correct result: an answer, or an action the rules allow.</a:t>
            </a:r>
            <a:endParaRPr lang="en-US" sz="1800" dirty="0"/>
          </a:p>
        </p:txBody>
      </p:sp>
      <p:sp>
        <p:nvSpPr>
          <p:cNvPr id="9" name="Shape 5"/>
          <p:cNvSpPr/>
          <p:nvPr/>
        </p:nvSpPr>
        <p:spPr>
          <a:xfrm>
            <a:off x="4246778" y="1737360"/>
            <a:ext cx="0" cy="2194560"/>
          </a:xfrm>
          <a:prstGeom prst="line">
            <a:avLst/>
          </a:prstGeom>
          <a:noFill/>
          <a:ln w="19050">
            <a:solidFill>
              <a:srgbClr val="D5DBE3"/>
            </a:solidFill>
            <a:prstDash val="solid"/>
          </a:ln>
        </p:spPr>
      </p:sp>
      <p:sp>
        <p:nvSpPr>
          <p:cNvPr id="10" name="Shape 6"/>
          <p:cNvSpPr/>
          <p:nvPr/>
        </p:nvSpPr>
        <p:spPr>
          <a:xfrm>
            <a:off x="4612538" y="1783080"/>
            <a:ext cx="777240" cy="77724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83531" y="1954073"/>
            <a:ext cx="435254" cy="435254"/>
          </a:xfrm>
          <a:prstGeom prst="rect">
            <a:avLst/>
          </a:prstGeom>
        </p:spPr>
      </p:pic>
      <p:sp>
        <p:nvSpPr>
          <p:cNvPr id="12" name="Text 7"/>
          <p:cNvSpPr/>
          <p:nvPr/>
        </p:nvSpPr>
        <p:spPr>
          <a:xfrm>
            <a:off x="5526938" y="1783080"/>
            <a:ext cx="2235098" cy="77724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3" name="Text 8"/>
          <p:cNvSpPr/>
          <p:nvPr/>
        </p:nvSpPr>
        <p:spPr>
          <a:xfrm>
            <a:off x="4612538"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A rule denies the action. Nothing runs, and the reply gives the reason.</a:t>
            </a:r>
            <a:endParaRPr lang="en-US" sz="1800" dirty="0"/>
          </a:p>
        </p:txBody>
      </p:sp>
      <p:sp>
        <p:nvSpPr>
          <p:cNvPr id="14" name="Shape 9"/>
          <p:cNvSpPr/>
          <p:nvPr/>
        </p:nvSpPr>
        <p:spPr>
          <a:xfrm>
            <a:off x="7944917" y="1737360"/>
            <a:ext cx="0" cy="2194560"/>
          </a:xfrm>
          <a:prstGeom prst="line">
            <a:avLst/>
          </a:prstGeom>
          <a:noFill/>
          <a:ln w="19050">
            <a:solidFill>
              <a:srgbClr val="D5DBE3"/>
            </a:solidFill>
            <a:prstDash val="solid"/>
          </a:ln>
        </p:spPr>
      </p:sp>
      <p:sp>
        <p:nvSpPr>
          <p:cNvPr id="15" name="Shape 10"/>
          <p:cNvSpPr/>
          <p:nvPr/>
        </p:nvSpPr>
        <p:spPr>
          <a:xfrm>
            <a:off x="8310677" y="1783080"/>
            <a:ext cx="777240" cy="777240"/>
          </a:xfrm>
          <a:prstGeom prst="ellipse">
            <a:avLst/>
          </a:prstGeom>
          <a:solidFill>
            <a:srgbClr val="A94A4A"/>
          </a:solidFill>
          <a:ln w="12700">
            <a:solidFill>
              <a:srgbClr val="A94A4A"/>
            </a:solidFill>
            <a:prstDash val="solid"/>
          </a:ln>
        </p:spPr>
      </p:sp>
      <p:pic>
        <p:nvPicPr>
          <p:cNvPr id="16" name="Image 2" descr="preencoded.png">    </p:cNvPr>
          <p:cNvPicPr>
            <a:picLocks noChangeAspect="1"/>
          </p:cNvPicPr>
          <p:nvPr/>
        </p:nvPicPr>
        <p:blipFill>
          <a:blip r:embed="rId3"/>
          <a:stretch>
            <a:fillRect/>
          </a:stretch>
        </p:blipFill>
        <p:spPr>
          <a:xfrm>
            <a:off x="8481670" y="1954073"/>
            <a:ext cx="435254" cy="435254"/>
          </a:xfrm>
          <a:prstGeom prst="rect">
            <a:avLst/>
          </a:prstGeom>
        </p:spPr>
      </p:pic>
      <p:sp>
        <p:nvSpPr>
          <p:cNvPr id="17" name="Text 11"/>
          <p:cNvSpPr/>
          <p:nvPr/>
        </p:nvSpPr>
        <p:spPr>
          <a:xfrm>
            <a:off x="9225077" y="1783080"/>
            <a:ext cx="2235098" cy="77724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18" name="Text 12"/>
          <p:cNvSpPr/>
          <p:nvPr/>
        </p:nvSpPr>
        <p:spPr>
          <a:xfrm>
            <a:off x="8310677"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Every other run: a wrong refusal, or a denied action that ran.</a:t>
            </a:r>
            <a:endParaRPr lang="en-US" sz="1800" dirty="0"/>
          </a:p>
        </p:txBody>
      </p:sp>
      <p:sp>
        <p:nvSpPr>
          <p:cNvPr id="19" name="Shape 13"/>
          <p:cNvSpPr/>
          <p:nvPr/>
        </p:nvSpPr>
        <p:spPr>
          <a:xfrm>
            <a:off x="548640" y="4434840"/>
            <a:ext cx="11094415" cy="822960"/>
          </a:xfrm>
          <a:prstGeom prst="roundRect">
            <a:avLst>
              <a:gd name="adj" fmla="val 8889"/>
            </a:avLst>
          </a:prstGeom>
          <a:solidFill>
            <a:srgbClr val="A94A4A"/>
          </a:solidFill>
          <a:ln/>
        </p:spPr>
      </p:sp>
      <p:pic>
        <p:nvPicPr>
          <p:cNvPr id="20" name="Image 3" descr="preencoded.png">    </p:cNvPr>
          <p:cNvPicPr>
            <a:picLocks noChangeAspect="1"/>
          </p:cNvPicPr>
          <p:nvPr/>
        </p:nvPicPr>
        <p:blipFill>
          <a:blip r:embed="rId4"/>
          <a:stretch>
            <a:fillRect/>
          </a:stretch>
        </p:blipFill>
        <p:spPr>
          <a:xfrm>
            <a:off x="822960" y="4617720"/>
            <a:ext cx="457200" cy="457200"/>
          </a:xfrm>
          <a:prstGeom prst="rect">
            <a:avLst/>
          </a:prstGeom>
        </p:spPr>
      </p:pic>
      <p:sp>
        <p:nvSpPr>
          <p:cNvPr id="21" name="Text 14"/>
          <p:cNvSpPr/>
          <p:nvPr/>
        </p:nvSpPr>
        <p:spPr>
          <a:xfrm>
            <a:off x="1508760" y="4434840"/>
            <a:ext cx="9859975" cy="8229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rules.</a:t>
            </a:r>
            <a:endParaRPr lang="en-US" sz="1800" dirty="0"/>
          </a:p>
        </p:txBody>
      </p:sp>
      <p:sp>
        <p:nvSpPr>
          <p:cNvPr id="22" name="Shape 15"/>
          <p:cNvSpPr/>
          <p:nvPr/>
        </p:nvSpPr>
        <p:spPr>
          <a:xfrm>
            <a:off x="548640" y="5440680"/>
            <a:ext cx="11094415" cy="868680"/>
          </a:xfrm>
          <a:prstGeom prst="roundRect">
            <a:avLst>
              <a:gd name="adj" fmla="val 8421"/>
            </a:avLst>
          </a:prstGeom>
          <a:solidFill>
            <a:srgbClr val="FFFFFF"/>
          </a:solidFill>
          <a:ln/>
        </p:spPr>
      </p:sp>
      <p:sp>
        <p:nvSpPr>
          <p:cNvPr id="23" name="Shape 16"/>
          <p:cNvSpPr/>
          <p:nvPr/>
        </p:nvSpPr>
        <p:spPr>
          <a:xfrm>
            <a:off x="914400" y="5623560"/>
            <a:ext cx="502920" cy="502920"/>
          </a:xfrm>
          <a:prstGeom prst="ellipse">
            <a:avLst/>
          </a:prstGeom>
          <a:solidFill>
            <a:srgbClr val="234B84"/>
          </a:solidFill>
          <a:ln w="12700">
            <a:solidFill>
              <a:srgbClr val="234B84"/>
            </a:solidFill>
            <a:prstDash val="solid"/>
          </a:ln>
        </p:spPr>
      </p:sp>
      <p:pic>
        <p:nvPicPr>
          <p:cNvPr id="24" name="Image 4" descr="preencoded.png">    </p:cNvPr>
          <p:cNvPicPr>
            <a:picLocks noChangeAspect="1"/>
          </p:cNvPicPr>
          <p:nvPr/>
        </p:nvPicPr>
        <p:blipFill>
          <a:blip r:embed="rId5"/>
          <a:stretch>
            <a:fillRect/>
          </a:stretch>
        </p:blipFill>
        <p:spPr>
          <a:xfrm>
            <a:off x="1025042" y="5734202"/>
            <a:ext cx="281635" cy="281635"/>
          </a:xfrm>
          <a:prstGeom prst="rect">
            <a:avLst/>
          </a:prstGeom>
        </p:spPr>
      </p:pic>
      <p:sp>
        <p:nvSpPr>
          <p:cNvPr id="25" name="Text 17"/>
          <p:cNvSpPr/>
          <p:nvPr/>
        </p:nvSpPr>
        <p:spPr>
          <a:xfrm>
            <a:off x="1600200"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Machine time per request</a:t>
            </a:r>
            <a:endParaRPr lang="en-US" sz="1700" dirty="0"/>
          </a:p>
        </p:txBody>
      </p:sp>
      <p:sp>
        <p:nvSpPr>
          <p:cNvPr id="26" name="Shape 18"/>
          <p:cNvSpPr/>
          <p:nvPr/>
        </p:nvSpPr>
        <p:spPr>
          <a:xfrm>
            <a:off x="4612538" y="5623560"/>
            <a:ext cx="502920" cy="502920"/>
          </a:xfrm>
          <a:prstGeom prst="ellipse">
            <a:avLst/>
          </a:prstGeom>
          <a:solidFill>
            <a:srgbClr val="234B84"/>
          </a:solidFill>
          <a:ln w="12700">
            <a:solidFill>
              <a:srgbClr val="234B84"/>
            </a:solidFill>
            <a:prstDash val="solid"/>
          </a:ln>
        </p:spPr>
      </p:sp>
      <p:pic>
        <p:nvPicPr>
          <p:cNvPr id="27" name="Image 5" descr="preencoded.png">    </p:cNvPr>
          <p:cNvPicPr>
            <a:picLocks noChangeAspect="1"/>
          </p:cNvPicPr>
          <p:nvPr/>
        </p:nvPicPr>
        <p:blipFill>
          <a:blip r:embed="rId6"/>
          <a:stretch>
            <a:fillRect/>
          </a:stretch>
        </p:blipFill>
        <p:spPr>
          <a:xfrm>
            <a:off x="4723181" y="5734202"/>
            <a:ext cx="281635" cy="281635"/>
          </a:xfrm>
          <a:prstGeom prst="rect">
            <a:avLst/>
          </a:prstGeom>
        </p:spPr>
      </p:pic>
      <p:sp>
        <p:nvSpPr>
          <p:cNvPr id="28" name="Text 19"/>
          <p:cNvSpPr/>
          <p:nvPr/>
        </p:nvSpPr>
        <p:spPr>
          <a:xfrm>
            <a:off x="5298338"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API cost per 1,000 requests</a:t>
            </a:r>
            <a:endParaRPr lang="en-US" sz="1700" dirty="0"/>
          </a:p>
        </p:txBody>
      </p:sp>
      <p:sp>
        <p:nvSpPr>
          <p:cNvPr id="29" name="Shape 20"/>
          <p:cNvSpPr/>
          <p:nvPr/>
        </p:nvSpPr>
        <p:spPr>
          <a:xfrm>
            <a:off x="8310677" y="5623560"/>
            <a:ext cx="502920" cy="502920"/>
          </a:xfrm>
          <a:prstGeom prst="ellipse">
            <a:avLst/>
          </a:prstGeom>
          <a:solidFill>
            <a:srgbClr val="234B84"/>
          </a:solidFill>
          <a:ln w="12700">
            <a:solidFill>
              <a:srgbClr val="234B84"/>
            </a:solidFill>
            <a:prstDash val="solid"/>
          </a:ln>
        </p:spPr>
      </p:sp>
      <p:pic>
        <p:nvPicPr>
          <p:cNvPr id="30" name="Image 6" descr="preencoded.png">    </p:cNvPr>
          <p:cNvPicPr>
            <a:picLocks noChangeAspect="1"/>
          </p:cNvPicPr>
          <p:nvPr/>
        </p:nvPicPr>
        <p:blipFill>
          <a:blip r:embed="rId7"/>
          <a:stretch>
            <a:fillRect/>
          </a:stretch>
        </p:blipFill>
        <p:spPr>
          <a:xfrm>
            <a:off x="8421319" y="5734202"/>
            <a:ext cx="281635" cy="281635"/>
          </a:xfrm>
          <a:prstGeom prst="rect">
            <a:avLst/>
          </a:prstGeom>
        </p:spPr>
      </p:pic>
      <p:sp>
        <p:nvSpPr>
          <p:cNvPr id="31" name="Text 21"/>
          <p:cNvSpPr/>
          <p:nvPr/>
        </p:nvSpPr>
        <p:spPr>
          <a:xfrm>
            <a:off x="8996477"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Error count</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Experimental setup: 1,024 requests, two architectures</a:t>
            </a:r>
            <a:endParaRPr lang="en-US" sz="3600" dirty="0"/>
          </a:p>
        </p:txBody>
      </p:sp>
      <p:sp>
        <p:nvSpPr>
          <p:cNvPr id="4" name="Shape 1"/>
          <p:cNvSpPr/>
          <p:nvPr/>
        </p:nvSpPr>
        <p:spPr>
          <a:xfrm>
            <a:off x="548640" y="1417320"/>
            <a:ext cx="11094415" cy="731520"/>
          </a:xfrm>
          <a:prstGeom prst="roundRect">
            <a:avLst>
              <a:gd name="adj" fmla="val 10000"/>
            </a:avLst>
          </a:prstGeom>
          <a:solidFill>
            <a:srgbClr val="FFFFFF"/>
          </a:solidFill>
          <a:ln/>
        </p:spPr>
      </p:sp>
      <p:sp>
        <p:nvSpPr>
          <p:cNvPr id="5" name="Shape 2"/>
          <p:cNvSpPr/>
          <p:nvPr/>
        </p:nvSpPr>
        <p:spPr>
          <a:xfrm>
            <a:off x="822960" y="1508760"/>
            <a:ext cx="548640" cy="54864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43661" y="1629461"/>
            <a:ext cx="307238" cy="307238"/>
          </a:xfrm>
          <a:prstGeom prst="rect">
            <a:avLst/>
          </a:prstGeom>
        </p:spPr>
      </p:pic>
      <p:sp>
        <p:nvSpPr>
          <p:cNvPr id="7" name="Text 3"/>
          <p:cNvSpPr/>
          <p:nvPr/>
        </p:nvSpPr>
        <p:spPr>
          <a:xfrm>
            <a:off x="1554480"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1,024 requests in each independent run, comparing both architectures</a:t>
            </a:r>
            <a:endParaRPr lang="en-US" sz="1600" dirty="0"/>
          </a:p>
        </p:txBody>
      </p:sp>
      <p:sp>
        <p:nvSpPr>
          <p:cNvPr id="8" name="Shape 4"/>
          <p:cNvSpPr/>
          <p:nvPr/>
        </p:nvSpPr>
        <p:spPr>
          <a:xfrm>
            <a:off x="6370168" y="1508760"/>
            <a:ext cx="548640" cy="548640"/>
          </a:xfrm>
          <a:prstGeom prst="ellipse">
            <a:avLst/>
          </a:prstGeom>
          <a:solidFill>
            <a:srgbClr val="5F6B7A"/>
          </a:solidFill>
          <a:ln w="12700">
            <a:solidFill>
              <a:srgbClr val="5F6B7A"/>
            </a:solidFill>
            <a:prstDash val="solid"/>
          </a:ln>
        </p:spPr>
      </p:sp>
      <p:pic>
        <p:nvPicPr>
          <p:cNvPr id="9" name="Image 1" descr="preencoded.png">    </p:cNvPr>
          <p:cNvPicPr>
            <a:picLocks noChangeAspect="1"/>
          </p:cNvPicPr>
          <p:nvPr/>
        </p:nvPicPr>
        <p:blipFill>
          <a:blip r:embed="rId2"/>
          <a:stretch>
            <a:fillRect/>
          </a:stretch>
        </p:blipFill>
        <p:spPr>
          <a:xfrm>
            <a:off x="6490868" y="1629461"/>
            <a:ext cx="307238" cy="307238"/>
          </a:xfrm>
          <a:prstGeom prst="rect">
            <a:avLst/>
          </a:prstGeom>
        </p:spPr>
      </p:pic>
      <p:sp>
        <p:nvSpPr>
          <p:cNvPr id="10" name="Text 5"/>
          <p:cNvSpPr/>
          <p:nvPr/>
        </p:nvSpPr>
        <p:spPr>
          <a:xfrm>
            <a:off x="7101688"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Two hosted models: Jev (jev-1.13.0) and DeepSeek V4.1 Flash</a:t>
            </a:r>
            <a:endParaRPr lang="en-US" sz="1600" dirty="0"/>
          </a:p>
        </p:txBody>
      </p:sp>
      <p:sp>
        <p:nvSpPr>
          <p:cNvPr id="11" name="Shape 6"/>
          <p:cNvSpPr/>
          <p:nvPr/>
        </p:nvSpPr>
        <p:spPr>
          <a:xfrm>
            <a:off x="548640" y="2331720"/>
            <a:ext cx="5410048" cy="2743200"/>
          </a:xfrm>
          <a:prstGeom prst="roundRect">
            <a:avLst>
              <a:gd name="adj" fmla="val 2667"/>
            </a:avLst>
          </a:prstGeom>
          <a:solidFill>
            <a:srgbClr val="FFFFFF"/>
          </a:solidFill>
          <a:ln/>
        </p:spPr>
      </p:sp>
      <p:sp>
        <p:nvSpPr>
          <p:cNvPr id="12" name="Shape 7"/>
          <p:cNvSpPr/>
          <p:nvPr/>
        </p:nvSpPr>
        <p:spPr>
          <a:xfrm>
            <a:off x="868680" y="2514600"/>
            <a:ext cx="548640" cy="548640"/>
          </a:xfrm>
          <a:prstGeom prst="ellipse">
            <a:avLst/>
          </a:prstGeom>
          <a:solidFill>
            <a:srgbClr val="4A82B8"/>
          </a:solidFill>
          <a:ln w="12700">
            <a:solidFill>
              <a:srgbClr val="4A82B8"/>
            </a:solidFill>
            <a:prstDash val="solid"/>
          </a:ln>
        </p:spPr>
      </p:sp>
      <p:pic>
        <p:nvPicPr>
          <p:cNvPr id="13" name="Image 2" descr="preencoded.png">    </p:cNvPr>
          <p:cNvPicPr>
            <a:picLocks noChangeAspect="1"/>
          </p:cNvPicPr>
          <p:nvPr/>
        </p:nvPicPr>
        <p:blipFill>
          <a:blip r:embed="rId3"/>
          <a:stretch>
            <a:fillRect/>
          </a:stretch>
        </p:blipFill>
        <p:spPr>
          <a:xfrm>
            <a:off x="989381" y="2635301"/>
            <a:ext cx="307238" cy="307238"/>
          </a:xfrm>
          <a:prstGeom prst="rect">
            <a:avLst/>
          </a:prstGeom>
        </p:spPr>
      </p:pic>
      <p:sp>
        <p:nvSpPr>
          <p:cNvPr id="14" name="Text 8"/>
          <p:cNvSpPr/>
          <p:nvPr/>
        </p:nvSpPr>
        <p:spPr>
          <a:xfrm>
            <a:off x="1600200"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LLM agent</a:t>
            </a:r>
            <a:endParaRPr lang="en-US" sz="2200" dirty="0"/>
          </a:p>
        </p:txBody>
      </p:sp>
      <p:sp>
        <p:nvSpPr>
          <p:cNvPr id="15" name="Text 9"/>
          <p:cNvSpPr/>
          <p:nvPr/>
        </p:nvSpPr>
        <p:spPr>
          <a:xfrm>
            <a:off x="868680" y="3154680"/>
            <a:ext cx="2103120" cy="731520"/>
          </a:xfrm>
          <a:prstGeom prst="rect">
            <a:avLst/>
          </a:prstGeom>
          <a:noFill/>
          <a:ln/>
        </p:spPr>
        <p:txBody>
          <a:bodyPr wrap="square" lIns="0" tIns="0" rIns="0" bIns="0" rtlCol="0" anchor="ctr"/>
          <a:lstStyle/>
          <a:p>
            <a:pPr algn="l" indent="0" marL="0">
              <a:buNone/>
            </a:pPr>
            <a:r>
              <a:rPr lang="en-US" sz="4800" b="1" dirty="0">
                <a:solidFill>
                  <a:srgbClr val="4A82B8"/>
                </a:solidFill>
                <a:latin typeface="Calibri" pitchFamily="34" charset="0"/>
                <a:ea typeface="Calibri" pitchFamily="34" charset="-122"/>
                <a:cs typeface="Calibri" pitchFamily="34" charset="-120"/>
              </a:rPr>
              <a:t>$1.12</a:t>
            </a:r>
            <a:endParaRPr lang="en-US" sz="4800" dirty="0"/>
          </a:p>
        </p:txBody>
      </p:sp>
      <p:sp>
        <p:nvSpPr>
          <p:cNvPr id="16" name="Text 10"/>
          <p:cNvSpPr/>
          <p:nvPr/>
        </p:nvSpPr>
        <p:spPr>
          <a:xfrm>
            <a:off x="3017520"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17" name="Shape 11"/>
          <p:cNvSpPr/>
          <p:nvPr/>
        </p:nvSpPr>
        <p:spPr>
          <a:xfrm>
            <a:off x="868680" y="3977640"/>
            <a:ext cx="4769968" cy="256032"/>
          </a:xfrm>
          <a:prstGeom prst="roundRect">
            <a:avLst>
              <a:gd name="adj" fmla="val 17857"/>
            </a:avLst>
          </a:prstGeom>
          <a:solidFill>
            <a:srgbClr val="E9EDF2"/>
          </a:solidFill>
          <a:ln w="12700">
            <a:solidFill>
              <a:srgbClr val="E9EDF2"/>
            </a:solidFill>
            <a:prstDash val="solid"/>
          </a:ln>
        </p:spPr>
      </p:sp>
      <p:sp>
        <p:nvSpPr>
          <p:cNvPr id="18" name="Shape 12"/>
          <p:cNvSpPr/>
          <p:nvPr/>
        </p:nvSpPr>
        <p:spPr>
          <a:xfrm>
            <a:off x="868680" y="3977640"/>
            <a:ext cx="4769968" cy="256032"/>
          </a:xfrm>
          <a:prstGeom prst="roundRect">
            <a:avLst>
              <a:gd name="adj" fmla="val 17857"/>
            </a:avLst>
          </a:prstGeom>
          <a:solidFill>
            <a:srgbClr val="4A82B8"/>
          </a:solidFill>
          <a:ln w="12700">
            <a:solidFill>
              <a:srgbClr val="4A82B8"/>
            </a:solidFill>
            <a:prstDash val="solid"/>
          </a:ln>
        </p:spPr>
      </p:sp>
      <p:sp>
        <p:nvSpPr>
          <p:cNvPr id="19" name="Text 13"/>
          <p:cNvSpPr/>
          <p:nvPr/>
        </p:nvSpPr>
        <p:spPr>
          <a:xfrm>
            <a:off x="868680" y="4343400"/>
            <a:ext cx="17373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classifier</a:t>
            </a:r>
            <a:endParaRPr lang="en-US" sz="1400" dirty="0"/>
          </a:p>
        </p:txBody>
      </p:sp>
      <p:sp>
        <p:nvSpPr>
          <p:cNvPr id="20" name="Text 14"/>
          <p:cNvSpPr/>
          <p:nvPr/>
        </p:nvSpPr>
        <p:spPr>
          <a:xfrm>
            <a:off x="2743200"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1" name="Text 15"/>
          <p:cNvSpPr/>
          <p:nvPr/>
        </p:nvSpPr>
        <p:spPr>
          <a:xfrm>
            <a:off x="4206240"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22" name="Text 16"/>
          <p:cNvSpPr/>
          <p:nvPr/>
        </p:nvSpPr>
        <p:spPr>
          <a:xfrm>
            <a:off x="868680"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the whole account, and all the rules</a:t>
            </a:r>
            <a:endParaRPr lang="en-US" sz="1600" dirty="0"/>
          </a:p>
        </p:txBody>
      </p:sp>
      <p:sp>
        <p:nvSpPr>
          <p:cNvPr id="23" name="Shape 17"/>
          <p:cNvSpPr/>
          <p:nvPr/>
        </p:nvSpPr>
        <p:spPr>
          <a:xfrm>
            <a:off x="6233008" y="2331720"/>
            <a:ext cx="5410048" cy="2743200"/>
          </a:xfrm>
          <a:prstGeom prst="roundRect">
            <a:avLst>
              <a:gd name="adj" fmla="val 2667"/>
            </a:avLst>
          </a:prstGeom>
          <a:solidFill>
            <a:srgbClr val="FFFFFF"/>
          </a:solidFill>
          <a:ln/>
        </p:spPr>
      </p:sp>
      <p:sp>
        <p:nvSpPr>
          <p:cNvPr id="24" name="Shape 18"/>
          <p:cNvSpPr/>
          <p:nvPr/>
        </p:nvSpPr>
        <p:spPr>
          <a:xfrm>
            <a:off x="6553048" y="2514600"/>
            <a:ext cx="548640" cy="548640"/>
          </a:xfrm>
          <a:prstGeom prst="ellipse">
            <a:avLst/>
          </a:prstGeom>
          <a:solidFill>
            <a:srgbClr val="234B84"/>
          </a:solidFill>
          <a:ln w="12700">
            <a:solidFill>
              <a:srgbClr val="234B84"/>
            </a:solidFill>
            <a:prstDash val="solid"/>
          </a:ln>
        </p:spPr>
      </p:sp>
      <p:pic>
        <p:nvPicPr>
          <p:cNvPr id="25" name="Image 3" descr="preencoded.png">    </p:cNvPr>
          <p:cNvPicPr>
            <a:picLocks noChangeAspect="1"/>
          </p:cNvPicPr>
          <p:nvPr/>
        </p:nvPicPr>
        <p:blipFill>
          <a:blip r:embed="rId4"/>
          <a:stretch>
            <a:fillRect/>
          </a:stretch>
        </p:blipFill>
        <p:spPr>
          <a:xfrm>
            <a:off x="6673748" y="2635301"/>
            <a:ext cx="307238" cy="307238"/>
          </a:xfrm>
          <a:prstGeom prst="rect">
            <a:avLst/>
          </a:prstGeom>
        </p:spPr>
      </p:pic>
      <p:sp>
        <p:nvSpPr>
          <p:cNvPr id="26" name="Text 19"/>
          <p:cNvSpPr/>
          <p:nvPr/>
        </p:nvSpPr>
        <p:spPr>
          <a:xfrm>
            <a:off x="7284568"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Jev pipeline</a:t>
            </a:r>
            <a:endParaRPr lang="en-US" sz="2200" dirty="0"/>
          </a:p>
        </p:txBody>
      </p:sp>
      <p:sp>
        <p:nvSpPr>
          <p:cNvPr id="27" name="Text 20"/>
          <p:cNvSpPr/>
          <p:nvPr/>
        </p:nvSpPr>
        <p:spPr>
          <a:xfrm>
            <a:off x="6553048" y="3154680"/>
            <a:ext cx="2103120" cy="731520"/>
          </a:xfrm>
          <a:prstGeom prst="rect">
            <a:avLst/>
          </a:prstGeom>
          <a:noFill/>
          <a:ln/>
        </p:spPr>
        <p:txBody>
          <a:bodyPr wrap="square" lIns="0" tIns="0" rIns="0" bIns="0" rtlCol="0" anchor="ctr"/>
          <a:lstStyle/>
          <a:p>
            <a:pPr algn="l" indent="0" marL="0">
              <a:buNone/>
            </a:pPr>
            <a:r>
              <a:rPr lang="en-US" sz="4800" b="1" dirty="0">
                <a:solidFill>
                  <a:srgbClr val="234B84"/>
                </a:solidFill>
                <a:latin typeface="Calibri" pitchFamily="34" charset="0"/>
                <a:ea typeface="Calibri" pitchFamily="34" charset="-122"/>
                <a:cs typeface="Calibri" pitchFamily="34" charset="-120"/>
              </a:rPr>
              <a:t>$0.30</a:t>
            </a:r>
            <a:endParaRPr lang="en-US" sz="4800" dirty="0"/>
          </a:p>
        </p:txBody>
      </p:sp>
      <p:sp>
        <p:nvSpPr>
          <p:cNvPr id="28" name="Text 21"/>
          <p:cNvSpPr/>
          <p:nvPr/>
        </p:nvSpPr>
        <p:spPr>
          <a:xfrm>
            <a:off x="8701888"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29" name="Shape 22"/>
          <p:cNvSpPr/>
          <p:nvPr/>
        </p:nvSpPr>
        <p:spPr>
          <a:xfrm>
            <a:off x="6553048" y="3977640"/>
            <a:ext cx="4769968" cy="256032"/>
          </a:xfrm>
          <a:prstGeom prst="roundRect">
            <a:avLst>
              <a:gd name="adj" fmla="val 17857"/>
            </a:avLst>
          </a:prstGeom>
          <a:solidFill>
            <a:srgbClr val="E9EDF2"/>
          </a:solidFill>
          <a:ln w="12700">
            <a:solidFill>
              <a:srgbClr val="E9EDF2"/>
            </a:solidFill>
            <a:prstDash val="solid"/>
          </a:ln>
        </p:spPr>
      </p:sp>
      <p:sp>
        <p:nvSpPr>
          <p:cNvPr id="30" name="Shape 23"/>
          <p:cNvSpPr/>
          <p:nvPr/>
        </p:nvSpPr>
        <p:spPr>
          <a:xfrm>
            <a:off x="6553048" y="3977640"/>
            <a:ext cx="1266671" cy="256032"/>
          </a:xfrm>
          <a:prstGeom prst="roundRect">
            <a:avLst>
              <a:gd name="adj" fmla="val 17857"/>
            </a:avLst>
          </a:prstGeom>
          <a:solidFill>
            <a:srgbClr val="234B84"/>
          </a:solidFill>
          <a:ln w="12700">
            <a:solidFill>
              <a:srgbClr val="234B84"/>
            </a:solidFill>
            <a:prstDash val="solid"/>
          </a:ln>
        </p:spPr>
      </p:sp>
      <p:sp>
        <p:nvSpPr>
          <p:cNvPr id="31" name="Text 24"/>
          <p:cNvSpPr/>
          <p:nvPr/>
        </p:nvSpPr>
        <p:spPr>
          <a:xfrm>
            <a:off x="6553048" y="4343400"/>
            <a:ext cx="1828800" cy="329184"/>
          </a:xfrm>
          <a:prstGeom prst="roundRect">
            <a:avLst>
              <a:gd name="adj" fmla="val 22222"/>
            </a:avLst>
          </a:prstGeom>
          <a:solidFill>
            <a:srgbClr val="234B84"/>
          </a:solidFill>
          <a:ln w="12700">
            <a:solidFill>
              <a:srgbClr val="234B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Jev call × 1.5</a:t>
            </a:r>
            <a:endParaRPr lang="en-US" sz="1400" dirty="0"/>
          </a:p>
        </p:txBody>
      </p:sp>
      <p:sp>
        <p:nvSpPr>
          <p:cNvPr id="32" name="Text 25"/>
          <p:cNvSpPr/>
          <p:nvPr/>
        </p:nvSpPr>
        <p:spPr>
          <a:xfrm>
            <a:off x="8519008"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33" name="Text 26"/>
          <p:cNvSpPr/>
          <p:nvPr/>
        </p:nvSpPr>
        <p:spPr>
          <a:xfrm>
            <a:off x="9982048"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34" name="Text 27"/>
          <p:cNvSpPr/>
          <p:nvPr/>
        </p:nvSpPr>
        <p:spPr>
          <a:xfrm>
            <a:off x="6553048"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first, then the rules of one action</a:t>
            </a:r>
            <a:endParaRPr lang="en-US" sz="1600" dirty="0"/>
          </a:p>
        </p:txBody>
      </p:sp>
      <p:sp>
        <p:nvSpPr>
          <p:cNvPr id="35" name="Shape 28"/>
          <p:cNvSpPr/>
          <p:nvPr/>
        </p:nvSpPr>
        <p:spPr>
          <a:xfrm>
            <a:off x="548640" y="5212080"/>
            <a:ext cx="11094415" cy="914400"/>
          </a:xfrm>
          <a:prstGeom prst="roundRect">
            <a:avLst>
              <a:gd name="adj" fmla="val 8000"/>
            </a:avLst>
          </a:prstGeom>
          <a:solidFill>
            <a:srgbClr val="FFFFFF"/>
          </a:solidFill>
          <a:ln/>
        </p:spPr>
      </p:sp>
      <p:sp>
        <p:nvSpPr>
          <p:cNvPr id="36" name="Shape 29"/>
          <p:cNvSpPr/>
          <p:nvPr/>
        </p:nvSpPr>
        <p:spPr>
          <a:xfrm>
            <a:off x="868680" y="5394960"/>
            <a:ext cx="548640" cy="548640"/>
          </a:xfrm>
          <a:prstGeom prst="ellipse">
            <a:avLst/>
          </a:prstGeom>
          <a:solidFill>
            <a:srgbClr val="234B84"/>
          </a:solidFill>
          <a:ln w="12700">
            <a:solidFill>
              <a:srgbClr val="234B84"/>
            </a:solidFill>
            <a:prstDash val="solid"/>
          </a:ln>
        </p:spPr>
      </p:sp>
      <p:pic>
        <p:nvPicPr>
          <p:cNvPr id="37" name="Image 4" descr="preencoded.png">    </p:cNvPr>
          <p:cNvPicPr>
            <a:picLocks noChangeAspect="1"/>
          </p:cNvPicPr>
          <p:nvPr/>
        </p:nvPicPr>
        <p:blipFill>
          <a:blip r:embed="rId5"/>
          <a:stretch>
            <a:fillRect/>
          </a:stretch>
        </p:blipFill>
        <p:spPr>
          <a:xfrm>
            <a:off x="989381" y="5515661"/>
            <a:ext cx="307238" cy="307238"/>
          </a:xfrm>
          <a:prstGeom prst="rect">
            <a:avLst/>
          </a:prstGeom>
        </p:spPr>
      </p:pic>
      <p:sp>
        <p:nvSpPr>
          <p:cNvPr id="38" name="Text 30"/>
          <p:cNvSpPr/>
          <p:nvPr/>
        </p:nvSpPr>
        <p:spPr>
          <a:xfrm>
            <a:off x="1600200"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Jev: $0.042 per million input tokens, output free</a:t>
            </a:r>
            <a:endParaRPr lang="en-US" sz="1600" dirty="0"/>
          </a:p>
        </p:txBody>
      </p:sp>
      <p:sp>
        <p:nvSpPr>
          <p:cNvPr id="39" name="Shape 31"/>
          <p:cNvSpPr/>
          <p:nvPr/>
        </p:nvSpPr>
        <p:spPr>
          <a:xfrm>
            <a:off x="6415888" y="5394960"/>
            <a:ext cx="548640" cy="548640"/>
          </a:xfrm>
          <a:prstGeom prst="ellipse">
            <a:avLst/>
          </a:prstGeom>
          <a:solidFill>
            <a:srgbClr val="5F6B7A"/>
          </a:solidFill>
          <a:ln w="12700">
            <a:solidFill>
              <a:srgbClr val="5F6B7A"/>
            </a:solidFill>
            <a:prstDash val="solid"/>
          </a:ln>
        </p:spPr>
      </p:sp>
      <p:pic>
        <p:nvPicPr>
          <p:cNvPr id="40" name="Image 5" descr="preencoded.png">    </p:cNvPr>
          <p:cNvPicPr>
            <a:picLocks noChangeAspect="1"/>
          </p:cNvPicPr>
          <p:nvPr/>
        </p:nvPicPr>
        <p:blipFill>
          <a:blip r:embed="rId6"/>
          <a:stretch>
            <a:fillRect/>
          </a:stretch>
        </p:blipFill>
        <p:spPr>
          <a:xfrm>
            <a:off x="6536588" y="5515661"/>
            <a:ext cx="307238" cy="307238"/>
          </a:xfrm>
          <a:prstGeom prst="rect">
            <a:avLst/>
          </a:prstGeom>
        </p:spPr>
      </p:pic>
      <p:sp>
        <p:nvSpPr>
          <p:cNvPr id="41" name="Text 32"/>
          <p:cNvSpPr/>
          <p:nvPr/>
        </p:nvSpPr>
        <p:spPr>
          <a:xfrm>
            <a:off x="7147408"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LLM (DeepSeek V4.1 Flash, list price): $0.15 in, $0.60 out per million tokens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on our test set: speed, cost, and accuracy</a:t>
            </a:r>
            <a:endParaRPr lang="en-US" sz="3600" dirty="0"/>
          </a:p>
        </p:txBody>
      </p:sp>
      <p:sp>
        <p:nvSpPr>
          <p:cNvPr id="4" name="Shape 1"/>
          <p:cNvSpPr/>
          <p:nvPr/>
        </p:nvSpPr>
        <p:spPr>
          <a:xfrm>
            <a:off x="548640" y="1508760"/>
            <a:ext cx="6949440" cy="4480560"/>
          </a:xfrm>
          <a:prstGeom prst="roundRect">
            <a:avLst>
              <a:gd name="adj" fmla="val 1633"/>
            </a:avLst>
          </a:prstGeom>
          <a:solidFill>
            <a:srgbClr val="FFFFFF"/>
          </a:solidFill>
          <a:ln/>
        </p:spPr>
      </p:sp>
      <p:graphicFrame>
        <p:nvGraphicFramePr>
          <p:cNvPr id="5" name="Chart 0" descr=""/>
          <p:cNvGraphicFramePr/>
          <p:nvPr/>
        </p:nvGraphicFramePr>
        <p:xfrm>
          <a:off x="731520" y="1645920"/>
          <a:ext cx="658368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p:nvPr/>
        </p:nvSpPr>
        <p:spPr>
          <a:xfrm>
            <a:off x="822960" y="5623560"/>
            <a:ext cx="6400800" cy="228600"/>
          </a:xfrm>
          <a:prstGeom prst="rect">
            <a:avLst/>
          </a:prstGeom>
          <a:noFill/>
          <a:ln/>
        </p:spPr>
        <p:txBody>
          <a:bodyPr wrap="square" lIns="0" tIns="0" rIns="0" bIns="0" rtlCol="0" anchor="t"/>
          <a:lstStyle/>
          <a:p>
            <a:pPr algn="l" indent="0" marL="0">
              <a:buNone/>
            </a:pPr>
            <a:r>
              <a:rPr lang="en-US" sz="1100" dirty="0">
                <a:solidFill>
                  <a:srgbClr val="56636F"/>
                </a:solidFill>
                <a:latin typeface="Calibri" pitchFamily="34" charset="0"/>
                <a:ea typeface="Calibri" pitchFamily="34" charset="-122"/>
                <a:cs typeface="Calibri" pitchFamily="34" charset="-120"/>
              </a:rPr>
              <a:t>Scored: topic 1,016; other fields 1,024; rule answers 2,050.</a:t>
            </a:r>
            <a:endParaRPr lang="en-US" sz="1100" dirty="0"/>
          </a:p>
        </p:txBody>
      </p:sp>
      <p:sp>
        <p:nvSpPr>
          <p:cNvPr id="7" name="Shape 3"/>
          <p:cNvSpPr/>
          <p:nvPr/>
        </p:nvSpPr>
        <p:spPr>
          <a:xfrm>
            <a:off x="7772400" y="1508760"/>
            <a:ext cx="3870655" cy="1371600"/>
          </a:xfrm>
          <a:prstGeom prst="roundRect">
            <a:avLst>
              <a:gd name="adj" fmla="val 5333"/>
            </a:avLst>
          </a:prstGeom>
          <a:solidFill>
            <a:srgbClr val="FFFFFF"/>
          </a:solidFill>
          <a:ln/>
        </p:spPr>
      </p:sp>
      <p:sp>
        <p:nvSpPr>
          <p:cNvPr id="8"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10" name="Text 5"/>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0.47 s</a:t>
            </a:r>
            <a:endParaRPr lang="en-US" sz="3000" dirty="0"/>
          </a:p>
        </p:txBody>
      </p:sp>
      <p:sp>
        <p:nvSpPr>
          <p:cNvPr id="11" name="Text 6"/>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median Jev time per request (includes rule calls)</a:t>
            </a:r>
            <a:endParaRPr lang="en-US" sz="1400" dirty="0"/>
          </a:p>
        </p:txBody>
      </p:sp>
      <p:sp>
        <p:nvSpPr>
          <p:cNvPr id="12" name="Shape 7"/>
          <p:cNvSpPr/>
          <p:nvPr/>
        </p:nvSpPr>
        <p:spPr>
          <a:xfrm>
            <a:off x="7772400" y="3063240"/>
            <a:ext cx="3870655" cy="1371600"/>
          </a:xfrm>
          <a:prstGeom prst="roundRect">
            <a:avLst>
              <a:gd name="adj" fmla="val 5333"/>
            </a:avLst>
          </a:prstGeom>
          <a:solidFill>
            <a:srgbClr val="FFFFFF"/>
          </a:solidFill>
          <a:ln/>
        </p:spPr>
      </p:sp>
      <p:sp>
        <p:nvSpPr>
          <p:cNvPr id="13" name="Shape 8"/>
          <p:cNvSpPr/>
          <p:nvPr/>
        </p:nvSpPr>
        <p:spPr>
          <a:xfrm>
            <a:off x="8001000" y="329184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5" name="Text 9"/>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$0.066</a:t>
            </a:r>
            <a:endParaRPr lang="en-US" sz="3000" dirty="0"/>
          </a:p>
        </p:txBody>
      </p:sp>
      <p:sp>
        <p:nvSpPr>
          <p:cNvPr id="16" name="Text 10"/>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 for all Jev calls</a:t>
            </a:r>
            <a:endParaRPr lang="en-US" sz="1400" dirty="0"/>
          </a:p>
        </p:txBody>
      </p:sp>
      <p:sp>
        <p:nvSpPr>
          <p:cNvPr id="17" name="Shape 11"/>
          <p:cNvSpPr/>
          <p:nvPr/>
        </p:nvSpPr>
        <p:spPr>
          <a:xfrm>
            <a:off x="7772400" y="4617720"/>
            <a:ext cx="3870655" cy="1371600"/>
          </a:xfrm>
          <a:prstGeom prst="roundRect">
            <a:avLst>
              <a:gd name="adj" fmla="val 5333"/>
            </a:avLst>
          </a:prstGeom>
          <a:solidFill>
            <a:srgbClr val="FFFFFF"/>
          </a:solidFill>
          <a:ln/>
        </p:spPr>
      </p:sp>
      <p:sp>
        <p:nvSpPr>
          <p:cNvPr id="18" name="Shape 12"/>
          <p:cNvSpPr/>
          <p:nvPr/>
        </p:nvSpPr>
        <p:spPr>
          <a:xfrm>
            <a:off x="8001000" y="4846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20" name="Text 13"/>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0 of 278</a:t>
            </a:r>
            <a:endParaRPr lang="en-US" sz="3000" dirty="0"/>
          </a:p>
        </p:txBody>
      </p:sp>
      <p:sp>
        <p:nvSpPr>
          <p:cNvPr id="21" name="Text 14"/>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first-call action labels end in a wrong outcome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Same reply model, different decision step</a:t>
            </a:r>
            <a:endParaRPr lang="en-US" sz="3600" dirty="0"/>
          </a:p>
        </p:txBody>
      </p:sp>
      <p:sp>
        <p:nvSpPr>
          <p:cNvPr id="4" name="Shape 1"/>
          <p:cNvSpPr/>
          <p:nvPr/>
        </p:nvSpPr>
        <p:spPr>
          <a:xfrm>
            <a:off x="548640" y="1508760"/>
            <a:ext cx="6949440" cy="3611880"/>
          </a:xfrm>
          <a:prstGeom prst="roundRect">
            <a:avLst>
              <a:gd name="adj" fmla="val 2025"/>
            </a:avLst>
          </a:prstGeom>
          <a:solidFill>
            <a:srgbClr val="FFFFFF"/>
          </a:solidFill>
          <a:ln/>
        </p:spPr>
      </p:sp>
      <p:graphicFrame>
        <p:nvGraphicFramePr>
          <p:cNvPr id="5"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143000"/>
          </a:xfrm>
          <a:prstGeom prst="roundRect">
            <a:avLst>
              <a:gd name="adj" fmla="val 6400"/>
            </a:avLst>
          </a:prstGeom>
          <a:solidFill>
            <a:srgbClr val="FFFFFF"/>
          </a:solidFill>
          <a:ln/>
        </p:spPr>
      </p:sp>
      <p:sp>
        <p:nvSpPr>
          <p:cNvPr id="7" name="Shape 3"/>
          <p:cNvSpPr/>
          <p:nvPr/>
        </p:nvSpPr>
        <p:spPr>
          <a:xfrm>
            <a:off x="8001000" y="1737360"/>
            <a:ext cx="640080" cy="640080"/>
          </a:xfrm>
          <a:prstGeom prst="ellipse">
            <a:avLst/>
          </a:prstGeom>
          <a:solidFill>
            <a:srgbClr val="1F7A7A"/>
          </a:solidFill>
          <a:ln w="12700">
            <a:solidFill>
              <a:srgbClr val="1F7A7A"/>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31 vs 0 wrong</a:t>
            </a:r>
            <a:endParaRPr lang="en-US" sz="2800" dirty="0"/>
          </a:p>
        </p:txBody>
      </p:sp>
      <p:sp>
        <p:nvSpPr>
          <p:cNvPr id="10"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27 of the 31 are orders hidden in the message</a:t>
            </a:r>
            <a:endParaRPr lang="en-US" sz="1400" dirty="0"/>
          </a:p>
        </p:txBody>
      </p:sp>
      <p:sp>
        <p:nvSpPr>
          <p:cNvPr id="11" name="Shape 6"/>
          <p:cNvSpPr/>
          <p:nvPr/>
        </p:nvSpPr>
        <p:spPr>
          <a:xfrm>
            <a:off x="7772400" y="2743200"/>
            <a:ext cx="3870655" cy="1143000"/>
          </a:xfrm>
          <a:prstGeom prst="roundRect">
            <a:avLst>
              <a:gd name="adj" fmla="val 6400"/>
            </a:avLst>
          </a:prstGeom>
          <a:solidFill>
            <a:srgbClr val="FFFFFF"/>
          </a:solidFill>
          <a:ln/>
        </p:spPr>
      </p:sp>
      <p:sp>
        <p:nvSpPr>
          <p:cNvPr id="12"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4"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2.1x faster</a:t>
            </a:r>
            <a:endParaRPr lang="en-US" sz="2800" dirty="0"/>
          </a:p>
        </p:txBody>
      </p:sp>
      <p:sp>
        <p:nvSpPr>
          <p:cNvPr id="15"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5.89 s vs 12.45 s of machine time per request</a:t>
            </a:r>
            <a:endParaRPr lang="en-US" sz="1400" dirty="0"/>
          </a:p>
        </p:txBody>
      </p:sp>
      <p:sp>
        <p:nvSpPr>
          <p:cNvPr id="16" name="Shape 10"/>
          <p:cNvSpPr/>
          <p:nvPr/>
        </p:nvSpPr>
        <p:spPr>
          <a:xfrm>
            <a:off x="7772400" y="3977640"/>
            <a:ext cx="3870655" cy="1143000"/>
          </a:xfrm>
          <a:prstGeom prst="roundRect">
            <a:avLst>
              <a:gd name="adj" fmla="val 6400"/>
            </a:avLst>
          </a:prstGeom>
          <a:solidFill>
            <a:srgbClr val="FFFFFF"/>
          </a:solidFill>
          <a:ln/>
        </p:spPr>
      </p:sp>
      <p:sp>
        <p:nvSpPr>
          <p:cNvPr id="17" name="Shape 11"/>
          <p:cNvSpPr/>
          <p:nvPr/>
        </p:nvSpPr>
        <p:spPr>
          <a:xfrm>
            <a:off x="8001000" y="420624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19"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3.8x cheaper</a:t>
            </a:r>
            <a:endParaRPr lang="en-US" sz="2800" dirty="0"/>
          </a:p>
        </p:txBody>
      </p:sp>
      <p:sp>
        <p:nvSpPr>
          <p:cNvPr id="20"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$0.30 vs $1.12 per 1,000 requests</a:t>
            </a:r>
            <a:endParaRPr lang="en-US" sz="1400" dirty="0"/>
          </a:p>
        </p:txBody>
      </p:sp>
      <p:sp>
        <p:nvSpPr>
          <p:cNvPr id="21" name="Text 14"/>
          <p:cNvSpPr/>
          <p:nvPr/>
        </p:nvSpPr>
        <p:spPr>
          <a:xfrm>
            <a:off x="6400800" y="2491740"/>
            <a:ext cx="868680" cy="457200"/>
          </a:xfrm>
          <a:prstGeom prst="rect">
            <a:avLst/>
          </a:prstGeom>
          <a:noFill/>
          <a:ln/>
        </p:spPr>
        <p:txBody>
          <a:bodyPr wrap="square" lIns="0" tIns="0" rIns="0" bIns="0" rtlCol="0" anchor="ctr"/>
          <a:lstStyle/>
          <a:p>
            <a:pPr algn="r" indent="0" marL="0">
              <a:buNone/>
            </a:pPr>
            <a:r>
              <a:rPr lang="en-US" sz="1600" b="1" dirty="0">
                <a:solidFill>
                  <a:srgbClr val="A94A4A"/>
                </a:solidFill>
                <a:latin typeface="Calibri" pitchFamily="34" charset="0"/>
                <a:ea typeface="Calibri" pitchFamily="34" charset="-122"/>
                <a:cs typeface="Calibri" pitchFamily="34" charset="-120"/>
              </a:rPr>
              <a:t>31 wrong</a:t>
            </a:r>
            <a:endParaRPr lang="en-US" sz="1600" dirty="0"/>
          </a:p>
        </p:txBody>
      </p:sp>
      <p:sp>
        <p:nvSpPr>
          <p:cNvPr id="22" name="Text 15"/>
          <p:cNvSpPr/>
          <p:nvPr/>
        </p:nvSpPr>
        <p:spPr>
          <a:xfrm>
            <a:off x="6400800" y="3749040"/>
            <a:ext cx="868680" cy="457200"/>
          </a:xfrm>
          <a:prstGeom prst="rect">
            <a:avLst/>
          </a:prstGeom>
          <a:noFill/>
          <a:ln/>
        </p:spPr>
        <p:txBody>
          <a:bodyPr wrap="square" lIns="0" tIns="0" rIns="0" bIns="0" rtlCol="0" anchor="ctr"/>
          <a:lstStyle/>
          <a:p>
            <a:pPr algn="r" indent="0" marL="0">
              <a:buNone/>
            </a:pPr>
            <a:r>
              <a:rPr lang="en-US" sz="1600" b="1" dirty="0">
                <a:solidFill>
                  <a:srgbClr val="1F7A7A"/>
                </a:solidFill>
                <a:latin typeface="Calibri" pitchFamily="34" charset="0"/>
                <a:ea typeface="Calibri" pitchFamily="34" charset="-122"/>
                <a:cs typeface="Calibri" pitchFamily="34" charset="-120"/>
              </a:rPr>
              <a:t>0 wrong</a:t>
            </a:r>
            <a:endParaRPr lang="en-US" sz="1600" dirty="0"/>
          </a:p>
        </p:txBody>
      </p:sp>
      <p:sp>
        <p:nvSpPr>
          <p:cNvPr id="23" name="Shape 16"/>
          <p:cNvSpPr/>
          <p:nvPr/>
        </p:nvSpPr>
        <p:spPr>
          <a:xfrm>
            <a:off x="548640" y="5349240"/>
            <a:ext cx="11094415" cy="868680"/>
          </a:xfrm>
          <a:prstGeom prst="roundRect">
            <a:avLst>
              <a:gd name="adj" fmla="val 8421"/>
            </a:avLst>
          </a:prstGeom>
          <a:solidFill>
            <a:srgbClr val="1F7A7A"/>
          </a:solidFill>
          <a:ln/>
        </p:spPr>
      </p:sp>
      <p:pic>
        <p:nvPicPr>
          <p:cNvPr id="24"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5"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Same LLM writes the reply. Only the decision step is different. </a:t>
            </a:r>
            <a:pPr algn="l" indent="0" marL="0">
              <a:buNone/>
            </a:pPr>
            <a:r>
              <a:rPr lang="en-US" sz="1800" dirty="0">
                <a:solidFill>
                  <a:srgbClr val="FFFFFF"/>
                </a:solidFill>
                <a:latin typeface="Calibri" pitchFamily="34" charset="0"/>
                <a:ea typeface="Calibri" pitchFamily="34" charset="-122"/>
                <a:cs typeface="Calibri" pitchFamily="34" charset="-120"/>
              </a:rPr>
              <a:t>Harmful runs: 10 vs 0.</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Wrong action labels, correct outcomes on this test set</a:t>
            </a:r>
            <a:endParaRPr lang="en-US" sz="36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640080" cy="640080"/>
          </a:xfrm>
          <a:prstGeom prst="ellipse">
            <a:avLst/>
          </a:prstGeom>
          <a:solidFill>
            <a:srgbClr val="A94A4A"/>
          </a:solidFill>
          <a:ln w="12700">
            <a:solidFill>
              <a:srgbClr val="A94A4A"/>
            </a:solidFill>
            <a:prstDash val="solid"/>
          </a:ln>
        </p:spPr>
      </p:sp>
      <p:pic>
        <p:nvPicPr>
          <p:cNvPr id="6" name="Image 0" descr="preencoded.png">    </p:cNvPr>
          <p:cNvPicPr>
            <a:picLocks noChangeAspect="1"/>
          </p:cNvPicPr>
          <p:nvPr/>
        </p:nvPicPr>
        <p:blipFill>
          <a:blip r:embed="rId1"/>
          <a:stretch>
            <a:fillRect/>
          </a:stretch>
        </p:blipFill>
        <p:spPr>
          <a:xfrm>
            <a:off x="963778" y="1878178"/>
            <a:ext cx="358445" cy="358445"/>
          </a:xfrm>
          <a:prstGeom prst="rect">
            <a:avLst/>
          </a:prstGeom>
        </p:spPr>
      </p:pic>
      <p:sp>
        <p:nvSpPr>
          <p:cNvPr id="7" name="Text 3"/>
          <p:cNvSpPr/>
          <p:nvPr/>
        </p:nvSpPr>
        <p:spPr>
          <a:xfrm>
            <a:off x="1645920"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Injection flag</a:t>
            </a:r>
            <a:endParaRPr lang="en-US" sz="2200" dirty="0"/>
          </a:p>
        </p:txBody>
      </p:sp>
      <p:sp>
        <p:nvSpPr>
          <p:cNvPr id="8" name="Text 4"/>
          <p:cNvSpPr/>
          <p:nvPr/>
        </p:nvSpPr>
        <p:spPr>
          <a:xfrm>
            <a:off x="822960" y="2651760"/>
            <a:ext cx="2966618" cy="822960"/>
          </a:xfrm>
          <a:prstGeom prst="rect">
            <a:avLst/>
          </a:prstGeom>
          <a:noFill/>
          <a:ln/>
        </p:spPr>
        <p:txBody>
          <a:bodyPr wrap="square" lIns="0" tIns="0" rIns="0" bIns="0" rtlCol="0" anchor="ctr"/>
          <a:lstStyle/>
          <a:p>
            <a:pPr algn="l" indent="0" marL="0">
              <a:buNone/>
            </a:pPr>
            <a:r>
              <a:rPr lang="en-US" sz="5400" b="1" dirty="0">
                <a:solidFill>
                  <a:srgbClr val="A94A4A"/>
                </a:solidFill>
                <a:latin typeface="Calibri" pitchFamily="34" charset="0"/>
                <a:ea typeface="Calibri" pitchFamily="34" charset="-122"/>
                <a:cs typeface="Calibri" pitchFamily="34" charset="-120"/>
              </a:rPr>
              <a:t>98.4%</a:t>
            </a:r>
            <a:endParaRPr lang="en-US" sz="5400" dirty="0"/>
          </a:p>
        </p:txBody>
      </p:sp>
      <p:sp>
        <p:nvSpPr>
          <p:cNvPr id="9" name="Text 5"/>
          <p:cNvSpPr/>
          <p:nvPr/>
        </p:nvSpPr>
        <p:spPr>
          <a:xfrm>
            <a:off x="822960"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flags are right. When the flag is on, the process sets the action to Send reply.</a:t>
            </a:r>
            <a:endParaRPr lang="en-US" sz="1800" dirty="0"/>
          </a:p>
        </p:txBody>
      </p:sp>
      <p:sp>
        <p:nvSpPr>
          <p:cNvPr id="10" name="Shape 6"/>
          <p:cNvSpPr/>
          <p:nvPr/>
        </p:nvSpPr>
        <p:spPr>
          <a:xfrm>
            <a:off x="4338218" y="1463040"/>
            <a:ext cx="3515258" cy="3611880"/>
          </a:xfrm>
          <a:prstGeom prst="roundRect">
            <a:avLst>
              <a:gd name="adj" fmla="val 2081"/>
            </a:avLst>
          </a:prstGeom>
          <a:solidFill>
            <a:srgbClr val="FFFFFF"/>
          </a:solidFill>
          <a:ln/>
        </p:spPr>
      </p:sp>
      <p:sp>
        <p:nvSpPr>
          <p:cNvPr id="11" name="Shape 7"/>
          <p:cNvSpPr/>
          <p:nvPr/>
        </p:nvSpPr>
        <p:spPr>
          <a:xfrm>
            <a:off x="4612538" y="1737360"/>
            <a:ext cx="640080" cy="640080"/>
          </a:xfrm>
          <a:prstGeom prst="ellipse">
            <a:avLst/>
          </a:prstGeom>
          <a:solidFill>
            <a:srgbClr val="1F7A7A"/>
          </a:solidFill>
          <a:ln w="12700">
            <a:solidFill>
              <a:srgbClr val="1F7A7A"/>
            </a:solidFill>
            <a:prstDash val="solid"/>
          </a:ln>
        </p:spPr>
      </p:sp>
      <p:pic>
        <p:nvPicPr>
          <p:cNvPr id="12" name="Image 1" descr="preencoded.png">    </p:cNvPr>
          <p:cNvPicPr>
            <a:picLocks noChangeAspect="1"/>
          </p:cNvPicPr>
          <p:nvPr/>
        </p:nvPicPr>
        <p:blipFill>
          <a:blip r:embed="rId2"/>
          <a:stretch>
            <a:fillRect/>
          </a:stretch>
        </p:blipFill>
        <p:spPr>
          <a:xfrm>
            <a:off x="4753356" y="1878178"/>
            <a:ext cx="358445" cy="358445"/>
          </a:xfrm>
          <a:prstGeom prst="rect">
            <a:avLst/>
          </a:prstGeom>
        </p:spPr>
      </p:pic>
      <p:sp>
        <p:nvSpPr>
          <p:cNvPr id="13" name="Text 8"/>
          <p:cNvSpPr/>
          <p:nvPr/>
        </p:nvSpPr>
        <p:spPr>
          <a:xfrm>
            <a:off x="5435498"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Rule questions</a:t>
            </a:r>
            <a:endParaRPr lang="en-US" sz="2200" dirty="0"/>
          </a:p>
        </p:txBody>
      </p:sp>
      <p:sp>
        <p:nvSpPr>
          <p:cNvPr id="14" name="Text 9"/>
          <p:cNvSpPr/>
          <p:nvPr/>
        </p:nvSpPr>
        <p:spPr>
          <a:xfrm>
            <a:off x="4612538" y="2651760"/>
            <a:ext cx="2966618" cy="822960"/>
          </a:xfrm>
          <a:prstGeom prst="rect">
            <a:avLst/>
          </a:prstGeom>
          <a:noFill/>
          <a:ln/>
        </p:spPr>
        <p:txBody>
          <a:bodyPr wrap="square" lIns="0" tIns="0" rIns="0" bIns="0" rtlCol="0" anchor="ctr"/>
          <a:lstStyle/>
          <a:p>
            <a:pPr algn="l" indent="0" marL="0">
              <a:buNone/>
            </a:pPr>
            <a:r>
              <a:rPr lang="en-US" sz="5400" b="1" dirty="0">
                <a:solidFill>
                  <a:srgbClr val="1F7A7A"/>
                </a:solidFill>
                <a:latin typeface="Calibri" pitchFamily="34" charset="0"/>
                <a:ea typeface="Calibri" pitchFamily="34" charset="-122"/>
                <a:cs typeface="Calibri" pitchFamily="34" charset="-120"/>
              </a:rPr>
              <a:t>100%</a:t>
            </a:r>
            <a:endParaRPr lang="en-US" sz="5400" dirty="0"/>
          </a:p>
        </p:txBody>
      </p:sp>
      <p:sp>
        <p:nvSpPr>
          <p:cNvPr id="15" name="Text 10"/>
          <p:cNvSpPr/>
          <p:nvPr/>
        </p:nvSpPr>
        <p:spPr>
          <a:xfrm>
            <a:off x="4612538"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answers match the written rules on this set. Two refund inputs were changed after earlier failures.</a:t>
            </a:r>
            <a:endParaRPr lang="en-US" sz="1800" dirty="0"/>
          </a:p>
        </p:txBody>
      </p:sp>
      <p:sp>
        <p:nvSpPr>
          <p:cNvPr id="16" name="Shape 11"/>
          <p:cNvSpPr/>
          <p:nvPr/>
        </p:nvSpPr>
        <p:spPr>
          <a:xfrm>
            <a:off x="8127797" y="1463040"/>
            <a:ext cx="3515258" cy="3611880"/>
          </a:xfrm>
          <a:prstGeom prst="roundRect">
            <a:avLst>
              <a:gd name="adj" fmla="val 2081"/>
            </a:avLst>
          </a:prstGeom>
          <a:solidFill>
            <a:srgbClr val="FFFFFF"/>
          </a:solidFill>
          <a:ln/>
        </p:spPr>
      </p:sp>
      <p:sp>
        <p:nvSpPr>
          <p:cNvPr id="17" name="Shape 12"/>
          <p:cNvSpPr/>
          <p:nvPr/>
        </p:nvSpPr>
        <p:spPr>
          <a:xfrm>
            <a:off x="8402117" y="173736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3"/>
          <a:stretch>
            <a:fillRect/>
          </a:stretch>
        </p:blipFill>
        <p:spPr>
          <a:xfrm>
            <a:off x="8542934" y="1878178"/>
            <a:ext cx="358445" cy="358445"/>
          </a:xfrm>
          <a:prstGeom prst="rect">
            <a:avLst/>
          </a:prstGeom>
        </p:spPr>
      </p:pic>
      <p:sp>
        <p:nvSpPr>
          <p:cNvPr id="19" name="Text 13"/>
          <p:cNvSpPr/>
          <p:nvPr/>
        </p:nvSpPr>
        <p:spPr>
          <a:xfrm>
            <a:off x="9225077"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Outcome</a:t>
            </a:r>
            <a:endParaRPr lang="en-US" sz="2200" dirty="0"/>
          </a:p>
        </p:txBody>
      </p:sp>
      <p:sp>
        <p:nvSpPr>
          <p:cNvPr id="20" name="Text 14"/>
          <p:cNvSpPr/>
          <p:nvPr/>
        </p:nvSpPr>
        <p:spPr>
          <a:xfrm>
            <a:off x="8402117" y="2651760"/>
            <a:ext cx="2966618" cy="82296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 of 278</a:t>
            </a:r>
            <a:endParaRPr lang="en-US" sz="5400" dirty="0"/>
          </a:p>
        </p:txBody>
      </p:sp>
      <p:sp>
        <p:nvSpPr>
          <p:cNvPr id="21" name="Text 15"/>
          <p:cNvSpPr/>
          <p:nvPr/>
        </p:nvSpPr>
        <p:spPr>
          <a:xfrm>
            <a:off x="8402117"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wrong first-call action labels end in a wrong outcome.</a:t>
            </a:r>
            <a:endParaRPr lang="en-US" sz="1800" dirty="0"/>
          </a:p>
        </p:txBody>
      </p:sp>
      <p:sp>
        <p:nvSpPr>
          <p:cNvPr id="22" name="Shape 16"/>
          <p:cNvSpPr/>
          <p:nvPr/>
        </p:nvSpPr>
        <p:spPr>
          <a:xfrm>
            <a:off x="548640" y="5349240"/>
            <a:ext cx="11094415" cy="868680"/>
          </a:xfrm>
          <a:prstGeom prst="roundRect">
            <a:avLst>
              <a:gd name="adj" fmla="val 8421"/>
            </a:avLst>
          </a:prstGeom>
          <a:solidFill>
            <a:srgbClr val="1F7A7A"/>
          </a:solidFill>
          <a:ln/>
        </p:spPr>
      </p:sp>
      <p:pic>
        <p:nvPicPr>
          <p:cNvPr id="23"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4"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result: </a:t>
            </a:r>
            <a:pPr algn="l" indent="0" marL="0">
              <a:buNone/>
            </a:pPr>
            <a:r>
              <a:rPr lang="en-US" sz="1800" dirty="0">
                <a:solidFill>
                  <a:srgbClr val="FFFFFF"/>
                </a:solidFill>
                <a:latin typeface="Calibri" pitchFamily="34" charset="0"/>
                <a:ea typeface="Calibri" pitchFamily="34" charset="-122"/>
                <a:cs typeface="Calibri" pitchFamily="34" charset="-120"/>
              </a:rPr>
              <a:t>Hybrid pipeline: 0 errors and 0 harmful runs on this synthetic set. Not a safety guarantee.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Our idea: limit what each model can trigger</a:t>
            </a:r>
            <a:endParaRPr lang="en-US" sz="36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822960" cy="82296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1004011" y="1918411"/>
            <a:ext cx="460858" cy="460858"/>
          </a:xfrm>
          <a:prstGeom prst="rect">
            <a:avLst/>
          </a:prstGeom>
        </p:spPr>
      </p:pic>
      <p:sp>
        <p:nvSpPr>
          <p:cNvPr id="7" name="Text 3"/>
          <p:cNvSpPr/>
          <p:nvPr/>
        </p:nvSpPr>
        <p:spPr>
          <a:xfrm>
            <a:off x="1874520" y="1737360"/>
            <a:ext cx="2006498" cy="82296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Jev</a:t>
            </a:r>
            <a:endParaRPr lang="en-US" sz="3000" dirty="0"/>
          </a:p>
        </p:txBody>
      </p:sp>
      <p:sp>
        <p:nvSpPr>
          <p:cNvPr id="8" name="Text 4"/>
          <p:cNvSpPr/>
          <p:nvPr/>
        </p:nvSpPr>
        <p:spPr>
          <a:xfrm>
            <a:off x="822960"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Answers typed questions about the chat and each rule. It has no action tool, but its answers control which code branch runs.</a:t>
            </a:r>
            <a:endParaRPr lang="en-US" sz="2200" dirty="0"/>
          </a:p>
        </p:txBody>
      </p:sp>
      <p:sp>
        <p:nvSpPr>
          <p:cNvPr id="9" name="Shape 5"/>
          <p:cNvSpPr/>
          <p:nvPr/>
        </p:nvSpPr>
        <p:spPr>
          <a:xfrm>
            <a:off x="4338218" y="1463040"/>
            <a:ext cx="3515258" cy="3611880"/>
          </a:xfrm>
          <a:prstGeom prst="roundRect">
            <a:avLst>
              <a:gd name="adj" fmla="val 2081"/>
            </a:avLst>
          </a:prstGeom>
          <a:solidFill>
            <a:srgbClr val="FFFFFF"/>
          </a:solidFill>
          <a:ln/>
        </p:spPr>
      </p:sp>
      <p:sp>
        <p:nvSpPr>
          <p:cNvPr id="10" name="Shape 6"/>
          <p:cNvSpPr/>
          <p:nvPr/>
        </p:nvSpPr>
        <p:spPr>
          <a:xfrm>
            <a:off x="4612538" y="1737360"/>
            <a:ext cx="822960" cy="82296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93590" y="1918411"/>
            <a:ext cx="460858" cy="460858"/>
          </a:xfrm>
          <a:prstGeom prst="rect">
            <a:avLst/>
          </a:prstGeom>
        </p:spPr>
      </p:pic>
      <p:sp>
        <p:nvSpPr>
          <p:cNvPr id="12" name="Text 7"/>
          <p:cNvSpPr/>
          <p:nvPr/>
        </p:nvSpPr>
        <p:spPr>
          <a:xfrm>
            <a:off x="5664098" y="1737360"/>
            <a:ext cx="2006498" cy="822960"/>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Process</a:t>
            </a:r>
            <a:endParaRPr lang="en-US" sz="3000" dirty="0"/>
          </a:p>
        </p:txBody>
      </p:sp>
      <p:sp>
        <p:nvSpPr>
          <p:cNvPr id="13" name="Text 8"/>
          <p:cNvSpPr/>
          <p:nvPr/>
        </p:nvSpPr>
        <p:spPr>
          <a:xfrm>
            <a:off x="4612538"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Runs an action only when Jev reports that no rule blocks it. It does not independently verify policy facts against the account.</a:t>
            </a:r>
            <a:endParaRPr lang="en-US" sz="2200" dirty="0"/>
          </a:p>
        </p:txBody>
      </p:sp>
      <p:sp>
        <p:nvSpPr>
          <p:cNvPr id="14" name="Shape 9"/>
          <p:cNvSpPr/>
          <p:nvPr/>
        </p:nvSpPr>
        <p:spPr>
          <a:xfrm>
            <a:off x="8127797" y="1463040"/>
            <a:ext cx="3515258" cy="3611880"/>
          </a:xfrm>
          <a:prstGeom prst="roundRect">
            <a:avLst>
              <a:gd name="adj" fmla="val 2081"/>
            </a:avLst>
          </a:prstGeom>
          <a:solidFill>
            <a:srgbClr val="FFFFFF"/>
          </a:solidFill>
          <a:ln/>
        </p:spPr>
      </p:sp>
      <p:sp>
        <p:nvSpPr>
          <p:cNvPr id="15" name="Shape 10"/>
          <p:cNvSpPr/>
          <p:nvPr/>
        </p:nvSpPr>
        <p:spPr>
          <a:xfrm>
            <a:off x="8402117" y="1737360"/>
            <a:ext cx="822960" cy="82296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8583168" y="1918411"/>
            <a:ext cx="460858" cy="460858"/>
          </a:xfrm>
          <a:prstGeom prst="rect">
            <a:avLst/>
          </a:prstGeom>
        </p:spPr>
      </p:pic>
      <p:sp>
        <p:nvSpPr>
          <p:cNvPr id="17" name="Text 11"/>
          <p:cNvSpPr/>
          <p:nvPr/>
        </p:nvSpPr>
        <p:spPr>
          <a:xfrm>
            <a:off x="9453677" y="1737360"/>
            <a:ext cx="2006498" cy="82296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LLM</a:t>
            </a:r>
            <a:endParaRPr lang="en-US" sz="3000" dirty="0"/>
          </a:p>
        </p:txBody>
      </p:sp>
      <p:sp>
        <p:nvSpPr>
          <p:cNvPr id="18" name="Text 12"/>
          <p:cNvSpPr/>
          <p:nvPr/>
        </p:nvSpPr>
        <p:spPr>
          <a:xfrm>
            <a:off x="8402117"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Writes the final message after the action or refusal. It does not change the action decision. Its reply is not a policy check.</a:t>
            </a:r>
            <a:endParaRPr lang="en-US" sz="2200" dirty="0"/>
          </a:p>
        </p:txBody>
      </p:sp>
      <p:sp>
        <p:nvSpPr>
          <p:cNvPr id="19" name="Shape 13"/>
          <p:cNvSpPr/>
          <p:nvPr/>
        </p:nvSpPr>
        <p:spPr>
          <a:xfrm>
            <a:off x="548640" y="534924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1" name="Text 14"/>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Fixed execution is not fixed policy verification: </a:t>
            </a:r>
            <a:pPr algn="l" indent="0" marL="0">
              <a:buNone/>
            </a:pPr>
            <a:r>
              <a:rPr lang="en-US" sz="1800" dirty="0">
                <a:solidFill>
                  <a:srgbClr val="FFFFFF"/>
                </a:solidFill>
                <a:latin typeface="Calibri" pitchFamily="34" charset="0"/>
                <a:ea typeface="Calibri" pitchFamily="34" charset="-122"/>
                <a:cs typeface="Calibri" pitchFamily="34" charset="-120"/>
              </a:rPr>
              <a:t>a wrong Jev rule answer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7033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1,024 requests in both independent runs. Autonomous agent: 795 served, 198 stopped, 31 errors. Hybrid pipeline: 825 served, 199 stopped, 0 errors.</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Hybrid pipeline has 2.1x lower mean machine time and 3.8x lower API cost, with zero errors on this request set.</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Each rule needs a written question. Two refund inputs were changed after earlier failures; this rule evaluation was not blind.</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Not tested: trained classifiers, other decision models, or a held-out request set.</a:t>
            </a:r>
            <a:endParaRPr lang="en-US" sz="1800" dirty="0"/>
          </a:p>
        </p:txBody>
      </p:sp>
      <p:sp>
        <p:nvSpPr>
          <p:cNvPr id="5" name="Text 3"/>
          <p:cNvSpPr/>
          <p:nvPr/>
        </p:nvSpPr>
        <p:spPr>
          <a:xfrm>
            <a:off x="640080" y="5349240"/>
            <a:ext cx="5394960" cy="731520"/>
          </a:xfrm>
          <a:prstGeom prst="rect">
            <a:avLst/>
          </a:prstGeom>
          <a:noFill/>
          <a:ln/>
        </p:spPr>
        <p:txBody>
          <a:bodyPr wrap="square" lIns="0" tIns="0" rIns="0" bIns="0" rtlCol="0" anchor="b"/>
          <a:lstStyle/>
          <a:p>
            <a:pPr indent="0" marL="0">
              <a:buNone/>
            </a:pPr>
            <a:r>
              <a:rPr lang="en-US" sz="2200" b="1" dirty="0">
                <a:solidFill>
                  <a:srgbClr val="FFFFFF"/>
                </a:solidFill>
                <a:latin typeface="Calibri" pitchFamily="34" charset="0"/>
                <a:ea typeface="Calibri" pitchFamily="34" charset="-122"/>
                <a:cs typeface="Calibri" pitchFamily="34" charset="-120"/>
              </a:rPr>
              <a:t>Next: real tickets, a held-out set, and stronger baselines.</a:t>
            </a:r>
            <a:endParaRPr lang="en-US" sz="2200" dirty="0"/>
          </a:p>
        </p:txBody>
      </p:sp>
      <p:sp>
        <p:nvSpPr>
          <p:cNvPr id="6" name="Text 4">
            <a:hlinkClick r:id="rId1" tooltip=""/>
          </p:cNvPr>
          <p:cNvSpPr/>
          <p:nvPr/>
        </p:nvSpPr>
        <p:spPr>
          <a:xfrm>
            <a:off x="640080" y="6199632"/>
            <a:ext cx="5394960" cy="201168"/>
          </a:xfrm>
          <a:prstGeom prst="rect">
            <a:avLst/>
          </a:prstGeom>
          <a:noFill/>
          <a:ln/>
        </p:spPr>
        <p:txBody>
          <a:bodyPr wrap="square" lIns="0" tIns="0" rIns="0" bIns="0" rtlCol="0" anchor="ctr"/>
          <a:lstStyle/>
          <a:p>
            <a:pPr indent="0" marL="0">
              <a:buNone/>
            </a:pPr>
            <a:r>
              <a:rPr lang="en-US" sz="1100" u="sng" dirty="0">
                <a:solidFill>
                  <a:srgbClr val="FFFFF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External context: Red Hat Developer, 2 Oct 2026</a:t>
            </a:r>
            <a:endParaRPr lang="en-US" sz="1100" dirty="0"/>
          </a:p>
        </p:txBody>
      </p:sp>
      <p:sp>
        <p:nvSpPr>
          <p:cNvPr id="7" name="Shape 5"/>
          <p:cNvSpPr/>
          <p:nvPr/>
        </p:nvSpPr>
        <p:spPr>
          <a:xfrm>
            <a:off x="6949440" y="640080"/>
            <a:ext cx="4602175" cy="1737360"/>
          </a:xfrm>
          <a:prstGeom prst="roundRect">
            <a:avLst>
              <a:gd name="adj" fmla="val 4211"/>
            </a:avLst>
          </a:prstGeom>
          <a:solidFill>
            <a:srgbClr val="FFFFFF"/>
          </a:solidFill>
          <a:ln/>
        </p:spPr>
      </p:sp>
      <p:sp>
        <p:nvSpPr>
          <p:cNvPr id="8" name="Shape 6"/>
          <p:cNvSpPr/>
          <p:nvPr/>
        </p:nvSpPr>
        <p:spPr>
          <a:xfrm>
            <a:off x="7178040" y="868680"/>
            <a:ext cx="640080" cy="640080"/>
          </a:xfrm>
          <a:prstGeom prst="ellipse">
            <a:avLst/>
          </a:prstGeom>
          <a:solidFill>
            <a:srgbClr val="1F7A7A"/>
          </a:solidFill>
          <a:ln w="12700">
            <a:solidFill>
              <a:srgbClr val="1F7A7A"/>
            </a:solidFill>
            <a:prstDash val="solid"/>
          </a:ln>
        </p:spPr>
      </p:sp>
      <p:pic>
        <p:nvPicPr>
          <p:cNvPr id="9" name="Image 0" descr="preencoded.png">    </p:cNvPr>
          <p:cNvPicPr>
            <a:picLocks noChangeAspect="1"/>
          </p:cNvPicPr>
          <p:nvPr/>
        </p:nvPicPr>
        <p:blipFill>
          <a:blip r:embed="rId2"/>
          <a:stretch>
            <a:fillRect/>
          </a:stretch>
        </p:blipFill>
        <p:spPr>
          <a:xfrm>
            <a:off x="7318858" y="1009498"/>
            <a:ext cx="358445" cy="358445"/>
          </a:xfrm>
          <a:prstGeom prst="rect">
            <a:avLst/>
          </a:prstGeom>
        </p:spPr>
      </p:pic>
      <p:sp>
        <p:nvSpPr>
          <p:cNvPr id="10" name="Text 7"/>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31 vs 0</a:t>
            </a:r>
            <a:endParaRPr lang="en-US" sz="3800" dirty="0"/>
          </a:p>
        </p:txBody>
      </p:sp>
      <p:sp>
        <p:nvSpPr>
          <p:cNvPr id="11" name="Text 8"/>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errors: autonomous agent vs hybrid pipeline</a:t>
            </a:r>
            <a:endParaRPr lang="en-US" sz="1500" dirty="0"/>
          </a:p>
        </p:txBody>
      </p:sp>
      <p:sp>
        <p:nvSpPr>
          <p:cNvPr id="12" name="Shape 9"/>
          <p:cNvSpPr/>
          <p:nvPr/>
        </p:nvSpPr>
        <p:spPr>
          <a:xfrm>
            <a:off x="6949440" y="2560320"/>
            <a:ext cx="4602175" cy="1737360"/>
          </a:xfrm>
          <a:prstGeom prst="roundRect">
            <a:avLst>
              <a:gd name="adj" fmla="val 4211"/>
            </a:avLst>
          </a:prstGeom>
          <a:solidFill>
            <a:srgbClr val="FFFFFF"/>
          </a:solidFill>
          <a:ln/>
        </p:spPr>
      </p:sp>
      <p:sp>
        <p:nvSpPr>
          <p:cNvPr id="13" name="Shape 10"/>
          <p:cNvSpPr/>
          <p:nvPr/>
        </p:nvSpPr>
        <p:spPr>
          <a:xfrm>
            <a:off x="7178040" y="278892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7318858" y="2929738"/>
            <a:ext cx="358445" cy="358445"/>
          </a:xfrm>
          <a:prstGeom prst="rect">
            <a:avLst/>
          </a:prstGeom>
        </p:spPr>
      </p:pic>
      <p:sp>
        <p:nvSpPr>
          <p:cNvPr id="15" name="Text 11"/>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2.1x</a:t>
            </a:r>
            <a:endParaRPr lang="en-US" sz="3800" dirty="0"/>
          </a:p>
        </p:txBody>
      </p:sp>
      <p:sp>
        <p:nvSpPr>
          <p:cNvPr id="16" name="Text 12"/>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mean machine time: 5.89 s vs 12.45 s</a:t>
            </a:r>
            <a:endParaRPr lang="en-US" sz="1500" dirty="0"/>
          </a:p>
        </p:txBody>
      </p:sp>
      <p:sp>
        <p:nvSpPr>
          <p:cNvPr id="17" name="Shape 13"/>
          <p:cNvSpPr/>
          <p:nvPr/>
        </p:nvSpPr>
        <p:spPr>
          <a:xfrm>
            <a:off x="6949440" y="4480560"/>
            <a:ext cx="4602175" cy="1737360"/>
          </a:xfrm>
          <a:prstGeom prst="roundRect">
            <a:avLst>
              <a:gd name="adj" fmla="val 4211"/>
            </a:avLst>
          </a:prstGeom>
          <a:solidFill>
            <a:srgbClr val="FFFFFF"/>
          </a:solidFill>
          <a:ln/>
        </p:spPr>
      </p:sp>
      <p:sp>
        <p:nvSpPr>
          <p:cNvPr id="18" name="Shape 14"/>
          <p:cNvSpPr/>
          <p:nvPr/>
        </p:nvSpPr>
        <p:spPr>
          <a:xfrm>
            <a:off x="7178040" y="4709160"/>
            <a:ext cx="640080" cy="640080"/>
          </a:xfrm>
          <a:prstGeom prst="ellipse">
            <a:avLst/>
          </a:prstGeom>
          <a:solidFill>
            <a:srgbClr val="234B84"/>
          </a:solidFill>
          <a:ln w="12700">
            <a:solidFill>
              <a:srgbClr val="234B84"/>
            </a:solidFill>
            <a:prstDash val="solid"/>
          </a:ln>
        </p:spPr>
      </p:sp>
      <p:pic>
        <p:nvPicPr>
          <p:cNvPr id="19" name="Image 2" descr="preencoded.png">    </p:cNvPr>
          <p:cNvPicPr>
            <a:picLocks noChangeAspect="1"/>
          </p:cNvPicPr>
          <p:nvPr/>
        </p:nvPicPr>
        <p:blipFill>
          <a:blip r:embed="rId4"/>
          <a:stretch>
            <a:fillRect/>
          </a:stretch>
        </p:blipFill>
        <p:spPr>
          <a:xfrm>
            <a:off x="7318858" y="4849978"/>
            <a:ext cx="358445" cy="358445"/>
          </a:xfrm>
          <a:prstGeom prst="rect">
            <a:avLst/>
          </a:prstGeom>
        </p:spPr>
      </p:pic>
      <p:sp>
        <p:nvSpPr>
          <p:cNvPr id="20" name="Text 15"/>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3.8x</a:t>
            </a:r>
            <a:endParaRPr lang="en-US" sz="3800" dirty="0"/>
          </a:p>
        </p:txBody>
      </p:sp>
      <p:sp>
        <p:nvSpPr>
          <p:cNvPr id="21" name="Text 16"/>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API cost: $0.30 vs $1.12 per 1,000 requests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Questions?</a:t>
            </a:r>
            <a:endParaRPr lang="en-US" sz="6000" dirty="0"/>
          </a:p>
        </p:txBody>
      </p:sp>
      <p:sp>
        <p:nvSpPr>
          <p:cNvPr id="4" name="Text 2"/>
          <p:cNvSpPr/>
          <p:nvPr/>
        </p:nvSpPr>
        <p:spPr>
          <a:xfrm>
            <a:off x="640080" y="1828800"/>
            <a:ext cx="5394960" cy="548640"/>
          </a:xfrm>
          <a:prstGeom prst="rect">
            <a:avLst/>
          </a:prstGeom>
          <a:noFill/>
          <a:ln/>
        </p:spPr>
        <p:txBody>
          <a:bodyPr wrap="square" lIns="0" tIns="0" rIns="0" bIns="0" rtlCol="0" anchor="t"/>
          <a:lstStyle/>
          <a:p>
            <a:pPr indent="0" marL="0">
              <a:buNone/>
            </a:pPr>
            <a:r>
              <a:rPr lang="en-US" sz="2400" dirty="0">
                <a:solidFill>
                  <a:srgbClr val="E3ECF6"/>
                </a:solidFill>
                <a:latin typeface="Calibri" pitchFamily="34" charset="0"/>
                <a:ea typeface="Calibri" pitchFamily="34" charset="-122"/>
                <a:cs typeface="Calibri" pitchFamily="34" charset="-120"/>
              </a:rPr>
              <a:t>Thank you for listening.</a:t>
            </a:r>
            <a:endParaRPr lang="en-US" sz="2400" dirty="0"/>
          </a:p>
        </p:txBody>
      </p:sp>
      <p:sp>
        <p:nvSpPr>
          <p:cNvPr id="5" name="Text 3"/>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6" name="Text 4"/>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7" name="Shape 5"/>
          <p:cNvSpPr/>
          <p:nvPr/>
        </p:nvSpPr>
        <p:spPr>
          <a:xfrm>
            <a:off x="6949440" y="640080"/>
            <a:ext cx="4602175" cy="1234440"/>
          </a:xfrm>
          <a:prstGeom prst="roundRect">
            <a:avLst>
              <a:gd name="adj" fmla="val 5926"/>
            </a:avLst>
          </a:prstGeom>
          <a:solidFill>
            <a:srgbClr val="FFFFFF"/>
          </a:solidFill>
          <a:ln/>
        </p:spPr>
      </p:sp>
      <p:sp>
        <p:nvSpPr>
          <p:cNvPr id="8" name="Shape 6"/>
          <p:cNvSpPr/>
          <p:nvPr/>
        </p:nvSpPr>
        <p:spPr>
          <a:xfrm>
            <a:off x="7178040" y="86868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10" name="Text 7"/>
          <p:cNvSpPr/>
          <p:nvPr/>
        </p:nvSpPr>
        <p:spPr>
          <a:xfrm>
            <a:off x="8001000" y="74980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11 to 20</a:t>
            </a:r>
            <a:endParaRPr lang="en-US" sz="2800" dirty="0"/>
          </a:p>
        </p:txBody>
      </p:sp>
      <p:sp>
        <p:nvSpPr>
          <p:cNvPr id="11" name="Text 8"/>
          <p:cNvSpPr/>
          <p:nvPr/>
        </p:nvSpPr>
        <p:spPr>
          <a:xfrm>
            <a:off x="8001000" y="127101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Walk-throughs: one request through the flow</a:t>
            </a:r>
            <a:endParaRPr lang="en-US" sz="1500" dirty="0"/>
          </a:p>
        </p:txBody>
      </p:sp>
      <p:sp>
        <p:nvSpPr>
          <p:cNvPr id="12" name="Shape 9"/>
          <p:cNvSpPr/>
          <p:nvPr/>
        </p:nvSpPr>
        <p:spPr>
          <a:xfrm>
            <a:off x="6949440" y="2057400"/>
            <a:ext cx="4602175" cy="1234440"/>
          </a:xfrm>
          <a:prstGeom prst="roundRect">
            <a:avLst>
              <a:gd name="adj" fmla="val 5926"/>
            </a:avLst>
          </a:prstGeom>
          <a:solidFill>
            <a:srgbClr val="FFFFFF"/>
          </a:solidFill>
          <a:ln/>
        </p:spPr>
      </p:sp>
      <p:sp>
        <p:nvSpPr>
          <p:cNvPr id="13" name="Shape 10"/>
          <p:cNvSpPr/>
          <p:nvPr/>
        </p:nvSpPr>
        <p:spPr>
          <a:xfrm>
            <a:off x="7178040" y="22860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2"/>
          <a:stretch>
            <a:fillRect/>
          </a:stretch>
        </p:blipFill>
        <p:spPr>
          <a:xfrm>
            <a:off x="7318858" y="2426818"/>
            <a:ext cx="358445" cy="358445"/>
          </a:xfrm>
          <a:prstGeom prst="rect">
            <a:avLst/>
          </a:prstGeom>
        </p:spPr>
      </p:pic>
      <p:sp>
        <p:nvSpPr>
          <p:cNvPr id="15" name="Text 11"/>
          <p:cNvSpPr/>
          <p:nvPr/>
        </p:nvSpPr>
        <p:spPr>
          <a:xfrm>
            <a:off x="8001000" y="216712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21 and 22</a:t>
            </a:r>
            <a:endParaRPr lang="en-US" sz="2800" dirty="0"/>
          </a:p>
        </p:txBody>
      </p:sp>
      <p:sp>
        <p:nvSpPr>
          <p:cNvPr id="16" name="Text 12"/>
          <p:cNvSpPr/>
          <p:nvPr/>
        </p:nvSpPr>
        <p:spPr>
          <a:xfrm>
            <a:off x="8001000" y="268833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Test data and how we score</a:t>
            </a:r>
            <a:endParaRPr lang="en-US" sz="1500" dirty="0"/>
          </a:p>
        </p:txBody>
      </p:sp>
      <p:sp>
        <p:nvSpPr>
          <p:cNvPr id="17" name="Shape 13"/>
          <p:cNvSpPr/>
          <p:nvPr/>
        </p:nvSpPr>
        <p:spPr>
          <a:xfrm>
            <a:off x="6949440" y="3474720"/>
            <a:ext cx="4602175" cy="1234440"/>
          </a:xfrm>
          <a:prstGeom prst="roundRect">
            <a:avLst>
              <a:gd name="adj" fmla="val 5926"/>
            </a:avLst>
          </a:prstGeom>
          <a:solidFill>
            <a:srgbClr val="FFFFFF"/>
          </a:solidFill>
          <a:ln/>
        </p:spPr>
      </p:sp>
      <p:sp>
        <p:nvSpPr>
          <p:cNvPr id="18" name="Shape 14"/>
          <p:cNvSpPr/>
          <p:nvPr/>
        </p:nvSpPr>
        <p:spPr>
          <a:xfrm>
            <a:off x="7178040" y="3703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3"/>
          <a:stretch>
            <a:fillRect/>
          </a:stretch>
        </p:blipFill>
        <p:spPr>
          <a:xfrm>
            <a:off x="7318858" y="3844138"/>
            <a:ext cx="358445" cy="358445"/>
          </a:xfrm>
          <a:prstGeom prst="rect">
            <a:avLst/>
          </a:prstGeom>
        </p:spPr>
      </p:pic>
      <p:sp>
        <p:nvSpPr>
          <p:cNvPr id="20" name="Text 15"/>
          <p:cNvSpPr/>
          <p:nvPr/>
        </p:nvSpPr>
        <p:spPr>
          <a:xfrm>
            <a:off x="8001000" y="3584448"/>
            <a:ext cx="341345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Slides 24 and 25</a:t>
            </a:r>
            <a:endParaRPr lang="en-US" sz="2800" dirty="0"/>
          </a:p>
        </p:txBody>
      </p:sp>
      <p:sp>
        <p:nvSpPr>
          <p:cNvPr id="21" name="Text 16"/>
          <p:cNvSpPr/>
          <p:nvPr/>
        </p:nvSpPr>
        <p:spPr>
          <a:xfrm>
            <a:off x="8001000" y="410565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Results: speed, cost, and accuracy</a:t>
            </a:r>
            <a:endParaRPr lang="en-US" sz="1500" dirty="0"/>
          </a:p>
        </p:txBody>
      </p:sp>
      <p:sp>
        <p:nvSpPr>
          <p:cNvPr id="22" name="Shape 17"/>
          <p:cNvSpPr/>
          <p:nvPr/>
        </p:nvSpPr>
        <p:spPr>
          <a:xfrm>
            <a:off x="6949440" y="4892040"/>
            <a:ext cx="4602175" cy="1234440"/>
          </a:xfrm>
          <a:prstGeom prst="roundRect">
            <a:avLst>
              <a:gd name="adj" fmla="val 5926"/>
            </a:avLst>
          </a:prstGeom>
          <a:solidFill>
            <a:srgbClr val="FFFFFF"/>
          </a:solidFill>
          <a:ln/>
        </p:spPr>
      </p:sp>
      <p:sp>
        <p:nvSpPr>
          <p:cNvPr id="23" name="Shape 18"/>
          <p:cNvSpPr/>
          <p:nvPr/>
        </p:nvSpPr>
        <p:spPr>
          <a:xfrm>
            <a:off x="7178040" y="5120640"/>
            <a:ext cx="640080" cy="640080"/>
          </a:xfrm>
          <a:prstGeom prst="ellipse">
            <a:avLst/>
          </a:prstGeom>
          <a:solidFill>
            <a:srgbClr val="2F5F98"/>
          </a:solidFill>
          <a:ln w="12700">
            <a:solidFill>
              <a:srgbClr val="2F5F98"/>
            </a:solidFill>
            <a:prstDash val="solid"/>
          </a:ln>
        </p:spPr>
      </p:sp>
      <p:pic>
        <p:nvPicPr>
          <p:cNvPr id="24" name="Image 3" descr="preencoded.png">    </p:cNvPr>
          <p:cNvPicPr>
            <a:picLocks noChangeAspect="1"/>
          </p:cNvPicPr>
          <p:nvPr/>
        </p:nvPicPr>
        <p:blipFill>
          <a:blip r:embed="rId4"/>
          <a:stretch>
            <a:fillRect/>
          </a:stretch>
        </p:blipFill>
        <p:spPr>
          <a:xfrm>
            <a:off x="7318858" y="5261458"/>
            <a:ext cx="358445" cy="358445"/>
          </a:xfrm>
          <a:prstGeom prst="rect">
            <a:avLst/>
          </a:prstGeom>
        </p:spPr>
      </p:pic>
      <p:sp>
        <p:nvSpPr>
          <p:cNvPr id="25" name="Text 19"/>
          <p:cNvSpPr/>
          <p:nvPr/>
        </p:nvSpPr>
        <p:spPr>
          <a:xfrm>
            <a:off x="8001000" y="5001768"/>
            <a:ext cx="3413455" cy="502920"/>
          </a:xfrm>
          <a:prstGeom prst="rect">
            <a:avLst/>
          </a:prstGeom>
          <a:noFill/>
          <a:ln/>
        </p:spPr>
        <p:txBody>
          <a:bodyPr wrap="square" lIns="0" tIns="0" rIns="0" bIns="0" rtlCol="0" anchor="ctr"/>
          <a:lstStyle/>
          <a:p>
            <a:pPr algn="l" indent="0" marL="0">
              <a:buNone/>
            </a:pPr>
            <a:r>
              <a:rPr lang="en-US" sz="2800" b="1" dirty="0">
                <a:solidFill>
                  <a:srgbClr val="2F5F98"/>
                </a:solidFill>
                <a:latin typeface="Calibri" pitchFamily="34" charset="0"/>
                <a:ea typeface="Calibri" pitchFamily="34" charset="-122"/>
                <a:cs typeface="Calibri" pitchFamily="34" charset="-120"/>
              </a:rPr>
              <a:t>Slide 26</a:t>
            </a:r>
            <a:endParaRPr lang="en-US" sz="2800" dirty="0"/>
          </a:p>
        </p:txBody>
      </p:sp>
      <p:sp>
        <p:nvSpPr>
          <p:cNvPr id="26" name="Text 20"/>
          <p:cNvSpPr/>
          <p:nvPr/>
        </p:nvSpPr>
        <p:spPr>
          <a:xfrm>
            <a:off x="8001000" y="552297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action labels and observed outcomes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 Support Automation: Intent Classification and Deterministic Rules versus Autonomous LLM Agents</dc:title>
  <dc:subject>PptxGenJS Presentation</dc:subject>
  <dc:creator>Phenikaa School of Computing</dc:creator>
  <cp:lastModifiedBy>Phenikaa School of Computing</cp:lastModifiedBy>
  <cp:revision>1</cp:revision>
  <dcterms:created xsi:type="dcterms:W3CDTF">2026-10-13T13:16:42Z</dcterms:created>
  <dcterms:modified xsi:type="dcterms:W3CDTF">2026-10-13T13:16:42Z</dcterms:modified>
</cp:coreProperties>
</file>