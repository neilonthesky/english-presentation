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246</c:v>
                </c:pt>
                <c:pt idx="1">
                  <c:v>164</c:v>
                </c:pt>
                <c:pt idx="2">
                  <c:v>143</c:v>
                </c:pt>
                <c:pt idx="3">
                  <c:v>123</c:v>
                </c:pt>
                <c:pt idx="4">
                  <c:v>82</c:v>
                </c:pt>
                <c:pt idx="5">
                  <c:v>82</c:v>
                </c:pt>
                <c:pt idx="6">
                  <c:v>61</c:v>
                </c:pt>
                <c:pt idx="7">
                  <c:v>41</c:v>
                </c:pt>
                <c:pt idx="8">
                  <c:v>41</c:v>
                </c:pt>
                <c:pt idx="9">
                  <c:v>41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28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over the 1,024 requests (topic: 983 scored; rule answers: 1,700)</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87.5</c:v>
                </c:pt>
                <c:pt idx="1">
                  <c:v>83</c:v>
                </c:pt>
                <c:pt idx="2">
                  <c:v>83</c:v>
                </c:pt>
                <c:pt idx="3">
                  <c:v>96</c:v>
                </c:pt>
                <c:pt idx="4">
                  <c:v>99.4</c:v>
                </c:pt>
              </c:numCache>
            </c:numRef>
          </c:val>
        </c:ser>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wrong by confidence of Jev (1,024 requests, n in brackets)</a:t>
            </a:r>
          </a:p>
        </c:rich>
      </c:tx>
      <c:layout/>
      <c:overlay val="0"/>
    </c:title>
    <c:autoTitleDeleted val="0"/>
    <c:plotArea>
      <c:layout/>
      <c:barChart>
        <c:barDir val="col"/>
        <c:grouping val="clustered"/>
        <c:varyColors val="0"/>
        <c:ser>
          <c:idx val="0"/>
          <c:order val="0"/>
          <c:tx>
            <c:strRef>
              <c:f>Sheet1!$B$1</c:f>
              <c:strCache>
                <c:ptCount val="1"/>
                <c:pt idx="0">
                  <c:v>Wrong answers</c:v>
                </c:pt>
              </c:strCache>
            </c:strRef>
          </c:tx>
          <c:spPr>
            <a:solidFill>
              <a:srgbClr val="A94A4A"/>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A94A4A"/>
              </a:solidFill>
              <a:effectLst/>
            </c:spPr>
          </c:dPt>
          <c:dPt>
            <c:idx val="1"/>
            <c:invertIfNegative val="0"/>
            <c:bubble3D val="0"/>
            <c:spPr>
              <a:solidFill>
                <a:srgbClr val="A94A4A"/>
              </a:solidFill>
              <a:effectLst/>
            </c:spPr>
          </c:dPt>
          <c:dPt>
            <c:idx val="2"/>
            <c:invertIfNegative val="0"/>
            <c:bubble3D val="0"/>
            <c:spPr>
              <a:solidFill>
                <a:srgbClr val="A6BCD6"/>
              </a:solidFill>
              <a:effectLst/>
            </c:spPr>
          </c:dPt>
          <c:dPt>
            <c:idx val="3"/>
            <c:invertIfNegative val="0"/>
            <c:bubble3D val="0"/>
            <c:spPr>
              <a:solidFill>
                <a:srgbClr val="1F7A7A"/>
              </a:solidFill>
              <a:effectLst/>
            </c:spPr>
          </c:dPt>
          <c:dPt>
            <c:idx val="4"/>
            <c:invertIfNegative val="0"/>
            <c:bubble3D val="0"/>
            <c:spPr>
              <a:solidFill>
                <a:srgbClr val="1F7A7A"/>
              </a:solidFill>
              <a:effectLst/>
            </c:spPr>
          </c:dPt>
          <c:cat>
            <c:multiLvlStrRef>
              <c:f>Sheet1!$A$2:$A$6</c:f>
              <c:multiLvlStrCache>
                <c:ptCount val="5"/>
                <c:lvl>
                  <c:pt idx="0">
                    <c:v>&lt;0.6 (n = 205)</c:v>
                  </c:pt>
                  <c:pt idx="1">
                    <c:v>0.6-0.8 (n = 532)</c:v>
                  </c:pt>
                  <c:pt idx="2">
                    <c:v>0.8-0.9 (n = 563)</c:v>
                  </c:pt>
                  <c:pt idx="3">
                    <c:v>0.9-0.99 (n = 2796)</c:v>
                  </c:pt>
                  <c:pt idx="4">
                    <c:v>0.99+ (n = 1659)</c:v>
                  </c:pt>
                </c:lvl>
              </c:multiLvlStrCache>
            </c:multiLvlStrRef>
          </c:cat>
          <c:val>
            <c:numRef>
              <c:f>Sheet1!$B$2:$B$6</c:f>
              <c:numCache>
                <c:formatCode>General</c:formatCode>
                <c:ptCount val="5"/>
                <c:pt idx="0">
                  <c:v>55</c:v>
                </c:pt>
                <c:pt idx="1">
                  <c:v>42.3</c:v>
                </c:pt>
                <c:pt idx="2">
                  <c:v>16.4</c:v>
                </c:pt>
                <c:pt idx="3">
                  <c:v>2.9</c:v>
                </c:pt>
                <c:pt idx="4">
                  <c:v>0.6</c:v>
                </c:pt>
              </c:numCache>
            </c:numRef>
          </c:val>
        </c:ser>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6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676</c:v>
                </c:pt>
                <c:pt idx="1">
                  <c:v>717</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287</c:v>
                </c:pt>
                <c:pt idx="1">
                  <c:v>307</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61</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Every level runs on the same 1,024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gives four answers: the topic, the priority, the action, and an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role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answers four fixed questions: the topic, the priority, the action, and an injection flag.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The amount limit is broken: 300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a plan and its state, a render-credit balance, a log of password reset links, and a teammate without billing rights. So the written rules can use real account fields, and the customers cover every branch of the rules. They send 1,024 requests of 24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24 types form ten families. Questions and answers is the largest, with 246 requests, then refunds with 164, plan cancellations with 143, and password resets with 123. Every request has its own words. 901 of the 1,024 senders are the account owner, and 123 are a teammate of the account without billing rights. The correct answers come from the written rules, because the generator runs the real code. A rule denies the action on 307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time and cost per 1,000 requests.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levels run on the same 1,024 requests. At Level 3, Jev answers the chat of every request once, and answers the rule questions on the 410 requests whose action changes the state: 1,434 Jev calls. Every count gets a 95% interval. We ask two questions: what does each level buy and cost, and when is Jev wrong, and does its confidence warn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role,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1,233 tokens and writes 196. The second call, on 410 of the 1,024 requests, reads 743 tokens and writes 105. One LLM agent call reads 1,229 tokens and writes 268, because reasoning counts. At list price, for 1,000 requests, Level 2 costs $0.61, and Level 3 costs $0.29: for each request, 1.4 calls to Jev and 1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the 1,024 requests. One Jev call takes 0.31 seconds at the median, and the Jev calls cost 6 cents per 1,000 requests. Jev gives the right topic on 88% of the requests, the priority on 83%, the action on 83%, and the injection flag on 96%. The rule questions are almost always right: 1,690 of 1,700 answers match the written rules. The action label is wrong on 174 requests, but none of them ends in a wrong outcome: when a rule would deny a request, Jev often picks Send reply, and the result is still a stop. The intervals are wide. Now my teammate Vuong Quang Quy will show what the confidence of Jev tells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40 s. Thank you, Son. My name is Vuong Quang Quy. I will show what the confidence of Jev means. Jev reports a confidence with every answer. We count the 5,755 answers that the process uses: 4,055 labels and 1,700 rule answers. 522 of them are wrong. 338 of the 737 answers below 0.8 are wrong. At 0.9 or more, only 92 of 4,455 are wrong, which is 2.1%. So the confidence works as a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38 s. Now the two levels on the same 1,024 requests. Level 2 serves 676, stops 287, and makes 61 errors, about 20 of them harmful. Level 3 serves 717, stops 307, and makes no error, and none is harmful. The 95% interval of the Level 3 errors is 0 to 38 of 1,024, and that of Level 2 is 28 to 128. Level 3 is 1.8 times faster, 4.28 seconds against 7.85, and 2.1 times cheaper, 29 cents against 61 cents per 1,000 requests. The two levels fail on different requests: Level 2 fails on 41 injection requests and on 20 refund requests, where it cancelled the plan. Level 2 was wrong and Level 3 right on 61 of the 1,024 requests, and the reverse on none. The sign test gives p = 0.031, so Level 3 makes significantly fewer errors on these requests. Level 3 uses two Jev calls on 4 requests in 10, and that adds little time and cost. Now Nguyen Phuong Nam will explain how our work fits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30 s. Thank you, Quy. My name is Nguyen Phuong Nam. I will explain how our work fits the field, and its limits. Text in data can carry orders for a model. CaMeL and other design patterns defend by limiting what the model can trigger. Support platforms route tickets by rules, and the Fin agent runs refunds and cancellations. Level 3 follows the same idea: Jev only answers typed questions, and the process, not Jev, decides if the action runs. Result 2 shows what that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Our evidence is small: two hosted models, one synthetic SaaS product, and our own labels, which the same code that applies the rules produced. Both levels run on the same 1,024 requests, and the intervals are wide: for example, the Level 3 errors are 0, with a 95% interval from 0 to 38, and the sign test is p = 0.031. Jev needs a question that we write for each rule. We tried questions made from the text of the rule alone, and they made about 61 to 123 errors of 1,024, against none for ours. We wrote our questions knowing the 24 request types; a second set of requests did not change the result. Real users write slang and make spelling mistakes. Our test data does not. The 90 seconds at Level 1 is assumed. We did not simulate the popup or the silence timer. We found the Security rule and the account fields on an earlier 512-request set of these same 24 types, so the main numbers are not a blind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1,024 requests. Level 2 serves 676, stops 287, and makes 61 errors. Level 3 serves 717, stops 307, and makes no error. Level 3 is 1.8 times faster and 2.1 times cheaper, and it makes fewer errors: it was never wrong where Level 2 was right, and Level 2 was wrong on 61 requests where it was right. Jev needs a question that we write for each rule. The confidence of Jev is a warning: 338 of the 737 answers below 0.8 are wrong, against 92 of 4,455 at 0.9 or more. The next step is real tickets and a larger set of requests.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spoken. These are the sources cited on the related-work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5-1.png"/><Relationship Id="rId3" Type="http://schemas.openxmlformats.org/officeDocument/2006/relationships/image" Target="../media/image-10-5.png"/><Relationship Id="rId4" Type="http://schemas.openxmlformats.org/officeDocument/2006/relationships/image" Target="../media/image-23-4.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1-1.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3.png"/><Relationship Id="rId3" Type="http://schemas.openxmlformats.org/officeDocument/2006/relationships/image" Target="../media/image-23-1.png"/><Relationship Id="rId4"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3-4.png"/><Relationship Id="rId2" Type="http://schemas.openxmlformats.org/officeDocument/2006/relationships/image" Target="../media/image-21-4.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3.png"/><Relationship Id="rId2" Type="http://schemas.openxmlformats.org/officeDocument/2006/relationships/image" Target="../media/image-25-1.png"/><Relationship Id="rId3" Type="http://schemas.openxmlformats.org/officeDocument/2006/relationships/image" Target="../media/image-10-6.png"/><Relationship Id="rId4" Type="http://schemas.openxmlformats.org/officeDocument/2006/relationships/image" Target="../media/image-24-3.png"/><Relationship Id="rId5" Type="http://schemas.openxmlformats.org/officeDocument/2006/relationships/image" Target="../media/image-14-9.png"/><Relationship Id="rId6" Type="http://schemas.openxmlformats.org/officeDocument/2006/relationships/image" Target="../media/image-23-1.png"/><Relationship Id="rId7" Type="http://schemas.openxmlformats.org/officeDocument/2006/relationships/image" Target="../media/image-30-7.png"/><Relationship Id="rId8" Type="http://schemas.openxmlformats.org/officeDocument/2006/relationships/image" Target="../media/image-10-2.png"/><Relationship Id="rId9" Type="http://schemas.openxmlformats.org/officeDocument/2006/relationships/image" Target="../media/image-21-2.png"/><Relationship Id="rId10" Type="http://schemas.openxmlformats.org/officeDocument/2006/relationships/image" Target="../media/image-1-1.png"/><Relationship Id="rId11" Type="http://schemas.openxmlformats.org/officeDocument/2006/relationships/slideLayout" Target="../slideLayouts/slideLayout1.xml"/><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Owner must approve the refund</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 packs expire in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four answers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role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sender a teammate, not the owner?</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four questions, then one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Jev answers four questions</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0.94</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0.83</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with the account lines of a refund. Code runs the action when no answer says broken.</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$21 started for Pro plan, monthly (FF-10016).</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monthly (purchase FF-10016) was approved and a refund of $21 has started.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$300 and the limit is $100. Nothing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One answer says broken, so code runs nothing. Next: Final message.</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so the $300 charge for credit pack FF-10048 stays as paid. This chat cannot start a refund above $100, and that is why no refund was started even though the pack's credits are unused. The help articles give no step you can take on your own for this refund.”</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0.82</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0.60</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0.49</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start a refund above $100 in this chat, and your only charge is FF-10070, the annual Pro plan at $191 (charged 2026-09-21). Refunds must be requested by the account owner, which you are, but this limit means you'd need to take that request elsewhere. I don't know what other route is available for it.”</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plan, an annual plan, or a credit pack</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24</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teammate per account: without billing rights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307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901 owners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the 1,024 senders; 123 are a teammate without billing rights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errors of the two levels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at every level: staff, the LLM agent, and Jev</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1,434</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410</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2,458</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1,434 to Jev and 1,024 to the LLM</a:t>
            </a:r>
            <a:endParaRPr lang="en-US" sz="1500" dirty="0"/>
          </a:p>
        </p:txBody>
      </p:sp>
      <p:sp>
        <p:nvSpPr>
          <p:cNvPr id="19" name="Shape 13"/>
          <p:cNvSpPr/>
          <p:nvPr/>
        </p:nvSpPr>
        <p:spPr>
          <a:xfrm>
            <a:off x="548640" y="3520440"/>
            <a:ext cx="11094415" cy="822960"/>
          </a:xfrm>
          <a:prstGeom prst="roundRect">
            <a:avLst>
              <a:gd name="adj" fmla="val 8889"/>
            </a:avLst>
          </a:prstGeom>
          <a:solidFill>
            <a:srgbClr val="FFFFFF"/>
          </a:solidFill>
          <a:ln/>
        </p:spPr>
      </p:sp>
      <p:sp>
        <p:nvSpPr>
          <p:cNvPr id="20" name="Text 14"/>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1" name="Text 15"/>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2" name="Shape 16"/>
          <p:cNvSpPr/>
          <p:nvPr/>
        </p:nvSpPr>
        <p:spPr>
          <a:xfrm>
            <a:off x="548640" y="4526280"/>
            <a:ext cx="11094415" cy="822960"/>
          </a:xfrm>
          <a:prstGeom prst="roundRect">
            <a:avLst>
              <a:gd name="adj" fmla="val 8889"/>
            </a:avLst>
          </a:prstGeom>
          <a:solidFill>
            <a:srgbClr val="FFFFFF"/>
          </a:solidFill>
          <a:ln/>
        </p:spPr>
      </p:sp>
      <p:sp>
        <p:nvSpPr>
          <p:cNvPr id="23" name="Text 17"/>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24" name="Text 18"/>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When is Jev wrong, and does its confidence warn us? Accuracy and confidence.</a:t>
            </a:r>
            <a:endParaRPr lang="en-US" sz="1800" dirty="0"/>
          </a:p>
        </p:txBody>
      </p:sp>
      <p:sp>
        <p:nvSpPr>
          <p:cNvPr id="25" name="Text 19"/>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Every interval is a 95% interval.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reads less, so it costs about half</a:t>
            </a:r>
            <a:endParaRPr lang="en-US" sz="3400" dirty="0"/>
          </a:p>
        </p:txBody>
      </p:sp>
      <p:sp>
        <p:nvSpPr>
          <p:cNvPr id="4" name="Shape 1"/>
          <p:cNvSpPr/>
          <p:nvPr/>
        </p:nvSpPr>
        <p:spPr>
          <a:xfrm>
            <a:off x="548640" y="1417320"/>
            <a:ext cx="5410048" cy="3200400"/>
          </a:xfrm>
          <a:prstGeom prst="roundRect">
            <a:avLst>
              <a:gd name="adj" fmla="val 2286"/>
            </a:avLst>
          </a:prstGeom>
          <a:solidFill>
            <a:srgbClr val="FFFFFF"/>
          </a:solidFill>
          <a:ln/>
        </p:spPr>
      </p:sp>
      <p:sp>
        <p:nvSpPr>
          <p:cNvPr id="5" name="Shape 2"/>
          <p:cNvSpPr/>
          <p:nvPr/>
        </p:nvSpPr>
        <p:spPr>
          <a:xfrm>
            <a:off x="822960" y="1645920"/>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796796"/>
            <a:ext cx="384048" cy="384048"/>
          </a:xfrm>
          <a:prstGeom prst="rect">
            <a:avLst/>
          </a:prstGeom>
        </p:spPr>
      </p:pic>
      <p:sp>
        <p:nvSpPr>
          <p:cNvPr id="7" name="Text 3"/>
          <p:cNvSpPr/>
          <p:nvPr/>
        </p:nvSpPr>
        <p:spPr>
          <a:xfrm>
            <a:off x="1737360" y="1645920"/>
            <a:ext cx="4038448" cy="68580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(jev-1.13.0)</a:t>
            </a:r>
            <a:endParaRPr lang="en-US" sz="2200" dirty="0"/>
          </a:p>
        </p:txBody>
      </p:sp>
      <p:sp>
        <p:nvSpPr>
          <p:cNvPr id="8" name="Text 4"/>
          <p:cNvSpPr/>
          <p:nvPr/>
        </p:nvSpPr>
        <p:spPr>
          <a:xfrm>
            <a:off x="868680" y="2606040"/>
            <a:ext cx="4769968"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$0.042 per million input tokens</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Output tokens are free</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Call 1: 1,233 tokens in, 196 out. Call 2: 743 in, 105 out</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Gives a confidence with each answer</a:t>
            </a:r>
            <a:endParaRPr lang="en-US" sz="1800" dirty="0"/>
          </a:p>
        </p:txBody>
      </p:sp>
      <p:sp>
        <p:nvSpPr>
          <p:cNvPr id="9" name="Shape 5"/>
          <p:cNvSpPr/>
          <p:nvPr/>
        </p:nvSpPr>
        <p:spPr>
          <a:xfrm>
            <a:off x="6233008" y="1417320"/>
            <a:ext cx="5410048" cy="3200400"/>
          </a:xfrm>
          <a:prstGeom prst="roundRect">
            <a:avLst>
              <a:gd name="adj" fmla="val 2286"/>
            </a:avLst>
          </a:prstGeom>
          <a:solidFill>
            <a:srgbClr val="FFFFFF"/>
          </a:solidFill>
          <a:ln/>
        </p:spPr>
      </p:sp>
      <p:sp>
        <p:nvSpPr>
          <p:cNvPr id="10" name="Shape 6"/>
          <p:cNvSpPr/>
          <p:nvPr/>
        </p:nvSpPr>
        <p:spPr>
          <a:xfrm>
            <a:off x="6507328" y="1645920"/>
            <a:ext cx="685800" cy="685800"/>
          </a:xfrm>
          <a:prstGeom prst="ellipse">
            <a:avLst/>
          </a:prstGeom>
          <a:solidFill>
            <a:srgbClr val="5F6B7A"/>
          </a:solidFill>
          <a:ln w="12700">
            <a:solidFill>
              <a:srgbClr val="5F6B7A"/>
            </a:solidFill>
            <a:prstDash val="solid"/>
          </a:ln>
        </p:spPr>
      </p:sp>
      <p:pic>
        <p:nvPicPr>
          <p:cNvPr id="11" name="Image 1" descr="preencoded.png">    </p:cNvPr>
          <p:cNvPicPr>
            <a:picLocks noChangeAspect="1"/>
          </p:cNvPicPr>
          <p:nvPr/>
        </p:nvPicPr>
        <p:blipFill>
          <a:blip r:embed="rId2"/>
          <a:stretch>
            <a:fillRect/>
          </a:stretch>
        </p:blipFill>
        <p:spPr>
          <a:xfrm>
            <a:off x="6658204" y="1796796"/>
            <a:ext cx="384048" cy="384048"/>
          </a:xfrm>
          <a:prstGeom prst="rect">
            <a:avLst/>
          </a:prstGeom>
        </p:spPr>
      </p:pic>
      <p:sp>
        <p:nvSpPr>
          <p:cNvPr id="12" name="Text 7"/>
          <p:cNvSpPr/>
          <p:nvPr/>
        </p:nvSpPr>
        <p:spPr>
          <a:xfrm>
            <a:off x="7421728" y="1645920"/>
            <a:ext cx="4038448" cy="68580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 (deepseek-v4.1-flash)</a:t>
            </a:r>
            <a:endParaRPr lang="en-US" sz="2200" dirty="0"/>
          </a:p>
        </p:txBody>
      </p:sp>
      <p:sp>
        <p:nvSpPr>
          <p:cNvPr id="13" name="Text 8"/>
          <p:cNvSpPr/>
          <p:nvPr/>
        </p:nvSpPr>
        <p:spPr>
          <a:xfrm>
            <a:off x="6553048" y="2606040"/>
            <a:ext cx="4769968"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$0.15 in and $0.60 out per million tokens</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High reasoning effort, temperature 0.3</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1,229 tokens in and 268 out per decision call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output includes the reasoning tokens</a:t>
            </a:r>
            <a:endParaRPr lang="en-US" sz="1800" dirty="0"/>
          </a:p>
        </p:txBody>
      </p:sp>
      <p:sp>
        <p:nvSpPr>
          <p:cNvPr id="14" name="Text 9"/>
          <p:cNvSpPr/>
          <p:nvPr/>
        </p:nvSpPr>
        <p:spPr>
          <a:xfrm>
            <a:off x="548640" y="4892040"/>
            <a:ext cx="5410048" cy="1188720"/>
          </a:xfrm>
          <a:prstGeom prst="roundRect">
            <a:avLst>
              <a:gd name="adj" fmla="val 6154"/>
            </a:avLst>
          </a:prstGeom>
          <a:solidFill>
            <a:srgbClr val="4A82B8"/>
          </a:solidFill>
          <a:ln w="12700">
            <a:solidFill>
              <a:srgbClr val="4A82B8"/>
            </a:solidFill>
          </a:ln>
        </p:spPr>
        <p:txBody>
          <a:bodyPr wrap="square" lIns="91440" tIns="45720" rIns="91440" bIns="4572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Level 2: $0.61 per 1,000 requests</a:t>
            </a:r>
            <a:endParaRPr lang="en-US" sz="1600" dirty="0"/>
          </a:p>
          <a:p>
            <a:pPr algn="ctr" indent="0" marL="0">
              <a:buNone/>
            </a:pPr>
            <a:r>
              <a:rPr lang="en-US" sz="1600" dirty="0">
                <a:solidFill>
                  <a:srgbClr val="FFFFFF"/>
                </a:solidFill>
                <a:latin typeface="Calibri" pitchFamily="34" charset="0"/>
                <a:ea typeface="Calibri" pitchFamily="34" charset="-122"/>
                <a:cs typeface="Calibri" pitchFamily="34" charset="-120"/>
              </a:rPr>
              <a:t>2 LLM calls for each request</a:t>
            </a:r>
            <a:endParaRPr lang="en-US" sz="1600" dirty="0"/>
          </a:p>
        </p:txBody>
      </p:sp>
      <p:sp>
        <p:nvSpPr>
          <p:cNvPr id="15" name="Text 10"/>
          <p:cNvSpPr/>
          <p:nvPr/>
        </p:nvSpPr>
        <p:spPr>
          <a:xfrm>
            <a:off x="6233008" y="4892040"/>
            <a:ext cx="5410048" cy="1188720"/>
          </a:xfrm>
          <a:prstGeom prst="roundRect">
            <a:avLst>
              <a:gd name="adj" fmla="val 6154"/>
            </a:avLst>
          </a:prstGeom>
          <a:solidFill>
            <a:srgbClr val="234B84"/>
          </a:solidFill>
          <a:ln w="12700">
            <a:solidFill>
              <a:srgbClr val="234B84"/>
            </a:solidFill>
          </a:ln>
        </p:spPr>
        <p:txBody>
          <a:bodyPr wrap="square" lIns="91440" tIns="45720" rIns="91440" bIns="4572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Level 3: $0.29 per 1,000 requests</a:t>
            </a:r>
            <a:endParaRPr lang="en-US" sz="1600" dirty="0"/>
          </a:p>
          <a:p>
            <a:pPr algn="ctr" indent="0" marL="0">
              <a:buNone/>
            </a:pPr>
            <a:r>
              <a:rPr lang="en-US" sz="1600" dirty="0">
                <a:solidFill>
                  <a:srgbClr val="FFFFFF"/>
                </a:solidFill>
                <a:latin typeface="Calibri" pitchFamily="34" charset="0"/>
                <a:ea typeface="Calibri" pitchFamily="34" charset="-122"/>
                <a:cs typeface="Calibri" pitchFamily="34" charset="-120"/>
              </a:rPr>
              <a:t>1.4 Jev calls and 1 LLM call for each request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time for one Jev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$0.064</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the Jev calls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1,690 of 1,700</a:t>
            </a:r>
            <a:endParaRPr lang="en-US" sz="28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rule answers match the written rules</a:t>
            </a:r>
            <a:endParaRPr lang="en-US" sz="1400" dirty="0"/>
          </a:p>
        </p:txBody>
      </p:sp>
      <p:sp>
        <p:nvSpPr>
          <p:cNvPr id="21" name="Text 14"/>
          <p:cNvSpPr/>
          <p:nvPr/>
        </p:nvSpPr>
        <p:spPr>
          <a:xfrm>
            <a:off x="548640" y="6080760"/>
            <a:ext cx="10180015"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95% intervals: topic 79 to 93%, priority 75 to 89%, action 75 to 89%, injection 90 to 98%, rule answers 97 to 100%. 174 action labels are wrong, and none ends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reports a confidence, and it is a warning</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A94A4A"/>
          </a:solidFill>
          <a:ln w="12700">
            <a:solidFill>
              <a:srgbClr val="A94A4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3000" b="1" dirty="0">
                <a:solidFill>
                  <a:srgbClr val="A94A4A"/>
                </a:solidFill>
                <a:latin typeface="Calibri" pitchFamily="34" charset="0"/>
                <a:ea typeface="Calibri" pitchFamily="34" charset="-122"/>
                <a:cs typeface="Calibri" pitchFamily="34" charset="-120"/>
              </a:rPr>
              <a:t>338 of 737</a:t>
            </a:r>
            <a:endParaRPr lang="en-US" sz="30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below 0.8 are wrong</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92 of 4,455</a:t>
            </a:r>
            <a:endParaRPr lang="en-US" sz="30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at 0.9 or more are wrong: 2.1%</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522 of 5,755</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wrong over the 1,024 requests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1.8x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61</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3 and Level 2. Sign test: p = 0.031</a:t>
            </a:r>
            <a:endParaRPr lang="en-US" sz="1400" dirty="0"/>
          </a:p>
        </p:txBody>
      </p:sp>
      <p:sp>
        <p:nvSpPr>
          <p:cNvPr id="21" name="Shape 14"/>
          <p:cNvSpPr/>
          <p:nvPr/>
        </p:nvSpPr>
        <p:spPr>
          <a:xfrm>
            <a:off x="548640" y="5349240"/>
            <a:ext cx="11094415" cy="868680"/>
          </a:xfrm>
          <a:prstGeom prst="roundRect">
            <a:avLst>
              <a:gd name="adj" fmla="val 8421"/>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3" name="Text 15"/>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faster and cheaper, with fewer errors. </a:t>
            </a:r>
            <a:pPr algn="l" indent="0" marL="0">
              <a:buNone/>
            </a:pPr>
            <a:r>
              <a:rPr lang="en-US" sz="1800" dirty="0">
                <a:solidFill>
                  <a:srgbClr val="FFFFFF"/>
                </a:solidFill>
                <a:latin typeface="Calibri" pitchFamily="34" charset="0"/>
                <a:ea typeface="Calibri" pitchFamily="34" charset="-122"/>
                <a:cs typeface="Calibri" pitchFamily="34" charset="-120"/>
              </a:rPr>
              <a:t>Harmful runs: 0 at Level 3, about 20 at Level 2. Level 1 baseline: 90 s per request (assumed).</a:t>
            </a:r>
            <a:endParaRPr lang="en-US" sz="1800" dirty="0"/>
          </a:p>
        </p:txBody>
      </p:sp>
      <p:sp>
        <p:nvSpPr>
          <p:cNvPr id="24" name="Text 16"/>
          <p:cNvSpPr/>
          <p:nvPr/>
        </p:nvSpPr>
        <p:spPr>
          <a:xfrm>
            <a:off x="548640" y="6309360"/>
            <a:ext cx="10180015" cy="36576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Level 3: the time and cost of the final message come from the recorded run of the same requests.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Related work: limit what the model can trigger</a:t>
            </a:r>
            <a:endParaRPr lang="en-US" sz="3400" dirty="0"/>
          </a:p>
        </p:txBody>
      </p:sp>
      <p:sp>
        <p:nvSpPr>
          <p:cNvPr id="4" name="Shape 1"/>
          <p:cNvSpPr/>
          <p:nvPr/>
        </p:nvSpPr>
        <p:spPr>
          <a:xfrm>
            <a:off x="548640" y="1463040"/>
            <a:ext cx="3515258" cy="3291840"/>
          </a:xfrm>
          <a:prstGeom prst="roundRect">
            <a:avLst>
              <a:gd name="adj" fmla="val 2222"/>
            </a:avLst>
          </a:prstGeom>
          <a:solidFill>
            <a:srgbClr val="FFFFFF"/>
          </a:solidFill>
          <a:ln/>
        </p:spPr>
      </p:sp>
      <p:sp>
        <p:nvSpPr>
          <p:cNvPr id="5" name="Shape 2"/>
          <p:cNvSpPr/>
          <p:nvPr/>
        </p:nvSpPr>
        <p:spPr>
          <a:xfrm>
            <a:off x="822960" y="1691640"/>
            <a:ext cx="640080" cy="64008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63778" y="1832458"/>
            <a:ext cx="358445" cy="358445"/>
          </a:xfrm>
          <a:prstGeom prst="rect">
            <a:avLst/>
          </a:prstGeom>
        </p:spPr>
      </p:pic>
      <p:sp>
        <p:nvSpPr>
          <p:cNvPr id="7" name="Text 3"/>
          <p:cNvSpPr/>
          <p:nvPr/>
        </p:nvSpPr>
        <p:spPr>
          <a:xfrm>
            <a:off x="822960"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Prompt injection</a:t>
            </a:r>
            <a:endParaRPr lang="en-US" sz="2100" dirty="0"/>
          </a:p>
        </p:txBody>
      </p:sp>
      <p:sp>
        <p:nvSpPr>
          <p:cNvPr id="8" name="Text 4"/>
          <p:cNvSpPr/>
          <p:nvPr/>
        </p:nvSpPr>
        <p:spPr>
          <a:xfrm>
            <a:off x="822960"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Text in data can carry orders for a model.</a:t>
            </a:r>
            <a:endParaRPr lang="en-US" sz="1600" dirty="0"/>
          </a:p>
        </p:txBody>
      </p:sp>
      <p:sp>
        <p:nvSpPr>
          <p:cNvPr id="9" name="Text 5"/>
          <p:cNvSpPr/>
          <p:nvPr/>
        </p:nvSpPr>
        <p:spPr>
          <a:xfrm>
            <a:off x="822960"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Greshake et al., 2023</a:t>
            </a:r>
            <a:endParaRPr lang="en-US" sz="1400" dirty="0"/>
          </a:p>
        </p:txBody>
      </p:sp>
      <p:sp>
        <p:nvSpPr>
          <p:cNvPr id="10" name="Shape 6"/>
          <p:cNvSpPr/>
          <p:nvPr/>
        </p:nvSpPr>
        <p:spPr>
          <a:xfrm>
            <a:off x="4338218" y="1463040"/>
            <a:ext cx="3515258" cy="3291840"/>
          </a:xfrm>
          <a:prstGeom prst="roundRect">
            <a:avLst>
              <a:gd name="adj" fmla="val 2222"/>
            </a:avLst>
          </a:prstGeom>
          <a:solidFill>
            <a:srgbClr val="FFFFFF"/>
          </a:solidFill>
          <a:ln/>
        </p:spPr>
      </p:sp>
      <p:sp>
        <p:nvSpPr>
          <p:cNvPr id="11" name="Shape 7"/>
          <p:cNvSpPr/>
          <p:nvPr/>
        </p:nvSpPr>
        <p:spPr>
          <a:xfrm>
            <a:off x="4612538" y="1691640"/>
            <a:ext cx="640080" cy="64008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753356" y="1832458"/>
            <a:ext cx="358445" cy="358445"/>
          </a:xfrm>
          <a:prstGeom prst="rect">
            <a:avLst/>
          </a:prstGeom>
        </p:spPr>
      </p:pic>
      <p:sp>
        <p:nvSpPr>
          <p:cNvPr id="13" name="Text 8"/>
          <p:cNvSpPr/>
          <p:nvPr/>
        </p:nvSpPr>
        <p:spPr>
          <a:xfrm>
            <a:off x="4612538"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Defenses by design</a:t>
            </a:r>
            <a:endParaRPr lang="en-US" sz="2100" dirty="0"/>
          </a:p>
        </p:txBody>
      </p:sp>
      <p:sp>
        <p:nvSpPr>
          <p:cNvPr id="14" name="Text 9"/>
          <p:cNvSpPr/>
          <p:nvPr/>
        </p:nvSpPr>
        <p:spPr>
          <a:xfrm>
            <a:off x="4612538"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CaMeL and design patterns for LLM agents defend by limiting what the model can trigger.</a:t>
            </a:r>
            <a:endParaRPr lang="en-US" sz="1600" dirty="0"/>
          </a:p>
        </p:txBody>
      </p:sp>
      <p:sp>
        <p:nvSpPr>
          <p:cNvPr id="15" name="Text 10"/>
          <p:cNvSpPr/>
          <p:nvPr/>
        </p:nvSpPr>
        <p:spPr>
          <a:xfrm>
            <a:off x="4612538"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Debenedetti et al., 2025; Beurer-Kellner et al., 2025</a:t>
            </a:r>
            <a:endParaRPr lang="en-US" sz="1400" dirty="0"/>
          </a:p>
        </p:txBody>
      </p:sp>
      <p:sp>
        <p:nvSpPr>
          <p:cNvPr id="16" name="Shape 11"/>
          <p:cNvSpPr/>
          <p:nvPr/>
        </p:nvSpPr>
        <p:spPr>
          <a:xfrm>
            <a:off x="8127797" y="1463040"/>
            <a:ext cx="3515258" cy="3291840"/>
          </a:xfrm>
          <a:prstGeom prst="roundRect">
            <a:avLst>
              <a:gd name="adj" fmla="val 2222"/>
            </a:avLst>
          </a:prstGeom>
          <a:solidFill>
            <a:srgbClr val="FFFFFF"/>
          </a:solidFill>
          <a:ln/>
        </p:spPr>
      </p:sp>
      <p:sp>
        <p:nvSpPr>
          <p:cNvPr id="17" name="Shape 12"/>
          <p:cNvSpPr/>
          <p:nvPr/>
        </p:nvSpPr>
        <p:spPr>
          <a:xfrm>
            <a:off x="8402117" y="1691640"/>
            <a:ext cx="640080" cy="64008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8542934" y="1832458"/>
            <a:ext cx="358445" cy="358445"/>
          </a:xfrm>
          <a:prstGeom prst="rect">
            <a:avLst/>
          </a:prstGeom>
        </p:spPr>
      </p:pic>
      <p:sp>
        <p:nvSpPr>
          <p:cNvPr id="19" name="Text 13"/>
          <p:cNvSpPr/>
          <p:nvPr/>
        </p:nvSpPr>
        <p:spPr>
          <a:xfrm>
            <a:off x="8402117"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Support platforms</a:t>
            </a:r>
            <a:endParaRPr lang="en-US" sz="2100" dirty="0"/>
          </a:p>
        </p:txBody>
      </p:sp>
      <p:sp>
        <p:nvSpPr>
          <p:cNvPr id="20" name="Text 14"/>
          <p:cNvSpPr/>
          <p:nvPr/>
        </p:nvSpPr>
        <p:spPr>
          <a:xfrm>
            <a:off x="8402117"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Platforms route tickets by rules. The Fin agent runs refunds, cancellations, and password resets, and reports 76 percent resolution without a human.</a:t>
            </a:r>
            <a:endParaRPr lang="en-US" sz="1600" dirty="0"/>
          </a:p>
        </p:txBody>
      </p:sp>
      <p:sp>
        <p:nvSpPr>
          <p:cNvPr id="21" name="Text 15"/>
          <p:cNvSpPr/>
          <p:nvPr/>
        </p:nvSpPr>
        <p:spPr>
          <a:xfrm>
            <a:off x="8402117"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Zendesk Help Center; Intercom Learning Center, 2026</a:t>
            </a:r>
            <a:endParaRPr lang="en-US" sz="1400" dirty="0"/>
          </a:p>
        </p:txBody>
      </p:sp>
      <p:sp>
        <p:nvSpPr>
          <p:cNvPr id="22" name="Shape 16"/>
          <p:cNvSpPr/>
          <p:nvPr/>
        </p:nvSpPr>
        <p:spPr>
          <a:xfrm>
            <a:off x="548640" y="5074920"/>
            <a:ext cx="11094415" cy="822960"/>
          </a:xfrm>
          <a:prstGeom prst="roundRect">
            <a:avLst>
              <a:gd name="adj" fmla="val 8889"/>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257800"/>
            <a:ext cx="457200" cy="457200"/>
          </a:xfrm>
          <a:prstGeom prst="rect">
            <a:avLst/>
          </a:prstGeom>
        </p:spPr>
      </p:pic>
      <p:sp>
        <p:nvSpPr>
          <p:cNvPr id="24" name="Text 17"/>
          <p:cNvSpPr/>
          <p:nvPr/>
        </p:nvSpPr>
        <p:spPr>
          <a:xfrm>
            <a:off x="1508760" y="507492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follows the same idea: </a:t>
            </a:r>
            <a:pPr algn="l" indent="0" marL="0">
              <a:buNone/>
            </a:pPr>
            <a:r>
              <a:rPr lang="en-US" sz="1800" dirty="0">
                <a:solidFill>
                  <a:srgbClr val="FFFFFF"/>
                </a:solidFill>
                <a:latin typeface="Calibri" pitchFamily="34" charset="0"/>
                <a:ea typeface="Calibri" pitchFamily="34" charset="-122"/>
                <a:cs typeface="Calibri" pitchFamily="34" charset="-120"/>
              </a:rPr>
              <a:t>Jev only answers typed questions, and the process decides if the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gain is clear, but our evidence is small</a:t>
            </a:r>
            <a:endParaRPr lang="en-US" sz="3400" dirty="0"/>
          </a:p>
        </p:txBody>
      </p:sp>
      <p:sp>
        <p:nvSpPr>
          <p:cNvPr id="4" name="Shape 1"/>
          <p:cNvSpPr/>
          <p:nvPr/>
        </p:nvSpPr>
        <p:spPr>
          <a:xfrm>
            <a:off x="548640" y="1463040"/>
            <a:ext cx="2011680" cy="2377440"/>
          </a:xfrm>
          <a:prstGeom prst="roundRect">
            <a:avLst>
              <a:gd name="adj" fmla="val 3636"/>
            </a:avLst>
          </a:prstGeom>
          <a:solidFill>
            <a:srgbClr val="FFFFFF"/>
          </a:solidFill>
          <a:ln/>
        </p:spPr>
      </p:sp>
      <p:sp>
        <p:nvSpPr>
          <p:cNvPr id="5" name="Shape 2"/>
          <p:cNvSpPr/>
          <p:nvPr/>
        </p:nvSpPr>
        <p:spPr>
          <a:xfrm>
            <a:off x="822960" y="2377440"/>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7" name="Text 3"/>
          <p:cNvSpPr/>
          <p:nvPr/>
        </p:nvSpPr>
        <p:spPr>
          <a:xfrm>
            <a:off x="1508760" y="1463040"/>
            <a:ext cx="960120" cy="23774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Limits</a:t>
            </a:r>
            <a:endParaRPr lang="en-US" sz="2000" dirty="0"/>
          </a:p>
        </p:txBody>
      </p:sp>
      <p:sp>
        <p:nvSpPr>
          <p:cNvPr id="8" name="Shape 4"/>
          <p:cNvSpPr/>
          <p:nvPr/>
        </p:nvSpPr>
        <p:spPr>
          <a:xfrm>
            <a:off x="2788920" y="1463040"/>
            <a:ext cx="2076374" cy="2377440"/>
          </a:xfrm>
          <a:prstGeom prst="roundRect">
            <a:avLst>
              <a:gd name="adj" fmla="val 3523"/>
            </a:avLst>
          </a:prstGeom>
          <a:solidFill>
            <a:srgbClr val="FFFFFF"/>
          </a:solidFill>
          <a:ln/>
        </p:spPr>
      </p:sp>
      <p:sp>
        <p:nvSpPr>
          <p:cNvPr id="9" name="Shape 5"/>
          <p:cNvSpPr/>
          <p:nvPr/>
        </p:nvSpPr>
        <p:spPr>
          <a:xfrm>
            <a:off x="2971800" y="1645920"/>
            <a:ext cx="502920" cy="502920"/>
          </a:xfrm>
          <a:prstGeom prst="ellipse">
            <a:avLst/>
          </a:prstGeom>
          <a:solidFill>
            <a:srgbClr val="5F6B7A"/>
          </a:solidFill>
          <a:ln w="12700">
            <a:solidFill>
              <a:srgbClr val="5F6B7A"/>
            </a:solidFill>
            <a:prstDash val="solid"/>
          </a:ln>
        </p:spPr>
      </p:sp>
      <p:pic>
        <p:nvPicPr>
          <p:cNvPr id="10" name="Image 1" descr="preencoded.png">    </p:cNvPr>
          <p:cNvPicPr>
            <a:picLocks noChangeAspect="1"/>
          </p:cNvPicPr>
          <p:nvPr/>
        </p:nvPicPr>
        <p:blipFill>
          <a:blip r:embed="rId2"/>
          <a:stretch>
            <a:fillRect/>
          </a:stretch>
        </p:blipFill>
        <p:spPr>
          <a:xfrm>
            <a:off x="3082442" y="1756562"/>
            <a:ext cx="281635" cy="281635"/>
          </a:xfrm>
          <a:prstGeom prst="rect">
            <a:avLst/>
          </a:prstGeom>
        </p:spPr>
      </p:pic>
      <p:sp>
        <p:nvSpPr>
          <p:cNvPr id="11" name="Text 6"/>
          <p:cNvSpPr/>
          <p:nvPr/>
        </p:nvSpPr>
        <p:spPr>
          <a:xfrm>
            <a:off x="2971800"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0 to 38</a:t>
            </a:r>
            <a:endParaRPr lang="en-US" sz="2600" dirty="0"/>
          </a:p>
        </p:txBody>
      </p:sp>
      <p:sp>
        <p:nvSpPr>
          <p:cNvPr id="12" name="Text 7"/>
          <p:cNvSpPr/>
          <p:nvPr/>
        </p:nvSpPr>
        <p:spPr>
          <a:xfrm>
            <a:off x="2971800"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95% interval of the Level 3 errors: wide</a:t>
            </a:r>
            <a:endParaRPr lang="en-US" sz="1400" dirty="0"/>
          </a:p>
        </p:txBody>
      </p:sp>
      <p:sp>
        <p:nvSpPr>
          <p:cNvPr id="13" name="Shape 8"/>
          <p:cNvSpPr/>
          <p:nvPr/>
        </p:nvSpPr>
        <p:spPr>
          <a:xfrm>
            <a:off x="5048174" y="1463040"/>
            <a:ext cx="2076374" cy="2377440"/>
          </a:xfrm>
          <a:prstGeom prst="roundRect">
            <a:avLst>
              <a:gd name="adj" fmla="val 3523"/>
            </a:avLst>
          </a:prstGeom>
          <a:solidFill>
            <a:srgbClr val="FFFFFF"/>
          </a:solidFill>
          <a:ln/>
        </p:spPr>
      </p:sp>
      <p:sp>
        <p:nvSpPr>
          <p:cNvPr id="14" name="Shape 9"/>
          <p:cNvSpPr/>
          <p:nvPr/>
        </p:nvSpPr>
        <p:spPr>
          <a:xfrm>
            <a:off x="5231054" y="1645920"/>
            <a:ext cx="502920" cy="502920"/>
          </a:xfrm>
          <a:prstGeom prst="ellipse">
            <a:avLst/>
          </a:prstGeom>
          <a:solidFill>
            <a:srgbClr val="5F6B7A"/>
          </a:solidFill>
          <a:ln w="12700">
            <a:solidFill>
              <a:srgbClr val="5F6B7A"/>
            </a:solidFill>
            <a:prstDash val="solid"/>
          </a:ln>
        </p:spPr>
      </p:sp>
      <p:pic>
        <p:nvPicPr>
          <p:cNvPr id="15" name="Image 2" descr="preencoded.png">    </p:cNvPr>
          <p:cNvPicPr>
            <a:picLocks noChangeAspect="1"/>
          </p:cNvPicPr>
          <p:nvPr/>
        </p:nvPicPr>
        <p:blipFill>
          <a:blip r:embed="rId3"/>
          <a:stretch>
            <a:fillRect/>
          </a:stretch>
        </p:blipFill>
        <p:spPr>
          <a:xfrm>
            <a:off x="5341696" y="1756562"/>
            <a:ext cx="281635" cy="281635"/>
          </a:xfrm>
          <a:prstGeom prst="rect">
            <a:avLst/>
          </a:prstGeom>
        </p:spPr>
      </p:pic>
      <p:sp>
        <p:nvSpPr>
          <p:cNvPr id="16" name="Text 10"/>
          <p:cNvSpPr/>
          <p:nvPr/>
        </p:nvSpPr>
        <p:spPr>
          <a:xfrm>
            <a:off x="5231054"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61 to 123</a:t>
            </a:r>
            <a:endParaRPr lang="en-US" sz="2600" dirty="0"/>
          </a:p>
        </p:txBody>
      </p:sp>
      <p:sp>
        <p:nvSpPr>
          <p:cNvPr id="17" name="Text 11"/>
          <p:cNvSpPr/>
          <p:nvPr/>
        </p:nvSpPr>
        <p:spPr>
          <a:xfrm>
            <a:off x="5231054"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of 1,024 with questions made from the rule text alone</a:t>
            </a:r>
            <a:endParaRPr lang="en-US" sz="1400" dirty="0"/>
          </a:p>
        </p:txBody>
      </p:sp>
      <p:sp>
        <p:nvSpPr>
          <p:cNvPr id="18" name="Shape 12"/>
          <p:cNvSpPr/>
          <p:nvPr/>
        </p:nvSpPr>
        <p:spPr>
          <a:xfrm>
            <a:off x="7307428" y="1463040"/>
            <a:ext cx="2076374" cy="2377440"/>
          </a:xfrm>
          <a:prstGeom prst="roundRect">
            <a:avLst>
              <a:gd name="adj" fmla="val 3523"/>
            </a:avLst>
          </a:prstGeom>
          <a:solidFill>
            <a:srgbClr val="FFFFFF"/>
          </a:solidFill>
          <a:ln/>
        </p:spPr>
      </p:sp>
      <p:sp>
        <p:nvSpPr>
          <p:cNvPr id="19" name="Shape 13"/>
          <p:cNvSpPr/>
          <p:nvPr/>
        </p:nvSpPr>
        <p:spPr>
          <a:xfrm>
            <a:off x="7490308" y="1645920"/>
            <a:ext cx="502920" cy="502920"/>
          </a:xfrm>
          <a:prstGeom prst="ellipse">
            <a:avLst/>
          </a:prstGeom>
          <a:solidFill>
            <a:srgbClr val="5F6B7A"/>
          </a:solidFill>
          <a:ln w="12700">
            <a:solidFill>
              <a:srgbClr val="5F6B7A"/>
            </a:solidFill>
            <a:prstDash val="solid"/>
          </a:ln>
        </p:spPr>
      </p:sp>
      <p:pic>
        <p:nvPicPr>
          <p:cNvPr id="20" name="Image 3" descr="preencoded.png">    </p:cNvPr>
          <p:cNvPicPr>
            <a:picLocks noChangeAspect="1"/>
          </p:cNvPicPr>
          <p:nvPr/>
        </p:nvPicPr>
        <p:blipFill>
          <a:blip r:embed="rId4"/>
          <a:stretch>
            <a:fillRect/>
          </a:stretch>
        </p:blipFill>
        <p:spPr>
          <a:xfrm>
            <a:off x="7600950" y="1756562"/>
            <a:ext cx="281635" cy="281635"/>
          </a:xfrm>
          <a:prstGeom prst="rect">
            <a:avLst/>
          </a:prstGeom>
        </p:spPr>
      </p:pic>
      <p:sp>
        <p:nvSpPr>
          <p:cNvPr id="21" name="Text 14"/>
          <p:cNvSpPr/>
          <p:nvPr/>
        </p:nvSpPr>
        <p:spPr>
          <a:xfrm>
            <a:off x="7490308"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Synthetic</a:t>
            </a:r>
            <a:endParaRPr lang="en-US" sz="2600" dirty="0"/>
          </a:p>
        </p:txBody>
      </p:sp>
      <p:sp>
        <p:nvSpPr>
          <p:cNvPr id="22" name="Text 15"/>
          <p:cNvSpPr/>
          <p:nvPr/>
        </p:nvSpPr>
        <p:spPr>
          <a:xfrm>
            <a:off x="7490308"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data and labels from code; the 90 s is assumed; no popup or timer</a:t>
            </a:r>
            <a:endParaRPr lang="en-US" sz="1400" dirty="0"/>
          </a:p>
        </p:txBody>
      </p:sp>
      <p:sp>
        <p:nvSpPr>
          <p:cNvPr id="23" name="Shape 16"/>
          <p:cNvSpPr/>
          <p:nvPr/>
        </p:nvSpPr>
        <p:spPr>
          <a:xfrm>
            <a:off x="9566681" y="1463040"/>
            <a:ext cx="2076374" cy="2377440"/>
          </a:xfrm>
          <a:prstGeom prst="roundRect">
            <a:avLst>
              <a:gd name="adj" fmla="val 3523"/>
            </a:avLst>
          </a:prstGeom>
          <a:solidFill>
            <a:srgbClr val="FFFFFF"/>
          </a:solidFill>
          <a:ln/>
        </p:spPr>
      </p:sp>
      <p:sp>
        <p:nvSpPr>
          <p:cNvPr id="24" name="Shape 17"/>
          <p:cNvSpPr/>
          <p:nvPr/>
        </p:nvSpPr>
        <p:spPr>
          <a:xfrm>
            <a:off x="9749561" y="1645920"/>
            <a:ext cx="502920" cy="502920"/>
          </a:xfrm>
          <a:prstGeom prst="ellipse">
            <a:avLst/>
          </a:prstGeom>
          <a:solidFill>
            <a:srgbClr val="5F6B7A"/>
          </a:solidFill>
          <a:ln w="12700">
            <a:solidFill>
              <a:srgbClr val="5F6B7A"/>
            </a:solidFill>
            <a:prstDash val="solid"/>
          </a:ln>
        </p:spPr>
      </p:sp>
      <p:pic>
        <p:nvPicPr>
          <p:cNvPr id="25" name="Image 4" descr="preencoded.png">    </p:cNvPr>
          <p:cNvPicPr>
            <a:picLocks noChangeAspect="1"/>
          </p:cNvPicPr>
          <p:nvPr/>
        </p:nvPicPr>
        <p:blipFill>
          <a:blip r:embed="rId5"/>
          <a:stretch>
            <a:fillRect/>
          </a:stretch>
        </p:blipFill>
        <p:spPr>
          <a:xfrm>
            <a:off x="9860204" y="1756562"/>
            <a:ext cx="281635" cy="281635"/>
          </a:xfrm>
          <a:prstGeom prst="rect">
            <a:avLst/>
          </a:prstGeom>
        </p:spPr>
      </p:pic>
      <p:sp>
        <p:nvSpPr>
          <p:cNvPr id="26" name="Text 18"/>
          <p:cNvSpPr/>
          <p:nvPr/>
        </p:nvSpPr>
        <p:spPr>
          <a:xfrm>
            <a:off x="9749561"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Not blind</a:t>
            </a:r>
            <a:endParaRPr lang="en-US" sz="2600" dirty="0"/>
          </a:p>
        </p:txBody>
      </p:sp>
      <p:sp>
        <p:nvSpPr>
          <p:cNvPr id="27" name="Text 19"/>
          <p:cNvSpPr/>
          <p:nvPr/>
        </p:nvSpPr>
        <p:spPr>
          <a:xfrm>
            <a:off x="9749561"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Security rule found on an earlier 512-request set of the same 24 types</a:t>
            </a:r>
            <a:endParaRPr lang="en-US" sz="1400" dirty="0"/>
          </a:p>
        </p:txBody>
      </p:sp>
      <p:sp>
        <p:nvSpPr>
          <p:cNvPr id="28" name="Shape 20"/>
          <p:cNvSpPr/>
          <p:nvPr/>
        </p:nvSpPr>
        <p:spPr>
          <a:xfrm>
            <a:off x="548640" y="4023360"/>
            <a:ext cx="2011680" cy="1005840"/>
          </a:xfrm>
          <a:prstGeom prst="roundRect">
            <a:avLst>
              <a:gd name="adj" fmla="val 7273"/>
            </a:avLst>
          </a:prstGeom>
          <a:solidFill>
            <a:srgbClr val="FFFFFF"/>
          </a:solidFill>
          <a:ln/>
        </p:spPr>
      </p:sp>
      <p:sp>
        <p:nvSpPr>
          <p:cNvPr id="29" name="Shape 21"/>
          <p:cNvSpPr/>
          <p:nvPr/>
        </p:nvSpPr>
        <p:spPr>
          <a:xfrm>
            <a:off x="822960" y="4251960"/>
            <a:ext cx="548640" cy="548640"/>
          </a:xfrm>
          <a:prstGeom prst="ellipse">
            <a:avLst/>
          </a:prstGeom>
          <a:solidFill>
            <a:srgbClr val="234B84"/>
          </a:solidFill>
          <a:ln w="12700">
            <a:solidFill>
              <a:srgbClr val="234B84"/>
            </a:solidFill>
            <a:prstDash val="solid"/>
          </a:ln>
        </p:spPr>
      </p:sp>
      <p:pic>
        <p:nvPicPr>
          <p:cNvPr id="30" name="Image 5" descr="preencoded.png">    </p:cNvPr>
          <p:cNvPicPr>
            <a:picLocks noChangeAspect="1"/>
          </p:cNvPicPr>
          <p:nvPr/>
        </p:nvPicPr>
        <p:blipFill>
          <a:blip r:embed="rId6"/>
          <a:stretch>
            <a:fillRect/>
          </a:stretch>
        </p:blipFill>
        <p:spPr>
          <a:xfrm>
            <a:off x="943661" y="4372661"/>
            <a:ext cx="307238" cy="307238"/>
          </a:xfrm>
          <a:prstGeom prst="rect">
            <a:avLst/>
          </a:prstGeom>
        </p:spPr>
      </p:pic>
      <p:sp>
        <p:nvSpPr>
          <p:cNvPr id="31" name="Text 22"/>
          <p:cNvSpPr/>
          <p:nvPr/>
        </p:nvSpPr>
        <p:spPr>
          <a:xfrm>
            <a:off x="1508760" y="402336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Claim</a:t>
            </a:r>
            <a:endParaRPr lang="en-US" sz="2000" dirty="0"/>
          </a:p>
        </p:txBody>
      </p:sp>
      <p:sp>
        <p:nvSpPr>
          <p:cNvPr id="32" name="Shape 23"/>
          <p:cNvSpPr/>
          <p:nvPr/>
        </p:nvSpPr>
        <p:spPr>
          <a:xfrm>
            <a:off x="2788920" y="4023360"/>
            <a:ext cx="2829458" cy="1005840"/>
          </a:xfrm>
          <a:prstGeom prst="roundRect">
            <a:avLst>
              <a:gd name="adj" fmla="val 7273"/>
            </a:avLst>
          </a:prstGeom>
          <a:solidFill>
            <a:srgbClr val="FFFFFF"/>
          </a:solidFill>
          <a:ln/>
        </p:spPr>
      </p:sp>
      <p:sp>
        <p:nvSpPr>
          <p:cNvPr id="33" name="Text 24"/>
          <p:cNvSpPr/>
          <p:nvPr/>
        </p:nvSpPr>
        <p:spPr>
          <a:xfrm>
            <a:off x="3017520"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34" name="Text 25"/>
          <p:cNvSpPr/>
          <p:nvPr/>
        </p:nvSpPr>
        <p:spPr>
          <a:xfrm>
            <a:off x="3017520"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a:t>
            </a:r>
            <a:endParaRPr lang="en-US" sz="1400" dirty="0"/>
          </a:p>
        </p:txBody>
      </p:sp>
      <p:sp>
        <p:nvSpPr>
          <p:cNvPr id="35" name="Shape 26"/>
          <p:cNvSpPr/>
          <p:nvPr/>
        </p:nvSpPr>
        <p:spPr>
          <a:xfrm>
            <a:off x="5801258" y="4023360"/>
            <a:ext cx="2829458" cy="1005840"/>
          </a:xfrm>
          <a:prstGeom prst="roundRect">
            <a:avLst>
              <a:gd name="adj" fmla="val 7273"/>
            </a:avLst>
          </a:prstGeom>
          <a:solidFill>
            <a:srgbClr val="FFFFFF"/>
          </a:solidFill>
          <a:ln/>
        </p:spPr>
      </p:sp>
      <p:sp>
        <p:nvSpPr>
          <p:cNvPr id="36" name="Text 27"/>
          <p:cNvSpPr/>
          <p:nvPr/>
        </p:nvSpPr>
        <p:spPr>
          <a:xfrm>
            <a:off x="6029858"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2.1x</a:t>
            </a:r>
            <a:endParaRPr lang="en-US" sz="3000" dirty="0"/>
          </a:p>
        </p:txBody>
      </p:sp>
      <p:sp>
        <p:nvSpPr>
          <p:cNvPr id="37" name="Text 28"/>
          <p:cNvSpPr/>
          <p:nvPr/>
        </p:nvSpPr>
        <p:spPr>
          <a:xfrm>
            <a:off x="6029858"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a:t>
            </a:r>
            <a:endParaRPr lang="en-US" sz="1400" dirty="0"/>
          </a:p>
        </p:txBody>
      </p:sp>
      <p:sp>
        <p:nvSpPr>
          <p:cNvPr id="38" name="Shape 29"/>
          <p:cNvSpPr/>
          <p:nvPr/>
        </p:nvSpPr>
        <p:spPr>
          <a:xfrm>
            <a:off x="8813597" y="4023360"/>
            <a:ext cx="2829458" cy="1005840"/>
          </a:xfrm>
          <a:prstGeom prst="roundRect">
            <a:avLst>
              <a:gd name="adj" fmla="val 7273"/>
            </a:avLst>
          </a:prstGeom>
          <a:solidFill>
            <a:srgbClr val="FFFFFF"/>
          </a:solidFill>
          <a:ln/>
        </p:spPr>
      </p:sp>
      <p:sp>
        <p:nvSpPr>
          <p:cNvPr id="39" name="Text 30"/>
          <p:cNvSpPr/>
          <p:nvPr/>
        </p:nvSpPr>
        <p:spPr>
          <a:xfrm>
            <a:off x="9042197"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 vs 61</a:t>
            </a:r>
            <a:endParaRPr lang="en-US" sz="3000" dirty="0"/>
          </a:p>
        </p:txBody>
      </p:sp>
      <p:sp>
        <p:nvSpPr>
          <p:cNvPr id="40" name="Text 31"/>
          <p:cNvSpPr/>
          <p:nvPr/>
        </p:nvSpPr>
        <p:spPr>
          <a:xfrm>
            <a:off x="9042197"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fewer errors (p = 0.031)</a:t>
            </a:r>
            <a:endParaRPr lang="en-US" sz="1400" dirty="0"/>
          </a:p>
        </p:txBody>
      </p:sp>
      <p:sp>
        <p:nvSpPr>
          <p:cNvPr id="41" name="Shape 32"/>
          <p:cNvSpPr/>
          <p:nvPr/>
        </p:nvSpPr>
        <p:spPr>
          <a:xfrm>
            <a:off x="548640" y="5212080"/>
            <a:ext cx="2011680" cy="1005840"/>
          </a:xfrm>
          <a:prstGeom prst="roundRect">
            <a:avLst>
              <a:gd name="adj" fmla="val 7273"/>
            </a:avLst>
          </a:prstGeom>
          <a:solidFill>
            <a:srgbClr val="FFFFFF"/>
          </a:solidFill>
          <a:ln/>
        </p:spPr>
      </p:sp>
      <p:sp>
        <p:nvSpPr>
          <p:cNvPr id="42" name="Shape 33"/>
          <p:cNvSpPr/>
          <p:nvPr/>
        </p:nvSpPr>
        <p:spPr>
          <a:xfrm>
            <a:off x="822960" y="5440680"/>
            <a:ext cx="548640" cy="548640"/>
          </a:xfrm>
          <a:prstGeom prst="ellipse">
            <a:avLst/>
          </a:prstGeom>
          <a:solidFill>
            <a:srgbClr val="1F7A7A"/>
          </a:solidFill>
          <a:ln w="12700">
            <a:solidFill>
              <a:srgbClr val="1F7A7A"/>
            </a:solidFill>
            <a:prstDash val="solid"/>
          </a:ln>
        </p:spPr>
      </p:sp>
      <p:pic>
        <p:nvPicPr>
          <p:cNvPr id="43" name="Image 6" descr="preencoded.png">    </p:cNvPr>
          <p:cNvPicPr>
            <a:picLocks noChangeAspect="1"/>
          </p:cNvPicPr>
          <p:nvPr/>
        </p:nvPicPr>
        <p:blipFill>
          <a:blip r:embed="rId7"/>
          <a:stretch>
            <a:fillRect/>
          </a:stretch>
        </p:blipFill>
        <p:spPr>
          <a:xfrm>
            <a:off x="943661" y="5561381"/>
            <a:ext cx="307238" cy="307238"/>
          </a:xfrm>
          <a:prstGeom prst="rect">
            <a:avLst/>
          </a:prstGeom>
        </p:spPr>
      </p:pic>
      <p:sp>
        <p:nvSpPr>
          <p:cNvPr id="44" name="Text 34"/>
          <p:cNvSpPr/>
          <p:nvPr/>
        </p:nvSpPr>
        <p:spPr>
          <a:xfrm>
            <a:off x="1508760" y="521208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Next</a:t>
            </a:r>
            <a:endParaRPr lang="en-US" sz="2000" dirty="0"/>
          </a:p>
        </p:txBody>
      </p:sp>
      <p:sp>
        <p:nvSpPr>
          <p:cNvPr id="45" name="Shape 35"/>
          <p:cNvSpPr/>
          <p:nvPr/>
        </p:nvSpPr>
        <p:spPr>
          <a:xfrm>
            <a:off x="2788920" y="5212080"/>
            <a:ext cx="2829458" cy="1005840"/>
          </a:xfrm>
          <a:prstGeom prst="roundRect">
            <a:avLst>
              <a:gd name="adj" fmla="val 7273"/>
            </a:avLst>
          </a:prstGeom>
          <a:solidFill>
            <a:srgbClr val="FFFFFF"/>
          </a:solidFill>
          <a:ln/>
        </p:spPr>
      </p:sp>
      <p:sp>
        <p:nvSpPr>
          <p:cNvPr id="46" name="Shape 36"/>
          <p:cNvSpPr/>
          <p:nvPr/>
        </p:nvSpPr>
        <p:spPr>
          <a:xfrm>
            <a:off x="3017520" y="5440680"/>
            <a:ext cx="548640" cy="548640"/>
          </a:xfrm>
          <a:prstGeom prst="ellipse">
            <a:avLst/>
          </a:prstGeom>
          <a:solidFill>
            <a:srgbClr val="1F7A7A"/>
          </a:solidFill>
          <a:ln w="12700">
            <a:solidFill>
              <a:srgbClr val="1F7A7A"/>
            </a:solidFill>
            <a:prstDash val="solid"/>
          </a:ln>
        </p:spPr>
      </p:sp>
      <p:pic>
        <p:nvPicPr>
          <p:cNvPr id="47" name="Image 7" descr="preencoded.png">    </p:cNvPr>
          <p:cNvPicPr>
            <a:picLocks noChangeAspect="1"/>
          </p:cNvPicPr>
          <p:nvPr/>
        </p:nvPicPr>
        <p:blipFill>
          <a:blip r:embed="rId8"/>
          <a:stretch>
            <a:fillRect/>
          </a:stretch>
        </p:blipFill>
        <p:spPr>
          <a:xfrm>
            <a:off x="3138221" y="5561381"/>
            <a:ext cx="307238" cy="307238"/>
          </a:xfrm>
          <a:prstGeom prst="rect">
            <a:avLst/>
          </a:prstGeom>
        </p:spPr>
      </p:pic>
      <p:sp>
        <p:nvSpPr>
          <p:cNvPr id="48" name="Text 37"/>
          <p:cNvSpPr/>
          <p:nvPr/>
        </p:nvSpPr>
        <p:spPr>
          <a:xfrm>
            <a:off x="3703320"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tickets and adversarial inputs</a:t>
            </a:r>
            <a:endParaRPr lang="en-US" sz="1600" dirty="0"/>
          </a:p>
        </p:txBody>
      </p:sp>
      <p:sp>
        <p:nvSpPr>
          <p:cNvPr id="49" name="Shape 38"/>
          <p:cNvSpPr/>
          <p:nvPr/>
        </p:nvSpPr>
        <p:spPr>
          <a:xfrm>
            <a:off x="5801258" y="5212080"/>
            <a:ext cx="2829458" cy="1005840"/>
          </a:xfrm>
          <a:prstGeom prst="roundRect">
            <a:avLst>
              <a:gd name="adj" fmla="val 7273"/>
            </a:avLst>
          </a:prstGeom>
          <a:solidFill>
            <a:srgbClr val="FFFFFF"/>
          </a:solidFill>
          <a:ln/>
        </p:spPr>
      </p:sp>
      <p:sp>
        <p:nvSpPr>
          <p:cNvPr id="50" name="Shape 39"/>
          <p:cNvSpPr/>
          <p:nvPr/>
        </p:nvSpPr>
        <p:spPr>
          <a:xfrm>
            <a:off x="6029858" y="5440680"/>
            <a:ext cx="548640" cy="548640"/>
          </a:xfrm>
          <a:prstGeom prst="ellipse">
            <a:avLst/>
          </a:prstGeom>
          <a:solidFill>
            <a:srgbClr val="1F7A7A"/>
          </a:solidFill>
          <a:ln w="12700">
            <a:solidFill>
              <a:srgbClr val="1F7A7A"/>
            </a:solidFill>
            <a:prstDash val="solid"/>
          </a:ln>
        </p:spPr>
      </p:sp>
      <p:pic>
        <p:nvPicPr>
          <p:cNvPr id="51" name="Image 8" descr="preencoded.png">    </p:cNvPr>
          <p:cNvPicPr>
            <a:picLocks noChangeAspect="1"/>
          </p:cNvPicPr>
          <p:nvPr/>
        </p:nvPicPr>
        <p:blipFill>
          <a:blip r:embed="rId9"/>
          <a:stretch>
            <a:fillRect/>
          </a:stretch>
        </p:blipFill>
        <p:spPr>
          <a:xfrm>
            <a:off x="6150559" y="5561381"/>
            <a:ext cx="307238" cy="307238"/>
          </a:xfrm>
          <a:prstGeom prst="rect">
            <a:avLst/>
          </a:prstGeom>
        </p:spPr>
      </p:pic>
      <p:sp>
        <p:nvSpPr>
          <p:cNvPr id="52" name="Text 40"/>
          <p:cNvSpPr/>
          <p:nvPr/>
        </p:nvSpPr>
        <p:spPr>
          <a:xfrm>
            <a:off x="6715658"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More requests and more request types</a:t>
            </a:r>
            <a:endParaRPr lang="en-US" sz="1600" dirty="0"/>
          </a:p>
        </p:txBody>
      </p:sp>
      <p:sp>
        <p:nvSpPr>
          <p:cNvPr id="53" name="Shape 41"/>
          <p:cNvSpPr/>
          <p:nvPr/>
        </p:nvSpPr>
        <p:spPr>
          <a:xfrm>
            <a:off x="8813597" y="5212080"/>
            <a:ext cx="2829458" cy="1005840"/>
          </a:xfrm>
          <a:prstGeom prst="roundRect">
            <a:avLst>
              <a:gd name="adj" fmla="val 7273"/>
            </a:avLst>
          </a:prstGeom>
          <a:solidFill>
            <a:srgbClr val="FFFFFF"/>
          </a:solidFill>
          <a:ln/>
        </p:spPr>
      </p:sp>
      <p:sp>
        <p:nvSpPr>
          <p:cNvPr id="54" name="Shape 42"/>
          <p:cNvSpPr/>
          <p:nvPr/>
        </p:nvSpPr>
        <p:spPr>
          <a:xfrm>
            <a:off x="9042197" y="5440680"/>
            <a:ext cx="548640" cy="548640"/>
          </a:xfrm>
          <a:prstGeom prst="ellipse">
            <a:avLst/>
          </a:prstGeom>
          <a:solidFill>
            <a:srgbClr val="1F7A7A"/>
          </a:solidFill>
          <a:ln w="12700">
            <a:solidFill>
              <a:srgbClr val="1F7A7A"/>
            </a:solidFill>
            <a:prstDash val="solid"/>
          </a:ln>
        </p:spPr>
      </p:sp>
      <p:pic>
        <p:nvPicPr>
          <p:cNvPr id="55" name="Image 9" descr="preencoded.png">    </p:cNvPr>
          <p:cNvPicPr>
            <a:picLocks noChangeAspect="1"/>
          </p:cNvPicPr>
          <p:nvPr/>
        </p:nvPicPr>
        <p:blipFill>
          <a:blip r:embed="rId10"/>
          <a:stretch>
            <a:fillRect/>
          </a:stretch>
        </p:blipFill>
        <p:spPr>
          <a:xfrm>
            <a:off x="9162898" y="5561381"/>
            <a:ext cx="307238" cy="307238"/>
          </a:xfrm>
          <a:prstGeom prst="rect">
            <a:avLst/>
          </a:prstGeom>
        </p:spPr>
      </p:pic>
      <p:sp>
        <p:nvSpPr>
          <p:cNvPr id="56" name="Text 43"/>
          <p:cNvSpPr/>
          <p:nvPr/>
        </p:nvSpPr>
        <p:spPr>
          <a:xfrm>
            <a:off x="9727997"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at every level. Level 2: 676 served, 287 stopped, 61 errors. Level 3: 717 served, 307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1.8x faster and 2.1x cheaper, with fewer errors (p = 0.031).</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needs a question for each rule: questions from the rule text alone made 61 to 123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The confidence of Jev is a warning: 338 of 737 answers below 0.8 are wrong, against 92 of 4,455 at 0.9 or more.</a:t>
            </a:r>
            <a:endParaRPr lang="en-US" sz="1800" dirty="0"/>
          </a:p>
        </p:txBody>
      </p:sp>
      <p:sp>
        <p:nvSpPr>
          <p:cNvPr id="5" name="Text 3"/>
          <p:cNvSpPr/>
          <p:nvPr/>
        </p:nvSpPr>
        <p:spPr>
          <a:xfrm>
            <a:off x="640080" y="5577840"/>
            <a:ext cx="5394960" cy="640080"/>
          </a:xfrm>
          <a:prstGeom prst="rect">
            <a:avLst/>
          </a:prstGeom>
          <a:noFill/>
          <a:ln/>
        </p:spPr>
        <p:txBody>
          <a:bodyPr wrap="square" lIns="0" tIns="0" rIns="0" bIns="0" rtlCol="0" anchor="b"/>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0 and 61</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3 and Level 2.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1.8x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4.28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$0.29 against $0.61 per 1,000 requests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Appendix: References</a:t>
            </a:r>
            <a:endParaRPr lang="en-US" sz="3400" dirty="0"/>
          </a:p>
        </p:txBody>
      </p:sp>
      <p:sp>
        <p:nvSpPr>
          <p:cNvPr id="4" name="Shape 1"/>
          <p:cNvSpPr/>
          <p:nvPr/>
        </p:nvSpPr>
        <p:spPr>
          <a:xfrm>
            <a:off x="548640" y="1508760"/>
            <a:ext cx="11094415" cy="777240"/>
          </a:xfrm>
          <a:prstGeom prst="roundRect">
            <a:avLst>
              <a:gd name="adj" fmla="val 9412"/>
            </a:avLst>
          </a:prstGeom>
          <a:solidFill>
            <a:srgbClr val="FFFFFF"/>
          </a:solidFill>
          <a:ln/>
        </p:spPr>
      </p:sp>
      <p:sp>
        <p:nvSpPr>
          <p:cNvPr id="5" name="Text 2"/>
          <p:cNvSpPr/>
          <p:nvPr/>
        </p:nvSpPr>
        <p:spPr>
          <a:xfrm>
            <a:off x="822960" y="15087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Greshake et al., 2023</a:t>
            </a:r>
            <a:endParaRPr lang="en-US" sz="1800" dirty="0"/>
          </a:p>
        </p:txBody>
      </p:sp>
      <p:sp>
        <p:nvSpPr>
          <p:cNvPr id="6" name="Text 3"/>
          <p:cNvSpPr/>
          <p:nvPr/>
        </p:nvSpPr>
        <p:spPr>
          <a:xfrm>
            <a:off x="3931920" y="15087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Not What You've Signed Up For: Compromising Real-World LLM-Integrated Applications with Indirect Prompt Injection. AISec '23, ACM, 79-90.</a:t>
            </a:r>
            <a:endParaRPr lang="en-US" sz="1600" dirty="0"/>
          </a:p>
        </p:txBody>
      </p:sp>
      <p:sp>
        <p:nvSpPr>
          <p:cNvPr id="7" name="Shape 4"/>
          <p:cNvSpPr/>
          <p:nvPr/>
        </p:nvSpPr>
        <p:spPr>
          <a:xfrm>
            <a:off x="548640" y="2423160"/>
            <a:ext cx="11094415" cy="777240"/>
          </a:xfrm>
          <a:prstGeom prst="roundRect">
            <a:avLst>
              <a:gd name="adj" fmla="val 9412"/>
            </a:avLst>
          </a:prstGeom>
          <a:solidFill>
            <a:srgbClr val="FFFFFF"/>
          </a:solidFill>
          <a:ln/>
        </p:spPr>
      </p:sp>
      <p:sp>
        <p:nvSpPr>
          <p:cNvPr id="8" name="Text 5"/>
          <p:cNvSpPr/>
          <p:nvPr/>
        </p:nvSpPr>
        <p:spPr>
          <a:xfrm>
            <a:off x="822960" y="24231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Debenedetti et al., 2025</a:t>
            </a:r>
            <a:endParaRPr lang="en-US" sz="1800" dirty="0"/>
          </a:p>
        </p:txBody>
      </p:sp>
      <p:sp>
        <p:nvSpPr>
          <p:cNvPr id="9" name="Text 6"/>
          <p:cNvSpPr/>
          <p:nvPr/>
        </p:nvSpPr>
        <p:spPr>
          <a:xfrm>
            <a:off x="3931920" y="24231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Defeating Prompt Injections by Design (CaMeL). arXiv:2503.18813.</a:t>
            </a:r>
            <a:endParaRPr lang="en-US" sz="1600" dirty="0"/>
          </a:p>
        </p:txBody>
      </p:sp>
      <p:sp>
        <p:nvSpPr>
          <p:cNvPr id="10" name="Shape 7"/>
          <p:cNvSpPr/>
          <p:nvPr/>
        </p:nvSpPr>
        <p:spPr>
          <a:xfrm>
            <a:off x="548640" y="3337560"/>
            <a:ext cx="11094415" cy="777240"/>
          </a:xfrm>
          <a:prstGeom prst="roundRect">
            <a:avLst>
              <a:gd name="adj" fmla="val 9412"/>
            </a:avLst>
          </a:prstGeom>
          <a:solidFill>
            <a:srgbClr val="FFFFFF"/>
          </a:solidFill>
          <a:ln/>
        </p:spPr>
      </p:sp>
      <p:sp>
        <p:nvSpPr>
          <p:cNvPr id="11" name="Text 8"/>
          <p:cNvSpPr/>
          <p:nvPr/>
        </p:nvSpPr>
        <p:spPr>
          <a:xfrm>
            <a:off x="822960" y="33375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Beurer-Kellner et al., 2025</a:t>
            </a:r>
            <a:endParaRPr lang="en-US" sz="1800" dirty="0"/>
          </a:p>
        </p:txBody>
      </p:sp>
      <p:sp>
        <p:nvSpPr>
          <p:cNvPr id="12" name="Text 9"/>
          <p:cNvSpPr/>
          <p:nvPr/>
        </p:nvSpPr>
        <p:spPr>
          <a:xfrm>
            <a:off x="3931920" y="33375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Design Patterns for Securing LLM Agents against Prompt Injections. arXiv:2506.08837.</a:t>
            </a:r>
            <a:endParaRPr lang="en-US" sz="1600" dirty="0"/>
          </a:p>
        </p:txBody>
      </p:sp>
      <p:sp>
        <p:nvSpPr>
          <p:cNvPr id="13" name="Shape 10"/>
          <p:cNvSpPr/>
          <p:nvPr/>
        </p:nvSpPr>
        <p:spPr>
          <a:xfrm>
            <a:off x="548640" y="4251960"/>
            <a:ext cx="11094415" cy="777240"/>
          </a:xfrm>
          <a:prstGeom prst="roundRect">
            <a:avLst>
              <a:gd name="adj" fmla="val 9412"/>
            </a:avLst>
          </a:prstGeom>
          <a:solidFill>
            <a:srgbClr val="FFFFFF"/>
          </a:solidFill>
          <a:ln/>
        </p:spPr>
      </p:sp>
      <p:sp>
        <p:nvSpPr>
          <p:cNvPr id="14" name="Text 11"/>
          <p:cNvSpPr/>
          <p:nvPr/>
        </p:nvSpPr>
        <p:spPr>
          <a:xfrm>
            <a:off x="822960" y="42519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Zendesk, n.d.</a:t>
            </a:r>
            <a:endParaRPr lang="en-US" sz="1800" dirty="0"/>
          </a:p>
        </p:txBody>
      </p:sp>
      <p:sp>
        <p:nvSpPr>
          <p:cNvPr id="15" name="Text 12"/>
          <p:cNvSpPr/>
          <p:nvPr/>
        </p:nvSpPr>
        <p:spPr>
          <a:xfrm>
            <a:off x="3931920" y="42519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Routing and automation options for incoming tickets. Zendesk Help Center. Accessed 5 October 2026.</a:t>
            </a:r>
            <a:endParaRPr lang="en-US" sz="1600" dirty="0"/>
          </a:p>
        </p:txBody>
      </p:sp>
      <p:sp>
        <p:nvSpPr>
          <p:cNvPr id="16" name="Shape 13"/>
          <p:cNvSpPr/>
          <p:nvPr/>
        </p:nvSpPr>
        <p:spPr>
          <a:xfrm>
            <a:off x="548640" y="5166360"/>
            <a:ext cx="11094415" cy="777240"/>
          </a:xfrm>
          <a:prstGeom prst="roundRect">
            <a:avLst>
              <a:gd name="adj" fmla="val 9412"/>
            </a:avLst>
          </a:prstGeom>
          <a:solidFill>
            <a:srgbClr val="FFFFFF"/>
          </a:solidFill>
          <a:ln/>
        </p:spPr>
      </p:sp>
      <p:sp>
        <p:nvSpPr>
          <p:cNvPr id="17" name="Text 14"/>
          <p:cNvSpPr/>
          <p:nvPr/>
        </p:nvSpPr>
        <p:spPr>
          <a:xfrm>
            <a:off x="822960" y="51663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Intercom, n.d.</a:t>
            </a:r>
            <a:endParaRPr lang="en-US" sz="1800" dirty="0"/>
          </a:p>
        </p:txBody>
      </p:sp>
      <p:sp>
        <p:nvSpPr>
          <p:cNvPr id="18" name="Text 15"/>
          <p:cNvSpPr/>
          <p:nvPr/>
        </p:nvSpPr>
        <p:spPr>
          <a:xfrm>
            <a:off x="3931920" y="51663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AI Agent That Takes Action: Refunds and Cancellations. Intercom Learning Center. Accessed 7 October 2026.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2026-10-11T18:45:28Z</dcterms:created>
  <dcterms:modified xsi:type="dcterms:W3CDTF">2026-10-11T18:45:28Z</dcterms:modified>
</cp:coreProperties>
</file>