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the Rules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10-4.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22-6.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29-2.png"/><Relationship Id="rId3" Type="http://schemas.openxmlformats.org/officeDocument/2006/relationships/image" Target="../media/image-10-5.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1.png"/><Relationship Id="rId3" Type="http://schemas.openxmlformats.org/officeDocument/2006/relationships/image" Target="../media/image-10-5.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10-6.png"/><Relationship Id="rId3" Type="http://schemas.openxmlformats.org/officeDocument/2006/relationships/image" Target="../media/image-22-3.png"/><Relationship Id="rId4" Type="http://schemas.openxmlformats.org/officeDocument/2006/relationships/image" Target="../media/image-10-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1.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1-1.png"/><Relationship Id="rId3" Type="http://schemas.openxmlformats.org/officeDocument/2006/relationships/image" Target="../media/image-1-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1.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3.png"/><Relationship Id="rId3" Type="http://schemas.openxmlformats.org/officeDocument/2006/relationships/image" Target="../media/image-22-6.png"/><Relationship Id="rId4"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image" Target="../media/image-10-6.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image" Target="../media/image-10-5.png"/><Relationship Id="rId3" Type="http://schemas.openxmlformats.org/officeDocument/2006/relationships/image" Target="../media/image-26-3.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6.png"/><Relationship Id="rId3" Type="http://schemas.openxmlformats.org/officeDocument/2006/relationships/image" Target="../media/image-1-1.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5.png"/><Relationship Id="rId3" Type="http://schemas.openxmlformats.org/officeDocument/2006/relationships/image" Target="../media/image-22-6.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1.png"/><Relationship Id="rId4" Type="http://schemas.openxmlformats.org/officeDocument/2006/relationships/image" Target="../media/image-10-5.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Structured Decision</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Gates</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Customer Support Agents: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Intent Detection and Rule Checks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agent designs</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for support</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LLM</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Code applies the rule answers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LLM agents fail alone</a:t>
            </a:r>
            <a:endParaRPr lang="en-US" sz="3600" dirty="0"/>
          </a:p>
        </p:txBody>
      </p:sp>
      <p:sp>
        <p:nvSpPr>
          <p:cNvPr id="4"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5"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716146" y="1642994"/>
            <a:ext cx="225308" cy="225308"/>
          </a:xfrm>
          <a:prstGeom prst="rect">
            <a:avLst/>
          </a:prstGeom>
        </p:spPr>
      </p:pic>
      <p:sp>
        <p:nvSpPr>
          <p:cNvPr id="7"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8"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9"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 name="Image 1" descr="preencoded.png">    </p:cNvPr>
          <p:cNvPicPr>
            <a:picLocks noChangeAspect="1"/>
          </p:cNvPicPr>
          <p:nvPr/>
        </p:nvPicPr>
        <p:blipFill>
          <a:blip r:embed="rId2"/>
          <a:stretch>
            <a:fillRect/>
          </a:stretch>
        </p:blipFill>
        <p:spPr>
          <a:xfrm>
            <a:off x="1755648" y="2734056"/>
            <a:ext cx="256032" cy="256032"/>
          </a:xfrm>
          <a:prstGeom prst="rect">
            <a:avLst/>
          </a:prstGeom>
        </p:spPr>
      </p:pic>
      <p:sp>
        <p:nvSpPr>
          <p:cNvPr id="11"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2" name="Image 2" descr="preencoded.png">    </p:cNvPr>
          <p:cNvPicPr>
            <a:picLocks noChangeAspect="1"/>
          </p:cNvPicPr>
          <p:nvPr/>
        </p:nvPicPr>
        <p:blipFill>
          <a:blip r:embed="rId3"/>
          <a:stretch>
            <a:fillRect/>
          </a:stretch>
        </p:blipFill>
        <p:spPr>
          <a:xfrm>
            <a:off x="5166360" y="2194560"/>
            <a:ext cx="1188720" cy="685800"/>
          </a:xfrm>
          <a:prstGeom prst="rect">
            <a:avLst/>
          </a:prstGeom>
        </p:spPr>
      </p:pic>
      <p:sp>
        <p:nvSpPr>
          <p:cNvPr id="13"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4"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5" name="Image 3" descr="preencoded.png">    </p:cNvPr>
          <p:cNvPicPr>
            <a:picLocks noChangeAspect="1"/>
          </p:cNvPicPr>
          <p:nvPr/>
        </p:nvPicPr>
        <p:blipFill>
          <a:blip r:embed="rId4"/>
          <a:stretch>
            <a:fillRect/>
          </a:stretch>
        </p:blipFill>
        <p:spPr>
          <a:xfrm>
            <a:off x="6568135" y="2087575"/>
            <a:ext cx="588874" cy="588874"/>
          </a:xfrm>
          <a:prstGeom prst="rect">
            <a:avLst/>
          </a:prstGeom>
        </p:spPr>
      </p:pic>
      <p:sp>
        <p:nvSpPr>
          <p:cNvPr id="16"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LLM agent</a:t>
            </a:r>
            <a:endParaRPr lang="en-US" sz="1500" dirty="0"/>
          </a:p>
        </p:txBody>
      </p:sp>
      <p:sp>
        <p:nvSpPr>
          <p:cNvPr id="17"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18" name="Image 4" descr="preencoded.png">    </p:cNvPr>
          <p:cNvPicPr>
            <a:picLocks noChangeAspect="1"/>
          </p:cNvPicPr>
          <p:nvPr/>
        </p:nvPicPr>
        <p:blipFill>
          <a:blip r:embed="rId5"/>
          <a:stretch>
            <a:fillRect/>
          </a:stretch>
        </p:blipFill>
        <p:spPr>
          <a:xfrm>
            <a:off x="7315200" y="2148840"/>
            <a:ext cx="777240" cy="457200"/>
          </a:xfrm>
          <a:prstGeom prst="rect">
            <a:avLst/>
          </a:prstGeom>
        </p:spPr>
      </p:pic>
      <p:sp>
        <p:nvSpPr>
          <p:cNvPr id="19"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0"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1" name="Image 5" descr="preencoded.png">    </p:cNvPr>
          <p:cNvPicPr>
            <a:picLocks noChangeAspect="1"/>
          </p:cNvPicPr>
          <p:nvPr/>
        </p:nvPicPr>
        <p:blipFill>
          <a:blip r:embed="rId6"/>
          <a:stretch>
            <a:fillRect/>
          </a:stretch>
        </p:blipFill>
        <p:spPr>
          <a:xfrm>
            <a:off x="8302752" y="1517904"/>
            <a:ext cx="274320" cy="274320"/>
          </a:xfrm>
          <a:prstGeom prst="rect">
            <a:avLst/>
          </a:prstGeom>
        </p:spPr>
      </p:pic>
      <p:sp>
        <p:nvSpPr>
          <p:cNvPr id="22"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3"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4" name="Image 6" descr="preencoded.png">    </p:cNvPr>
          <p:cNvPicPr>
            <a:picLocks noChangeAspect="1"/>
          </p:cNvPicPr>
          <p:nvPr/>
        </p:nvPicPr>
        <p:blipFill>
          <a:blip r:embed="rId7"/>
          <a:stretch>
            <a:fillRect/>
          </a:stretch>
        </p:blipFill>
        <p:spPr>
          <a:xfrm>
            <a:off x="8302752" y="2103120"/>
            <a:ext cx="274320" cy="274320"/>
          </a:xfrm>
          <a:prstGeom prst="rect">
            <a:avLst/>
          </a:prstGeom>
        </p:spPr>
      </p:pic>
      <p:sp>
        <p:nvSpPr>
          <p:cNvPr id="25"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6"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7" name="Image 7" descr="preencoded.png">    </p:cNvPr>
          <p:cNvPicPr>
            <a:picLocks noChangeAspect="1"/>
          </p:cNvPicPr>
          <p:nvPr/>
        </p:nvPicPr>
        <p:blipFill>
          <a:blip r:embed="rId8"/>
          <a:stretch>
            <a:fillRect/>
          </a:stretch>
        </p:blipFill>
        <p:spPr>
          <a:xfrm>
            <a:off x="8302752" y="2688336"/>
            <a:ext cx="274320" cy="274320"/>
          </a:xfrm>
          <a:prstGeom prst="rect">
            <a:avLst/>
          </a:prstGeom>
        </p:spPr>
      </p:pic>
      <p:sp>
        <p:nvSpPr>
          <p:cNvPr id="28"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29"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0" name="Image 8" descr="preencoded.png">    </p:cNvPr>
          <p:cNvPicPr>
            <a:picLocks noChangeAspect="1"/>
          </p:cNvPicPr>
          <p:nvPr/>
        </p:nvPicPr>
        <p:blipFill>
          <a:blip r:embed="rId9"/>
          <a:stretch>
            <a:fillRect/>
          </a:stretch>
        </p:blipFill>
        <p:spPr>
          <a:xfrm>
            <a:off x="8275320" y="3300984"/>
            <a:ext cx="274320" cy="274320"/>
          </a:xfrm>
          <a:prstGeom prst="rect">
            <a:avLst/>
          </a:prstGeom>
        </p:spPr>
      </p:pic>
      <p:sp>
        <p:nvSpPr>
          <p:cNvPr id="31"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2"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3"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4"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5" name="Image 9" descr="preencoded.png">    </p:cNvPr>
          <p:cNvPicPr>
            <a:picLocks noChangeAspect="1"/>
          </p:cNvPicPr>
          <p:nvPr/>
        </p:nvPicPr>
        <p:blipFill>
          <a:blip r:embed="rId10"/>
          <a:stretch>
            <a:fillRect/>
          </a:stretch>
        </p:blipFill>
        <p:spPr>
          <a:xfrm>
            <a:off x="1150681" y="5402641"/>
            <a:ext cx="368686" cy="368686"/>
          </a:xfrm>
          <a:prstGeom prst="rect">
            <a:avLst/>
          </a:prstGeom>
        </p:spPr>
      </p:pic>
      <p:sp>
        <p:nvSpPr>
          <p:cNvPr id="36"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7"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38"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39" name="Image 10" descr="preencoded.png">    </p:cNvPr>
          <p:cNvPicPr>
            <a:picLocks noChangeAspect="1"/>
          </p:cNvPicPr>
          <p:nvPr/>
        </p:nvPicPr>
        <p:blipFill>
          <a:blip r:embed="rId11"/>
          <a:stretch>
            <a:fillRect/>
          </a:stretch>
        </p:blipFill>
        <p:spPr>
          <a:xfrm>
            <a:off x="4899721" y="5402641"/>
            <a:ext cx="368686" cy="368686"/>
          </a:xfrm>
          <a:prstGeom prst="rect">
            <a:avLst/>
          </a:prstGeom>
        </p:spPr>
      </p:pic>
      <p:sp>
        <p:nvSpPr>
          <p:cNvPr id="40"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1"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2"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3" name="Image 11" descr="preencoded.png">    </p:cNvPr>
          <p:cNvPicPr>
            <a:picLocks noChangeAspect="1"/>
          </p:cNvPicPr>
          <p:nvPr/>
        </p:nvPicPr>
        <p:blipFill>
          <a:blip r:embed="rId12"/>
          <a:stretch>
            <a:fillRect/>
          </a:stretch>
        </p:blipFill>
        <p:spPr>
          <a:xfrm>
            <a:off x="8648761" y="5402641"/>
            <a:ext cx="368686" cy="368686"/>
          </a:xfrm>
          <a:prstGeom prst="rect">
            <a:avLst/>
          </a:prstGeom>
        </p:spPr>
      </p:pic>
      <p:sp>
        <p:nvSpPr>
          <p:cNvPr id="44"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5"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5"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0"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5"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0"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5"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0"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5"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0"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systems</a:t>
            </a:r>
            <a:endParaRPr lang="en-US" sz="3600" dirty="0"/>
          </a:p>
        </p:txBody>
      </p:sp>
      <p:pic>
        <p:nvPicPr>
          <p:cNvPr id="4"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5" name="Image 1" descr="preencoded.png">    </p:cNvPr>
          <p:cNvPicPr>
            <a:picLocks noChangeAspect="1"/>
          </p:cNvPicPr>
          <p:nvPr/>
        </p:nvPicPr>
        <p:blipFill>
          <a:blip r:embed="rId2"/>
          <a:stretch>
            <a:fillRect/>
          </a:stretch>
        </p:blipFill>
        <p:spPr>
          <a:xfrm>
            <a:off x="502920" y="4922215"/>
            <a:ext cx="822960" cy="822960"/>
          </a:xfrm>
          <a:prstGeom prst="rect">
            <a:avLst/>
          </a:prstGeom>
        </p:spPr>
      </p:pic>
      <p:pic>
        <p:nvPicPr>
          <p:cNvPr id="6" name="Image 2" descr="preencoded.png">    </p:cNvPr>
          <p:cNvPicPr>
            <a:picLocks noChangeAspect="1"/>
          </p:cNvPicPr>
          <p:nvPr/>
        </p:nvPicPr>
        <p:blipFill>
          <a:blip r:embed="rId3"/>
          <a:stretch>
            <a:fillRect/>
          </a:stretch>
        </p:blipFill>
        <p:spPr>
          <a:xfrm>
            <a:off x="3550615" y="3246120"/>
            <a:ext cx="822960" cy="822960"/>
          </a:xfrm>
          <a:prstGeom prst="rect">
            <a:avLst/>
          </a:prstGeom>
        </p:spPr>
      </p:pic>
      <p:sp>
        <p:nvSpPr>
          <p:cNvPr id="7"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8" name="Image 3" descr="preencoded.png">    </p:cNvPr>
          <p:cNvPicPr>
            <a:picLocks noChangeAspect="1"/>
          </p:cNvPicPr>
          <p:nvPr/>
        </p:nvPicPr>
        <p:blipFill>
          <a:blip r:embed="rId4"/>
          <a:stretch>
            <a:fillRect/>
          </a:stretch>
        </p:blipFill>
        <p:spPr>
          <a:xfrm>
            <a:off x="1726387" y="4615891"/>
            <a:ext cx="402336" cy="402336"/>
          </a:xfrm>
          <a:prstGeom prst="rect">
            <a:avLst/>
          </a:prstGeom>
        </p:spPr>
      </p:pic>
      <p:sp>
        <p:nvSpPr>
          <p:cNvPr id="9"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0"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1"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2"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3"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4"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5"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6"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7"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18"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19"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LLM agent: reads the rules in prompt text.   Jev pipeline: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4" name="Shape 1"/>
          <p:cNvSpPr/>
          <p:nvPr/>
        </p:nvSpPr>
        <p:spPr>
          <a:xfrm>
            <a:off x="548640" y="1371600"/>
            <a:ext cx="6400800" cy="914400"/>
          </a:xfrm>
          <a:prstGeom prst="roundRect">
            <a:avLst>
              <a:gd name="adj" fmla="val 8000"/>
            </a:avLst>
          </a:prstGeom>
          <a:solidFill>
            <a:srgbClr val="FFFFFF"/>
          </a:solidFill>
          <a:ln/>
        </p:spPr>
      </p:sp>
      <p:sp>
        <p:nvSpPr>
          <p:cNvPr id="5"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18058" y="1649578"/>
            <a:ext cx="358445" cy="358445"/>
          </a:xfrm>
          <a:prstGeom prst="rect">
            <a:avLst/>
          </a:prstGeom>
        </p:spPr>
      </p:pic>
      <p:sp>
        <p:nvSpPr>
          <p:cNvPr id="7"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8"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9" name="Shape 5"/>
          <p:cNvSpPr/>
          <p:nvPr/>
        </p:nvSpPr>
        <p:spPr>
          <a:xfrm>
            <a:off x="548640" y="2414016"/>
            <a:ext cx="6400800" cy="914400"/>
          </a:xfrm>
          <a:prstGeom prst="roundRect">
            <a:avLst>
              <a:gd name="adj" fmla="val 8000"/>
            </a:avLst>
          </a:prstGeom>
          <a:solidFill>
            <a:srgbClr val="FFFFFF"/>
          </a:solidFill>
          <a:ln/>
        </p:spPr>
      </p:sp>
      <p:sp>
        <p:nvSpPr>
          <p:cNvPr id="10"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1" name="Image 1" descr="preencoded.png">    </p:cNvPr>
          <p:cNvPicPr>
            <a:picLocks noChangeAspect="1"/>
          </p:cNvPicPr>
          <p:nvPr/>
        </p:nvPicPr>
        <p:blipFill>
          <a:blip r:embed="rId2"/>
          <a:stretch>
            <a:fillRect/>
          </a:stretch>
        </p:blipFill>
        <p:spPr>
          <a:xfrm>
            <a:off x="918058" y="2691994"/>
            <a:ext cx="358445" cy="358445"/>
          </a:xfrm>
          <a:prstGeom prst="rect">
            <a:avLst/>
          </a:prstGeom>
        </p:spPr>
      </p:pic>
      <p:sp>
        <p:nvSpPr>
          <p:cNvPr id="12"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3"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4" name="Shape 9"/>
          <p:cNvSpPr/>
          <p:nvPr/>
        </p:nvSpPr>
        <p:spPr>
          <a:xfrm>
            <a:off x="548640" y="3456432"/>
            <a:ext cx="6400800" cy="914400"/>
          </a:xfrm>
          <a:prstGeom prst="roundRect">
            <a:avLst>
              <a:gd name="adj" fmla="val 8000"/>
            </a:avLst>
          </a:prstGeom>
          <a:solidFill>
            <a:srgbClr val="FFFFFF"/>
          </a:solidFill>
          <a:ln/>
        </p:spPr>
      </p:sp>
      <p:sp>
        <p:nvSpPr>
          <p:cNvPr id="15"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918058" y="3734410"/>
            <a:ext cx="358445" cy="358445"/>
          </a:xfrm>
          <a:prstGeom prst="rect">
            <a:avLst/>
          </a:prstGeom>
        </p:spPr>
      </p:pic>
      <p:sp>
        <p:nvSpPr>
          <p:cNvPr id="17"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18"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19" name="Shape 13"/>
          <p:cNvSpPr/>
          <p:nvPr/>
        </p:nvSpPr>
        <p:spPr>
          <a:xfrm>
            <a:off x="548640" y="4498848"/>
            <a:ext cx="6400800" cy="914400"/>
          </a:xfrm>
          <a:prstGeom prst="roundRect">
            <a:avLst>
              <a:gd name="adj" fmla="val 8000"/>
            </a:avLst>
          </a:prstGeom>
          <a:solidFill>
            <a:srgbClr val="FFFFFF"/>
          </a:solidFill>
          <a:ln/>
        </p:spPr>
      </p:sp>
      <p:sp>
        <p:nvSpPr>
          <p:cNvPr id="20"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1" name="Image 3" descr="preencoded.png">    </p:cNvPr>
          <p:cNvPicPr>
            <a:picLocks noChangeAspect="1"/>
          </p:cNvPicPr>
          <p:nvPr/>
        </p:nvPicPr>
        <p:blipFill>
          <a:blip r:embed="rId4"/>
          <a:stretch>
            <a:fillRect/>
          </a:stretch>
        </p:blipFill>
        <p:spPr>
          <a:xfrm>
            <a:off x="918058" y="4776826"/>
            <a:ext cx="358445" cy="358445"/>
          </a:xfrm>
          <a:prstGeom prst="rect">
            <a:avLst/>
          </a:prstGeom>
        </p:spPr>
      </p:pic>
      <p:sp>
        <p:nvSpPr>
          <p:cNvPr id="22"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3"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4" name="Shape 17"/>
          <p:cNvSpPr/>
          <p:nvPr/>
        </p:nvSpPr>
        <p:spPr>
          <a:xfrm>
            <a:off x="7269480" y="1371600"/>
            <a:ext cx="4373575" cy="4041648"/>
          </a:xfrm>
          <a:prstGeom prst="roundRect">
            <a:avLst>
              <a:gd name="adj" fmla="val 1810"/>
            </a:avLst>
          </a:prstGeom>
          <a:solidFill>
            <a:srgbClr val="FFFFFF"/>
          </a:solidFill>
          <a:ln/>
        </p:spPr>
      </p:sp>
      <p:sp>
        <p:nvSpPr>
          <p:cNvPr id="25"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6"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7"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28"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29"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0" name="Shape 23"/>
          <p:cNvSpPr/>
          <p:nvPr/>
        </p:nvSpPr>
        <p:spPr>
          <a:xfrm>
            <a:off x="548640" y="5806440"/>
            <a:ext cx="11094415" cy="594360"/>
          </a:xfrm>
          <a:prstGeom prst="roundRect">
            <a:avLst>
              <a:gd name="adj" fmla="val 12308"/>
            </a:avLst>
          </a:prstGeom>
          <a:solidFill>
            <a:srgbClr val="1F7A7A"/>
          </a:solidFill>
          <a:ln/>
        </p:spPr>
      </p:sp>
      <p:pic>
        <p:nvPicPr>
          <p:cNvPr id="31" name="Image 4" descr="preencoded.png">    </p:cNvPr>
          <p:cNvPicPr>
            <a:picLocks noChangeAspect="1"/>
          </p:cNvPicPr>
          <p:nvPr/>
        </p:nvPicPr>
        <p:blipFill>
          <a:blip r:embed="rId5"/>
          <a:stretch>
            <a:fillRect/>
          </a:stretch>
        </p:blipFill>
        <p:spPr>
          <a:xfrm>
            <a:off x="822960" y="5875020"/>
            <a:ext cx="457200" cy="457200"/>
          </a:xfrm>
          <a:prstGeom prst="rect">
            <a:avLst/>
          </a:prstGeom>
        </p:spPr>
      </p:pic>
      <p:sp>
        <p:nvSpPr>
          <p:cNvPr id="32"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1"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2"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3"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44450">
            <a:solidFill>
              <a:srgbClr val="1B365D"/>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AEB7C2"/>
          </a:solidFill>
          <a:ln/>
        </p:spPr>
      </p:sp>
      <p:sp>
        <p:nvSpPr>
          <p:cNvPr id="24"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44450">
            <a:solidFill>
              <a:srgbClr val="1B365D"/>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0"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51"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blocks  0.99</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45309"/>
            </a:solidFill>
            <a:prstDash val="solid"/>
          </a:ln>
        </p:spPr>
      </p:sp>
      <p:sp>
        <p:nvSpPr>
          <p:cNvPr id="43" name="!!deny#1"/>
          <p:cNvSpPr/>
          <p:nvPr/>
        </p:nvSpPr>
        <p:spPr>
          <a:xfrm>
            <a:off x="4795418" y="3401568"/>
            <a:ext cx="3515258" cy="0"/>
          </a:xfrm>
          <a:prstGeom prst="line">
            <a:avLst/>
          </a:prstGeom>
          <a:noFill/>
          <a:ln w="44450">
            <a:solidFill>
              <a:srgbClr val="B45309"/>
            </a:solidFill>
            <a:prstDash val="solid"/>
          </a:ln>
        </p:spPr>
      </p:sp>
      <p:sp>
        <p:nvSpPr>
          <p:cNvPr id="44" name="!!deny#2"/>
          <p:cNvSpPr/>
          <p:nvPr/>
        </p:nvSpPr>
        <p:spPr>
          <a:xfrm flipV="1">
            <a:off x="8310677" y="3200400"/>
            <a:ext cx="0" cy="201168"/>
          </a:xfrm>
          <a:prstGeom prst="line">
            <a:avLst/>
          </a:prstGeom>
          <a:noFill/>
          <a:ln w="44450">
            <a:solidFill>
              <a:srgbClr val="B45309"/>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3"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E4F4F"/>
            </a:solidFill>
            <a:prstDash val="solid"/>
          </a:ln>
        </p:spPr>
      </p:sp>
      <p:sp>
        <p:nvSpPr>
          <p:cNvPr id="43" name="!!deny#1"/>
          <p:cNvSpPr/>
          <p:nvPr/>
        </p:nvSpPr>
        <p:spPr>
          <a:xfrm>
            <a:off x="4795418" y="3401568"/>
            <a:ext cx="3515258" cy="0"/>
          </a:xfrm>
          <a:prstGeom prst="line">
            <a:avLst/>
          </a:prstGeom>
          <a:noFill/>
          <a:ln w="44450">
            <a:solidFill>
              <a:srgbClr val="BE4F4F"/>
            </a:solidFill>
            <a:prstDash val="solid"/>
          </a:ln>
        </p:spPr>
      </p:sp>
      <p:sp>
        <p:nvSpPr>
          <p:cNvPr id="44" name="!!deny#2"/>
          <p:cNvSpPr/>
          <p:nvPr/>
        </p:nvSpPr>
        <p:spPr>
          <a:xfrm flipV="1">
            <a:off x="8310677" y="3200400"/>
            <a:ext cx="0" cy="201168"/>
          </a:xfrm>
          <a:prstGeom prst="line">
            <a:avLst/>
          </a:prstGeom>
          <a:noFill/>
          <a:ln w="44450">
            <a:solidFill>
              <a:srgbClr val="BE4F4F"/>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4" name="Shape 1"/>
          <p:cNvSpPr/>
          <p:nvPr/>
        </p:nvSpPr>
        <p:spPr>
          <a:xfrm>
            <a:off x="548640" y="1463040"/>
            <a:ext cx="7223760" cy="4663440"/>
          </a:xfrm>
          <a:prstGeom prst="roundRect">
            <a:avLst>
              <a:gd name="adj" fmla="val 1569"/>
            </a:avLst>
          </a:prstGeom>
          <a:solidFill>
            <a:srgbClr val="FFFFFF"/>
          </a:solidFill>
          <a:ln/>
        </p:spPr>
      </p:sp>
      <p:graphicFrame>
        <p:nvGraphicFramePr>
          <p:cNvPr id="5"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0"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1" name="Shape 6"/>
          <p:cNvSpPr/>
          <p:nvPr/>
        </p:nvSpPr>
        <p:spPr>
          <a:xfrm>
            <a:off x="8046720" y="3108960"/>
            <a:ext cx="3596335" cy="1371600"/>
          </a:xfrm>
          <a:prstGeom prst="roundRect">
            <a:avLst>
              <a:gd name="adj" fmla="val 5333"/>
            </a:avLst>
          </a:prstGeom>
          <a:solidFill>
            <a:srgbClr val="FFFFFF"/>
          </a:solidFill>
          <a:ln/>
        </p:spPr>
      </p:sp>
      <p:sp>
        <p:nvSpPr>
          <p:cNvPr id="12"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478378"/>
            <a:ext cx="358445" cy="358445"/>
          </a:xfrm>
          <a:prstGeom prst="rect">
            <a:avLst/>
          </a:prstGeom>
        </p:spPr>
      </p:pic>
      <p:sp>
        <p:nvSpPr>
          <p:cNvPr id="14"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5"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6" name="Shape 10"/>
          <p:cNvSpPr/>
          <p:nvPr/>
        </p:nvSpPr>
        <p:spPr>
          <a:xfrm>
            <a:off x="8046720" y="4754880"/>
            <a:ext cx="3596335" cy="1371600"/>
          </a:xfrm>
          <a:prstGeom prst="roundRect">
            <a:avLst>
              <a:gd name="adj" fmla="val 5333"/>
            </a:avLst>
          </a:prstGeom>
          <a:solidFill>
            <a:srgbClr val="FFFFFF"/>
          </a:solidFill>
          <a:ln/>
        </p:spPr>
      </p:sp>
      <p:sp>
        <p:nvSpPr>
          <p:cNvPr id="17"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5124298"/>
            <a:ext cx="358445" cy="358445"/>
          </a:xfrm>
          <a:prstGeom prst="rect">
            <a:avLst/>
          </a:prstGeom>
        </p:spPr>
      </p:pic>
      <p:sp>
        <p:nvSpPr>
          <p:cNvPr id="19"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0"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4" name="Shape 1"/>
          <p:cNvSpPr/>
          <p:nvPr/>
        </p:nvSpPr>
        <p:spPr>
          <a:xfrm>
            <a:off x="548640" y="1463040"/>
            <a:ext cx="11094415" cy="2743200"/>
          </a:xfrm>
          <a:prstGeom prst="roundRect">
            <a:avLst>
              <a:gd name="adj" fmla="val 2667"/>
            </a:avLst>
          </a:prstGeom>
          <a:solidFill>
            <a:srgbClr val="FFFFFF"/>
          </a:solidFill>
          <a:ln/>
        </p:spPr>
      </p:sp>
      <p:sp>
        <p:nvSpPr>
          <p:cNvPr id="5"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85393" y="1954073"/>
            <a:ext cx="435254" cy="435254"/>
          </a:xfrm>
          <a:prstGeom prst="rect">
            <a:avLst/>
          </a:prstGeom>
        </p:spPr>
      </p:pic>
      <p:sp>
        <p:nvSpPr>
          <p:cNvPr id="7"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9" name="Shape 5"/>
          <p:cNvSpPr/>
          <p:nvPr/>
        </p:nvSpPr>
        <p:spPr>
          <a:xfrm>
            <a:off x="4246778" y="1737360"/>
            <a:ext cx="0" cy="2194560"/>
          </a:xfrm>
          <a:prstGeom prst="line">
            <a:avLst/>
          </a:prstGeom>
          <a:noFill/>
          <a:ln w="19050">
            <a:solidFill>
              <a:srgbClr val="D5DBE3"/>
            </a:solidFill>
            <a:prstDash val="solid"/>
          </a:ln>
        </p:spPr>
      </p:sp>
      <p:sp>
        <p:nvSpPr>
          <p:cNvPr id="10"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83531" y="1954073"/>
            <a:ext cx="435254" cy="435254"/>
          </a:xfrm>
          <a:prstGeom prst="rect">
            <a:avLst/>
          </a:prstGeom>
        </p:spPr>
      </p:pic>
      <p:sp>
        <p:nvSpPr>
          <p:cNvPr id="12"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4" name="Shape 9"/>
          <p:cNvSpPr/>
          <p:nvPr/>
        </p:nvSpPr>
        <p:spPr>
          <a:xfrm>
            <a:off x="7944917" y="1737360"/>
            <a:ext cx="0" cy="2194560"/>
          </a:xfrm>
          <a:prstGeom prst="line">
            <a:avLst/>
          </a:prstGeom>
          <a:noFill/>
          <a:ln w="19050">
            <a:solidFill>
              <a:srgbClr val="D5DBE3"/>
            </a:solidFill>
            <a:prstDash val="solid"/>
          </a:ln>
        </p:spPr>
      </p:sp>
      <p:sp>
        <p:nvSpPr>
          <p:cNvPr id="15"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481670" y="1954073"/>
            <a:ext cx="435254" cy="435254"/>
          </a:xfrm>
          <a:prstGeom prst="rect">
            <a:avLst/>
          </a:prstGeom>
        </p:spPr>
      </p:pic>
      <p:sp>
        <p:nvSpPr>
          <p:cNvPr id="17"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19" name="Shape 13"/>
          <p:cNvSpPr/>
          <p:nvPr/>
        </p:nvSpPr>
        <p:spPr>
          <a:xfrm>
            <a:off x="548640" y="4434840"/>
            <a:ext cx="11094415" cy="822960"/>
          </a:xfrm>
          <a:prstGeom prst="roundRect">
            <a:avLst>
              <a:gd name="adj" fmla="val 8889"/>
            </a:avLst>
          </a:prstGeom>
          <a:solidFill>
            <a:srgbClr val="A94A4A"/>
          </a:solidFill>
          <a:ln/>
        </p:spPr>
      </p:sp>
      <p:pic>
        <p:nvPicPr>
          <p:cNvPr id="20" name="Image 3" descr="preencoded.png">    </p:cNvPr>
          <p:cNvPicPr>
            <a:picLocks noChangeAspect="1"/>
          </p:cNvPicPr>
          <p:nvPr/>
        </p:nvPicPr>
        <p:blipFill>
          <a:blip r:embed="rId4"/>
          <a:stretch>
            <a:fillRect/>
          </a:stretch>
        </p:blipFill>
        <p:spPr>
          <a:xfrm>
            <a:off x="822960" y="4617720"/>
            <a:ext cx="457200" cy="457200"/>
          </a:xfrm>
          <a:prstGeom prst="rect">
            <a:avLst/>
          </a:prstGeom>
        </p:spPr>
      </p:pic>
      <p:sp>
        <p:nvSpPr>
          <p:cNvPr id="21"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2" name="Shape 15"/>
          <p:cNvSpPr/>
          <p:nvPr/>
        </p:nvSpPr>
        <p:spPr>
          <a:xfrm>
            <a:off x="548640" y="5440680"/>
            <a:ext cx="11094415" cy="868680"/>
          </a:xfrm>
          <a:prstGeom prst="roundRect">
            <a:avLst>
              <a:gd name="adj" fmla="val 8421"/>
            </a:avLst>
          </a:prstGeom>
          <a:solidFill>
            <a:srgbClr val="FFFFFF"/>
          </a:solidFill>
          <a:ln/>
        </p:spPr>
      </p:sp>
      <p:sp>
        <p:nvSpPr>
          <p:cNvPr id="23"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1025042" y="5734202"/>
            <a:ext cx="281635" cy="281635"/>
          </a:xfrm>
          <a:prstGeom prst="rect">
            <a:avLst/>
          </a:prstGeom>
        </p:spPr>
      </p:pic>
      <p:sp>
        <p:nvSpPr>
          <p:cNvPr id="25"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6"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4723181" y="5734202"/>
            <a:ext cx="281635" cy="281635"/>
          </a:xfrm>
          <a:prstGeom prst="rect">
            <a:avLst/>
          </a:prstGeom>
        </p:spPr>
      </p:pic>
      <p:sp>
        <p:nvSpPr>
          <p:cNvPr id="28"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29"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0" name="Image 6" descr="preencoded.png">    </p:cNvPr>
          <p:cNvPicPr>
            <a:picLocks noChangeAspect="1"/>
          </p:cNvPicPr>
          <p:nvPr/>
        </p:nvPicPr>
        <p:blipFill>
          <a:blip r:embed="rId7"/>
          <a:stretch>
            <a:fillRect/>
          </a:stretch>
        </p:blipFill>
        <p:spPr>
          <a:xfrm>
            <a:off x="8421319" y="5734202"/>
            <a:ext cx="281635" cy="281635"/>
          </a:xfrm>
          <a:prstGeom prst="rect">
            <a:avLst/>
          </a:prstGeom>
        </p:spPr>
      </p:pic>
      <p:sp>
        <p:nvSpPr>
          <p:cNvPr id="31"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0"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Shape 3"/>
          <p:cNvSpPr/>
          <p:nvPr/>
        </p:nvSpPr>
        <p:spPr>
          <a:xfrm>
            <a:off x="6949440" y="640080"/>
            <a:ext cx="4602175" cy="1737360"/>
          </a:xfrm>
          <a:prstGeom prst="roundRect">
            <a:avLst>
              <a:gd name="adj" fmla="val 4211"/>
            </a:avLst>
          </a:prstGeom>
          <a:solidFill>
            <a:srgbClr val="FFFFFF"/>
          </a:solidFill>
          <a:ln/>
        </p:spPr>
      </p:sp>
      <p:sp>
        <p:nvSpPr>
          <p:cNvPr id="6" name="Shape 4"/>
          <p:cNvSpPr/>
          <p:nvPr/>
        </p:nvSpPr>
        <p:spPr>
          <a:xfrm>
            <a:off x="7178040" y="868680"/>
            <a:ext cx="640080" cy="640080"/>
          </a:xfrm>
          <a:prstGeom prst="ellipse">
            <a:avLst/>
          </a:prstGeom>
          <a:solidFill>
            <a:srgbClr val="1F7A7A"/>
          </a:solidFill>
          <a:ln w="12700">
            <a:solidFill>
              <a:srgbClr val="1F7A7A"/>
            </a:solidFill>
            <a:prstDash val="solid"/>
          </a:ln>
        </p:spPr>
      </p:sp>
      <p:pic>
        <p:nvPicPr>
          <p:cNvPr id="7"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8" name="Text 5"/>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9" name="Text 6"/>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0" name="Shape 7"/>
          <p:cNvSpPr/>
          <p:nvPr/>
        </p:nvSpPr>
        <p:spPr>
          <a:xfrm>
            <a:off x="6949440" y="2560320"/>
            <a:ext cx="4602175" cy="1737360"/>
          </a:xfrm>
          <a:prstGeom prst="roundRect">
            <a:avLst>
              <a:gd name="adj" fmla="val 4211"/>
            </a:avLst>
          </a:prstGeom>
          <a:solidFill>
            <a:srgbClr val="FFFFFF"/>
          </a:solidFill>
          <a:ln/>
        </p:spPr>
      </p:sp>
      <p:sp>
        <p:nvSpPr>
          <p:cNvPr id="11" name="Shape 8"/>
          <p:cNvSpPr/>
          <p:nvPr/>
        </p:nvSpPr>
        <p:spPr>
          <a:xfrm>
            <a:off x="7178040" y="2788920"/>
            <a:ext cx="640080" cy="64008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3" name="Text 9"/>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4" name="Text 10"/>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5" name="Shape 11"/>
          <p:cNvSpPr/>
          <p:nvPr/>
        </p:nvSpPr>
        <p:spPr>
          <a:xfrm>
            <a:off x="6949440" y="4480560"/>
            <a:ext cx="4602175" cy="1737360"/>
          </a:xfrm>
          <a:prstGeom prst="roundRect">
            <a:avLst>
              <a:gd name="adj" fmla="val 4211"/>
            </a:avLst>
          </a:prstGeom>
          <a:solidFill>
            <a:srgbClr val="FFFFFF"/>
          </a:solidFill>
          <a:ln/>
        </p:spPr>
      </p:sp>
      <p:sp>
        <p:nvSpPr>
          <p:cNvPr id="16" name="Shape 12"/>
          <p:cNvSpPr/>
          <p:nvPr/>
        </p:nvSpPr>
        <p:spPr>
          <a:xfrm>
            <a:off x="7178040" y="4709160"/>
            <a:ext cx="640080" cy="640080"/>
          </a:xfrm>
          <a:prstGeom prst="ellipse">
            <a:avLst/>
          </a:prstGeom>
          <a:solidFill>
            <a:srgbClr val="234B84"/>
          </a:solidFill>
          <a:ln w="12700">
            <a:solidFill>
              <a:srgbClr val="234B84"/>
            </a:solidFill>
            <a:prstDash val="solid"/>
          </a:ln>
        </p:spPr>
      </p:sp>
      <p:pic>
        <p:nvPicPr>
          <p:cNvPr id="17"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8" name="Text 13"/>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19" name="Text 14"/>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 Intent Detection and Rule Checks</dc:title>
  <dc:subject>PptxGenJS Presentation</dc:subject>
  <dc:creator>Phenikaa School of Computing</dc:creator>
  <cp:lastModifiedBy>Phenikaa School of Computing</cp:lastModifiedBy>
  <cp:revision>1</cp:revision>
  <dcterms:created xsi:type="dcterms:W3CDTF">2026-10-13T14:51:34Z</dcterms:created>
  <dcterms:modified xsi:type="dcterms:W3CDTF">2026-10-13T14:51:34Z</dcterms:modified>
</cp:coreProperties>
</file>