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50 requests (queue: 48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Sheet1!$B$2:$B$6</c:f>
              <c:numCache>
                <c:formatCode>General</c:formatCode>
                <c:ptCount val="5"/>
                <c:pt idx="0">
                  <c:v>86</c:v>
                </c:pt>
                <c:pt idx="1">
                  <c:v>91.7</c:v>
                </c:pt>
                <c:pt idx="2">
                  <c:v>84</c:v>
                </c:pt>
                <c:pt idx="3">
                  <c:v>78</c:v>
                </c:pt>
                <c:pt idx="4">
                  <c:v>94</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Sheet1!$C$2:$C$6</c:f>
              <c:numCache>
                <c:formatCode>General</c:formatCode>
                <c:ptCount val="5"/>
                <c:pt idx="0">
                  <c:v>92</c:v>
                </c:pt>
                <c:pt idx="1">
                  <c:v>85.4</c:v>
                </c:pt>
                <c:pt idx="2">
                  <c:v>94</c:v>
                </c:pt>
                <c:pt idx="3">
                  <c:v>84</c:v>
                </c:pt>
                <c:pt idx="4">
                  <c:v>100</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50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Sheet1!$B$2:$B$3</c:f>
              <c:numCache>
                <c:formatCode>General</c:formatCode>
                <c:ptCount val="2"/>
                <c:pt idx="0">
                  <c:v>32</c:v>
                </c:pt>
                <c:pt idx="1">
                  <c:v>35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Sheet1!$C$2:$C$3</c:f>
              <c:numCache>
                <c:formatCode>General</c:formatCode>
                <c:ptCount val="2"/>
                <c:pt idx="0">
                  <c:v>15</c:v>
                </c:pt>
                <c:pt idx="1">
                  <c:v>15</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Sheet1!$D$2:$D$3</c:f>
              <c:numCache>
                <c:formatCode>General</c:formatCode>
                <c:ptCount val="2"/>
                <c:pt idx="0">
                  <c:v>3</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75 s. Good morning. A customer waits two days for a refund; a chatbot that handles money can do harm. We study three levels of customer support for FrameForge, a made-up AI video-generation SaaS: support staff, one LLM agent, and Jev with fixed code and an LLM. The bars show the task allocation of the paper: the leader has the largest share, and each member has a different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85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92 s. Level 1 is the baseline: support staff read every request, 90 s each (assumed). Level 2 replaces the staff with one LLM agent that reads the account, applies the written rules itself, and either runs an action or denies it. Level 3 splits the job: Jev gives five typed answers, each with a confidence, fixed code reads only the account fields that the action needs and checks the written rules, and the LLM writes the reply. Every level runs on the same 50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70 s. Only the four actions that change state have written rules: refund, delete data, cancel plan, and reset password. Each rule gives allow or deny. Deny means nothing runs, and the reply gives the steps that the customer can take alone. The Security rule is checked first for every state change: a request that reports that the account or the payment method was used by someone who is not the customer stops the action. Deleting data is always denied, because it cannot be undone. At Level 2 the agent applies these rules itself; at Level 3 fixed code 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72 s. This is the flow of Level 3 as a state machine with eight states. New saves the message. Triage: Jev answers five questions, each with a confidence, in one call and never reads the account; an injection flag ignores the orders in the text, and a fraud report goes to the queue Security. Gather info is fixed code and reads only the account fields that the action needs. Rules check applies the written rules, the Security rule first: allow goes to Do action, deny goes to the Final message with nothing run. The LLM writes the Final message only. A popup then asks if the issue is solved, and the chat resolves. The selected fields cut the Final message input from 617 to 590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162 s. All data are made by us. The test data have 72 FrameForge customers. A seeded generator writes 50 requests in 24 types. A full run makes 300 model calls: 100 each at Level 2, at Level 3, and in the LLM-classifier run. We call two hosted models for real: Jev (jev-1.13.0) and deepseek-v4.1-flash through the DeepSeek API. An offline replay of the recorded run gives the same numbers. Two questions: what does each level buy and cost; what changes when Jev replaces the LLM as the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55 s. Both classifiers get the same input and the same criteria. Jev is behind the LLM on action (86.0% against 92.0%), priority, risk flag, and injection flag, and ahead on queue (91.7% against 85.4% of 48 scored requests). One classifier call takes a median of 0.241 s with Jev and 4.410 s with the LLM: 18 times faster. The stage costs $0.052 against $0.587 per 1,000 requests: 11 times cheaper. Jev gives a wrong queue or action in 11 of 50 requests, and none is an error at Level 3 (7 are label errors); the routing rule, the written rules, and the Security rule catch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Level 1 uses an assumed 90 s per request. Level 2 serves 32 of 50, stops 15, and makes 3 errors: wrong denials where the correct result is an answer; nothing ran. Level 3 serves 35, stops 15, and makes 0 errors. Machine time is 6.85 s against 3.16 s: 2.2 times faster. Cost is $0.71 against $0.30 per 1,000 requests: 2.4 times cheaper. The exact sign test has 3 discordant pairs, all errors at Level 2 only, and gives p = 0.25. The accuracy gap is not established. Our strong claims are speed, cost, and never worse in any column. No run is harmful at either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75 s. The evidence is small-sample: two hosted models, one synthetic SaaS product, and an assumed 90 s per request at Level 1. 0 money or data harm in 50 requests is not proof of zero; the 95% upper limit is about 6%. The popup delay and the silence time are not simulated. The classifier comparison uses one prompt wording and one run per request. The Security rule was added after fraud reports showed a defect on these 50 requests, so the main numbers are not a blind test. With 3 discordant pairs (p = 0.25) the accuracy gap is not established. What Level 3 buys is time and cost, and it is never worse in any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To conclude: three levels on one ladder, measured on the same 50 requests. Level 3 serves 35, stops 15, and makes 0 errors; Level 2 serves 32, stops 15, and makes 3. Level 3 is never worse in any column, 2.2 times faster, and 2.4 times cheaper. The sign test (p = 0.25) does not establish an accuracy gap. The Security rule stops state changes on fraud reports; we added it after we saw a defect on these 50 requests, so the main numbers are not a blind test. Jev is less accurate than the LLM on four of five fields, but the written rules catch its wrong answers.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457200"/>
            <a:ext cx="5943600" cy="20116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Human to LLM &amp; Classifier Support Agent: A Three-Level Ladder for SaaS Request Triage</a:t>
            </a:r>
            <a:endParaRPr lang="en-US" sz="3200" dirty="0"/>
          </a:p>
        </p:txBody>
      </p:sp>
      <p:sp>
        <p:nvSpPr>
          <p:cNvPr id="3" name="Text 1"/>
          <p:cNvSpPr/>
          <p:nvPr/>
        </p:nvSpPr>
        <p:spPr>
          <a:xfrm>
            <a:off x="731520" y="2194560"/>
            <a:ext cx="5943600" cy="731520"/>
          </a:xfrm>
          <a:prstGeom prst="rect">
            <a:avLst/>
          </a:prstGeom>
          <a:noFill/>
          <a:ln/>
        </p:spPr>
        <p:txBody>
          <a:bodyPr wrap="square" lIns="0" tIns="0" rIns="0" bIns="0" rtlCol="0" anchor="t"/>
          <a:lstStyle/>
          <a:p>
            <a:pPr indent="0" marL="0">
              <a:buNone/>
            </a:pPr>
            <a:r>
              <a:rPr lang="en-US" sz="1700" dirty="0">
                <a:solidFill>
                  <a:srgbClr val="E3ECF6"/>
                </a:solidFill>
                <a:latin typeface="Calibri" pitchFamily="34" charset="0"/>
                <a:ea typeface="Calibri" pitchFamily="34" charset="-122"/>
                <a:cs typeface="Calibri" pitchFamily="34" charset="-120"/>
              </a:rPr>
              <a:t>FrameForge, an AI video-generation SaaS: support staff, one LLM agent, then Jev with fixed code and an LLM</a:t>
            </a:r>
            <a:endParaRPr lang="en-US" sz="1700" dirty="0"/>
          </a:p>
        </p:txBody>
      </p:sp>
      <p:sp>
        <p:nvSpPr>
          <p:cNvPr id="4" name="Text 2"/>
          <p:cNvSpPr/>
          <p:nvPr/>
        </p:nvSpPr>
        <p:spPr>
          <a:xfrm>
            <a:off x="731520" y="3291840"/>
            <a:ext cx="5943600" cy="274320"/>
          </a:xfrm>
          <a:prstGeom prst="rect">
            <a:avLst/>
          </a:prstGeom>
          <a:noFill/>
          <a:ln/>
        </p:spPr>
        <p:txBody>
          <a:bodyPr wrap="square" lIns="0" tIns="0" rIns="0" bIns="0" rtlCol="0" anchor="ctr"/>
          <a:lstStyle/>
          <a:p>
            <a:pPr indent="0" marL="0">
              <a:buNone/>
            </a:pPr>
            <a:r>
              <a:rPr lang="en-US" sz="1300" b="1" dirty="0">
                <a:solidFill>
                  <a:srgbClr val="E3ECF6"/>
                </a:solidFill>
                <a:latin typeface="Calibri" pitchFamily="34" charset="0"/>
                <a:ea typeface="Calibri" pitchFamily="34" charset="-122"/>
                <a:cs typeface="Calibri" pitchFamily="34" charset="-120"/>
              </a:rPr>
              <a:t>Task allocation (bar = share of the work and of the talk)</a:t>
            </a:r>
            <a:endParaRPr lang="en-US" sz="1300" dirty="0"/>
          </a:p>
        </p:txBody>
      </p:sp>
      <p:sp>
        <p:nvSpPr>
          <p:cNvPr id="5" name="Text 3"/>
          <p:cNvSpPr/>
          <p:nvPr/>
        </p:nvSpPr>
        <p:spPr>
          <a:xfrm>
            <a:off x="731520" y="3657600"/>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Tran Thanh Long (Leader)</a:t>
            </a:r>
            <a:endParaRPr lang="en-US" sz="1500" dirty="0"/>
          </a:p>
        </p:txBody>
      </p:sp>
      <p:sp>
        <p:nvSpPr>
          <p:cNvPr id="6" name="Shape 4"/>
          <p:cNvSpPr/>
          <p:nvPr/>
        </p:nvSpPr>
        <p:spPr>
          <a:xfrm>
            <a:off x="3291840" y="3694176"/>
            <a:ext cx="2377440" cy="219456"/>
          </a:xfrm>
          <a:prstGeom prst="roundRect">
            <a:avLst>
              <a:gd name="adj" fmla="val 20833"/>
            </a:avLst>
          </a:prstGeom>
          <a:solidFill>
            <a:srgbClr val="FFFFFF"/>
          </a:solidFill>
          <a:ln/>
        </p:spPr>
      </p:sp>
      <p:sp>
        <p:nvSpPr>
          <p:cNvPr id="7" name="Text 5"/>
          <p:cNvSpPr/>
          <p:nvPr/>
        </p:nvSpPr>
        <p:spPr>
          <a:xfrm>
            <a:off x="5760720" y="3657600"/>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28%</a:t>
            </a:r>
            <a:endParaRPr lang="en-US" sz="1500" dirty="0"/>
          </a:p>
        </p:txBody>
      </p:sp>
      <p:sp>
        <p:nvSpPr>
          <p:cNvPr id="8" name="Text 6"/>
          <p:cNvSpPr/>
          <p:nvPr/>
        </p:nvSpPr>
        <p:spPr>
          <a:xfrm>
            <a:off x="731520" y="4059936"/>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Thanh Nam</a:t>
            </a:r>
            <a:endParaRPr lang="en-US" sz="1500" dirty="0"/>
          </a:p>
        </p:txBody>
      </p:sp>
      <p:sp>
        <p:nvSpPr>
          <p:cNvPr id="9" name="Shape 7"/>
          <p:cNvSpPr/>
          <p:nvPr/>
        </p:nvSpPr>
        <p:spPr>
          <a:xfrm>
            <a:off x="3291840" y="4096512"/>
            <a:ext cx="1867989" cy="219456"/>
          </a:xfrm>
          <a:prstGeom prst="roundRect">
            <a:avLst>
              <a:gd name="adj" fmla="val 20833"/>
            </a:avLst>
          </a:prstGeom>
          <a:solidFill>
            <a:srgbClr val="C9DAEC"/>
          </a:solidFill>
          <a:ln/>
        </p:spPr>
      </p:sp>
      <p:sp>
        <p:nvSpPr>
          <p:cNvPr id="10" name="Text 8"/>
          <p:cNvSpPr/>
          <p:nvPr/>
        </p:nvSpPr>
        <p:spPr>
          <a:xfrm>
            <a:off x="5251269" y="4059936"/>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22%</a:t>
            </a:r>
            <a:endParaRPr lang="en-US" sz="1500" dirty="0"/>
          </a:p>
        </p:txBody>
      </p:sp>
      <p:sp>
        <p:nvSpPr>
          <p:cNvPr id="11" name="Text 9"/>
          <p:cNvSpPr/>
          <p:nvPr/>
        </p:nvSpPr>
        <p:spPr>
          <a:xfrm>
            <a:off x="731520" y="4462272"/>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 Van Son</a:t>
            </a:r>
            <a:endParaRPr lang="en-US" sz="1500" dirty="0"/>
          </a:p>
        </p:txBody>
      </p:sp>
      <p:sp>
        <p:nvSpPr>
          <p:cNvPr id="12" name="Shape 10"/>
          <p:cNvSpPr/>
          <p:nvPr/>
        </p:nvSpPr>
        <p:spPr>
          <a:xfrm>
            <a:off x="3291840" y="4498848"/>
            <a:ext cx="1528354" cy="219456"/>
          </a:xfrm>
          <a:prstGeom prst="roundRect">
            <a:avLst>
              <a:gd name="adj" fmla="val 20833"/>
            </a:avLst>
          </a:prstGeom>
          <a:solidFill>
            <a:srgbClr val="C9DAEC"/>
          </a:solidFill>
          <a:ln/>
        </p:spPr>
      </p:sp>
      <p:sp>
        <p:nvSpPr>
          <p:cNvPr id="13" name="Text 11"/>
          <p:cNvSpPr/>
          <p:nvPr/>
        </p:nvSpPr>
        <p:spPr>
          <a:xfrm>
            <a:off x="4911634" y="4462272"/>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18%</a:t>
            </a:r>
            <a:endParaRPr lang="en-US" sz="1500" dirty="0"/>
          </a:p>
        </p:txBody>
      </p:sp>
      <p:sp>
        <p:nvSpPr>
          <p:cNvPr id="14" name="Text 12"/>
          <p:cNvSpPr/>
          <p:nvPr/>
        </p:nvSpPr>
        <p:spPr>
          <a:xfrm>
            <a:off x="731520" y="4864608"/>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Vuong Quang Quy</a:t>
            </a:r>
            <a:endParaRPr lang="en-US" sz="1500" dirty="0"/>
          </a:p>
        </p:txBody>
      </p:sp>
      <p:sp>
        <p:nvSpPr>
          <p:cNvPr id="15" name="Shape 13"/>
          <p:cNvSpPr/>
          <p:nvPr/>
        </p:nvSpPr>
        <p:spPr>
          <a:xfrm>
            <a:off x="3291840" y="4901184"/>
            <a:ext cx="1443446" cy="219456"/>
          </a:xfrm>
          <a:prstGeom prst="roundRect">
            <a:avLst>
              <a:gd name="adj" fmla="val 20833"/>
            </a:avLst>
          </a:prstGeom>
          <a:solidFill>
            <a:srgbClr val="C9DAEC"/>
          </a:solidFill>
          <a:ln/>
        </p:spPr>
      </p:sp>
      <p:sp>
        <p:nvSpPr>
          <p:cNvPr id="16" name="Text 14"/>
          <p:cNvSpPr/>
          <p:nvPr/>
        </p:nvSpPr>
        <p:spPr>
          <a:xfrm>
            <a:off x="4826726" y="4864608"/>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17%</a:t>
            </a:r>
            <a:endParaRPr lang="en-US" sz="1500" dirty="0"/>
          </a:p>
        </p:txBody>
      </p:sp>
      <p:sp>
        <p:nvSpPr>
          <p:cNvPr id="17" name="Text 15"/>
          <p:cNvSpPr/>
          <p:nvPr/>
        </p:nvSpPr>
        <p:spPr>
          <a:xfrm>
            <a:off x="731520" y="5266944"/>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Phuong Nam</a:t>
            </a:r>
            <a:endParaRPr lang="en-US" sz="1500" dirty="0"/>
          </a:p>
        </p:txBody>
      </p:sp>
      <p:sp>
        <p:nvSpPr>
          <p:cNvPr id="18" name="Shape 16"/>
          <p:cNvSpPr/>
          <p:nvPr/>
        </p:nvSpPr>
        <p:spPr>
          <a:xfrm>
            <a:off x="3291840" y="5303520"/>
            <a:ext cx="1273629" cy="219456"/>
          </a:xfrm>
          <a:prstGeom prst="roundRect">
            <a:avLst>
              <a:gd name="adj" fmla="val 20833"/>
            </a:avLst>
          </a:prstGeom>
          <a:solidFill>
            <a:srgbClr val="C9DAEC"/>
          </a:solidFill>
          <a:ln/>
        </p:spPr>
      </p:sp>
      <p:sp>
        <p:nvSpPr>
          <p:cNvPr id="19" name="Text 17"/>
          <p:cNvSpPr/>
          <p:nvPr/>
        </p:nvSpPr>
        <p:spPr>
          <a:xfrm>
            <a:off x="4656909" y="5266944"/>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a:t>
            </a:r>
            <a:endParaRPr lang="en-US" sz="1500" dirty="0"/>
          </a:p>
        </p:txBody>
      </p:sp>
      <p:sp>
        <p:nvSpPr>
          <p:cNvPr id="20" name="Text 18"/>
          <p:cNvSpPr/>
          <p:nvPr/>
        </p:nvSpPr>
        <p:spPr>
          <a:xfrm>
            <a:off x="731520" y="5760720"/>
            <a:ext cx="5943600" cy="5029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Phenikaa School of Computing</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English Writing and Presentation Skills · October 2026</a:t>
            </a:r>
            <a:endParaRPr lang="en-US" sz="1400" dirty="0"/>
          </a:p>
        </p:txBody>
      </p:sp>
      <p:pic>
        <p:nvPicPr>
          <p:cNvPr id="21" name="Image 0" descr="preencoded.png">    </p:cNvPr>
          <p:cNvPicPr>
            <a:picLocks noChangeAspect="1"/>
          </p:cNvPicPr>
          <p:nvPr/>
        </p:nvPicPr>
        <p:blipFill>
          <a:blip r:embed="rId1"/>
          <a:stretch>
            <a:fillRect/>
          </a:stretch>
        </p:blipFill>
        <p:spPr>
          <a:xfrm>
            <a:off x="6858000" y="868680"/>
            <a:ext cx="4754880" cy="4754880"/>
          </a:xfrm>
          <a:prstGeom prst="rect">
            <a:avLst/>
          </a:prstGeom>
        </p:spPr>
      </p:pic>
      <p:sp>
        <p:nvSpPr>
          <p:cNvPr id="22" name="Text 19"/>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Tran Thanh Long · 75 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85 s</a:t>
            </a:r>
            <a:endParaRPr lang="en-US" sz="1100" dirty="0"/>
          </a:p>
        </p:txBody>
      </p:sp>
      <p:sp>
        <p:nvSpPr>
          <p:cNvPr id="5" name="Shape 2"/>
          <p:cNvSpPr/>
          <p:nvPr/>
        </p:nvSpPr>
        <p:spPr>
          <a:xfrm>
            <a:off x="548640" y="1508760"/>
            <a:ext cx="5364328" cy="3200400"/>
          </a:xfrm>
          <a:prstGeom prst="roundRect">
            <a:avLst>
              <a:gd name="adj" fmla="val 2286"/>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7" name="Text 3"/>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8" name="Text 4"/>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9" name="Shape 5"/>
          <p:cNvSpPr/>
          <p:nvPr/>
        </p:nvSpPr>
        <p:spPr>
          <a:xfrm>
            <a:off x="6278728" y="1508760"/>
            <a:ext cx="5364328" cy="3200400"/>
          </a:xfrm>
          <a:prstGeom prst="roundRect">
            <a:avLst>
              <a:gd name="adj" fmla="val 2286"/>
            </a:avLst>
          </a:prstGeom>
          <a:solidFill>
            <a:srgbClr val="FFFFFF"/>
          </a:solidFill>
          <a:ln/>
        </p:spPr>
      </p:sp>
      <p:pic>
        <p:nvPicPr>
          <p:cNvPr id="10"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1" name="Text 6"/>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2" name="Text 7"/>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3" name="Text 8"/>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92 s</a:t>
            </a:r>
            <a:endParaRPr lang="en-US" sz="1100" dirty="0"/>
          </a:p>
        </p:txBody>
      </p:sp>
      <p:sp>
        <p:nvSpPr>
          <p:cNvPr id="5" name="Shape 2"/>
          <p:cNvSpPr/>
          <p:nvPr/>
        </p:nvSpPr>
        <p:spPr>
          <a:xfrm>
            <a:off x="548640" y="1508760"/>
            <a:ext cx="3423818" cy="3703320"/>
          </a:xfrm>
          <a:prstGeom prst="roundRect">
            <a:avLst>
              <a:gd name="adj" fmla="val 2137"/>
            </a:avLst>
          </a:prstGeom>
          <a:solidFill>
            <a:srgbClr val="FFFFFF"/>
          </a:solidFill>
          <a:ln/>
        </p:spPr>
      </p:sp>
      <p:sp>
        <p:nvSpPr>
          <p:cNvPr id="6" name="Shape 3"/>
          <p:cNvSpPr/>
          <p:nvPr/>
        </p:nvSpPr>
        <p:spPr>
          <a:xfrm>
            <a:off x="822960" y="1783080"/>
            <a:ext cx="731520" cy="73152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8" name="Text 4"/>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9" name="Text 5"/>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10" name="Text 6"/>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1" name="Shape 7"/>
          <p:cNvSpPr/>
          <p:nvPr/>
        </p:nvSpPr>
        <p:spPr>
          <a:xfrm>
            <a:off x="4018178" y="3360420"/>
            <a:ext cx="320040" cy="0"/>
          </a:xfrm>
          <a:prstGeom prst="line">
            <a:avLst/>
          </a:prstGeom>
          <a:noFill/>
          <a:ln w="25400">
            <a:solidFill>
              <a:srgbClr val="5F6B7A"/>
            </a:solidFill>
            <a:prstDash val="solid"/>
            <a:tailEnd type="triangle"/>
          </a:ln>
        </p:spPr>
      </p:sp>
      <p:sp>
        <p:nvSpPr>
          <p:cNvPr id="12" name="Shape 8"/>
          <p:cNvSpPr/>
          <p:nvPr/>
        </p:nvSpPr>
        <p:spPr>
          <a:xfrm>
            <a:off x="4383938" y="1508760"/>
            <a:ext cx="3423818" cy="3703320"/>
          </a:xfrm>
          <a:prstGeom prst="roundRect">
            <a:avLst>
              <a:gd name="adj" fmla="val 2137"/>
            </a:avLst>
          </a:prstGeom>
          <a:solidFill>
            <a:srgbClr val="FFFFFF"/>
          </a:solidFill>
          <a:ln/>
        </p:spPr>
      </p:sp>
      <p:sp>
        <p:nvSpPr>
          <p:cNvPr id="13" name="Shape 9"/>
          <p:cNvSpPr/>
          <p:nvPr/>
        </p:nvSpPr>
        <p:spPr>
          <a:xfrm>
            <a:off x="4658258" y="1783080"/>
            <a:ext cx="731520" cy="731520"/>
          </a:xfrm>
          <a:prstGeom prst="ellipse">
            <a:avLst/>
          </a:prstGeom>
          <a:solidFill>
            <a:srgbClr val="4A82B8"/>
          </a:solidFill>
          <a:ln w="12700">
            <a:solidFill>
              <a:srgbClr val="4A82B8"/>
            </a:solidFill>
            <a:prstDash val="solid"/>
          </a:ln>
        </p:spPr>
      </p:sp>
      <p:pic>
        <p:nvPicPr>
          <p:cNvPr id="14"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5" name="Text 10"/>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6" name="Text 11"/>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7" name="Text 12"/>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8" name="Shape 13"/>
          <p:cNvSpPr/>
          <p:nvPr/>
        </p:nvSpPr>
        <p:spPr>
          <a:xfrm>
            <a:off x="7853477" y="3360420"/>
            <a:ext cx="320040" cy="0"/>
          </a:xfrm>
          <a:prstGeom prst="line">
            <a:avLst/>
          </a:prstGeom>
          <a:noFill/>
          <a:ln w="25400">
            <a:solidFill>
              <a:srgbClr val="5F6B7A"/>
            </a:solidFill>
            <a:prstDash val="solid"/>
            <a:tailEnd type="triangle"/>
          </a:ln>
        </p:spPr>
      </p:sp>
      <p:sp>
        <p:nvSpPr>
          <p:cNvPr id="19" name="Shape 14"/>
          <p:cNvSpPr/>
          <p:nvPr/>
        </p:nvSpPr>
        <p:spPr>
          <a:xfrm>
            <a:off x="8219237" y="1508760"/>
            <a:ext cx="3423818" cy="3703320"/>
          </a:xfrm>
          <a:prstGeom prst="roundRect">
            <a:avLst>
              <a:gd name="adj" fmla="val 2137"/>
            </a:avLst>
          </a:prstGeom>
          <a:solidFill>
            <a:srgbClr val="FFFFFF"/>
          </a:solidFill>
          <a:ln/>
        </p:spPr>
      </p:sp>
      <p:sp>
        <p:nvSpPr>
          <p:cNvPr id="20" name="Shape 15"/>
          <p:cNvSpPr/>
          <p:nvPr/>
        </p:nvSpPr>
        <p:spPr>
          <a:xfrm>
            <a:off x="8493557" y="1783080"/>
            <a:ext cx="731520" cy="731520"/>
          </a:xfrm>
          <a:prstGeom prst="ellipse">
            <a:avLst/>
          </a:prstGeom>
          <a:solidFill>
            <a:srgbClr val="234B84"/>
          </a:solidFill>
          <a:ln w="12700">
            <a:solidFill>
              <a:srgbClr val="234B84"/>
            </a:solidFill>
            <a:prstDash val="solid"/>
          </a:ln>
        </p:spPr>
      </p:sp>
      <p:pic>
        <p:nvPicPr>
          <p:cNvPr id="21"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2" name="Text 16"/>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3" name="Text 17"/>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fixed code + LLM</a:t>
            </a:r>
            <a:endParaRPr lang="en-US" sz="2200" dirty="0"/>
          </a:p>
        </p:txBody>
      </p:sp>
      <p:sp>
        <p:nvSpPr>
          <p:cNvPr id="24" name="Text 18"/>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gives five answers with confidence. Fixed code reads only the fields the action needs and checks the rules. The LLM writes the reply.</a:t>
            </a:r>
            <a:endParaRPr lang="en-US" sz="1600" dirty="0"/>
          </a:p>
        </p:txBody>
      </p:sp>
      <p:sp>
        <p:nvSpPr>
          <p:cNvPr id="25" name="Shape 19"/>
          <p:cNvSpPr/>
          <p:nvPr/>
        </p:nvSpPr>
        <p:spPr>
          <a:xfrm>
            <a:off x="548640" y="5440680"/>
            <a:ext cx="11094415" cy="731520"/>
          </a:xfrm>
          <a:prstGeom prst="roundRect">
            <a:avLst>
              <a:gd name="adj" fmla="val 10000"/>
            </a:avLst>
          </a:prstGeom>
          <a:solidFill>
            <a:srgbClr val="1F7A7A"/>
          </a:solidFill>
          <a:ln/>
        </p:spPr>
      </p:sp>
      <p:pic>
        <p:nvPicPr>
          <p:cNvPr id="26"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7" name="Text 20"/>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50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70 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5760720"/>
                <a:gridCol w="3230575"/>
              </a:tblGrid>
              <a:tr h="36576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Written rule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Any state change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Security rule, checked first: the account or the payment method was used by someone who is not the customer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deny; the reply gives the security steps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 delete, cancel</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Only the owner can ask, and only for the account of the sender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teammate or another customer: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Reset password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The link goes only to the e-mail on file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an address in the text: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credit pack: only while no credits are used. A charge: only after the bank settles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used or not settled: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Within 14 days (monthly plan) or 30 days (annual plan) of the charge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outside: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Once for each purchase; not above $100; not after 2 refunds in 90 days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done before or over a limit: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Delete data</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Deleting cannot be undone, so this chat never does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always: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Cancel plan</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plan is cancelled once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already cancelled: deny; else allow</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Level 2: </a:t>
            </a:r>
            <a:pPr algn="l" indent="0" marL="0">
              <a:buNone/>
            </a:pPr>
            <a:r>
              <a:rPr lang="en-US" sz="1700" dirty="0">
                <a:solidFill>
                  <a:srgbClr val="1B365D"/>
                </a:solidFill>
                <a:latin typeface="Calibri" pitchFamily="34" charset="0"/>
                <a:ea typeface="Calibri" pitchFamily="34" charset="-122"/>
                <a:cs typeface="Calibri" pitchFamily="34" charset="-120"/>
              </a:rPr>
              <a:t>the agent applies these rules itself.   </a:t>
            </a:r>
            <a:pPr algn="l" indent="0" marL="0">
              <a:buNone/>
            </a:pPr>
            <a:r>
              <a:rPr lang="en-US" sz="1700" b="1" dirty="0">
                <a:solidFill>
                  <a:srgbClr val="1B365D"/>
                </a:solidFill>
                <a:latin typeface="Calibri" pitchFamily="34" charset="0"/>
                <a:ea typeface="Calibri" pitchFamily="34" charset="-122"/>
                <a:cs typeface="Calibri" pitchFamily="34" charset="-120"/>
              </a:rPr>
              <a:t>Level 3: </a:t>
            </a:r>
            <a:pPr algn="l" indent="0" marL="0">
              <a:buNone/>
            </a:pPr>
            <a:r>
              <a:rPr lang="en-US" sz="1700" dirty="0">
                <a:solidFill>
                  <a:srgbClr val="1B365D"/>
                </a:solidFill>
                <a:latin typeface="Calibri" pitchFamily="34" charset="0"/>
                <a:ea typeface="Calibri" pitchFamily="34" charset="-122"/>
                <a:cs typeface="Calibri" pitchFamily="34" charset="-120"/>
              </a:rPr>
              <a:t>fixed code checks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fixed code, and an LLM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72 s</a:t>
            </a:r>
            <a:endParaRPr lang="en-US" sz="1100" dirty="0"/>
          </a:p>
        </p:txBody>
      </p:sp>
      <p:sp>
        <p:nvSpPr>
          <p:cNvPr id="5" name="Shape 2"/>
          <p:cNvSpPr/>
          <p:nvPr/>
        </p:nvSpPr>
        <p:spPr>
          <a:xfrm>
            <a:off x="548640" y="1691640"/>
            <a:ext cx="1188720" cy="1920240"/>
          </a:xfrm>
          <a:prstGeom prst="roundRect">
            <a:avLst>
              <a:gd name="adj" fmla="val 6154"/>
            </a:avLst>
          </a:prstGeom>
          <a:solidFill>
            <a:srgbClr val="AEB7C2"/>
          </a:solidFill>
          <a:ln/>
        </p:spPr>
      </p:sp>
      <p:sp>
        <p:nvSpPr>
          <p:cNvPr id="6" name="Shape 3"/>
          <p:cNvSpPr/>
          <p:nvPr/>
        </p:nvSpPr>
        <p:spPr>
          <a:xfrm>
            <a:off x="886968" y="1828800"/>
            <a:ext cx="512064" cy="512064"/>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99622" y="1941454"/>
            <a:ext cx="286756" cy="286756"/>
          </a:xfrm>
          <a:prstGeom prst="rect">
            <a:avLst/>
          </a:prstGeom>
        </p:spPr>
      </p:pic>
      <p:sp>
        <p:nvSpPr>
          <p:cNvPr id="8" name="Text 4"/>
          <p:cNvSpPr/>
          <p:nvPr/>
        </p:nvSpPr>
        <p:spPr>
          <a:xfrm>
            <a:off x="585216"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9" name="Text 5"/>
          <p:cNvSpPr/>
          <p:nvPr/>
        </p:nvSpPr>
        <p:spPr>
          <a:xfrm>
            <a:off x="621792"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message saved</a:t>
            </a:r>
            <a:endParaRPr lang="en-US" sz="1200" dirty="0"/>
          </a:p>
        </p:txBody>
      </p:sp>
      <p:sp>
        <p:nvSpPr>
          <p:cNvPr id="10" name="Shape 6"/>
          <p:cNvSpPr/>
          <p:nvPr/>
        </p:nvSpPr>
        <p:spPr>
          <a:xfrm>
            <a:off x="1755648" y="2651760"/>
            <a:ext cx="189803" cy="0"/>
          </a:xfrm>
          <a:prstGeom prst="line">
            <a:avLst/>
          </a:prstGeom>
          <a:noFill/>
          <a:ln w="25400">
            <a:solidFill>
              <a:srgbClr val="5F6B7A"/>
            </a:solidFill>
            <a:prstDash val="solid"/>
            <a:tailEnd type="triangle"/>
          </a:ln>
        </p:spPr>
      </p:sp>
      <p:sp>
        <p:nvSpPr>
          <p:cNvPr id="11" name="Shape 7"/>
          <p:cNvSpPr/>
          <p:nvPr/>
        </p:nvSpPr>
        <p:spPr>
          <a:xfrm>
            <a:off x="1963739" y="1691640"/>
            <a:ext cx="1188720" cy="1920240"/>
          </a:xfrm>
          <a:prstGeom prst="roundRect">
            <a:avLst>
              <a:gd name="adj" fmla="val 6154"/>
            </a:avLst>
          </a:prstGeom>
          <a:solidFill>
            <a:srgbClr val="A6BCD6"/>
          </a:solidFill>
          <a:ln/>
        </p:spPr>
      </p:sp>
      <p:sp>
        <p:nvSpPr>
          <p:cNvPr id="12" name="Shape 8"/>
          <p:cNvSpPr/>
          <p:nvPr/>
        </p:nvSpPr>
        <p:spPr>
          <a:xfrm>
            <a:off x="2302067" y="1828800"/>
            <a:ext cx="512064" cy="512064"/>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2414721" y="1941454"/>
            <a:ext cx="286756" cy="286756"/>
          </a:xfrm>
          <a:prstGeom prst="rect">
            <a:avLst/>
          </a:prstGeom>
        </p:spPr>
      </p:pic>
      <p:sp>
        <p:nvSpPr>
          <p:cNvPr id="14" name="Text 9"/>
          <p:cNvSpPr/>
          <p:nvPr/>
        </p:nvSpPr>
        <p:spPr>
          <a:xfrm>
            <a:off x="20003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Triage</a:t>
            </a:r>
            <a:endParaRPr lang="en-US" sz="1400" dirty="0"/>
          </a:p>
        </p:txBody>
      </p:sp>
      <p:sp>
        <p:nvSpPr>
          <p:cNvPr id="15" name="Text 10"/>
          <p:cNvSpPr/>
          <p:nvPr/>
        </p:nvSpPr>
        <p:spPr>
          <a:xfrm>
            <a:off x="20368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Jev: five answers with confidence</a:t>
            </a:r>
            <a:endParaRPr lang="en-US" sz="1200" dirty="0"/>
          </a:p>
        </p:txBody>
      </p:sp>
      <p:sp>
        <p:nvSpPr>
          <p:cNvPr id="16" name="Shape 11"/>
          <p:cNvSpPr/>
          <p:nvPr/>
        </p:nvSpPr>
        <p:spPr>
          <a:xfrm>
            <a:off x="3170747" y="2651760"/>
            <a:ext cx="189803" cy="0"/>
          </a:xfrm>
          <a:prstGeom prst="line">
            <a:avLst/>
          </a:prstGeom>
          <a:noFill/>
          <a:ln w="25400">
            <a:solidFill>
              <a:srgbClr val="5F6B7A"/>
            </a:solidFill>
            <a:prstDash val="solid"/>
            <a:tailEnd type="triangle"/>
          </a:ln>
        </p:spPr>
      </p:sp>
      <p:sp>
        <p:nvSpPr>
          <p:cNvPr id="17" name="Shape 12"/>
          <p:cNvSpPr/>
          <p:nvPr/>
        </p:nvSpPr>
        <p:spPr>
          <a:xfrm>
            <a:off x="3378839" y="1691640"/>
            <a:ext cx="1188720" cy="1920240"/>
          </a:xfrm>
          <a:prstGeom prst="roundRect">
            <a:avLst>
              <a:gd name="adj" fmla="val 6154"/>
            </a:avLst>
          </a:prstGeom>
          <a:solidFill>
            <a:srgbClr val="AEB7C2"/>
          </a:solidFill>
          <a:ln/>
        </p:spPr>
      </p:sp>
      <p:sp>
        <p:nvSpPr>
          <p:cNvPr id="18" name="Shape 13"/>
          <p:cNvSpPr/>
          <p:nvPr/>
        </p:nvSpPr>
        <p:spPr>
          <a:xfrm>
            <a:off x="3717167" y="1828800"/>
            <a:ext cx="512064" cy="512064"/>
          </a:xfrm>
          <a:prstGeom prst="ellipse">
            <a:avLst/>
          </a:prstGeom>
          <a:solidFill>
            <a:srgbClr val="5F6B7A"/>
          </a:solidFill>
          <a:ln w="12700">
            <a:solidFill>
              <a:srgbClr val="5F6B7A"/>
            </a:solidFill>
            <a:prstDash val="solid"/>
          </a:ln>
        </p:spPr>
      </p:sp>
      <p:pic>
        <p:nvPicPr>
          <p:cNvPr id="19" name="Image 2" descr="preencoded.png">    </p:cNvPr>
          <p:cNvPicPr>
            <a:picLocks noChangeAspect="1"/>
          </p:cNvPicPr>
          <p:nvPr/>
        </p:nvPicPr>
        <p:blipFill>
          <a:blip r:embed="rId3"/>
          <a:stretch>
            <a:fillRect/>
          </a:stretch>
        </p:blipFill>
        <p:spPr>
          <a:xfrm>
            <a:off x="3829821" y="1941454"/>
            <a:ext cx="286756" cy="286756"/>
          </a:xfrm>
          <a:prstGeom prst="rect">
            <a:avLst/>
          </a:prstGeom>
        </p:spPr>
      </p:pic>
      <p:sp>
        <p:nvSpPr>
          <p:cNvPr id="20" name="Text 14"/>
          <p:cNvSpPr/>
          <p:nvPr/>
        </p:nvSpPr>
        <p:spPr>
          <a:xfrm>
            <a:off x="34154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Gather info</a:t>
            </a:r>
            <a:endParaRPr lang="en-US" sz="1400" dirty="0"/>
          </a:p>
        </p:txBody>
      </p:sp>
      <p:sp>
        <p:nvSpPr>
          <p:cNvPr id="21" name="Text 15"/>
          <p:cNvSpPr/>
          <p:nvPr/>
        </p:nvSpPr>
        <p:spPr>
          <a:xfrm>
            <a:off x="34519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only the fields the action needs</a:t>
            </a:r>
            <a:endParaRPr lang="en-US" sz="1200" dirty="0"/>
          </a:p>
        </p:txBody>
      </p:sp>
      <p:sp>
        <p:nvSpPr>
          <p:cNvPr id="22" name="Shape 16"/>
          <p:cNvSpPr/>
          <p:nvPr/>
        </p:nvSpPr>
        <p:spPr>
          <a:xfrm>
            <a:off x="4585847" y="2651760"/>
            <a:ext cx="189803" cy="0"/>
          </a:xfrm>
          <a:prstGeom prst="line">
            <a:avLst/>
          </a:prstGeom>
          <a:noFill/>
          <a:ln w="25400">
            <a:solidFill>
              <a:srgbClr val="5F6B7A"/>
            </a:solidFill>
            <a:prstDash val="solid"/>
            <a:tailEnd type="triangle"/>
          </a:ln>
        </p:spPr>
      </p:sp>
      <p:sp>
        <p:nvSpPr>
          <p:cNvPr id="23" name="Shape 17"/>
          <p:cNvSpPr/>
          <p:nvPr/>
        </p:nvSpPr>
        <p:spPr>
          <a:xfrm>
            <a:off x="4793938" y="1691640"/>
            <a:ext cx="1188720" cy="1920240"/>
          </a:xfrm>
          <a:prstGeom prst="roundRect">
            <a:avLst>
              <a:gd name="adj" fmla="val 6154"/>
            </a:avLst>
          </a:prstGeom>
          <a:solidFill>
            <a:srgbClr val="A2C4BE"/>
          </a:solidFill>
          <a:ln/>
        </p:spPr>
      </p:sp>
      <p:sp>
        <p:nvSpPr>
          <p:cNvPr id="24" name="Shape 18"/>
          <p:cNvSpPr/>
          <p:nvPr/>
        </p:nvSpPr>
        <p:spPr>
          <a:xfrm>
            <a:off x="5132266" y="1828800"/>
            <a:ext cx="512064" cy="512064"/>
          </a:xfrm>
          <a:prstGeom prst="ellipse">
            <a:avLst/>
          </a:prstGeom>
          <a:solidFill>
            <a:srgbClr val="1F7A7A"/>
          </a:solidFill>
          <a:ln w="12700">
            <a:solidFill>
              <a:srgbClr val="1F7A7A"/>
            </a:solidFill>
            <a:prstDash val="solid"/>
          </a:ln>
        </p:spPr>
      </p:sp>
      <p:pic>
        <p:nvPicPr>
          <p:cNvPr id="25" name="Image 3" descr="preencoded.png">    </p:cNvPr>
          <p:cNvPicPr>
            <a:picLocks noChangeAspect="1"/>
          </p:cNvPicPr>
          <p:nvPr/>
        </p:nvPicPr>
        <p:blipFill>
          <a:blip r:embed="rId4"/>
          <a:stretch>
            <a:fillRect/>
          </a:stretch>
        </p:blipFill>
        <p:spPr>
          <a:xfrm>
            <a:off x="5244920" y="1941454"/>
            <a:ext cx="286756" cy="286756"/>
          </a:xfrm>
          <a:prstGeom prst="rect">
            <a:avLst/>
          </a:prstGeom>
        </p:spPr>
      </p:pic>
      <p:sp>
        <p:nvSpPr>
          <p:cNvPr id="26" name="Text 19"/>
          <p:cNvSpPr/>
          <p:nvPr/>
        </p:nvSpPr>
        <p:spPr>
          <a:xfrm>
            <a:off x="4830514"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Rules check</a:t>
            </a:r>
            <a:endParaRPr lang="en-US" sz="1400" dirty="0"/>
          </a:p>
        </p:txBody>
      </p:sp>
      <p:sp>
        <p:nvSpPr>
          <p:cNvPr id="27" name="Text 20"/>
          <p:cNvSpPr/>
          <p:nvPr/>
        </p:nvSpPr>
        <p:spPr>
          <a:xfrm>
            <a:off x="4867090"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written rules: allow or deny</a:t>
            </a:r>
            <a:endParaRPr lang="en-US" sz="1200" dirty="0"/>
          </a:p>
        </p:txBody>
      </p:sp>
      <p:sp>
        <p:nvSpPr>
          <p:cNvPr id="28" name="Shape 21"/>
          <p:cNvSpPr/>
          <p:nvPr/>
        </p:nvSpPr>
        <p:spPr>
          <a:xfrm>
            <a:off x="6000946" y="2651760"/>
            <a:ext cx="189803" cy="0"/>
          </a:xfrm>
          <a:prstGeom prst="line">
            <a:avLst/>
          </a:prstGeom>
          <a:noFill/>
          <a:ln w="25400">
            <a:solidFill>
              <a:srgbClr val="1F7A7A"/>
            </a:solidFill>
            <a:prstDash val="solid"/>
            <a:tailEnd type="triangle"/>
          </a:ln>
        </p:spPr>
      </p:sp>
      <p:sp>
        <p:nvSpPr>
          <p:cNvPr id="29" name="Shape 22"/>
          <p:cNvSpPr/>
          <p:nvPr/>
        </p:nvSpPr>
        <p:spPr>
          <a:xfrm>
            <a:off x="6209037" y="1691640"/>
            <a:ext cx="1188720" cy="1920240"/>
          </a:xfrm>
          <a:prstGeom prst="roundRect">
            <a:avLst>
              <a:gd name="adj" fmla="val 6154"/>
            </a:avLst>
          </a:prstGeom>
          <a:solidFill>
            <a:srgbClr val="AEB7C2"/>
          </a:solidFill>
          <a:ln/>
        </p:spPr>
      </p:sp>
      <p:sp>
        <p:nvSpPr>
          <p:cNvPr id="30" name="Shape 23"/>
          <p:cNvSpPr/>
          <p:nvPr/>
        </p:nvSpPr>
        <p:spPr>
          <a:xfrm>
            <a:off x="6547365" y="1828800"/>
            <a:ext cx="512064" cy="512064"/>
          </a:xfrm>
          <a:prstGeom prst="ellipse">
            <a:avLst/>
          </a:prstGeom>
          <a:solidFill>
            <a:srgbClr val="5F6B7A"/>
          </a:solidFill>
          <a:ln w="12700">
            <a:solidFill>
              <a:srgbClr val="5F6B7A"/>
            </a:solidFill>
            <a:prstDash val="solid"/>
          </a:ln>
        </p:spPr>
      </p:sp>
      <p:pic>
        <p:nvPicPr>
          <p:cNvPr id="31" name="Image 4" descr="preencoded.png">    </p:cNvPr>
          <p:cNvPicPr>
            <a:picLocks noChangeAspect="1"/>
          </p:cNvPicPr>
          <p:nvPr/>
        </p:nvPicPr>
        <p:blipFill>
          <a:blip r:embed="rId5"/>
          <a:stretch>
            <a:fillRect/>
          </a:stretch>
        </p:blipFill>
        <p:spPr>
          <a:xfrm>
            <a:off x="6660019" y="1941454"/>
            <a:ext cx="286756" cy="286756"/>
          </a:xfrm>
          <a:prstGeom prst="rect">
            <a:avLst/>
          </a:prstGeom>
        </p:spPr>
      </p:pic>
      <p:sp>
        <p:nvSpPr>
          <p:cNvPr id="32" name="Text 24"/>
          <p:cNvSpPr/>
          <p:nvPr/>
        </p:nvSpPr>
        <p:spPr>
          <a:xfrm>
            <a:off x="62456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33" name="Text 25"/>
          <p:cNvSpPr/>
          <p:nvPr/>
        </p:nvSpPr>
        <p:spPr>
          <a:xfrm>
            <a:off x="62821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refund, cancel plan, or reset</a:t>
            </a:r>
            <a:endParaRPr lang="en-US" sz="1200" dirty="0"/>
          </a:p>
        </p:txBody>
      </p:sp>
      <p:sp>
        <p:nvSpPr>
          <p:cNvPr id="34" name="Shape 26"/>
          <p:cNvSpPr/>
          <p:nvPr/>
        </p:nvSpPr>
        <p:spPr>
          <a:xfrm>
            <a:off x="7416045" y="2651760"/>
            <a:ext cx="189803" cy="0"/>
          </a:xfrm>
          <a:prstGeom prst="line">
            <a:avLst/>
          </a:prstGeom>
          <a:noFill/>
          <a:ln w="25400">
            <a:solidFill>
              <a:srgbClr val="5F6B7A"/>
            </a:solidFill>
            <a:prstDash val="solid"/>
            <a:tailEnd type="triangle"/>
          </a:ln>
        </p:spPr>
      </p:sp>
      <p:sp>
        <p:nvSpPr>
          <p:cNvPr id="35" name="Shape 27"/>
          <p:cNvSpPr/>
          <p:nvPr/>
        </p:nvSpPr>
        <p:spPr>
          <a:xfrm>
            <a:off x="7624137" y="1691640"/>
            <a:ext cx="1188720" cy="1920240"/>
          </a:xfrm>
          <a:prstGeom prst="roundRect">
            <a:avLst>
              <a:gd name="adj" fmla="val 6154"/>
            </a:avLst>
          </a:prstGeom>
          <a:solidFill>
            <a:srgbClr val="A6BCD6"/>
          </a:solidFill>
          <a:ln/>
        </p:spPr>
      </p:sp>
      <p:sp>
        <p:nvSpPr>
          <p:cNvPr id="36" name="Shape 28"/>
          <p:cNvSpPr/>
          <p:nvPr/>
        </p:nvSpPr>
        <p:spPr>
          <a:xfrm>
            <a:off x="7962465" y="1828800"/>
            <a:ext cx="512064" cy="512064"/>
          </a:xfrm>
          <a:prstGeom prst="ellipse">
            <a:avLst/>
          </a:prstGeom>
          <a:solidFill>
            <a:srgbClr val="2F5F98"/>
          </a:solidFill>
          <a:ln w="12700">
            <a:solidFill>
              <a:srgbClr val="2F5F98"/>
            </a:solidFill>
            <a:prstDash val="solid"/>
          </a:ln>
        </p:spPr>
      </p:sp>
      <p:pic>
        <p:nvPicPr>
          <p:cNvPr id="37" name="Image 5" descr="preencoded.png">    </p:cNvPr>
          <p:cNvPicPr>
            <a:picLocks noChangeAspect="1"/>
          </p:cNvPicPr>
          <p:nvPr/>
        </p:nvPicPr>
        <p:blipFill>
          <a:blip r:embed="rId6"/>
          <a:stretch>
            <a:fillRect/>
          </a:stretch>
        </p:blipFill>
        <p:spPr>
          <a:xfrm>
            <a:off x="8075119" y="1941454"/>
            <a:ext cx="286756" cy="286756"/>
          </a:xfrm>
          <a:prstGeom prst="rect">
            <a:avLst/>
          </a:prstGeom>
        </p:spPr>
      </p:pic>
      <p:sp>
        <p:nvSpPr>
          <p:cNvPr id="38" name="Text 29"/>
          <p:cNvSpPr/>
          <p:nvPr/>
        </p:nvSpPr>
        <p:spPr>
          <a:xfrm>
            <a:off x="76607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9" name="Text 30"/>
          <p:cNvSpPr/>
          <p:nvPr/>
        </p:nvSpPr>
        <p:spPr>
          <a:xfrm>
            <a:off x="76972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the LLM writes the reply</a:t>
            </a:r>
            <a:endParaRPr lang="en-US" sz="1200" dirty="0"/>
          </a:p>
        </p:txBody>
      </p:sp>
      <p:sp>
        <p:nvSpPr>
          <p:cNvPr id="40" name="Shape 31"/>
          <p:cNvSpPr/>
          <p:nvPr/>
        </p:nvSpPr>
        <p:spPr>
          <a:xfrm>
            <a:off x="8831145" y="2651760"/>
            <a:ext cx="189803" cy="0"/>
          </a:xfrm>
          <a:prstGeom prst="line">
            <a:avLst/>
          </a:prstGeom>
          <a:noFill/>
          <a:ln w="25400">
            <a:solidFill>
              <a:srgbClr val="5F6B7A"/>
            </a:solidFill>
            <a:prstDash val="solid"/>
            <a:tailEnd type="triangle"/>
          </a:ln>
        </p:spPr>
      </p:sp>
      <p:sp>
        <p:nvSpPr>
          <p:cNvPr id="41" name="Shape 32"/>
          <p:cNvSpPr/>
          <p:nvPr/>
        </p:nvSpPr>
        <p:spPr>
          <a:xfrm>
            <a:off x="9039236" y="1691640"/>
            <a:ext cx="1188720" cy="1920240"/>
          </a:xfrm>
          <a:prstGeom prst="roundRect">
            <a:avLst>
              <a:gd name="adj" fmla="val 6154"/>
            </a:avLst>
          </a:prstGeom>
          <a:solidFill>
            <a:srgbClr val="AEB7C2"/>
          </a:solidFill>
          <a:ln/>
        </p:spPr>
      </p:sp>
      <p:sp>
        <p:nvSpPr>
          <p:cNvPr id="42" name="Shape 33"/>
          <p:cNvSpPr/>
          <p:nvPr/>
        </p:nvSpPr>
        <p:spPr>
          <a:xfrm>
            <a:off x="9377564" y="1828800"/>
            <a:ext cx="512064" cy="512064"/>
          </a:xfrm>
          <a:prstGeom prst="ellipse">
            <a:avLst/>
          </a:prstGeom>
          <a:solidFill>
            <a:srgbClr val="5F6B7A"/>
          </a:solidFill>
          <a:ln w="12700">
            <a:solidFill>
              <a:srgbClr val="5F6B7A"/>
            </a:solidFill>
            <a:prstDash val="solid"/>
          </a:ln>
        </p:spPr>
      </p:sp>
      <p:pic>
        <p:nvPicPr>
          <p:cNvPr id="43" name="Image 6" descr="preencoded.png">    </p:cNvPr>
          <p:cNvPicPr>
            <a:picLocks noChangeAspect="1"/>
          </p:cNvPicPr>
          <p:nvPr/>
        </p:nvPicPr>
        <p:blipFill>
          <a:blip r:embed="rId7"/>
          <a:stretch>
            <a:fillRect/>
          </a:stretch>
        </p:blipFill>
        <p:spPr>
          <a:xfrm>
            <a:off x="9490218" y="1941454"/>
            <a:ext cx="286756" cy="286756"/>
          </a:xfrm>
          <a:prstGeom prst="rect">
            <a:avLst/>
          </a:prstGeom>
        </p:spPr>
      </p:pic>
      <p:sp>
        <p:nvSpPr>
          <p:cNvPr id="44" name="Text 34"/>
          <p:cNvSpPr/>
          <p:nvPr/>
        </p:nvSpPr>
        <p:spPr>
          <a:xfrm>
            <a:off x="9075812"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5" name="Text 35"/>
          <p:cNvSpPr/>
          <p:nvPr/>
        </p:nvSpPr>
        <p:spPr>
          <a:xfrm>
            <a:off x="9112388"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popup: did this solve it?</a:t>
            </a:r>
            <a:endParaRPr lang="en-US" sz="1200" dirty="0"/>
          </a:p>
        </p:txBody>
      </p:sp>
      <p:sp>
        <p:nvSpPr>
          <p:cNvPr id="46" name="Shape 36"/>
          <p:cNvSpPr/>
          <p:nvPr/>
        </p:nvSpPr>
        <p:spPr>
          <a:xfrm>
            <a:off x="10246244" y="2651760"/>
            <a:ext cx="189803" cy="0"/>
          </a:xfrm>
          <a:prstGeom prst="line">
            <a:avLst/>
          </a:prstGeom>
          <a:noFill/>
          <a:ln w="25400">
            <a:solidFill>
              <a:srgbClr val="5F6B7A"/>
            </a:solidFill>
            <a:prstDash val="solid"/>
            <a:tailEnd type="triangle"/>
          </a:ln>
        </p:spPr>
      </p:sp>
      <p:sp>
        <p:nvSpPr>
          <p:cNvPr id="47" name="Shape 37"/>
          <p:cNvSpPr/>
          <p:nvPr/>
        </p:nvSpPr>
        <p:spPr>
          <a:xfrm>
            <a:off x="10454335" y="1691640"/>
            <a:ext cx="1188720" cy="1920240"/>
          </a:xfrm>
          <a:prstGeom prst="roundRect">
            <a:avLst>
              <a:gd name="adj" fmla="val 6154"/>
            </a:avLst>
          </a:prstGeom>
          <a:solidFill>
            <a:srgbClr val="AEB7C2"/>
          </a:solidFill>
          <a:ln/>
        </p:spPr>
      </p:sp>
      <p:sp>
        <p:nvSpPr>
          <p:cNvPr id="48" name="Shape 38"/>
          <p:cNvSpPr/>
          <p:nvPr/>
        </p:nvSpPr>
        <p:spPr>
          <a:xfrm>
            <a:off x="10792663" y="1828800"/>
            <a:ext cx="512064" cy="512064"/>
          </a:xfrm>
          <a:prstGeom prst="ellipse">
            <a:avLst/>
          </a:prstGeom>
          <a:solidFill>
            <a:srgbClr val="5F6B7A"/>
          </a:solidFill>
          <a:ln w="12700">
            <a:solidFill>
              <a:srgbClr val="5F6B7A"/>
            </a:solidFill>
            <a:prstDash val="solid"/>
          </a:ln>
        </p:spPr>
      </p:sp>
      <p:pic>
        <p:nvPicPr>
          <p:cNvPr id="49" name="Image 7" descr="preencoded.png">    </p:cNvPr>
          <p:cNvPicPr>
            <a:picLocks noChangeAspect="1"/>
          </p:cNvPicPr>
          <p:nvPr/>
        </p:nvPicPr>
        <p:blipFill>
          <a:blip r:embed="rId8"/>
          <a:stretch>
            <a:fillRect/>
          </a:stretch>
        </p:blipFill>
        <p:spPr>
          <a:xfrm>
            <a:off x="10905317" y="1941454"/>
            <a:ext cx="286756" cy="286756"/>
          </a:xfrm>
          <a:prstGeom prst="rect">
            <a:avLst/>
          </a:prstGeom>
        </p:spPr>
      </p:pic>
      <p:sp>
        <p:nvSpPr>
          <p:cNvPr id="50" name="Text 39"/>
          <p:cNvSpPr/>
          <p:nvPr/>
        </p:nvSpPr>
        <p:spPr>
          <a:xfrm>
            <a:off x="10490911"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51" name="Text 40"/>
          <p:cNvSpPr/>
          <p:nvPr/>
        </p:nvSpPr>
        <p:spPr>
          <a:xfrm>
            <a:off x="10527487"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chat closed</a:t>
            </a:r>
            <a:endParaRPr lang="en-US" sz="1200" dirty="0"/>
          </a:p>
        </p:txBody>
      </p:sp>
      <p:sp>
        <p:nvSpPr>
          <p:cNvPr id="52" name="Text 41"/>
          <p:cNvSpPr/>
          <p:nvPr/>
        </p:nvSpPr>
        <p:spPr>
          <a:xfrm>
            <a:off x="5684368" y="1417320"/>
            <a:ext cx="822960" cy="228600"/>
          </a:xfrm>
          <a:prstGeom prst="rect">
            <a:avLst/>
          </a:prstGeom>
          <a:noFill/>
          <a:ln/>
        </p:spPr>
        <p:txBody>
          <a:bodyPr wrap="square" lIns="0" tIns="0" rIns="0" bIns="0" rtlCol="0" anchor="ctr"/>
          <a:lstStyle/>
          <a:p>
            <a:pPr algn="ctr" indent="0" marL="0">
              <a:buNone/>
            </a:pPr>
            <a:r>
              <a:rPr lang="en-US" sz="1200" b="1" dirty="0">
                <a:solidFill>
                  <a:srgbClr val="1F7A7A"/>
                </a:solidFill>
                <a:latin typeface="Calibri" pitchFamily="34" charset="0"/>
                <a:ea typeface="Calibri" pitchFamily="34" charset="-122"/>
                <a:cs typeface="Calibri" pitchFamily="34" charset="-120"/>
              </a:rPr>
              <a:t>allowed</a:t>
            </a:r>
            <a:endParaRPr lang="en-US" sz="1200" dirty="0"/>
          </a:p>
        </p:txBody>
      </p:sp>
      <p:sp>
        <p:nvSpPr>
          <p:cNvPr id="53" name="Shape 42"/>
          <p:cNvSpPr/>
          <p:nvPr/>
        </p:nvSpPr>
        <p:spPr>
          <a:xfrm>
            <a:off x="5388298" y="3611880"/>
            <a:ext cx="0" cy="411480"/>
          </a:xfrm>
          <a:prstGeom prst="line">
            <a:avLst/>
          </a:prstGeom>
          <a:noFill/>
          <a:ln w="25400">
            <a:solidFill>
              <a:srgbClr val="1F7A7A"/>
            </a:solidFill>
            <a:prstDash val="solid"/>
          </a:ln>
        </p:spPr>
      </p:sp>
      <p:sp>
        <p:nvSpPr>
          <p:cNvPr id="54" name="Shape 43"/>
          <p:cNvSpPr/>
          <p:nvPr/>
        </p:nvSpPr>
        <p:spPr>
          <a:xfrm>
            <a:off x="5388298" y="4023360"/>
            <a:ext cx="2830199" cy="0"/>
          </a:xfrm>
          <a:prstGeom prst="line">
            <a:avLst/>
          </a:prstGeom>
          <a:noFill/>
          <a:ln w="25400">
            <a:solidFill>
              <a:srgbClr val="1F7A7A"/>
            </a:solidFill>
            <a:prstDash val="solid"/>
          </a:ln>
        </p:spPr>
      </p:sp>
      <p:sp>
        <p:nvSpPr>
          <p:cNvPr id="55" name="Shape 44"/>
          <p:cNvSpPr/>
          <p:nvPr/>
        </p:nvSpPr>
        <p:spPr>
          <a:xfrm flipV="1">
            <a:off x="8218497" y="3611880"/>
            <a:ext cx="0" cy="411480"/>
          </a:xfrm>
          <a:prstGeom prst="line">
            <a:avLst/>
          </a:prstGeom>
          <a:noFill/>
          <a:ln w="25400">
            <a:solidFill>
              <a:srgbClr val="1F7A7A"/>
            </a:solidFill>
            <a:prstDash val="solid"/>
            <a:tailEnd type="triangle"/>
          </a:ln>
        </p:spPr>
      </p:sp>
      <p:sp>
        <p:nvSpPr>
          <p:cNvPr id="56" name="Text 45"/>
          <p:cNvSpPr/>
          <p:nvPr/>
        </p:nvSpPr>
        <p:spPr>
          <a:xfrm>
            <a:off x="5388298" y="4069080"/>
            <a:ext cx="2830199" cy="256032"/>
          </a:xfrm>
          <a:prstGeom prst="rect">
            <a:avLst/>
          </a:prstGeom>
          <a:noFill/>
          <a:ln/>
        </p:spPr>
        <p:txBody>
          <a:bodyPr wrap="square" lIns="0" tIns="0" rIns="0" bIns="0" rtlCol="0" anchor="ctr"/>
          <a:lstStyle/>
          <a:p>
            <a:pPr algn="ctr" indent="0" marL="0">
              <a:buNone/>
            </a:pPr>
            <a:r>
              <a:rPr lang="en-US" sz="1300" b="1" dirty="0">
                <a:solidFill>
                  <a:srgbClr val="1F7A7A"/>
                </a:solidFill>
                <a:latin typeface="Calibri" pitchFamily="34" charset="0"/>
                <a:ea typeface="Calibri" pitchFamily="34" charset="-122"/>
                <a:cs typeface="Calibri" pitchFamily="34" charset="-120"/>
              </a:rPr>
              <a:t>denied: nothing runs</a:t>
            </a:r>
            <a:endParaRPr lang="en-US" sz="1300" dirty="0"/>
          </a:p>
        </p:txBody>
      </p:sp>
      <p:sp>
        <p:nvSpPr>
          <p:cNvPr id="57" name="Shape 46"/>
          <p:cNvSpPr/>
          <p:nvPr/>
        </p:nvSpPr>
        <p:spPr>
          <a:xfrm>
            <a:off x="9633596" y="3611880"/>
            <a:ext cx="0" cy="960120"/>
          </a:xfrm>
          <a:prstGeom prst="line">
            <a:avLst/>
          </a:prstGeom>
          <a:noFill/>
          <a:ln w="25400">
            <a:solidFill>
              <a:srgbClr val="5F6B7A"/>
            </a:solidFill>
            <a:prstDash val="solid"/>
          </a:ln>
        </p:spPr>
      </p:sp>
      <p:sp>
        <p:nvSpPr>
          <p:cNvPr id="58" name="Shape 47"/>
          <p:cNvSpPr/>
          <p:nvPr/>
        </p:nvSpPr>
        <p:spPr>
          <a:xfrm>
            <a:off x="1143000" y="4572000"/>
            <a:ext cx="8490596" cy="0"/>
          </a:xfrm>
          <a:prstGeom prst="line">
            <a:avLst/>
          </a:prstGeom>
          <a:noFill/>
          <a:ln w="25400">
            <a:solidFill>
              <a:srgbClr val="5F6B7A"/>
            </a:solidFill>
            <a:prstDash val="solid"/>
          </a:ln>
        </p:spPr>
      </p:sp>
      <p:sp>
        <p:nvSpPr>
          <p:cNvPr id="59" name="Shape 48"/>
          <p:cNvSpPr/>
          <p:nvPr/>
        </p:nvSpPr>
        <p:spPr>
          <a:xfrm flipV="1">
            <a:off x="1143000" y="3611880"/>
            <a:ext cx="0" cy="960120"/>
          </a:xfrm>
          <a:prstGeom prst="line">
            <a:avLst/>
          </a:prstGeom>
          <a:noFill/>
          <a:ln w="25400">
            <a:solidFill>
              <a:srgbClr val="5F6B7A"/>
            </a:solidFill>
            <a:prstDash val="solid"/>
            <a:tailEnd type="triangle"/>
          </a:ln>
        </p:spPr>
      </p:sp>
      <p:sp>
        <p:nvSpPr>
          <p:cNvPr id="60" name="Text 49"/>
          <p:cNvSpPr/>
          <p:nvPr/>
        </p:nvSpPr>
        <p:spPr>
          <a:xfrm>
            <a:off x="1143000" y="4617720"/>
            <a:ext cx="8490596" cy="256032"/>
          </a:xfrm>
          <a:prstGeom prst="rect">
            <a:avLst/>
          </a:prstGeom>
          <a:noFill/>
          <a:ln/>
        </p:spPr>
        <p:txBody>
          <a:bodyPr wrap="square" lIns="0" tIns="0" rIns="0" bIns="0" rtlCol="0" anchor="ctr"/>
          <a:lstStyle/>
          <a:p>
            <a:pPr algn="ctr" indent="0" marL="0">
              <a:buNone/>
            </a:pPr>
            <a:r>
              <a:rPr lang="en-US" sz="1300" dirty="0">
                <a:solidFill>
                  <a:srgbClr val="56636F"/>
                </a:solidFill>
                <a:latin typeface="Calibri" pitchFamily="34" charset="0"/>
                <a:ea typeface="Calibri" pitchFamily="34" charset="-122"/>
                <a:cs typeface="Calibri" pitchFamily="34" charset="-120"/>
              </a:rPr>
              <a:t>same chat: the customer writes again</a:t>
            </a:r>
            <a:endParaRPr lang="en-US" sz="1300" dirty="0"/>
          </a:p>
        </p:txBody>
      </p:sp>
      <p:sp>
        <p:nvSpPr>
          <p:cNvPr id="61" name="Text 50"/>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62" name="Text 51"/>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a:t>
            </a:r>
            <a:endParaRPr lang="en-US" sz="1300" dirty="0"/>
          </a:p>
        </p:txBody>
      </p:sp>
      <p:sp>
        <p:nvSpPr>
          <p:cNvPr id="63" name="Text 52"/>
          <p:cNvSpPr/>
          <p:nvPr/>
        </p:nvSpPr>
        <p:spPr>
          <a:xfrm>
            <a:off x="4023360" y="5029200"/>
            <a:ext cx="1554480" cy="292608"/>
          </a:xfrm>
          <a:prstGeom prst="roundRect">
            <a:avLst>
              <a:gd name="adj" fmla="val 25000"/>
            </a:avLst>
          </a:prstGeom>
          <a:solidFill>
            <a:srgbClr val="A2C4BE"/>
          </a:solidFill>
          <a:ln w="12700">
            <a:solidFill>
              <a:srgbClr val="1F7A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Written rules</a:t>
            </a:r>
            <a:endParaRPr lang="en-US" sz="1300" dirty="0"/>
          </a:p>
        </p:txBody>
      </p:sp>
      <p:sp>
        <p:nvSpPr>
          <p:cNvPr id="64" name="Shape 53"/>
          <p:cNvSpPr/>
          <p:nvPr/>
        </p:nvSpPr>
        <p:spPr>
          <a:xfrm>
            <a:off x="548640" y="5486400"/>
            <a:ext cx="11094415" cy="731520"/>
          </a:xfrm>
          <a:prstGeom prst="roundRect">
            <a:avLst>
              <a:gd name="adj" fmla="val 10000"/>
            </a:avLst>
          </a:prstGeom>
          <a:solidFill>
            <a:srgbClr val="1F7A7A"/>
          </a:solidFill>
          <a:ln/>
        </p:spPr>
      </p:sp>
      <p:pic>
        <p:nvPicPr>
          <p:cNvPr id="65" name="Image 8" descr="preencoded.png">    </p:cNvPr>
          <p:cNvPicPr>
            <a:picLocks noChangeAspect="1"/>
          </p:cNvPicPr>
          <p:nvPr/>
        </p:nvPicPr>
        <p:blipFill>
          <a:blip r:embed="rId9"/>
          <a:stretch>
            <a:fillRect/>
          </a:stretch>
        </p:blipFill>
        <p:spPr>
          <a:xfrm>
            <a:off x="822960" y="5623560"/>
            <a:ext cx="457200" cy="457200"/>
          </a:xfrm>
          <a:prstGeom prst="rect">
            <a:avLst/>
          </a:prstGeom>
        </p:spPr>
      </p:pic>
      <p:sp>
        <p:nvSpPr>
          <p:cNvPr id="66" name="Text 54"/>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never reads the account. </a:t>
            </a:r>
            <a:pPr algn="l" indent="0" marL="0">
              <a:buNone/>
            </a:pPr>
            <a:r>
              <a:rPr lang="en-US" sz="1800" dirty="0">
                <a:solidFill>
                  <a:srgbClr val="FFFFFF"/>
                </a:solidFill>
                <a:latin typeface="Calibri" pitchFamily="34" charset="0"/>
                <a:ea typeface="Calibri" pitchFamily="34" charset="-122"/>
                <a:cs typeface="Calibri" pitchFamily="34" charset="-120"/>
              </a:rPr>
              <a:t>Fixed code reads only the fields the action needs: the Final message input falls from 617 to 590 tokens.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Experiment: synthetic data, real model calls</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 Van Son · 162 s</a:t>
            </a:r>
            <a:endParaRPr lang="en-US" sz="1100" dirty="0"/>
          </a:p>
        </p:txBody>
      </p:sp>
      <p:sp>
        <p:nvSpPr>
          <p:cNvPr id="5" name="Shape 2"/>
          <p:cNvSpPr/>
          <p:nvPr/>
        </p:nvSpPr>
        <p:spPr>
          <a:xfrm>
            <a:off x="548640" y="1417320"/>
            <a:ext cx="2567864" cy="1691640"/>
          </a:xfrm>
          <a:prstGeom prst="roundRect">
            <a:avLst>
              <a:gd name="adj" fmla="val 4324"/>
            </a:avLst>
          </a:prstGeom>
          <a:solidFill>
            <a:srgbClr val="FFFFFF"/>
          </a:solidFill>
          <a:ln/>
        </p:spPr>
      </p:sp>
      <p:sp>
        <p:nvSpPr>
          <p:cNvPr id="6" name="Shape 3"/>
          <p:cNvSpPr/>
          <p:nvPr/>
        </p:nvSpPr>
        <p:spPr>
          <a:xfrm>
            <a:off x="822960" y="167335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8" name="Text 4"/>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72</a:t>
            </a:r>
            <a:endParaRPr lang="en-US" sz="4400" dirty="0"/>
          </a:p>
        </p:txBody>
      </p:sp>
      <p:sp>
        <p:nvSpPr>
          <p:cNvPr id="9" name="Text 5"/>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synthetic customers</a:t>
            </a:r>
            <a:endParaRPr lang="en-US" sz="1500" dirty="0"/>
          </a:p>
        </p:txBody>
      </p:sp>
      <p:sp>
        <p:nvSpPr>
          <p:cNvPr id="10" name="Shape 6"/>
          <p:cNvSpPr/>
          <p:nvPr/>
        </p:nvSpPr>
        <p:spPr>
          <a:xfrm>
            <a:off x="3390824" y="1417320"/>
            <a:ext cx="2567864" cy="1691640"/>
          </a:xfrm>
          <a:prstGeom prst="roundRect">
            <a:avLst>
              <a:gd name="adj" fmla="val 4324"/>
            </a:avLst>
          </a:prstGeom>
          <a:solidFill>
            <a:srgbClr val="FFFFFF"/>
          </a:solidFill>
          <a:ln/>
        </p:spPr>
      </p:sp>
      <p:sp>
        <p:nvSpPr>
          <p:cNvPr id="11" name="Shape 7"/>
          <p:cNvSpPr/>
          <p:nvPr/>
        </p:nvSpPr>
        <p:spPr>
          <a:xfrm>
            <a:off x="3665144" y="1673352"/>
            <a:ext cx="685800" cy="68580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3" name="Text 8"/>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50</a:t>
            </a:r>
            <a:endParaRPr lang="en-US" sz="4400" dirty="0"/>
          </a:p>
        </p:txBody>
      </p:sp>
      <p:sp>
        <p:nvSpPr>
          <p:cNvPr id="14" name="Text 9"/>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24 types</a:t>
            </a:r>
            <a:endParaRPr lang="en-US" sz="1500" dirty="0"/>
          </a:p>
        </p:txBody>
      </p:sp>
      <p:sp>
        <p:nvSpPr>
          <p:cNvPr id="15" name="Shape 10"/>
          <p:cNvSpPr/>
          <p:nvPr/>
        </p:nvSpPr>
        <p:spPr>
          <a:xfrm>
            <a:off x="6233008" y="1417320"/>
            <a:ext cx="2567864" cy="1691640"/>
          </a:xfrm>
          <a:prstGeom prst="roundRect">
            <a:avLst>
              <a:gd name="adj" fmla="val 4324"/>
            </a:avLst>
          </a:prstGeom>
          <a:solidFill>
            <a:srgbClr val="FFFFFF"/>
          </a:solidFill>
          <a:ln/>
        </p:spPr>
      </p:sp>
      <p:sp>
        <p:nvSpPr>
          <p:cNvPr id="16" name="Shape 11"/>
          <p:cNvSpPr/>
          <p:nvPr/>
        </p:nvSpPr>
        <p:spPr>
          <a:xfrm>
            <a:off x="6507328" y="1673352"/>
            <a:ext cx="685800" cy="685800"/>
          </a:xfrm>
          <a:prstGeom prst="ellipse">
            <a:avLst/>
          </a:prstGeom>
          <a:solidFill>
            <a:srgbClr val="2F5F98"/>
          </a:solidFill>
          <a:ln w="12700">
            <a:solidFill>
              <a:srgbClr val="2F5F98"/>
            </a:solidFill>
            <a:prstDash val="solid"/>
          </a:ln>
        </p:spPr>
      </p:sp>
      <p:pic>
        <p:nvPicPr>
          <p:cNvPr id="17"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8" name="Text 12"/>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300</a:t>
            </a:r>
            <a:endParaRPr lang="en-US" sz="4400" dirty="0"/>
          </a:p>
        </p:txBody>
      </p:sp>
      <p:sp>
        <p:nvSpPr>
          <p:cNvPr id="19" name="Text 13"/>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100 for each of three runs</a:t>
            </a:r>
            <a:endParaRPr lang="en-US" sz="1500" dirty="0"/>
          </a:p>
        </p:txBody>
      </p:sp>
      <p:sp>
        <p:nvSpPr>
          <p:cNvPr id="20" name="Shape 14"/>
          <p:cNvSpPr/>
          <p:nvPr/>
        </p:nvSpPr>
        <p:spPr>
          <a:xfrm>
            <a:off x="9075191" y="1417320"/>
            <a:ext cx="2567864" cy="1691640"/>
          </a:xfrm>
          <a:prstGeom prst="roundRect">
            <a:avLst>
              <a:gd name="adj" fmla="val 4324"/>
            </a:avLst>
          </a:prstGeom>
          <a:solidFill>
            <a:srgbClr val="FFFFFF"/>
          </a:solidFill>
          <a:ln/>
        </p:spPr>
      </p:sp>
      <p:sp>
        <p:nvSpPr>
          <p:cNvPr id="21" name="Shape 15"/>
          <p:cNvSpPr/>
          <p:nvPr/>
        </p:nvSpPr>
        <p:spPr>
          <a:xfrm>
            <a:off x="9349511" y="1673352"/>
            <a:ext cx="685800" cy="68580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3" name="Text 16"/>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a:t>
            </a:r>
            <a:endParaRPr lang="en-US" sz="4400" dirty="0"/>
          </a:p>
        </p:txBody>
      </p:sp>
      <p:sp>
        <p:nvSpPr>
          <p:cNvPr id="24" name="Text 17"/>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25" name="Shape 18"/>
          <p:cNvSpPr/>
          <p:nvPr/>
        </p:nvSpPr>
        <p:spPr>
          <a:xfrm>
            <a:off x="548640" y="3520440"/>
            <a:ext cx="11094415" cy="822960"/>
          </a:xfrm>
          <a:prstGeom prst="roundRect">
            <a:avLst>
              <a:gd name="adj" fmla="val 8889"/>
            </a:avLst>
          </a:prstGeom>
          <a:solidFill>
            <a:srgbClr val="FFFFFF"/>
          </a:solidFill>
          <a:ln/>
        </p:spPr>
      </p:sp>
      <p:sp>
        <p:nvSpPr>
          <p:cNvPr id="26" name="Text 19"/>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7" name="Text 20"/>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8" name="Shape 21"/>
          <p:cNvSpPr/>
          <p:nvPr/>
        </p:nvSpPr>
        <p:spPr>
          <a:xfrm>
            <a:off x="548640" y="4526280"/>
            <a:ext cx="11094415" cy="822960"/>
          </a:xfrm>
          <a:prstGeom prst="roundRect">
            <a:avLst>
              <a:gd name="adj" fmla="val 8889"/>
            </a:avLst>
          </a:prstGeom>
          <a:solidFill>
            <a:srgbClr val="FFFFFF"/>
          </a:solidFill>
          <a:ln/>
        </p:spPr>
      </p:sp>
      <p:sp>
        <p:nvSpPr>
          <p:cNvPr id="29" name="Text 22"/>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30" name="Text 23"/>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changes when Jev replaces the LLM as the classifier? Accuracy, speed, and cost.</a:t>
            </a:r>
            <a:endParaRPr lang="en-US" sz="1800" dirty="0"/>
          </a:p>
        </p:txBody>
      </p:sp>
      <p:sp>
        <p:nvSpPr>
          <p:cNvPr id="31" name="Text 24"/>
          <p:cNvSpPr/>
          <p:nvPr/>
        </p:nvSpPr>
        <p:spPr>
          <a:xfrm>
            <a:off x="548640" y="5669280"/>
            <a:ext cx="11094415" cy="45720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Live calls to two hosted models: Jev (jev-1.13.0) and deepseek-v4.1-flash through the DeepSeek API. An offline replay gives the same numbers.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18x faster, 11x cheaper</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55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0.241 s against 4.410 s, median for one classifier call</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11x</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$0.587 per 1,000 requests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11 of 50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queue or action from Jev. None is an error at Level 3.</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60 s</a:t>
            </a:r>
            <a:endParaRPr lang="en-US" sz="1100" dirty="0"/>
          </a:p>
        </p:txBody>
      </p:sp>
      <p:sp>
        <p:nvSpPr>
          <p:cNvPr id="5" name="Shape 2"/>
          <p:cNvSpPr/>
          <p:nvPr/>
        </p:nvSpPr>
        <p:spPr>
          <a:xfrm>
            <a:off x="548640" y="1508760"/>
            <a:ext cx="6949440" cy="3611880"/>
          </a:xfrm>
          <a:prstGeom prst="roundRect">
            <a:avLst>
              <a:gd name="adj" fmla="val 2025"/>
            </a:avLst>
          </a:prstGeom>
          <a:solidFill>
            <a:srgbClr val="FFFFFF"/>
          </a:solidFill>
          <a:ln/>
        </p:spPr>
      </p:sp>
      <p:graphicFrame>
        <p:nvGraphicFramePr>
          <p:cNvPr id="6"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143000"/>
          </a:xfrm>
          <a:prstGeom prst="roundRect">
            <a:avLst>
              <a:gd name="adj" fmla="val 6400"/>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1" name="Text 6"/>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3.16 s against 6.85 s of machine time</a:t>
            </a:r>
            <a:endParaRPr lang="en-US" sz="1400" dirty="0"/>
          </a:p>
        </p:txBody>
      </p:sp>
      <p:sp>
        <p:nvSpPr>
          <p:cNvPr id="12" name="Shape 7"/>
          <p:cNvSpPr/>
          <p:nvPr/>
        </p:nvSpPr>
        <p:spPr>
          <a:xfrm>
            <a:off x="7772400" y="2743200"/>
            <a:ext cx="3870655" cy="1143000"/>
          </a:xfrm>
          <a:prstGeom prst="roundRect">
            <a:avLst>
              <a:gd name="adj" fmla="val 6400"/>
            </a:avLst>
          </a:prstGeom>
          <a:solidFill>
            <a:srgbClr val="FFFFFF"/>
          </a:solidFill>
          <a:ln/>
        </p:spPr>
      </p:sp>
      <p:sp>
        <p:nvSpPr>
          <p:cNvPr id="13" name="Shape 8"/>
          <p:cNvSpPr/>
          <p:nvPr/>
        </p:nvSpPr>
        <p:spPr>
          <a:xfrm>
            <a:off x="8001000" y="29718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5" name="Text 9"/>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2.4x</a:t>
            </a:r>
            <a:endParaRPr lang="en-US" sz="2800" dirty="0"/>
          </a:p>
        </p:txBody>
      </p:sp>
      <p:sp>
        <p:nvSpPr>
          <p:cNvPr id="16" name="Text 10"/>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$0.30 against $0.71 per 1,000 requests</a:t>
            </a:r>
            <a:endParaRPr lang="en-US" sz="1400" dirty="0"/>
          </a:p>
        </p:txBody>
      </p:sp>
      <p:sp>
        <p:nvSpPr>
          <p:cNvPr id="17" name="Shape 11"/>
          <p:cNvSpPr/>
          <p:nvPr/>
        </p:nvSpPr>
        <p:spPr>
          <a:xfrm>
            <a:off x="7772400" y="3977640"/>
            <a:ext cx="3870655" cy="1143000"/>
          </a:xfrm>
          <a:prstGeom prst="roundRect">
            <a:avLst>
              <a:gd name="adj" fmla="val 6400"/>
            </a:avLst>
          </a:prstGeom>
          <a:solidFill>
            <a:srgbClr val="FFFFFF"/>
          </a:solidFill>
          <a:ln/>
        </p:spPr>
      </p:sp>
      <p:sp>
        <p:nvSpPr>
          <p:cNvPr id="18" name="Shape 12"/>
          <p:cNvSpPr/>
          <p:nvPr/>
        </p:nvSpPr>
        <p:spPr>
          <a:xfrm>
            <a:off x="8001000" y="420624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20" name="Text 13"/>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3</a:t>
            </a:r>
            <a:endParaRPr lang="en-US" sz="2800" dirty="0"/>
          </a:p>
        </p:txBody>
      </p:sp>
      <p:sp>
        <p:nvSpPr>
          <p:cNvPr id="21" name="Text 14"/>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errors at Level 3 and Level 2. Sign test: p = 0.25, not significant</a:t>
            </a:r>
            <a:endParaRPr lang="en-US" sz="13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both levels. Level 1 baseline: 90 s per request (assumed).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Phuong Nam · 75 s</a:t>
            </a:r>
            <a:endParaRPr lang="en-US" sz="1100" dirty="0"/>
          </a:p>
        </p:txBody>
      </p:sp>
      <p:sp>
        <p:nvSpPr>
          <p:cNvPr id="5" name="Shape 2"/>
          <p:cNvSpPr/>
          <p:nvPr/>
        </p:nvSpPr>
        <p:spPr>
          <a:xfrm>
            <a:off x="548640" y="1508760"/>
            <a:ext cx="6309360" cy="4663440"/>
          </a:xfrm>
          <a:prstGeom prst="roundRect">
            <a:avLst>
              <a:gd name="adj" fmla="val 1569"/>
            </a:avLst>
          </a:prstGeom>
          <a:solidFill>
            <a:srgbClr val="FFFFFF"/>
          </a:solidFill>
          <a:ln/>
        </p:spPr>
      </p:sp>
      <p:sp>
        <p:nvSpPr>
          <p:cNvPr id="6" name="Shape 3"/>
          <p:cNvSpPr/>
          <p:nvPr/>
        </p:nvSpPr>
        <p:spPr>
          <a:xfrm>
            <a:off x="868680" y="1737360"/>
            <a:ext cx="640080" cy="64008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8" name="Text 4"/>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9" name="Text 5"/>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Synthetic data and our own labels: 50 requests in 24 types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0 harmful runs in 50 is not proof of zero: the 95% upper limit is about 6%</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One prompt wording and one run for each request; two hosted models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Security rule was added after fraud reports showed a defect on these 50 requests, so the main numbers are not a blind test</a:t>
            </a:r>
            <a:endParaRPr lang="en-US" sz="1600" dirty="0"/>
          </a:p>
        </p:txBody>
      </p:sp>
      <p:sp>
        <p:nvSpPr>
          <p:cNvPr id="10" name="Shape 6"/>
          <p:cNvSpPr/>
          <p:nvPr/>
        </p:nvSpPr>
        <p:spPr>
          <a:xfrm>
            <a:off x="7132320" y="1508760"/>
            <a:ext cx="4510735" cy="2331720"/>
          </a:xfrm>
          <a:prstGeom prst="roundRect">
            <a:avLst>
              <a:gd name="adj" fmla="val 3137"/>
            </a:avLst>
          </a:prstGeom>
          <a:solidFill>
            <a:srgbClr val="FFFFFF"/>
          </a:solidFill>
          <a:ln/>
        </p:spPr>
      </p:sp>
      <p:sp>
        <p:nvSpPr>
          <p:cNvPr id="11" name="Shape 7"/>
          <p:cNvSpPr/>
          <p:nvPr/>
        </p:nvSpPr>
        <p:spPr>
          <a:xfrm>
            <a:off x="7406640" y="1691640"/>
            <a:ext cx="548640" cy="54864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3" name="Text 8"/>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4" name="Text 9"/>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Level 3 is 2.2x faster, 2.4x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0.25: no accuracy gap is shown</a:t>
            </a:r>
            <a:endParaRPr lang="en-US" sz="1600" dirty="0"/>
          </a:p>
        </p:txBody>
      </p:sp>
      <p:sp>
        <p:nvSpPr>
          <p:cNvPr id="15" name="Shape 10"/>
          <p:cNvSpPr/>
          <p:nvPr/>
        </p:nvSpPr>
        <p:spPr>
          <a:xfrm>
            <a:off x="7132320" y="4023360"/>
            <a:ext cx="4510735" cy="2148840"/>
          </a:xfrm>
          <a:prstGeom prst="roundRect">
            <a:avLst>
              <a:gd name="adj" fmla="val 3404"/>
            </a:avLst>
          </a:prstGeom>
          <a:solidFill>
            <a:srgbClr val="FFFFFF"/>
          </a:solidFill>
          <a:ln/>
        </p:spPr>
      </p:sp>
      <p:sp>
        <p:nvSpPr>
          <p:cNvPr id="16" name="Shape 11"/>
          <p:cNvSpPr/>
          <p:nvPr/>
        </p:nvSpPr>
        <p:spPr>
          <a:xfrm>
            <a:off x="7406640" y="4206240"/>
            <a:ext cx="548640" cy="548640"/>
          </a:xfrm>
          <a:prstGeom prst="ellipse">
            <a:avLst/>
          </a:prstGeom>
          <a:solidFill>
            <a:srgbClr val="1F7A7A"/>
          </a:solidFill>
          <a:ln w="12700">
            <a:solidFill>
              <a:srgbClr val="1F7A7A"/>
            </a:solidFill>
            <a:prstDash val="solid"/>
          </a:ln>
        </p:spPr>
      </p:sp>
      <p:pic>
        <p:nvPicPr>
          <p:cNvPr id="17"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8" name="Text 12"/>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9" name="Text 13"/>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tickets and more request types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Adversarial inputs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640080"/>
            <a:ext cx="603504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3" name="Text 1"/>
          <p:cNvSpPr/>
          <p:nvPr/>
        </p:nvSpPr>
        <p:spPr>
          <a:xfrm>
            <a:off x="731520" y="1600200"/>
            <a:ext cx="5943600" cy="3794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Same 50 requests at every level. Level 2: 32 served, 15 stopped, 3 errors. Level 3: 35 served, 15 stopped, 0 errors.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2.2x faster, and 2.4x cheaper: 3.16 s and $0.30 against 6.85 s and $0.71. The sign test (p = 0.25) shows no accuracy gap.</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A Security rule stops state changes on fraud reports. We added it after we saw a defect on these 50 requests.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Jev is less accurate than the LLM on four of five fields, but the written rules catch its wrong answers, so Level 3 makes 0 errors.</a:t>
            </a:r>
            <a:endParaRPr lang="en-US" sz="1800" dirty="0"/>
          </a:p>
        </p:txBody>
      </p:sp>
      <p:sp>
        <p:nvSpPr>
          <p:cNvPr id="4" name="Text 2"/>
          <p:cNvSpPr/>
          <p:nvPr/>
        </p:nvSpPr>
        <p:spPr>
          <a:xfrm>
            <a:off x="731520" y="5486400"/>
            <a:ext cx="60350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pic>
        <p:nvPicPr>
          <p:cNvPr id="5"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
        <p:nvSpPr>
          <p:cNvPr id="6" name="Text 3"/>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Nguyen Phuong Nam · 60 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2026-10-07T01:08:38Z</dcterms:created>
  <dcterms:modified xsi:type="dcterms:W3CDTF">2026-10-07T01:08:38Z</dcterms:modified>
</cp:coreProperties>
</file>