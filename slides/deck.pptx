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1.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charts/chart2.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500" b="0" i="0" u="none" strike="noStrike">
                <a:solidFill>
                  <a:srgbClr val="2B3440"/>
                </a:solidFill>
                <a:latin typeface="Calibri"/>
              </a:defRPr>
            </a:pPr>
            <a:r>
              <a:rPr sz="1500" b="0" i="0" u="none" strike="noStrike">
                <a:solidFill>
                  <a:srgbClr val="2B3440"/>
                </a:solidFill>
                <a:latin typeface="Calibri"/>
              </a:rPr>
              <a:t>Percent correct on 50 requests (queue: 48 scored)</a:t>
            </a:r>
          </a:p>
        </c:rich>
      </c:tx>
      <c:layout/>
      <c:overlay val="0"/>
    </c:title>
    <c:autoTitleDeleted val="0"/>
    <c:plotArea>
      <c:layout/>
      <c:barChart>
        <c:barDir val="col"/>
        <c:grouping val="clustered"/>
        <c:varyColors val="0"/>
        <c:ser>
          <c:idx val="0"/>
          <c:order val="0"/>
          <c:tx>
            <c:strRef>
              <c:f>Sheet1!$B$1</c:f>
              <c:strCache>
                <c:ptCount val="1"/>
                <c:pt idx="0">
                  <c:v>Jev</c:v>
                </c:pt>
              </c:strCache>
            </c:strRef>
          </c:tx>
          <c:spPr>
            <a:solidFill>
              <a:srgbClr val="234B84"/>
            </a:solidFill>
            <a:effectLst/>
          </c:spPr>
          <c:invertIfNegative val="0"/>
          <c:dLbls>
            <c:numFmt formatCode="0.0" sourceLinked="0"/>
            <c:txPr>
              <a:bodyPr/>
              <a:lstStyle/>
              <a:p>
                <a:pPr>
                  <a:defRPr b="0" i="0" strike="noStrike" sz="1200" u="none">
                    <a:solidFill>
                      <a:srgbClr val="2B3440"/>
                    </a:solidFill>
                    <a:latin typeface="Calibri"/>
                  </a:defRPr>
                </a:pPr>
              </a:p>
            </c:txPr>
            <c:showLegendKey val="0"/>
            <c:showVal val="1"/>
            <c:showCatName val="0"/>
            <c:showSerName val="0"/>
            <c:showPercent val="0"/>
            <c:showBubbleSize val="0"/>
            <c:showLeaderLines val="0"/>
          </c:dLbls>
          <c:cat>
            <c:multiLvlStrRef>
              <c:f>Sheet1!$A$2:$A$6</c:f>
              <c:multiLvlStrCache>
                <c:ptCount val="5"/>
                <c:lvl>
                  <c:pt idx="0">
                    <c:v>Action</c:v>
                  </c:pt>
                  <c:pt idx="1">
                    <c:v>Queue</c:v>
                  </c:pt>
                  <c:pt idx="2">
                    <c:v>Priority</c:v>
                  </c:pt>
                  <c:pt idx="3">
                    <c:v>Risk flag</c:v>
                  </c:pt>
                  <c:pt idx="4">
                    <c:v>Injection flag</c:v>
                  </c:pt>
                </c:lvl>
              </c:multiLvlStrCache>
            </c:multiLvlStrRef>
          </c:cat>
          <c:val>
            <c:numRef>
              <c:f>Sheet1!$B$2:$B$6</c:f>
              <c:numCache>
                <c:formatCode>General</c:formatCode>
                <c:ptCount val="5"/>
                <c:pt idx="0">
                  <c:v>86</c:v>
                </c:pt>
                <c:pt idx="1">
                  <c:v>91.7</c:v>
                </c:pt>
                <c:pt idx="2">
                  <c:v>84</c:v>
                </c:pt>
                <c:pt idx="3">
                  <c:v>78</c:v>
                </c:pt>
                <c:pt idx="4">
                  <c:v>94</c:v>
                </c:pt>
              </c:numCache>
            </c:numRef>
          </c:val>
        </c:ser>
        <c:ser>
          <c:idx val="1"/>
          <c:order val="1"/>
          <c:tx>
            <c:strRef>
              <c:f>Sheet1!$C$1</c:f>
              <c:strCache>
                <c:ptCount val="1"/>
                <c:pt idx="0">
                  <c:v>LLM as classifier</c:v>
                </c:pt>
              </c:strCache>
            </c:strRef>
          </c:tx>
          <c:spPr>
            <a:solidFill>
              <a:srgbClr val="9AA7B5"/>
            </a:solidFill>
            <a:effectLst/>
          </c:spPr>
          <c:invertIfNegative val="0"/>
          <c:dLbls>
            <c:numFmt formatCode="0.0" sourceLinked="0"/>
            <c:txPr>
              <a:bodyPr/>
              <a:lstStyle/>
              <a:p>
                <a:pPr>
                  <a:defRPr b="0" i="0" strike="noStrike" sz="1200" u="none">
                    <a:solidFill>
                      <a:srgbClr val="2B3440"/>
                    </a:solidFill>
                    <a:latin typeface="Calibri"/>
                  </a:defRPr>
                </a:pPr>
              </a:p>
            </c:txPr>
            <c:showLegendKey val="0"/>
            <c:showVal val="1"/>
            <c:showCatName val="0"/>
            <c:showSerName val="0"/>
            <c:showPercent val="0"/>
            <c:showBubbleSize val="0"/>
            <c:showLeaderLines val="0"/>
          </c:dLbls>
          <c:cat>
            <c:multiLvlStrRef>
              <c:f>Sheet1!$A$2:$A$6</c:f>
              <c:multiLvlStrCache>
                <c:ptCount val="5"/>
                <c:lvl>
                  <c:pt idx="0">
                    <c:v>Action</c:v>
                  </c:pt>
                  <c:pt idx="1">
                    <c:v>Queue</c:v>
                  </c:pt>
                  <c:pt idx="2">
                    <c:v>Priority</c:v>
                  </c:pt>
                  <c:pt idx="3">
                    <c:v>Risk flag</c:v>
                  </c:pt>
                  <c:pt idx="4">
                    <c:v>Injection flag</c:v>
                  </c:pt>
                </c:lvl>
              </c:multiLvlStrCache>
            </c:multiLvlStrRef>
          </c:cat>
          <c:val>
            <c:numRef>
              <c:f>Sheet1!$C$2:$C$6</c:f>
              <c:numCache>
                <c:formatCode>General</c:formatCode>
                <c:ptCount val="5"/>
                <c:pt idx="0">
                  <c:v>92</c:v>
                </c:pt>
                <c:pt idx="1">
                  <c:v>85.4</c:v>
                </c:pt>
                <c:pt idx="2">
                  <c:v>94</c:v>
                </c:pt>
                <c:pt idx="3">
                  <c:v>84</c:v>
                </c:pt>
                <c:pt idx="4">
                  <c:v>100</c:v>
                </c:pt>
              </c:numCache>
            </c:numRef>
          </c:val>
        </c:ser>
        <c:dLbls>
          <c:numFmt formatCode="0.0" sourceLinked="0"/>
          <c:txPr>
            <a:bodyPr/>
            <a:lstStyle/>
            <a:p>
              <a:pPr>
                <a:defRPr b="0" i="0" strike="noStrike" sz="1200" u="none">
                  <a:solidFill>
                    <a:srgbClr val="2B344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2B3440"/>
                </a:solidFill>
                <a:latin typeface="Calibri"/>
              </a:defRPr>
            </a:pPr>
            <a:endParaRPr lang="en-US"/>
          </a:p>
        </c:txPr>
        <c:crossAx val="2094734552"/>
        <c:crosses val="autoZero"/>
        <c:auto val="1"/>
        <c:lblAlgn val="ctr"/>
        <c:noMultiLvlLbl val="1"/>
      </c:catAx>
      <c:valAx>
        <c:axId val="2094734552"/>
        <c:scaling>
          <c:orientation val="minMax"/>
          <c:max val="112"/>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6636F"/>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400">
              <a:solidFill>
                <a:srgbClr val="2B3440"/>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500" b="0" i="0" u="none" strike="noStrike">
                <a:solidFill>
                  <a:srgbClr val="2B3440"/>
                </a:solidFill>
                <a:latin typeface="Calibri"/>
              </a:defRPr>
            </a:pPr>
            <a:r>
              <a:rPr sz="1500" b="0" i="0" u="none" strike="noStrike">
                <a:solidFill>
                  <a:srgbClr val="2B3440"/>
                </a:solidFill>
                <a:latin typeface="Calibri"/>
              </a:rPr>
              <a:t>Outcome of the 50 requests</a:t>
            </a:r>
          </a:p>
        </c:rich>
      </c:tx>
      <c:layout/>
      <c:overlay val="0"/>
    </c:title>
    <c:autoTitleDeleted val="0"/>
    <c:plotArea>
      <c:layout/>
      <c:barChart>
        <c:barDir val="bar"/>
        <c:grouping val="stacked"/>
        <c:varyColors val="0"/>
        <c:ser>
          <c:idx val="0"/>
          <c:order val="0"/>
          <c:tx>
            <c:strRef>
              <c:f>Sheet1!$B$1</c:f>
              <c:strCache>
                <c:ptCount val="1"/>
                <c:pt idx="0">
                  <c:v>Served</c:v>
                </c:pt>
              </c:strCache>
            </c:strRef>
          </c:tx>
          <c:spPr>
            <a:solidFill>
              <a:srgbClr val="234B84"/>
            </a:solidFill>
            <a:effectLst/>
          </c:spPr>
          <c:invertIfNegative val="0"/>
          <c:dLbls>
            <c:numFmt formatCode="0;-0;;@" sourceLinked="0"/>
            <c:txPr>
              <a:bodyPr/>
              <a:lstStyle/>
              <a:p>
                <a:pPr>
                  <a:defRPr b="0" i="0" strike="noStrike" sz="15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Level 2: LLM agent</c:v>
                  </c:pt>
                  <c:pt idx="1">
                    <c:v>Level 3: Jev + LLM + rules</c:v>
                  </c:pt>
                </c:lvl>
              </c:multiLvlStrCache>
            </c:multiLvlStrRef>
          </c:cat>
          <c:val>
            <c:numRef>
              <c:f>Sheet1!$B$2:$B$3</c:f>
              <c:numCache>
                <c:formatCode>General</c:formatCode>
                <c:ptCount val="2"/>
                <c:pt idx="0">
                  <c:v>32</c:v>
                </c:pt>
                <c:pt idx="1">
                  <c:v>35</c:v>
                </c:pt>
              </c:numCache>
            </c:numRef>
          </c:val>
        </c:ser>
        <c:ser>
          <c:idx val="1"/>
          <c:order val="1"/>
          <c:tx>
            <c:strRef>
              <c:f>Sheet1!$C$1</c:f>
              <c:strCache>
                <c:ptCount val="1"/>
                <c:pt idx="0">
                  <c:v>Stopped by a rule</c:v>
                </c:pt>
              </c:strCache>
            </c:strRef>
          </c:tx>
          <c:spPr>
            <a:solidFill>
              <a:srgbClr val="1F7A7A"/>
            </a:solidFill>
            <a:effectLst/>
          </c:spPr>
          <c:invertIfNegative val="0"/>
          <c:dLbls>
            <c:numFmt formatCode="0;-0;;@" sourceLinked="0"/>
            <c:txPr>
              <a:bodyPr/>
              <a:lstStyle/>
              <a:p>
                <a:pPr>
                  <a:defRPr b="0" i="0" strike="noStrike" sz="15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Level 2: LLM agent</c:v>
                  </c:pt>
                  <c:pt idx="1">
                    <c:v>Level 3: Jev + LLM + rules</c:v>
                  </c:pt>
                </c:lvl>
              </c:multiLvlStrCache>
            </c:multiLvlStrRef>
          </c:cat>
          <c:val>
            <c:numRef>
              <c:f>Sheet1!$C$2:$C$3</c:f>
              <c:numCache>
                <c:formatCode>General</c:formatCode>
                <c:ptCount val="2"/>
                <c:pt idx="0">
                  <c:v>15</c:v>
                </c:pt>
                <c:pt idx="1">
                  <c:v>15</c:v>
                </c:pt>
              </c:numCache>
            </c:numRef>
          </c:val>
        </c:ser>
        <c:ser>
          <c:idx val="2"/>
          <c:order val="2"/>
          <c:tx>
            <c:strRef>
              <c:f>Sheet1!$D$1</c:f>
              <c:strCache>
                <c:ptCount val="1"/>
                <c:pt idx="0">
                  <c:v>Errors</c:v>
                </c:pt>
              </c:strCache>
            </c:strRef>
          </c:tx>
          <c:spPr>
            <a:solidFill>
              <a:srgbClr val="A94A4A"/>
            </a:solidFill>
            <a:effectLst/>
          </c:spPr>
          <c:invertIfNegative val="0"/>
          <c:dLbls>
            <c:numFmt formatCode="0;-0;;@" sourceLinked="0"/>
            <c:txPr>
              <a:bodyPr/>
              <a:lstStyle/>
              <a:p>
                <a:pPr>
                  <a:defRPr b="0" i="0" strike="noStrike" sz="15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Level 2: LLM agent</c:v>
                  </c:pt>
                  <c:pt idx="1">
                    <c:v>Level 3: Jev + LLM + rules</c:v>
                  </c:pt>
                </c:lvl>
              </c:multiLvlStrCache>
            </c:multiLvlStrRef>
          </c:cat>
          <c:val>
            <c:numRef>
              <c:f>Sheet1!$D$2:$D$3</c:f>
              <c:numCache>
                <c:formatCode>General</c:formatCode>
                <c:ptCount val="2"/>
                <c:pt idx="0">
                  <c:v>3</c:v>
                </c:pt>
                <c:pt idx="1">
                  <c:v>0</c:v>
                </c:pt>
              </c:numCache>
            </c:numRef>
          </c:val>
        </c:ser>
        <c:dLbls>
          <c:numFmt formatCode="0;-0;;@" sourceLinked="0"/>
          <c:txPr>
            <a:bodyPr/>
            <a:lstStyle/>
            <a:p>
              <a:pPr>
                <a:defRPr b="0" i="0" strike="noStrike" sz="1500" u="none">
                  <a:solidFill>
                    <a:srgbClr val="FFFFFF"/>
                  </a:solidFill>
                  <a:latin typeface="Calibri"/>
                </a:defRPr>
              </a:pPr>
            </a:p>
          </c:txPr>
          <c:dLblPos val="ctr"/>
          <c:showLegendKey val="0"/>
          <c:showVal val="1"/>
          <c:showCatName val="0"/>
          <c:showSerName val="0"/>
          <c:showPercent val="0"/>
          <c:showBubbleSize val="0"/>
          <c:showLeaderLines val="0"/>
        </c:dLbls>
        <c:gapWidth val="45"/>
        <c:overlap val="10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400" b="0" i="0" u="none" strike="noStrike">
                <a:solidFill>
                  <a:srgbClr val="2B3440"/>
                </a:solidFill>
                <a:latin typeface="Calibri"/>
              </a:defRPr>
            </a:pPr>
            <a:endParaRPr lang="en-US"/>
          </a:p>
        </c:txPr>
        <c:crossAx val="2094734552"/>
        <c:crosses val="autoZero"/>
        <c:auto val="1"/>
        <c:lblAlgn val="ctr"/>
        <c:noMultiLvlLbl val="1"/>
      </c:catAx>
      <c:valAx>
        <c:axId val="2094734552"/>
        <c:scaling>
          <c:orientation val="minMax"/>
          <c:max val="50"/>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56636F"/>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400">
              <a:solidFill>
                <a:srgbClr val="2B3440"/>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Tran Thanh Long, about 75 s. Good morning. A customer waits two days for a refund; a chatbot that handles money can do harm. We study three levels of customer support for FrameForge, a made-up AI video-generation SaaS: support staff, one LLM agent, and Jev with fixed code and an LLM. The bars show the task allocation of the paper: the leader has the largest share, and each member has a different share.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Tran Thanh Long, about 110 s. Level 1: support staff read every request. No model runs, so no model error, but each request takes an assumed 90 s and the cost grows with every request. Level 2: one LLM agent reads the chat and the whole account and applies the written rules itself. Nothing fixed stands behind its answer, and an order hidden in a text can reach it. Our question: can an AI agent serve fast and cheap without risk to money and data? Opening interaction by the leader: raise your hand if you waited over 24 hours for support; then the poll: which action would you never let a chatbot do alone (refund, plan cancellation, password reset, data deletion)? The written rules always deny data deletion in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Tran Thanh Long, about 117 s. Level 1 is the baseline: support staff read every request, 90 s each (assumed). Level 2 replaces the staff with one LLM agent that reads the account, applies the written rules itself, and either runs an action or denies it. Level 3 splits the job: Jev gives five typed answers, each with a confidence, fixed code reads only the account fields that the action needs and checks the written rules, and the LLM writes the reply. Every level runs on the same 50 requests. Opening interaction by the leader: which level is faster and cheaper, Level 2 or Level 3? The answer is not given here; the results show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Nguyen Thanh Nam, about 45 s. Only the four actions that change state have written rules: refund, delete data, cancel plan, and reset password. Each rule gives allow or deny. Deny means nothing runs, and the reply gives the steps that the customer can take alone. The Security rule is checked first for every state change: a request that reports that the account or the payment method was used by someone who is not the customer stops the action. Deleting data is always denied, because it cannot be undone. At Level 2 the agent applies these rules itself; at Level 3 fixed code checks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Nguyen Thanh Nam, about 72 s. This is the flow of Level 3 as a state machine with eight states. New saves the message. Triage: Jev answers five questions, each with a confidence, in one call and never reads the account; an injection flag ignores the orders in the text, and a fraud report goes to the queue Security. Gather info is fixed code and reads only the account fields that the action needs. Rules check applies the written rules, the Security rule first: allow goes to Do action, deny goes to the Final message with nothing run. The LLM writes the Final message only. A popup then asks if the issue is solved, and the chat resolves. The selected fields cut the Final message input from 617 to 590 tokens.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Vu Van Son, about 162 s. All data are made by us. The test data have 72 FrameForge customers. A seeded generator writes 50 requests in 24 types. A full run makes 300 model calls: 100 each at Level 2, at Level 3, and in the LLM-classifier run. We call two hosted models for real: Jev (jev-1.13.0) and deepseek-v4.1-flash through the DeepSeek API. An offline replay of the recorded run gives the same numbers. Two questions: what does each level buy and cost; what changes when Jev replaces the LLM as the classifier.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Vuong Quang Quy, about 30 s. Both classifiers get the same input and the same criteria. Jev is behind the LLM on action (86.0% against 92.0%), priority, risk flag, and injection flag, and ahead on queue (91.7% against 85.4% of 48 scored requests). One classifier call takes a median of 0.241 s with Jev and 4.410 s with the LLM: 18 times faster. The stage costs $0.052 against $0.587 per 1,000 requests: 11 times cheaper. Jev gives a wrong queue or action in 11 of 50 requests, and none is an error at Level 3 (7 are label errors); the routing rule, the written rules, and the Security rule catch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Vuong Quang Quy, about 60 s. Level 1 uses an assumed 90 s per request. Level 2 serves 32 of 50, stops 15, and makes 3 errors: wrong denials where the correct result is an answer; nothing ran. Level 3 serves 35, stops 15, and makes 0 errors. Machine time is 6.85 s against 3.16 s: 2.2 times faster. Cost is $0.71 against $0.30 per 1,000 requests: 2.4 times cheaper. The exact sign test has 3 discordant pairs, all errors at Level 2 only, and gives p = 0.25. The accuracy gap is not established. Our strong claims are speed, cost, and never worse in any column. No run is harmful at either level.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Nguyen Phuong Nam, about 75 s. The evidence is small-sample: two hosted models, one synthetic SaaS product, and an assumed 90 s per request at Level 1. 0 money or data harm in 50 requests is not proof of zero; the 95% upper limit is about 6%. The popup delay and the silence time are not simulated. The classifier comparison uses one prompt wording and one run per request. The Security rule was added after fraud reports showed a defect on these 50 requests, so the main numbers are not a blind test. With 3 discordant pairs (p = 0.25) the accuracy gap is not established. What Level 3 buys is time and cost, and it is never worse in any column.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Nguyen Phuong Nam, about 40 s. To conclude: three levels on one ladder, measured on the same 50 requests. Level 3 serves 35, stops 15, and makes 0 errors; Level 2 serves 32, stops 15, and makes 3. Level 3 is never worse in any column, 2.2 times faster, and 2.4 times cheaper. The sign test (p = 0.25) does not establish an accuracy gap. The Security rule stops state changes on fraud reports; we added it after we saw a defect on these 50 requests, so the main numbers are not a blind test. Jev is less accurate than the LLM on four of five fields, but the written rules catch its wrong answers. Thank you. Our leader, Tran Thanh Long, will now take your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1000</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image" Target="../media/image-5-7.png"/><Relationship Id="rId8" Type="http://schemas.openxmlformats.org/officeDocument/2006/relationships/image" Target="../media/image-5-8.png"/><Relationship Id="rId9" Type="http://schemas.openxmlformats.org/officeDocument/2006/relationships/image" Target="../media/image-5-9.png"/><Relationship Id="rId10" Type="http://schemas.openxmlformats.org/officeDocument/2006/relationships/slideLayout" Target="../slideLayouts/slideLayout1.xml"/><Relationship Id="rId11"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slideLayout" Target="../slideLayouts/slideLayout1.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image" Target="../media/image-7-1.png"/><Relationship Id="rId3" Type="http://schemas.openxmlformats.org/officeDocument/2006/relationships/image" Target="../media/image-7-2.png"/><Relationship Id="rId4" Type="http://schemas.openxmlformats.org/officeDocument/2006/relationships/image" Target="../media/image-7-3.png"/><Relationship Id="rId5" Type="http://schemas.openxmlformats.org/officeDocument/2006/relationships/slideLayout" Target="../slideLayouts/slideLayout1.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image" Target="../media/image-8-1.png"/><Relationship Id="rId3" Type="http://schemas.openxmlformats.org/officeDocument/2006/relationships/image" Target="../media/image-8-2.png"/><Relationship Id="rId4" Type="http://schemas.openxmlformats.org/officeDocument/2006/relationships/image" Target="../media/image-8-3.png"/><Relationship Id="rId5" Type="http://schemas.openxmlformats.org/officeDocument/2006/relationships/image" Target="../media/image-8-4.png"/><Relationship Id="rId6" Type="http://schemas.openxmlformats.org/officeDocument/2006/relationships/slideLayout" Target="../slideLayouts/slideLayout1.xml"/><Relationship Id="rId7"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slideLayout" Target="../slideLayouts/slideLayout1.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3E6A9A"/>
        </a:solidFill>
      </p:bgPr>
    </p:bg>
    <p:spTree>
      <p:nvGrpSpPr>
        <p:cNvPr id="1" name=""/>
        <p:cNvGrpSpPr/>
        <p:nvPr/>
      </p:nvGrpSpPr>
      <p:grpSpPr>
        <a:xfrm>
          <a:off x="0" y="0"/>
          <a:ext cx="0" cy="0"/>
          <a:chOff x="0" y="0"/>
          <a:chExt cx="0" cy="0"/>
        </a:xfrm>
      </p:grpSpPr>
      <p:sp>
        <p:nvSpPr>
          <p:cNvPr id="2" name="Text 0"/>
          <p:cNvSpPr/>
          <p:nvPr/>
        </p:nvSpPr>
        <p:spPr>
          <a:xfrm>
            <a:off x="731520" y="457200"/>
            <a:ext cx="5943600" cy="2011680"/>
          </a:xfrm>
          <a:prstGeom prst="rect">
            <a:avLst/>
          </a:prstGeom>
          <a:noFill/>
          <a:ln/>
        </p:spPr>
        <p:txBody>
          <a:bodyPr wrap="square" lIns="0" tIns="0" rIns="0" bIns="0" rtlCol="0" anchor="t"/>
          <a:lstStyle/>
          <a:p>
            <a:pPr indent="0" marL="0">
              <a:buNone/>
            </a:pPr>
            <a:r>
              <a:rPr lang="en-US" sz="3200" b="1" dirty="0">
                <a:solidFill>
                  <a:srgbClr val="FFFFFF"/>
                </a:solidFill>
                <a:latin typeface="Calibri" pitchFamily="34" charset="0"/>
                <a:ea typeface="Calibri" pitchFamily="34" charset="-122"/>
                <a:cs typeface="Calibri" pitchFamily="34" charset="-120"/>
              </a:rPr>
              <a:t>Human to LLM &amp; Classifier Support Agent: A Three-Level Ladder for SaaS Request Triage</a:t>
            </a:r>
            <a:endParaRPr lang="en-US" sz="3200" dirty="0"/>
          </a:p>
        </p:txBody>
      </p:sp>
      <p:sp>
        <p:nvSpPr>
          <p:cNvPr id="3" name="Text 1"/>
          <p:cNvSpPr/>
          <p:nvPr/>
        </p:nvSpPr>
        <p:spPr>
          <a:xfrm>
            <a:off x="731520" y="2194560"/>
            <a:ext cx="5943600" cy="731520"/>
          </a:xfrm>
          <a:prstGeom prst="rect">
            <a:avLst/>
          </a:prstGeom>
          <a:noFill/>
          <a:ln/>
        </p:spPr>
        <p:txBody>
          <a:bodyPr wrap="square" lIns="0" tIns="0" rIns="0" bIns="0" rtlCol="0" anchor="t"/>
          <a:lstStyle/>
          <a:p>
            <a:pPr indent="0" marL="0">
              <a:buNone/>
            </a:pPr>
            <a:r>
              <a:rPr lang="en-US" sz="1700" dirty="0">
                <a:solidFill>
                  <a:srgbClr val="E3ECF6"/>
                </a:solidFill>
                <a:latin typeface="Calibri" pitchFamily="34" charset="0"/>
                <a:ea typeface="Calibri" pitchFamily="34" charset="-122"/>
                <a:cs typeface="Calibri" pitchFamily="34" charset="-120"/>
              </a:rPr>
              <a:t>FrameForge, an AI video-generation SaaS: support staff, one LLM agent, then Jev with fixed code and an LLM</a:t>
            </a:r>
            <a:endParaRPr lang="en-US" sz="1700" dirty="0"/>
          </a:p>
        </p:txBody>
      </p:sp>
      <p:sp>
        <p:nvSpPr>
          <p:cNvPr id="4" name="Text 2"/>
          <p:cNvSpPr/>
          <p:nvPr/>
        </p:nvSpPr>
        <p:spPr>
          <a:xfrm>
            <a:off x="731520" y="3291840"/>
            <a:ext cx="5943600" cy="274320"/>
          </a:xfrm>
          <a:prstGeom prst="rect">
            <a:avLst/>
          </a:prstGeom>
          <a:noFill/>
          <a:ln/>
        </p:spPr>
        <p:txBody>
          <a:bodyPr wrap="square" lIns="0" tIns="0" rIns="0" bIns="0" rtlCol="0" anchor="ctr"/>
          <a:lstStyle/>
          <a:p>
            <a:pPr indent="0" marL="0">
              <a:buNone/>
            </a:pPr>
            <a:r>
              <a:rPr lang="en-US" sz="1300" b="1" dirty="0">
                <a:solidFill>
                  <a:srgbClr val="E3ECF6"/>
                </a:solidFill>
                <a:latin typeface="Calibri" pitchFamily="34" charset="0"/>
                <a:ea typeface="Calibri" pitchFamily="34" charset="-122"/>
                <a:cs typeface="Calibri" pitchFamily="34" charset="-120"/>
              </a:rPr>
              <a:t>Task allocation (bar = share of the work and of the talk)</a:t>
            </a:r>
            <a:endParaRPr lang="en-US" sz="1300" dirty="0"/>
          </a:p>
        </p:txBody>
      </p:sp>
      <p:sp>
        <p:nvSpPr>
          <p:cNvPr id="5" name="Text 3"/>
          <p:cNvSpPr/>
          <p:nvPr/>
        </p:nvSpPr>
        <p:spPr>
          <a:xfrm>
            <a:off x="731520" y="3657600"/>
            <a:ext cx="2468880" cy="292608"/>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Tran Thanh Long (Leader)</a:t>
            </a:r>
            <a:endParaRPr lang="en-US" sz="1500" dirty="0"/>
          </a:p>
        </p:txBody>
      </p:sp>
      <p:sp>
        <p:nvSpPr>
          <p:cNvPr id="6" name="Shape 4"/>
          <p:cNvSpPr/>
          <p:nvPr/>
        </p:nvSpPr>
        <p:spPr>
          <a:xfrm>
            <a:off x="3291840" y="3694176"/>
            <a:ext cx="2377440" cy="219456"/>
          </a:xfrm>
          <a:prstGeom prst="roundRect">
            <a:avLst>
              <a:gd name="adj" fmla="val 20833"/>
            </a:avLst>
          </a:prstGeom>
          <a:solidFill>
            <a:srgbClr val="FFFFFF"/>
          </a:solidFill>
          <a:ln/>
        </p:spPr>
      </p:sp>
      <p:sp>
        <p:nvSpPr>
          <p:cNvPr id="7" name="Text 5"/>
          <p:cNvSpPr/>
          <p:nvPr/>
        </p:nvSpPr>
        <p:spPr>
          <a:xfrm>
            <a:off x="5760720" y="3657600"/>
            <a:ext cx="640080" cy="292608"/>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28%</a:t>
            </a:r>
            <a:endParaRPr lang="en-US" sz="1500" dirty="0"/>
          </a:p>
        </p:txBody>
      </p:sp>
      <p:sp>
        <p:nvSpPr>
          <p:cNvPr id="8" name="Text 6"/>
          <p:cNvSpPr/>
          <p:nvPr/>
        </p:nvSpPr>
        <p:spPr>
          <a:xfrm>
            <a:off x="731520" y="4059936"/>
            <a:ext cx="2468880" cy="292608"/>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Nguyen Thanh Nam</a:t>
            </a:r>
            <a:endParaRPr lang="en-US" sz="1500" dirty="0"/>
          </a:p>
        </p:txBody>
      </p:sp>
      <p:sp>
        <p:nvSpPr>
          <p:cNvPr id="9" name="Shape 7"/>
          <p:cNvSpPr/>
          <p:nvPr/>
        </p:nvSpPr>
        <p:spPr>
          <a:xfrm>
            <a:off x="3291840" y="4096512"/>
            <a:ext cx="1867989" cy="219456"/>
          </a:xfrm>
          <a:prstGeom prst="roundRect">
            <a:avLst>
              <a:gd name="adj" fmla="val 20833"/>
            </a:avLst>
          </a:prstGeom>
          <a:solidFill>
            <a:srgbClr val="C9DAEC"/>
          </a:solidFill>
          <a:ln/>
        </p:spPr>
      </p:sp>
      <p:sp>
        <p:nvSpPr>
          <p:cNvPr id="10" name="Text 8"/>
          <p:cNvSpPr/>
          <p:nvPr/>
        </p:nvSpPr>
        <p:spPr>
          <a:xfrm>
            <a:off x="5251269" y="4059936"/>
            <a:ext cx="640080" cy="292608"/>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22%</a:t>
            </a:r>
            <a:endParaRPr lang="en-US" sz="1500" dirty="0"/>
          </a:p>
        </p:txBody>
      </p:sp>
      <p:sp>
        <p:nvSpPr>
          <p:cNvPr id="11" name="Text 9"/>
          <p:cNvSpPr/>
          <p:nvPr/>
        </p:nvSpPr>
        <p:spPr>
          <a:xfrm>
            <a:off x="731520" y="4462272"/>
            <a:ext cx="2468880" cy="292608"/>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Vu Van Son</a:t>
            </a:r>
            <a:endParaRPr lang="en-US" sz="1500" dirty="0"/>
          </a:p>
        </p:txBody>
      </p:sp>
      <p:sp>
        <p:nvSpPr>
          <p:cNvPr id="12" name="Shape 10"/>
          <p:cNvSpPr/>
          <p:nvPr/>
        </p:nvSpPr>
        <p:spPr>
          <a:xfrm>
            <a:off x="3291840" y="4498848"/>
            <a:ext cx="1528354" cy="219456"/>
          </a:xfrm>
          <a:prstGeom prst="roundRect">
            <a:avLst>
              <a:gd name="adj" fmla="val 20833"/>
            </a:avLst>
          </a:prstGeom>
          <a:solidFill>
            <a:srgbClr val="C9DAEC"/>
          </a:solidFill>
          <a:ln/>
        </p:spPr>
      </p:sp>
      <p:sp>
        <p:nvSpPr>
          <p:cNvPr id="13" name="Text 11"/>
          <p:cNvSpPr/>
          <p:nvPr/>
        </p:nvSpPr>
        <p:spPr>
          <a:xfrm>
            <a:off x="4911634" y="4462272"/>
            <a:ext cx="640080" cy="292608"/>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18%</a:t>
            </a:r>
            <a:endParaRPr lang="en-US" sz="1500" dirty="0"/>
          </a:p>
        </p:txBody>
      </p:sp>
      <p:sp>
        <p:nvSpPr>
          <p:cNvPr id="14" name="Text 12"/>
          <p:cNvSpPr/>
          <p:nvPr/>
        </p:nvSpPr>
        <p:spPr>
          <a:xfrm>
            <a:off x="731520" y="4864608"/>
            <a:ext cx="2468880" cy="292608"/>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Vuong Quang Quy</a:t>
            </a:r>
            <a:endParaRPr lang="en-US" sz="1500" dirty="0"/>
          </a:p>
        </p:txBody>
      </p:sp>
      <p:sp>
        <p:nvSpPr>
          <p:cNvPr id="15" name="Shape 13"/>
          <p:cNvSpPr/>
          <p:nvPr/>
        </p:nvSpPr>
        <p:spPr>
          <a:xfrm>
            <a:off x="3291840" y="4901184"/>
            <a:ext cx="1443446" cy="219456"/>
          </a:xfrm>
          <a:prstGeom prst="roundRect">
            <a:avLst>
              <a:gd name="adj" fmla="val 20833"/>
            </a:avLst>
          </a:prstGeom>
          <a:solidFill>
            <a:srgbClr val="C9DAEC"/>
          </a:solidFill>
          <a:ln/>
        </p:spPr>
      </p:sp>
      <p:sp>
        <p:nvSpPr>
          <p:cNvPr id="16" name="Text 14"/>
          <p:cNvSpPr/>
          <p:nvPr/>
        </p:nvSpPr>
        <p:spPr>
          <a:xfrm>
            <a:off x="4826726" y="4864608"/>
            <a:ext cx="640080" cy="292608"/>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17%</a:t>
            </a:r>
            <a:endParaRPr lang="en-US" sz="1500" dirty="0"/>
          </a:p>
        </p:txBody>
      </p:sp>
      <p:sp>
        <p:nvSpPr>
          <p:cNvPr id="17" name="Text 15"/>
          <p:cNvSpPr/>
          <p:nvPr/>
        </p:nvSpPr>
        <p:spPr>
          <a:xfrm>
            <a:off x="731520" y="5266944"/>
            <a:ext cx="2468880" cy="292608"/>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Nguyen Phuong Nam</a:t>
            </a:r>
            <a:endParaRPr lang="en-US" sz="1500" dirty="0"/>
          </a:p>
        </p:txBody>
      </p:sp>
      <p:sp>
        <p:nvSpPr>
          <p:cNvPr id="18" name="Shape 16"/>
          <p:cNvSpPr/>
          <p:nvPr/>
        </p:nvSpPr>
        <p:spPr>
          <a:xfrm>
            <a:off x="3291840" y="5303520"/>
            <a:ext cx="1273629" cy="219456"/>
          </a:xfrm>
          <a:prstGeom prst="roundRect">
            <a:avLst>
              <a:gd name="adj" fmla="val 20833"/>
            </a:avLst>
          </a:prstGeom>
          <a:solidFill>
            <a:srgbClr val="C9DAEC"/>
          </a:solidFill>
          <a:ln/>
        </p:spPr>
      </p:sp>
      <p:sp>
        <p:nvSpPr>
          <p:cNvPr id="19" name="Text 17"/>
          <p:cNvSpPr/>
          <p:nvPr/>
        </p:nvSpPr>
        <p:spPr>
          <a:xfrm>
            <a:off x="4656909" y="5266944"/>
            <a:ext cx="640080" cy="292608"/>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15%</a:t>
            </a:r>
            <a:endParaRPr lang="en-US" sz="1500" dirty="0"/>
          </a:p>
        </p:txBody>
      </p:sp>
      <p:sp>
        <p:nvSpPr>
          <p:cNvPr id="20" name="Text 18"/>
          <p:cNvSpPr/>
          <p:nvPr/>
        </p:nvSpPr>
        <p:spPr>
          <a:xfrm>
            <a:off x="731520" y="5760720"/>
            <a:ext cx="5943600" cy="502920"/>
          </a:xfrm>
          <a:prstGeom prst="rect">
            <a:avLst/>
          </a:prstGeom>
          <a:noFill/>
          <a:ln/>
        </p:spPr>
        <p:txBody>
          <a:bodyPr wrap="square" lIns="0" tIns="0" rIns="0" bIns="0" rtlCol="0" anchor="t"/>
          <a:lstStyle/>
          <a:p>
            <a:pPr indent="0" marL="0">
              <a:buNone/>
            </a:pPr>
            <a:r>
              <a:rPr lang="en-US" sz="1400" dirty="0">
                <a:solidFill>
                  <a:srgbClr val="FFFFFF"/>
                </a:solidFill>
                <a:latin typeface="Calibri" pitchFamily="34" charset="0"/>
                <a:ea typeface="Calibri" pitchFamily="34" charset="-122"/>
                <a:cs typeface="Calibri" pitchFamily="34" charset="-120"/>
              </a:rPr>
              <a:t>Phenikaa School of Computing</a:t>
            </a:r>
            <a:endParaRPr lang="en-US" sz="1400" dirty="0"/>
          </a:p>
          <a:p>
            <a:pPr indent="0" marL="0">
              <a:buNone/>
            </a:pPr>
            <a:r>
              <a:rPr lang="en-US" sz="1400" dirty="0">
                <a:solidFill>
                  <a:srgbClr val="FFFFFF"/>
                </a:solidFill>
                <a:latin typeface="Calibri" pitchFamily="34" charset="0"/>
                <a:ea typeface="Calibri" pitchFamily="34" charset="-122"/>
                <a:cs typeface="Calibri" pitchFamily="34" charset="-120"/>
              </a:rPr>
              <a:t>English Writing and Presentation Skills · October 2026</a:t>
            </a:r>
            <a:endParaRPr lang="en-US" sz="1400" dirty="0"/>
          </a:p>
        </p:txBody>
      </p:sp>
      <p:pic>
        <p:nvPicPr>
          <p:cNvPr id="21" name="Image 0" descr="preencoded.png">    </p:cNvPr>
          <p:cNvPicPr>
            <a:picLocks noChangeAspect="1"/>
          </p:cNvPicPr>
          <p:nvPr/>
        </p:nvPicPr>
        <p:blipFill>
          <a:blip r:embed="rId1"/>
          <a:stretch>
            <a:fillRect/>
          </a:stretch>
        </p:blipFill>
        <p:spPr>
          <a:xfrm>
            <a:off x="6858000" y="868680"/>
            <a:ext cx="4754880" cy="4754880"/>
          </a:xfrm>
          <a:prstGeom prst="rect">
            <a:avLst/>
          </a:prstGeom>
        </p:spPr>
      </p:pic>
      <p:sp>
        <p:nvSpPr>
          <p:cNvPr id="22" name="Text 19"/>
          <p:cNvSpPr/>
          <p:nvPr/>
        </p:nvSpPr>
        <p:spPr>
          <a:xfrm>
            <a:off x="731520" y="6400800"/>
            <a:ext cx="5486400" cy="274320"/>
          </a:xfrm>
          <a:prstGeom prst="rect">
            <a:avLst/>
          </a:prstGeom>
          <a:noFill/>
          <a:ln/>
        </p:spPr>
        <p:txBody>
          <a:bodyPr wrap="square" lIns="0" tIns="0" rIns="0" bIns="0" rtlCol="0" anchor="ctr"/>
          <a:lstStyle/>
          <a:p>
            <a:pPr indent="0" marL="0">
              <a:buNone/>
            </a:pPr>
            <a:r>
              <a:rPr lang="en-US" sz="1100" dirty="0">
                <a:solidFill>
                  <a:srgbClr val="E3ECF6"/>
                </a:solidFill>
                <a:latin typeface="Calibri" pitchFamily="34" charset="0"/>
                <a:ea typeface="Calibri" pitchFamily="34" charset="-122"/>
                <a:cs typeface="Calibri" pitchFamily="34" charset="-120"/>
              </a:rPr>
              <a:t>Speaker: Tran Thanh Long · 75 s</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Where we start: staff or one LLM agent</a:t>
            </a:r>
            <a:endParaRPr lang="en-US" sz="3400" dirty="0"/>
          </a:p>
        </p:txBody>
      </p:sp>
      <p:sp>
        <p:nvSpPr>
          <p:cNvPr id="3" name="Text 1"/>
          <p:cNvSpPr/>
          <p:nvPr/>
        </p:nvSpPr>
        <p:spPr>
          <a:xfrm>
            <a:off x="548640" y="6400800"/>
            <a:ext cx="5486400" cy="274320"/>
          </a:xfrm>
          <a:prstGeom prst="rect">
            <a:avLst/>
          </a:prstGeom>
          <a:noFill/>
          <a:ln/>
        </p:spPr>
        <p:txBody>
          <a:bodyPr wrap="square" lIns="0" tIns="0" rIns="0" bIns="0" rtlCol="0" anchor="ctr"/>
          <a:lstStyle/>
          <a:p>
            <a:pPr indent="0" marL="0">
              <a:buNone/>
            </a:pPr>
            <a:r>
              <a:rPr lang="en-US" sz="1100" dirty="0">
                <a:solidFill>
                  <a:srgbClr val="56636F"/>
                </a:solidFill>
                <a:latin typeface="Calibri" pitchFamily="34" charset="0"/>
                <a:ea typeface="Calibri" pitchFamily="34" charset="-122"/>
                <a:cs typeface="Calibri" pitchFamily="34" charset="-120"/>
              </a:rPr>
              <a:t>Speaker: Tran Thanh Long · 110 s</a:t>
            </a:r>
            <a:endParaRPr lang="en-US" sz="1100" dirty="0"/>
          </a:p>
        </p:txBody>
      </p:sp>
      <p:sp>
        <p:nvSpPr>
          <p:cNvPr id="5" name="Shape 2"/>
          <p:cNvSpPr/>
          <p:nvPr/>
        </p:nvSpPr>
        <p:spPr>
          <a:xfrm>
            <a:off x="548640" y="1508760"/>
            <a:ext cx="5364328" cy="3200400"/>
          </a:xfrm>
          <a:prstGeom prst="roundRect">
            <a:avLst>
              <a:gd name="adj" fmla="val 2286"/>
            </a:avLst>
          </a:prstGeom>
          <a:solidFill>
            <a:srgbClr val="FFFFFF"/>
          </a:solidFill>
          <a:ln/>
        </p:spPr>
      </p:sp>
      <p:pic>
        <p:nvPicPr>
          <p:cNvPr id="6" name="Image 0" descr="preencoded.png">    </p:cNvPr>
          <p:cNvPicPr>
            <a:picLocks noChangeAspect="1"/>
          </p:cNvPicPr>
          <p:nvPr/>
        </p:nvPicPr>
        <p:blipFill>
          <a:blip r:embed="rId1"/>
          <a:stretch>
            <a:fillRect/>
          </a:stretch>
        </p:blipFill>
        <p:spPr>
          <a:xfrm>
            <a:off x="868680" y="2011680"/>
            <a:ext cx="2194560" cy="2194560"/>
          </a:xfrm>
          <a:prstGeom prst="rect">
            <a:avLst/>
          </a:prstGeom>
        </p:spPr>
      </p:pic>
      <p:sp>
        <p:nvSpPr>
          <p:cNvPr id="7" name="Text 3"/>
          <p:cNvSpPr/>
          <p:nvPr/>
        </p:nvSpPr>
        <p:spPr>
          <a:xfrm>
            <a:off x="3291840" y="1920240"/>
            <a:ext cx="2392528" cy="731520"/>
          </a:xfrm>
          <a:prstGeom prst="rect">
            <a:avLst/>
          </a:prstGeom>
          <a:noFill/>
          <a:ln/>
        </p:spPr>
        <p:txBody>
          <a:bodyPr wrap="square" lIns="0" tIns="0" rIns="0" bIns="0" rtlCol="0" anchor="t"/>
          <a:lstStyle/>
          <a:p>
            <a:pPr algn="l" indent="0" marL="0">
              <a:buNone/>
            </a:pPr>
            <a:r>
              <a:rPr lang="en-US" sz="2200" b="1" dirty="0">
                <a:solidFill>
                  <a:srgbClr val="1B365D"/>
                </a:solidFill>
                <a:latin typeface="Calibri" pitchFamily="34" charset="0"/>
                <a:ea typeface="Calibri" pitchFamily="34" charset="-122"/>
                <a:cs typeface="Calibri" pitchFamily="34" charset="-120"/>
              </a:rPr>
              <a:t>Level 1: staff only</a:t>
            </a:r>
            <a:endParaRPr lang="en-US" sz="2200" dirty="0"/>
          </a:p>
        </p:txBody>
      </p:sp>
      <p:sp>
        <p:nvSpPr>
          <p:cNvPr id="8" name="Text 4"/>
          <p:cNvSpPr/>
          <p:nvPr/>
        </p:nvSpPr>
        <p:spPr>
          <a:xfrm>
            <a:off x="3291840" y="2743200"/>
            <a:ext cx="2438248" cy="173736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rgbClr val="2B3440"/>
                </a:solidFill>
                <a:latin typeface="Calibri" pitchFamily="34" charset="0"/>
                <a:ea typeface="Calibri" pitchFamily="34" charset="-122"/>
                <a:cs typeface="Calibri" pitchFamily="34" charset="-120"/>
              </a:rPr>
              <a:t>No model, so no model error</a:t>
            </a:r>
            <a:endParaRPr lang="en-US" sz="1500" dirty="0"/>
          </a:p>
          <a:p>
            <a:pPr marL="342900" indent="-342900">
              <a:spcAft>
                <a:spcPts val="800"/>
              </a:spcAft>
              <a:buSzPct val="100000"/>
              <a:buChar char="•"/>
            </a:pPr>
            <a:r>
              <a:rPr lang="en-US" sz="1500" dirty="0">
                <a:solidFill>
                  <a:srgbClr val="2B3440"/>
                </a:solidFill>
                <a:latin typeface="Calibri" pitchFamily="34" charset="0"/>
                <a:ea typeface="Calibri" pitchFamily="34" charset="-122"/>
                <a:cs typeface="Calibri" pitchFamily="34" charset="-120"/>
              </a:rPr>
              <a:t>90 s per request (assumed)</a:t>
            </a:r>
            <a:endParaRPr lang="en-US" sz="1500" dirty="0"/>
          </a:p>
          <a:p>
            <a:pPr marL="342900" indent="-342900">
              <a:spcAft>
                <a:spcPts val="800"/>
              </a:spcAft>
              <a:buSzPct val="100000"/>
              <a:buChar char="•"/>
            </a:pPr>
            <a:r>
              <a:rPr lang="en-US" sz="1500" dirty="0">
                <a:solidFill>
                  <a:srgbClr val="2B3440"/>
                </a:solidFill>
                <a:latin typeface="Calibri" pitchFamily="34" charset="0"/>
                <a:ea typeface="Calibri" pitchFamily="34" charset="-122"/>
                <a:cs typeface="Calibri" pitchFamily="34" charset="-120"/>
              </a:rPr>
              <a:t>Cost and wait grow with every request</a:t>
            </a:r>
            <a:endParaRPr lang="en-US" sz="1500" dirty="0"/>
          </a:p>
        </p:txBody>
      </p:sp>
      <p:sp>
        <p:nvSpPr>
          <p:cNvPr id="9" name="Shape 5"/>
          <p:cNvSpPr/>
          <p:nvPr/>
        </p:nvSpPr>
        <p:spPr>
          <a:xfrm>
            <a:off x="6278728" y="1508760"/>
            <a:ext cx="5364328" cy="3200400"/>
          </a:xfrm>
          <a:prstGeom prst="roundRect">
            <a:avLst>
              <a:gd name="adj" fmla="val 2286"/>
            </a:avLst>
          </a:prstGeom>
          <a:solidFill>
            <a:srgbClr val="FFFFFF"/>
          </a:solidFill>
          <a:ln/>
        </p:spPr>
      </p:sp>
      <p:pic>
        <p:nvPicPr>
          <p:cNvPr id="10" name="Image 1" descr="preencoded.png">    </p:cNvPr>
          <p:cNvPicPr>
            <a:picLocks noChangeAspect="1"/>
          </p:cNvPicPr>
          <p:nvPr/>
        </p:nvPicPr>
        <p:blipFill>
          <a:blip r:embed="rId2"/>
          <a:stretch>
            <a:fillRect/>
          </a:stretch>
        </p:blipFill>
        <p:spPr>
          <a:xfrm>
            <a:off x="6598768" y="2011680"/>
            <a:ext cx="2194560" cy="2194560"/>
          </a:xfrm>
          <a:prstGeom prst="rect">
            <a:avLst/>
          </a:prstGeom>
        </p:spPr>
      </p:pic>
      <p:sp>
        <p:nvSpPr>
          <p:cNvPr id="11" name="Text 6"/>
          <p:cNvSpPr/>
          <p:nvPr/>
        </p:nvSpPr>
        <p:spPr>
          <a:xfrm>
            <a:off x="9021928" y="1920240"/>
            <a:ext cx="2392528" cy="731520"/>
          </a:xfrm>
          <a:prstGeom prst="rect">
            <a:avLst/>
          </a:prstGeom>
          <a:noFill/>
          <a:ln/>
        </p:spPr>
        <p:txBody>
          <a:bodyPr wrap="square" lIns="0" tIns="0" rIns="0" bIns="0" rtlCol="0" anchor="t"/>
          <a:lstStyle/>
          <a:p>
            <a:pPr algn="l" indent="0" marL="0">
              <a:buNone/>
            </a:pPr>
            <a:r>
              <a:rPr lang="en-US" sz="2200" b="1" dirty="0">
                <a:solidFill>
                  <a:srgbClr val="1B365D"/>
                </a:solidFill>
                <a:latin typeface="Calibri" pitchFamily="34" charset="0"/>
                <a:ea typeface="Calibri" pitchFamily="34" charset="-122"/>
                <a:cs typeface="Calibri" pitchFamily="34" charset="-120"/>
              </a:rPr>
              <a:t>Level 2: one LLM agent</a:t>
            </a:r>
            <a:endParaRPr lang="en-US" sz="2200" dirty="0"/>
          </a:p>
        </p:txBody>
      </p:sp>
      <p:sp>
        <p:nvSpPr>
          <p:cNvPr id="12" name="Text 7"/>
          <p:cNvSpPr/>
          <p:nvPr/>
        </p:nvSpPr>
        <p:spPr>
          <a:xfrm>
            <a:off x="9021928" y="2743200"/>
            <a:ext cx="2438248" cy="173736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rgbClr val="2B3440"/>
                </a:solidFill>
                <a:latin typeface="Calibri" pitchFamily="34" charset="0"/>
                <a:ea typeface="Calibri" pitchFamily="34" charset="-122"/>
                <a:cs typeface="Calibri" pitchFamily="34" charset="-120"/>
              </a:rPr>
              <a:t>It reads the chat and the account</a:t>
            </a:r>
            <a:endParaRPr lang="en-US" sz="1500" dirty="0"/>
          </a:p>
          <a:p>
            <a:pPr marL="342900" indent="-342900">
              <a:spcAft>
                <a:spcPts val="800"/>
              </a:spcAft>
              <a:buSzPct val="100000"/>
              <a:buChar char="•"/>
            </a:pPr>
            <a:r>
              <a:rPr lang="en-US" sz="1500" dirty="0">
                <a:solidFill>
                  <a:srgbClr val="2B3440"/>
                </a:solidFill>
                <a:latin typeface="Calibri" pitchFamily="34" charset="0"/>
                <a:ea typeface="Calibri" pitchFamily="34" charset="-122"/>
                <a:cs typeface="Calibri" pitchFamily="34" charset="-120"/>
              </a:rPr>
              <a:t>It applies the written rules itself</a:t>
            </a:r>
            <a:endParaRPr lang="en-US" sz="1500" dirty="0"/>
          </a:p>
          <a:p>
            <a:pPr marL="342900" indent="-342900">
              <a:spcAft>
                <a:spcPts val="800"/>
              </a:spcAft>
              <a:buSzPct val="100000"/>
              <a:buChar char="•"/>
            </a:pPr>
            <a:r>
              <a:rPr lang="en-US" sz="1500" dirty="0">
                <a:solidFill>
                  <a:srgbClr val="2B3440"/>
                </a:solidFill>
                <a:latin typeface="Calibri" pitchFamily="34" charset="0"/>
                <a:ea typeface="Calibri" pitchFamily="34" charset="-122"/>
                <a:cs typeface="Calibri" pitchFamily="34" charset="-120"/>
              </a:rPr>
              <a:t>No fixed code stands behind it</a:t>
            </a:r>
            <a:endParaRPr lang="en-US" sz="1500" dirty="0"/>
          </a:p>
        </p:txBody>
      </p:sp>
      <p:sp>
        <p:nvSpPr>
          <p:cNvPr id="13" name="Text 8"/>
          <p:cNvSpPr/>
          <p:nvPr/>
        </p:nvSpPr>
        <p:spPr>
          <a:xfrm>
            <a:off x="548640" y="4983480"/>
            <a:ext cx="11094415" cy="1097280"/>
          </a:xfrm>
          <a:prstGeom prst="roundRect">
            <a:avLst>
              <a:gd name="adj" fmla="val 6667"/>
            </a:avLst>
          </a:prstGeom>
          <a:solidFill>
            <a:srgbClr val="2F5F98"/>
          </a:solidFill>
          <a:ln w="12700">
            <a:solidFill>
              <a:srgbClr val="2F5F98"/>
            </a:solidFill>
          </a:ln>
        </p:spPr>
        <p:txBody>
          <a:bodyPr wrap="square" lIns="320040" tIns="320040" rIns="320040" bIns="320040" rtlCol="0" anchor="ctr"/>
          <a:lstStyle/>
          <a:p>
            <a:pPr algn="l" indent="0" marL="0">
              <a:buNone/>
            </a:pPr>
            <a:r>
              <a:rPr lang="en-US" sz="2400" b="1" dirty="0">
                <a:solidFill>
                  <a:srgbClr val="FFFFFF"/>
                </a:solidFill>
                <a:latin typeface="Calibri" pitchFamily="34" charset="0"/>
                <a:ea typeface="Calibri" pitchFamily="34" charset="-122"/>
                <a:cs typeface="Calibri" pitchFamily="34" charset="-120"/>
              </a:rPr>
              <a:t>Our question: </a:t>
            </a:r>
            <a:pPr algn="l" indent="0" marL="0">
              <a:buNone/>
            </a:pPr>
            <a:r>
              <a:rPr lang="en-US" sz="2400" dirty="0">
                <a:solidFill>
                  <a:srgbClr val="FFFFFF"/>
                </a:solidFill>
                <a:latin typeface="Calibri" pitchFamily="34" charset="0"/>
                <a:ea typeface="Calibri" pitchFamily="34" charset="-122"/>
                <a:cs typeface="Calibri" pitchFamily="34" charset="-120"/>
              </a:rPr>
              <a:t>can an AI agent serve fast and cheap without risk to money and data?</a:t>
            </a:r>
            <a:endParaRPr lang="en-US" sz="24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Three levels, one change at each level</a:t>
            </a:r>
            <a:endParaRPr lang="en-US" sz="3400" dirty="0"/>
          </a:p>
        </p:txBody>
      </p:sp>
      <p:sp>
        <p:nvSpPr>
          <p:cNvPr id="3" name="Text 1"/>
          <p:cNvSpPr/>
          <p:nvPr/>
        </p:nvSpPr>
        <p:spPr>
          <a:xfrm>
            <a:off x="548640" y="6400800"/>
            <a:ext cx="5486400" cy="274320"/>
          </a:xfrm>
          <a:prstGeom prst="rect">
            <a:avLst/>
          </a:prstGeom>
          <a:noFill/>
          <a:ln/>
        </p:spPr>
        <p:txBody>
          <a:bodyPr wrap="square" lIns="0" tIns="0" rIns="0" bIns="0" rtlCol="0" anchor="ctr"/>
          <a:lstStyle/>
          <a:p>
            <a:pPr indent="0" marL="0">
              <a:buNone/>
            </a:pPr>
            <a:r>
              <a:rPr lang="en-US" sz="1100" dirty="0">
                <a:solidFill>
                  <a:srgbClr val="56636F"/>
                </a:solidFill>
                <a:latin typeface="Calibri" pitchFamily="34" charset="0"/>
                <a:ea typeface="Calibri" pitchFamily="34" charset="-122"/>
                <a:cs typeface="Calibri" pitchFamily="34" charset="-120"/>
              </a:rPr>
              <a:t>Speaker: Tran Thanh Long · 117 s</a:t>
            </a:r>
            <a:endParaRPr lang="en-US" sz="1100" dirty="0"/>
          </a:p>
        </p:txBody>
      </p:sp>
      <p:sp>
        <p:nvSpPr>
          <p:cNvPr id="5" name="Shape 2"/>
          <p:cNvSpPr/>
          <p:nvPr/>
        </p:nvSpPr>
        <p:spPr>
          <a:xfrm>
            <a:off x="548640" y="1508760"/>
            <a:ext cx="3423818" cy="3703320"/>
          </a:xfrm>
          <a:prstGeom prst="roundRect">
            <a:avLst>
              <a:gd name="adj" fmla="val 2137"/>
            </a:avLst>
          </a:prstGeom>
          <a:solidFill>
            <a:srgbClr val="FFFFFF"/>
          </a:solidFill>
          <a:ln/>
        </p:spPr>
      </p:sp>
      <p:sp>
        <p:nvSpPr>
          <p:cNvPr id="6" name="Shape 3"/>
          <p:cNvSpPr/>
          <p:nvPr/>
        </p:nvSpPr>
        <p:spPr>
          <a:xfrm>
            <a:off x="822960" y="1783080"/>
            <a:ext cx="731520" cy="731520"/>
          </a:xfrm>
          <a:prstGeom prst="ellipse">
            <a:avLst/>
          </a:prstGeom>
          <a:solidFill>
            <a:srgbClr val="5F6B7A"/>
          </a:solidFill>
          <a:ln w="12700">
            <a:solidFill>
              <a:srgbClr val="5F6B7A"/>
            </a:solidFill>
            <a:prstDash val="solid"/>
          </a:ln>
        </p:spPr>
      </p:sp>
      <p:pic>
        <p:nvPicPr>
          <p:cNvPr id="7" name="Image 0" descr="preencoded.png">    </p:cNvPr>
          <p:cNvPicPr>
            <a:picLocks noChangeAspect="1"/>
          </p:cNvPicPr>
          <p:nvPr/>
        </p:nvPicPr>
        <p:blipFill>
          <a:blip r:embed="rId1"/>
          <a:stretch>
            <a:fillRect/>
          </a:stretch>
        </p:blipFill>
        <p:spPr>
          <a:xfrm>
            <a:off x="983894" y="1944014"/>
            <a:ext cx="409651" cy="409651"/>
          </a:xfrm>
          <a:prstGeom prst="rect">
            <a:avLst/>
          </a:prstGeom>
        </p:spPr>
      </p:pic>
      <p:sp>
        <p:nvSpPr>
          <p:cNvPr id="8" name="Text 4"/>
          <p:cNvSpPr/>
          <p:nvPr/>
        </p:nvSpPr>
        <p:spPr>
          <a:xfrm>
            <a:off x="822960" y="2651760"/>
            <a:ext cx="2875178" cy="320040"/>
          </a:xfrm>
          <a:prstGeom prst="rect">
            <a:avLst/>
          </a:prstGeom>
          <a:noFill/>
          <a:ln/>
        </p:spPr>
        <p:txBody>
          <a:bodyPr wrap="square" lIns="0" tIns="0" rIns="0" bIns="0" rtlCol="0" anchor="t"/>
          <a:lstStyle/>
          <a:p>
            <a:pPr algn="l" indent="0" marL="0">
              <a:buNone/>
            </a:pPr>
            <a:r>
              <a:rPr lang="en-US" sz="1500" b="1" dirty="0">
                <a:solidFill>
                  <a:srgbClr val="5F6B7A"/>
                </a:solidFill>
                <a:latin typeface="Calibri" pitchFamily="34" charset="0"/>
                <a:ea typeface="Calibri" pitchFamily="34" charset="-122"/>
                <a:cs typeface="Calibri" pitchFamily="34" charset="-120"/>
              </a:rPr>
              <a:t>Level 1</a:t>
            </a:r>
            <a:endParaRPr lang="en-US" sz="1500" dirty="0"/>
          </a:p>
        </p:txBody>
      </p:sp>
      <p:sp>
        <p:nvSpPr>
          <p:cNvPr id="9" name="Text 5"/>
          <p:cNvSpPr/>
          <p:nvPr/>
        </p:nvSpPr>
        <p:spPr>
          <a:xfrm>
            <a:off x="822960" y="2971800"/>
            <a:ext cx="2875178" cy="777240"/>
          </a:xfrm>
          <a:prstGeom prst="rect">
            <a:avLst/>
          </a:prstGeom>
          <a:noFill/>
          <a:ln/>
        </p:spPr>
        <p:txBody>
          <a:bodyPr wrap="square" lIns="0" tIns="0" rIns="0" bIns="0" rtlCol="0" anchor="t"/>
          <a:lstStyle/>
          <a:p>
            <a:pPr algn="l" indent="0" marL="0">
              <a:buNone/>
            </a:pPr>
            <a:r>
              <a:rPr lang="en-US" sz="2200" b="1" dirty="0">
                <a:solidFill>
                  <a:srgbClr val="1B365D"/>
                </a:solidFill>
                <a:latin typeface="Calibri" pitchFamily="34" charset="0"/>
                <a:ea typeface="Calibri" pitchFamily="34" charset="-122"/>
                <a:cs typeface="Calibri" pitchFamily="34" charset="-120"/>
              </a:rPr>
              <a:t>Staff only</a:t>
            </a:r>
            <a:endParaRPr lang="en-US" sz="2200" dirty="0"/>
          </a:p>
        </p:txBody>
      </p:sp>
      <p:sp>
        <p:nvSpPr>
          <p:cNvPr id="10" name="Text 6"/>
          <p:cNvSpPr/>
          <p:nvPr/>
        </p:nvSpPr>
        <p:spPr>
          <a:xfrm>
            <a:off x="822960" y="3794760"/>
            <a:ext cx="2875178" cy="1325880"/>
          </a:xfrm>
          <a:prstGeom prst="rect">
            <a:avLst/>
          </a:prstGeom>
          <a:noFill/>
          <a:ln/>
        </p:spPr>
        <p:txBody>
          <a:bodyPr wrap="square" lIns="0" tIns="0" rIns="0" bIns="0" rtlCol="0" anchor="t"/>
          <a:lstStyle/>
          <a:p>
            <a:pPr algn="l" indent="0" marL="0">
              <a:buNone/>
            </a:pPr>
            <a:r>
              <a:rPr lang="en-US" sz="1600" dirty="0">
                <a:solidFill>
                  <a:srgbClr val="2B3440"/>
                </a:solidFill>
                <a:latin typeface="Calibri" pitchFamily="34" charset="0"/>
                <a:ea typeface="Calibri" pitchFamily="34" charset="-122"/>
                <a:cs typeface="Calibri" pitchFamily="34" charset="-120"/>
              </a:rPr>
              <a:t>Support staff read every request. Baseline: 90 s each (assumed).</a:t>
            </a:r>
            <a:endParaRPr lang="en-US" sz="1600" dirty="0"/>
          </a:p>
        </p:txBody>
      </p:sp>
      <p:sp>
        <p:nvSpPr>
          <p:cNvPr id="11" name="Shape 7"/>
          <p:cNvSpPr/>
          <p:nvPr/>
        </p:nvSpPr>
        <p:spPr>
          <a:xfrm>
            <a:off x="4018178" y="3360420"/>
            <a:ext cx="320040" cy="0"/>
          </a:xfrm>
          <a:prstGeom prst="line">
            <a:avLst/>
          </a:prstGeom>
          <a:noFill/>
          <a:ln w="25400">
            <a:solidFill>
              <a:srgbClr val="5F6B7A"/>
            </a:solidFill>
            <a:prstDash val="solid"/>
            <a:tailEnd type="triangle"/>
          </a:ln>
        </p:spPr>
      </p:sp>
      <p:sp>
        <p:nvSpPr>
          <p:cNvPr id="12" name="Shape 8"/>
          <p:cNvSpPr/>
          <p:nvPr/>
        </p:nvSpPr>
        <p:spPr>
          <a:xfrm>
            <a:off x="4383938" y="1508760"/>
            <a:ext cx="3423818" cy="3703320"/>
          </a:xfrm>
          <a:prstGeom prst="roundRect">
            <a:avLst>
              <a:gd name="adj" fmla="val 2137"/>
            </a:avLst>
          </a:prstGeom>
          <a:solidFill>
            <a:srgbClr val="FFFFFF"/>
          </a:solidFill>
          <a:ln/>
        </p:spPr>
      </p:sp>
      <p:sp>
        <p:nvSpPr>
          <p:cNvPr id="13" name="Shape 9"/>
          <p:cNvSpPr/>
          <p:nvPr/>
        </p:nvSpPr>
        <p:spPr>
          <a:xfrm>
            <a:off x="4658258" y="1783080"/>
            <a:ext cx="731520" cy="731520"/>
          </a:xfrm>
          <a:prstGeom prst="ellipse">
            <a:avLst/>
          </a:prstGeom>
          <a:solidFill>
            <a:srgbClr val="4A82B8"/>
          </a:solidFill>
          <a:ln w="12700">
            <a:solidFill>
              <a:srgbClr val="4A82B8"/>
            </a:solidFill>
            <a:prstDash val="solid"/>
          </a:ln>
        </p:spPr>
      </p:sp>
      <p:pic>
        <p:nvPicPr>
          <p:cNvPr id="14" name="Image 1" descr="preencoded.png">    </p:cNvPr>
          <p:cNvPicPr>
            <a:picLocks noChangeAspect="1"/>
          </p:cNvPicPr>
          <p:nvPr/>
        </p:nvPicPr>
        <p:blipFill>
          <a:blip r:embed="rId2"/>
          <a:stretch>
            <a:fillRect/>
          </a:stretch>
        </p:blipFill>
        <p:spPr>
          <a:xfrm>
            <a:off x="4819193" y="1944014"/>
            <a:ext cx="409651" cy="409651"/>
          </a:xfrm>
          <a:prstGeom prst="rect">
            <a:avLst/>
          </a:prstGeom>
        </p:spPr>
      </p:pic>
      <p:sp>
        <p:nvSpPr>
          <p:cNvPr id="15" name="Text 10"/>
          <p:cNvSpPr/>
          <p:nvPr/>
        </p:nvSpPr>
        <p:spPr>
          <a:xfrm>
            <a:off x="4658258" y="2651760"/>
            <a:ext cx="2875178" cy="320040"/>
          </a:xfrm>
          <a:prstGeom prst="rect">
            <a:avLst/>
          </a:prstGeom>
          <a:noFill/>
          <a:ln/>
        </p:spPr>
        <p:txBody>
          <a:bodyPr wrap="square" lIns="0" tIns="0" rIns="0" bIns="0" rtlCol="0" anchor="t"/>
          <a:lstStyle/>
          <a:p>
            <a:pPr algn="l" indent="0" marL="0">
              <a:buNone/>
            </a:pPr>
            <a:r>
              <a:rPr lang="en-US" sz="1500" b="1" dirty="0">
                <a:solidFill>
                  <a:srgbClr val="4A82B8"/>
                </a:solidFill>
                <a:latin typeface="Calibri" pitchFamily="34" charset="0"/>
                <a:ea typeface="Calibri" pitchFamily="34" charset="-122"/>
                <a:cs typeface="Calibri" pitchFamily="34" charset="-120"/>
              </a:rPr>
              <a:t>Level 2</a:t>
            </a:r>
            <a:endParaRPr lang="en-US" sz="1500" dirty="0"/>
          </a:p>
        </p:txBody>
      </p:sp>
      <p:sp>
        <p:nvSpPr>
          <p:cNvPr id="16" name="Text 11"/>
          <p:cNvSpPr/>
          <p:nvPr/>
        </p:nvSpPr>
        <p:spPr>
          <a:xfrm>
            <a:off x="4658258" y="2971800"/>
            <a:ext cx="2875178" cy="777240"/>
          </a:xfrm>
          <a:prstGeom prst="rect">
            <a:avLst/>
          </a:prstGeom>
          <a:noFill/>
          <a:ln/>
        </p:spPr>
        <p:txBody>
          <a:bodyPr wrap="square" lIns="0" tIns="0" rIns="0" bIns="0" rtlCol="0" anchor="t"/>
          <a:lstStyle/>
          <a:p>
            <a:pPr algn="l" indent="0" marL="0">
              <a:buNone/>
            </a:pPr>
            <a:r>
              <a:rPr lang="en-US" sz="2200" b="1" dirty="0">
                <a:solidFill>
                  <a:srgbClr val="1B365D"/>
                </a:solidFill>
                <a:latin typeface="Calibri" pitchFamily="34" charset="0"/>
                <a:ea typeface="Calibri" pitchFamily="34" charset="-122"/>
                <a:cs typeface="Calibri" pitchFamily="34" charset="-120"/>
              </a:rPr>
              <a:t>One LLM agent</a:t>
            </a:r>
            <a:endParaRPr lang="en-US" sz="2200" dirty="0"/>
          </a:p>
        </p:txBody>
      </p:sp>
      <p:sp>
        <p:nvSpPr>
          <p:cNvPr id="17" name="Text 12"/>
          <p:cNvSpPr/>
          <p:nvPr/>
        </p:nvSpPr>
        <p:spPr>
          <a:xfrm>
            <a:off x="4658258" y="3794760"/>
            <a:ext cx="2875178" cy="1325880"/>
          </a:xfrm>
          <a:prstGeom prst="rect">
            <a:avLst/>
          </a:prstGeom>
          <a:noFill/>
          <a:ln/>
        </p:spPr>
        <p:txBody>
          <a:bodyPr wrap="square" lIns="0" tIns="0" rIns="0" bIns="0" rtlCol="0" anchor="t"/>
          <a:lstStyle/>
          <a:p>
            <a:pPr algn="l" indent="0" marL="0">
              <a:buNone/>
            </a:pPr>
            <a:r>
              <a:rPr lang="en-US" sz="1600" dirty="0">
                <a:solidFill>
                  <a:srgbClr val="2B3440"/>
                </a:solidFill>
                <a:latin typeface="Calibri" pitchFamily="34" charset="0"/>
                <a:ea typeface="Calibri" pitchFamily="34" charset="-122"/>
                <a:cs typeface="Calibri" pitchFamily="34" charset="-120"/>
              </a:rPr>
              <a:t>One LLM agent reads the account and applies the written rules itself. It runs an action or denies it.</a:t>
            </a:r>
            <a:endParaRPr lang="en-US" sz="1600" dirty="0"/>
          </a:p>
        </p:txBody>
      </p:sp>
      <p:sp>
        <p:nvSpPr>
          <p:cNvPr id="18" name="Shape 13"/>
          <p:cNvSpPr/>
          <p:nvPr/>
        </p:nvSpPr>
        <p:spPr>
          <a:xfrm>
            <a:off x="7853477" y="3360420"/>
            <a:ext cx="320040" cy="0"/>
          </a:xfrm>
          <a:prstGeom prst="line">
            <a:avLst/>
          </a:prstGeom>
          <a:noFill/>
          <a:ln w="25400">
            <a:solidFill>
              <a:srgbClr val="5F6B7A"/>
            </a:solidFill>
            <a:prstDash val="solid"/>
            <a:tailEnd type="triangle"/>
          </a:ln>
        </p:spPr>
      </p:sp>
      <p:sp>
        <p:nvSpPr>
          <p:cNvPr id="19" name="Shape 14"/>
          <p:cNvSpPr/>
          <p:nvPr/>
        </p:nvSpPr>
        <p:spPr>
          <a:xfrm>
            <a:off x="8219237" y="1508760"/>
            <a:ext cx="3423818" cy="3703320"/>
          </a:xfrm>
          <a:prstGeom prst="roundRect">
            <a:avLst>
              <a:gd name="adj" fmla="val 2137"/>
            </a:avLst>
          </a:prstGeom>
          <a:solidFill>
            <a:srgbClr val="FFFFFF"/>
          </a:solidFill>
          <a:ln/>
        </p:spPr>
      </p:sp>
      <p:sp>
        <p:nvSpPr>
          <p:cNvPr id="20" name="Shape 15"/>
          <p:cNvSpPr/>
          <p:nvPr/>
        </p:nvSpPr>
        <p:spPr>
          <a:xfrm>
            <a:off x="8493557" y="1783080"/>
            <a:ext cx="731520" cy="731520"/>
          </a:xfrm>
          <a:prstGeom prst="ellipse">
            <a:avLst/>
          </a:prstGeom>
          <a:solidFill>
            <a:srgbClr val="234B84"/>
          </a:solidFill>
          <a:ln w="12700">
            <a:solidFill>
              <a:srgbClr val="234B84"/>
            </a:solidFill>
            <a:prstDash val="solid"/>
          </a:ln>
        </p:spPr>
      </p:sp>
      <p:pic>
        <p:nvPicPr>
          <p:cNvPr id="21" name="Image 2" descr="preencoded.png">    </p:cNvPr>
          <p:cNvPicPr>
            <a:picLocks noChangeAspect="1"/>
          </p:cNvPicPr>
          <p:nvPr/>
        </p:nvPicPr>
        <p:blipFill>
          <a:blip r:embed="rId3"/>
          <a:stretch>
            <a:fillRect/>
          </a:stretch>
        </p:blipFill>
        <p:spPr>
          <a:xfrm>
            <a:off x="8654491" y="1944014"/>
            <a:ext cx="409651" cy="409651"/>
          </a:xfrm>
          <a:prstGeom prst="rect">
            <a:avLst/>
          </a:prstGeom>
        </p:spPr>
      </p:pic>
      <p:sp>
        <p:nvSpPr>
          <p:cNvPr id="22" name="Text 16"/>
          <p:cNvSpPr/>
          <p:nvPr/>
        </p:nvSpPr>
        <p:spPr>
          <a:xfrm>
            <a:off x="8493557" y="2651760"/>
            <a:ext cx="2875178" cy="320040"/>
          </a:xfrm>
          <a:prstGeom prst="rect">
            <a:avLst/>
          </a:prstGeom>
          <a:noFill/>
          <a:ln/>
        </p:spPr>
        <p:txBody>
          <a:bodyPr wrap="square" lIns="0" tIns="0" rIns="0" bIns="0" rtlCol="0" anchor="t"/>
          <a:lstStyle/>
          <a:p>
            <a:pPr algn="l" indent="0" marL="0">
              <a:buNone/>
            </a:pPr>
            <a:r>
              <a:rPr lang="en-US" sz="1500" b="1" dirty="0">
                <a:solidFill>
                  <a:srgbClr val="234B84"/>
                </a:solidFill>
                <a:latin typeface="Calibri" pitchFamily="34" charset="0"/>
                <a:ea typeface="Calibri" pitchFamily="34" charset="-122"/>
                <a:cs typeface="Calibri" pitchFamily="34" charset="-120"/>
              </a:rPr>
              <a:t>Level 3</a:t>
            </a:r>
            <a:endParaRPr lang="en-US" sz="1500" dirty="0"/>
          </a:p>
        </p:txBody>
      </p:sp>
      <p:sp>
        <p:nvSpPr>
          <p:cNvPr id="23" name="Text 17"/>
          <p:cNvSpPr/>
          <p:nvPr/>
        </p:nvSpPr>
        <p:spPr>
          <a:xfrm>
            <a:off x="8493557" y="2971800"/>
            <a:ext cx="2875178" cy="777240"/>
          </a:xfrm>
          <a:prstGeom prst="rect">
            <a:avLst/>
          </a:prstGeom>
          <a:noFill/>
          <a:ln/>
        </p:spPr>
        <p:txBody>
          <a:bodyPr wrap="square" lIns="0" tIns="0" rIns="0" bIns="0" rtlCol="0" anchor="t"/>
          <a:lstStyle/>
          <a:p>
            <a:pPr algn="l" indent="0" marL="0">
              <a:buNone/>
            </a:pPr>
            <a:r>
              <a:rPr lang="en-US" sz="2200" b="1" dirty="0">
                <a:solidFill>
                  <a:srgbClr val="1B365D"/>
                </a:solidFill>
                <a:latin typeface="Calibri" pitchFamily="34" charset="0"/>
                <a:ea typeface="Calibri" pitchFamily="34" charset="-122"/>
                <a:cs typeface="Calibri" pitchFamily="34" charset="-120"/>
              </a:rPr>
              <a:t>Jev + fixed code + LLM</a:t>
            </a:r>
            <a:endParaRPr lang="en-US" sz="2200" dirty="0"/>
          </a:p>
        </p:txBody>
      </p:sp>
      <p:sp>
        <p:nvSpPr>
          <p:cNvPr id="24" name="Text 18"/>
          <p:cNvSpPr/>
          <p:nvPr/>
        </p:nvSpPr>
        <p:spPr>
          <a:xfrm>
            <a:off x="8493557" y="3794760"/>
            <a:ext cx="2875178" cy="1325880"/>
          </a:xfrm>
          <a:prstGeom prst="rect">
            <a:avLst/>
          </a:prstGeom>
          <a:noFill/>
          <a:ln/>
        </p:spPr>
        <p:txBody>
          <a:bodyPr wrap="square" lIns="0" tIns="0" rIns="0" bIns="0" rtlCol="0" anchor="t"/>
          <a:lstStyle/>
          <a:p>
            <a:pPr algn="l" indent="0" marL="0">
              <a:buNone/>
            </a:pPr>
            <a:r>
              <a:rPr lang="en-US" sz="1600" dirty="0">
                <a:solidFill>
                  <a:srgbClr val="2B3440"/>
                </a:solidFill>
                <a:latin typeface="Calibri" pitchFamily="34" charset="0"/>
                <a:ea typeface="Calibri" pitchFamily="34" charset="-122"/>
                <a:cs typeface="Calibri" pitchFamily="34" charset="-120"/>
              </a:rPr>
              <a:t>Jev gives five answers with confidence. Fixed code reads only the fields the action needs and checks the rules. The LLM writes the reply.</a:t>
            </a:r>
            <a:endParaRPr lang="en-US" sz="1600" dirty="0"/>
          </a:p>
        </p:txBody>
      </p:sp>
      <p:sp>
        <p:nvSpPr>
          <p:cNvPr id="25" name="Shape 19"/>
          <p:cNvSpPr/>
          <p:nvPr/>
        </p:nvSpPr>
        <p:spPr>
          <a:xfrm>
            <a:off x="548640" y="5440680"/>
            <a:ext cx="11094415" cy="731520"/>
          </a:xfrm>
          <a:prstGeom prst="roundRect">
            <a:avLst>
              <a:gd name="adj" fmla="val 10000"/>
            </a:avLst>
          </a:prstGeom>
          <a:solidFill>
            <a:srgbClr val="1F7A7A"/>
          </a:solidFill>
          <a:ln/>
        </p:spPr>
      </p:sp>
      <p:pic>
        <p:nvPicPr>
          <p:cNvPr id="26" name="Image 3" descr="preencoded.png">    </p:cNvPr>
          <p:cNvPicPr>
            <a:picLocks noChangeAspect="1"/>
          </p:cNvPicPr>
          <p:nvPr/>
        </p:nvPicPr>
        <p:blipFill>
          <a:blip r:embed="rId4"/>
          <a:stretch>
            <a:fillRect/>
          </a:stretch>
        </p:blipFill>
        <p:spPr>
          <a:xfrm>
            <a:off x="822960" y="5577840"/>
            <a:ext cx="457200" cy="457200"/>
          </a:xfrm>
          <a:prstGeom prst="rect">
            <a:avLst/>
          </a:prstGeom>
        </p:spPr>
      </p:pic>
      <p:sp>
        <p:nvSpPr>
          <p:cNvPr id="27" name="Text 20"/>
          <p:cNvSpPr/>
          <p:nvPr/>
        </p:nvSpPr>
        <p:spPr>
          <a:xfrm>
            <a:off x="1508760" y="5440680"/>
            <a:ext cx="9859975" cy="731520"/>
          </a:xfrm>
          <a:prstGeom prst="rect">
            <a:avLst/>
          </a:prstGeom>
          <a:noFill/>
          <a:ln/>
        </p:spPr>
        <p:txBody>
          <a:bodyPr wrap="square" lIns="0" tIns="0" rIns="0" bIns="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One change at a time: </a:t>
            </a:r>
            <a:pPr algn="l" indent="0" marL="0">
              <a:buNone/>
            </a:pPr>
            <a:r>
              <a:rPr lang="en-US" sz="1800" dirty="0">
                <a:solidFill>
                  <a:srgbClr val="FFFFFF"/>
                </a:solidFill>
                <a:latin typeface="Calibri" pitchFamily="34" charset="0"/>
                <a:ea typeface="Calibri" pitchFamily="34" charset="-122"/>
                <a:cs typeface="Calibri" pitchFamily="34" charset="-120"/>
              </a:rPr>
              <a:t>every level runs on the same 50 requests.</a:t>
            </a:r>
            <a:endParaRPr lang="en-US" sz="18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The written rules: allow or deny</a:t>
            </a:r>
            <a:endParaRPr lang="en-US" sz="3400" dirty="0"/>
          </a:p>
        </p:txBody>
      </p:sp>
      <p:sp>
        <p:nvSpPr>
          <p:cNvPr id="3" name="Text 1"/>
          <p:cNvSpPr/>
          <p:nvPr/>
        </p:nvSpPr>
        <p:spPr>
          <a:xfrm>
            <a:off x="548640" y="6400800"/>
            <a:ext cx="5486400" cy="274320"/>
          </a:xfrm>
          <a:prstGeom prst="rect">
            <a:avLst/>
          </a:prstGeom>
          <a:noFill/>
          <a:ln/>
        </p:spPr>
        <p:txBody>
          <a:bodyPr wrap="square" lIns="0" tIns="0" rIns="0" bIns="0" rtlCol="0" anchor="ctr"/>
          <a:lstStyle/>
          <a:p>
            <a:pPr indent="0" marL="0">
              <a:buNone/>
            </a:pPr>
            <a:r>
              <a:rPr lang="en-US" sz="1100" dirty="0">
                <a:solidFill>
                  <a:srgbClr val="56636F"/>
                </a:solidFill>
                <a:latin typeface="Calibri" pitchFamily="34" charset="0"/>
                <a:ea typeface="Calibri" pitchFamily="34" charset="-122"/>
                <a:cs typeface="Calibri" pitchFamily="34" charset="-120"/>
              </a:rPr>
              <a:t>Speaker: Nguyen Thanh Nam · 45 s</a:t>
            </a:r>
            <a:endParaRPr lang="en-US" sz="1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103120"/>
                <a:gridCol w="5760720"/>
                <a:gridCol w="3230575"/>
              </a:tblGrid>
              <a:tr h="365760">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Action</a:t>
                      </a:r>
                      <a:endParaRPr lang="en-US" sz="1500" dirty="0">
                        <a:latin typeface="Calibri" charset="0"/>
                        <a:ea typeface="Calibri" charset="0"/>
                        <a:cs typeface="Calibri" charset="0"/>
                      </a:endParaRPr>
                    </a:p>
                  </a:txBody>
                  <a:tcPr marL="109728" marR="109728" marT="27432" marB="27432">
                    <a:lnL w="12700" cap="flat" cmpd="sng" algn="ctr">
                      <a:solidFill>
                        <a:srgbClr val="8C9BAD"/>
                      </a:solidFill>
                      <a:prstDash val="solid"/>
                      <a:round/>
                      <a:headEnd type="none" w="med" len="med"/>
                      <a:tailEnd type="none" w="med" len="med"/>
                    </a:lnL>
                    <a:lnR w="12700" cap="flat" cmpd="sng" algn="ctr">
                      <a:solidFill>
                        <a:srgbClr val="8C9BAD"/>
                      </a:solidFill>
                      <a:prstDash val="solid"/>
                      <a:round/>
                      <a:headEnd type="none" w="med" len="med"/>
                      <a:tailEnd type="none" w="med" len="med"/>
                    </a:lnR>
                    <a:lnT w="12700" cap="flat" cmpd="sng" algn="ctr">
                      <a:solidFill>
                        <a:srgbClr val="8C9BAD"/>
                      </a:solidFill>
                      <a:prstDash val="solid"/>
                      <a:round/>
                      <a:headEnd type="none" w="med" len="med"/>
                      <a:tailEnd type="none" w="med" len="med"/>
                    </a:lnT>
                    <a:lnB w="12700" cap="flat" cmpd="sng" algn="ctr">
                      <a:solidFill>
                        <a:srgbClr val="8C9BAD"/>
                      </a:solidFill>
                      <a:prstDash val="solid"/>
                      <a:round/>
                      <a:headEnd type="none" w="med" len="med"/>
                      <a:tailEnd type="none" w="med" len="med"/>
                    </a:lnB>
                    <a:solidFill>
                      <a:srgbClr val="2F5F98"/>
                    </a:solidFill>
                  </a:tcPr>
                </a:tc>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Written rule</a:t>
                      </a:r>
                      <a:endParaRPr lang="en-US" sz="1500" dirty="0">
                        <a:latin typeface="Calibri" charset="0"/>
                        <a:ea typeface="Calibri" charset="0"/>
                        <a:cs typeface="Calibri" charset="0"/>
                      </a:endParaRPr>
                    </a:p>
                  </a:txBody>
                  <a:tcPr marL="109728" marR="109728" marT="27432" marB="27432">
                    <a:lnL w="12700" cap="flat" cmpd="sng" algn="ctr">
                      <a:solidFill>
                        <a:srgbClr val="8C9BAD"/>
                      </a:solidFill>
                      <a:prstDash val="solid"/>
                      <a:round/>
                      <a:headEnd type="none" w="med" len="med"/>
                      <a:tailEnd type="none" w="med" len="med"/>
                    </a:lnL>
                    <a:lnR w="12700" cap="flat" cmpd="sng" algn="ctr">
                      <a:solidFill>
                        <a:srgbClr val="8C9BAD"/>
                      </a:solidFill>
                      <a:prstDash val="solid"/>
                      <a:round/>
                      <a:headEnd type="none" w="med" len="med"/>
                      <a:tailEnd type="none" w="med" len="med"/>
                    </a:lnR>
                    <a:lnT w="12700" cap="flat" cmpd="sng" algn="ctr">
                      <a:solidFill>
                        <a:srgbClr val="8C9BAD"/>
                      </a:solidFill>
                      <a:prstDash val="solid"/>
                      <a:round/>
                      <a:headEnd type="none" w="med" len="med"/>
                      <a:tailEnd type="none" w="med" len="med"/>
                    </a:lnT>
                    <a:lnB w="12700" cap="flat" cmpd="sng" algn="ctr">
                      <a:solidFill>
                        <a:srgbClr val="8C9BAD"/>
                      </a:solidFill>
                      <a:prstDash val="solid"/>
                      <a:round/>
                      <a:headEnd type="none" w="med" len="med"/>
                      <a:tailEnd type="none" w="med" len="med"/>
                    </a:lnB>
                    <a:solidFill>
                      <a:srgbClr val="2F5F98"/>
                    </a:solidFill>
                  </a:tcPr>
                </a:tc>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Outcome</a:t>
                      </a:r>
                      <a:endParaRPr lang="en-US" sz="1500" dirty="0">
                        <a:latin typeface="Calibri" charset="0"/>
                        <a:ea typeface="Calibri" charset="0"/>
                        <a:cs typeface="Calibri" charset="0"/>
                      </a:endParaRPr>
                    </a:p>
                  </a:txBody>
                  <a:tcPr marL="109728" marR="109728" marT="27432" marB="27432">
                    <a:lnL w="12700" cap="flat" cmpd="sng" algn="ctr">
                      <a:solidFill>
                        <a:srgbClr val="8C9BAD"/>
                      </a:solidFill>
                      <a:prstDash val="solid"/>
                      <a:round/>
                      <a:headEnd type="none" w="med" len="med"/>
                      <a:tailEnd type="none" w="med" len="med"/>
                    </a:lnL>
                    <a:lnR w="12700" cap="flat" cmpd="sng" algn="ctr">
                      <a:solidFill>
                        <a:srgbClr val="8C9BAD"/>
                      </a:solidFill>
                      <a:prstDash val="solid"/>
                      <a:round/>
                      <a:headEnd type="none" w="med" len="med"/>
                      <a:tailEnd type="none" w="med" len="med"/>
                    </a:lnR>
                    <a:lnT w="12700" cap="flat" cmpd="sng" algn="ctr">
                      <a:solidFill>
                        <a:srgbClr val="8C9BAD"/>
                      </a:solidFill>
                      <a:prstDash val="solid"/>
                      <a:round/>
                      <a:headEnd type="none" w="med" len="med"/>
                      <a:tailEnd type="none" w="med" len="med"/>
                    </a:lnT>
                    <a:lnB w="12700" cap="flat" cmpd="sng" algn="ctr">
                      <a:solidFill>
                        <a:srgbClr val="8C9BAD"/>
                      </a:solidFill>
                      <a:prstDash val="solid"/>
                      <a:round/>
                      <a:headEnd type="none" w="med" len="med"/>
                      <a:tailEnd type="none" w="med" len="med"/>
                    </a:lnB>
                    <a:solidFill>
                      <a:srgbClr val="2F5F98"/>
                    </a:solidFill>
                  </a:tcPr>
                </a:tc>
              </a:tr>
              <a:tr h="603504">
                <a:tc>
                  <a:txBody>
                    <a:bodyPr/>
                    <a:lstStyle/>
                    <a:p>
                      <a:pPr indent="0" marL="0">
                        <a:buNone/>
                      </a:pPr>
                      <a:r>
                        <a:rPr lang="en-US" sz="1500" b="1" dirty="0">
                          <a:solidFill>
                            <a:srgbClr val="2B3440"/>
                          </a:solidFill>
                          <a:latin typeface="Calibri" pitchFamily="34" charset="0"/>
                          <a:ea typeface="Calibri" pitchFamily="34" charset="-122"/>
                          <a:cs typeface="Calibri" pitchFamily="34" charset="-120"/>
                        </a:rPr>
                        <a:t>Any state change</a:t>
                      </a:r>
                      <a:endParaRPr lang="en-US" sz="1500" dirty="0">
                        <a:latin typeface="Calibri" charset="0"/>
                        <a:ea typeface="Calibri" charset="0"/>
                        <a:cs typeface="Calibri" charset="0"/>
                      </a:endParaRPr>
                    </a:p>
                  </a:txBody>
                  <a:tcPr marL="109728" marR="109728" marT="27432" marB="27432" anchor="ctr">
                    <a:lnL w="12700" cap="flat" cmpd="sng" algn="ctr">
                      <a:solidFill>
                        <a:srgbClr val="8C9BAD"/>
                      </a:solidFill>
                      <a:prstDash val="solid"/>
                      <a:round/>
                      <a:headEnd type="none" w="med" len="med"/>
                      <a:tailEnd type="none" w="med" len="med"/>
                    </a:lnL>
                    <a:lnR w="12700" cap="flat" cmpd="sng" algn="ctr">
                      <a:solidFill>
                        <a:srgbClr val="8C9BAD"/>
                      </a:solidFill>
                      <a:prstDash val="solid"/>
                      <a:round/>
                      <a:headEnd type="none" w="med" len="med"/>
                      <a:tailEnd type="none" w="med" len="med"/>
                    </a:lnR>
                    <a:lnT w="12700" cap="flat" cmpd="sng" algn="ctr">
                      <a:solidFill>
                        <a:srgbClr val="8C9BAD"/>
                      </a:solidFill>
                      <a:prstDash val="solid"/>
                      <a:round/>
                      <a:headEnd type="none" w="med" len="med"/>
                      <a:tailEnd type="none" w="med" len="med"/>
                    </a:lnT>
                    <a:lnB w="12700" cap="flat" cmpd="sng" algn="ctr">
                      <a:solidFill>
                        <a:srgbClr val="8C9BAD"/>
                      </a:solidFill>
                      <a:prstDash val="solid"/>
                      <a:round/>
                      <a:headEnd type="none" w="med" len="med"/>
                      <a:tailEnd type="none" w="med" len="med"/>
                    </a:lnB>
                    <a:solidFill>
                      <a:srgbClr val="A2C4BE"/>
                    </a:solidFill>
                  </a:tcPr>
                </a:tc>
                <a:tc>
                  <a:txBody>
                    <a:bodyPr/>
                    <a:lstStyle/>
                    <a:p>
                      <a:pPr indent="0" marL="0">
                        <a:buNone/>
                      </a:pPr>
                      <a:r>
                        <a:rPr lang="en-US" sz="1500" dirty="0">
                          <a:solidFill>
                            <a:srgbClr val="2B3440"/>
                          </a:solidFill>
                          <a:latin typeface="Calibri" pitchFamily="34" charset="0"/>
                          <a:ea typeface="Calibri" pitchFamily="34" charset="-122"/>
                          <a:cs typeface="Calibri" pitchFamily="34" charset="-120"/>
                        </a:rPr>
                        <a:t>Security rule, checked first: the account or the payment method was used by someone who is not the customer</a:t>
                      </a:r>
                      <a:endParaRPr lang="en-US" sz="1500" dirty="0">
                        <a:latin typeface="Calibri" charset="0"/>
                        <a:ea typeface="Calibri" charset="0"/>
                        <a:cs typeface="Calibri" charset="0"/>
                      </a:endParaRPr>
                    </a:p>
                  </a:txBody>
                  <a:tcPr marL="109728" marR="109728" marT="27432" marB="27432" anchor="ctr">
                    <a:lnL w="12700" cap="flat" cmpd="sng" algn="ctr">
                      <a:solidFill>
                        <a:srgbClr val="8C9BAD"/>
                      </a:solidFill>
                      <a:prstDash val="solid"/>
                      <a:round/>
                      <a:headEnd type="none" w="med" len="med"/>
                      <a:tailEnd type="none" w="med" len="med"/>
                    </a:lnL>
                    <a:lnR w="12700" cap="flat" cmpd="sng" algn="ctr">
                      <a:solidFill>
                        <a:srgbClr val="8C9BAD"/>
                      </a:solidFill>
                      <a:prstDash val="solid"/>
                      <a:round/>
                      <a:headEnd type="none" w="med" len="med"/>
                      <a:tailEnd type="none" w="med" len="med"/>
                    </a:lnR>
                    <a:lnT w="12700" cap="flat" cmpd="sng" algn="ctr">
                      <a:solidFill>
                        <a:srgbClr val="8C9BAD"/>
                      </a:solidFill>
                      <a:prstDash val="solid"/>
                      <a:round/>
                      <a:headEnd type="none" w="med" len="med"/>
                      <a:tailEnd type="none" w="med" len="med"/>
                    </a:lnT>
                    <a:lnB w="12700" cap="flat" cmpd="sng" algn="ctr">
                      <a:solidFill>
                        <a:srgbClr val="8C9BAD"/>
                      </a:solidFill>
                      <a:prstDash val="solid"/>
                      <a:round/>
                      <a:headEnd type="none" w="med" len="med"/>
                      <a:tailEnd type="none" w="med" len="med"/>
                    </a:lnB>
                    <a:solidFill>
                      <a:srgbClr val="A2C4BE"/>
                    </a:solidFill>
                  </a:tcPr>
                </a:tc>
                <a:tc>
                  <a:txBody>
                    <a:bodyPr/>
                    <a:lstStyle/>
                    <a:p>
                      <a:pPr indent="0" marL="0">
                        <a:buNone/>
                      </a:pPr>
                      <a:r>
                        <a:rPr lang="en-US" sz="1500" b="1" dirty="0">
                          <a:solidFill>
                            <a:srgbClr val="2B3440"/>
                          </a:solidFill>
                          <a:latin typeface="Calibri" pitchFamily="34" charset="0"/>
                          <a:ea typeface="Calibri" pitchFamily="34" charset="-122"/>
                          <a:cs typeface="Calibri" pitchFamily="34" charset="-120"/>
                        </a:rPr>
                        <a:t>deny; the reply gives the security steps</a:t>
                      </a:r>
                      <a:endParaRPr lang="en-US" sz="1500" dirty="0">
                        <a:latin typeface="Calibri" charset="0"/>
                        <a:ea typeface="Calibri" charset="0"/>
                        <a:cs typeface="Calibri" charset="0"/>
                      </a:endParaRPr>
                    </a:p>
                  </a:txBody>
                  <a:tcPr marL="109728" marR="109728" marT="27432" marB="27432" anchor="ctr">
                    <a:lnL w="12700" cap="flat" cmpd="sng" algn="ctr">
                      <a:solidFill>
                        <a:srgbClr val="8C9BAD"/>
                      </a:solidFill>
                      <a:prstDash val="solid"/>
                      <a:round/>
                      <a:headEnd type="none" w="med" len="med"/>
                      <a:tailEnd type="none" w="med" len="med"/>
                    </a:lnL>
                    <a:lnR w="12700" cap="flat" cmpd="sng" algn="ctr">
                      <a:solidFill>
                        <a:srgbClr val="8C9BAD"/>
                      </a:solidFill>
                      <a:prstDash val="solid"/>
                      <a:round/>
                      <a:headEnd type="none" w="med" len="med"/>
                      <a:tailEnd type="none" w="med" len="med"/>
                    </a:lnR>
                    <a:lnT w="12700" cap="flat" cmpd="sng" algn="ctr">
                      <a:solidFill>
                        <a:srgbClr val="8C9BAD"/>
                      </a:solidFill>
                      <a:prstDash val="solid"/>
                      <a:round/>
                      <a:headEnd type="none" w="med" len="med"/>
                      <a:tailEnd type="none" w="med" len="med"/>
                    </a:lnT>
                    <a:lnB w="12700" cap="flat" cmpd="sng" algn="ctr">
                      <a:solidFill>
                        <a:srgbClr val="8C9BAD"/>
                      </a:solidFill>
                      <a:prstDash val="solid"/>
                      <a:round/>
                      <a:headEnd type="none" w="med" len="med"/>
                      <a:tailEnd type="none" w="med" len="med"/>
                    </a:lnB>
                    <a:solidFill>
                      <a:srgbClr val="A2C4BE"/>
                    </a:solidFill>
                  </a:tcPr>
                </a:tc>
              </a:tr>
              <a:tr h="457200">
                <a:tc>
                  <a:txBody>
                    <a:bodyPr/>
                    <a:lstStyle/>
                    <a:p>
                      <a:pPr indent="0" marL="0">
                        <a:buNone/>
                      </a:pPr>
                      <a:r>
                        <a:rPr lang="en-US" sz="1500" b="1" dirty="0">
                          <a:solidFill>
                            <a:srgbClr val="2B3440"/>
                          </a:solidFill>
                          <a:latin typeface="Calibri" pitchFamily="34" charset="0"/>
                          <a:ea typeface="Calibri" pitchFamily="34" charset="-122"/>
                          <a:cs typeface="Calibri" pitchFamily="34" charset="-120"/>
                        </a:rPr>
                        <a:t>Refund, delete, cancel</a:t>
                      </a:r>
                      <a:endParaRPr lang="en-US" sz="1500" dirty="0">
                        <a:latin typeface="Calibri" charset="0"/>
                        <a:ea typeface="Calibri" charset="0"/>
                        <a:cs typeface="Calibri" charset="0"/>
                      </a:endParaRPr>
                    </a:p>
                  </a:txBody>
                  <a:tcPr marL="109728" marR="109728" marT="27432" marB="27432" anchor="ctr">
                    <a:lnL w="12700" cap="flat" cmpd="sng" algn="ctr">
                      <a:solidFill>
                        <a:srgbClr val="8C9BAD"/>
                      </a:solidFill>
                      <a:prstDash val="solid"/>
                      <a:round/>
                      <a:headEnd type="none" w="med" len="med"/>
                      <a:tailEnd type="none" w="med" len="med"/>
                    </a:lnL>
                    <a:lnR w="12700" cap="flat" cmpd="sng" algn="ctr">
                      <a:solidFill>
                        <a:srgbClr val="8C9BAD"/>
                      </a:solidFill>
                      <a:prstDash val="solid"/>
                      <a:round/>
                      <a:headEnd type="none" w="med" len="med"/>
                      <a:tailEnd type="none" w="med" len="med"/>
                    </a:lnR>
                    <a:lnT w="12700" cap="flat" cmpd="sng" algn="ctr">
                      <a:solidFill>
                        <a:srgbClr val="8C9BAD"/>
                      </a:solidFill>
                      <a:prstDash val="solid"/>
                      <a:round/>
                      <a:headEnd type="none" w="med" len="med"/>
                      <a:tailEnd type="none" w="med" len="med"/>
                    </a:lnT>
                    <a:lnB w="12700" cap="flat" cmpd="sng" algn="ctr">
                      <a:solidFill>
                        <a:srgbClr val="8C9BAD"/>
                      </a:solidFill>
                      <a:prstDash val="solid"/>
                      <a:round/>
                      <a:headEnd type="none" w="med" len="med"/>
                      <a:tailEnd type="none" w="med" len="med"/>
                    </a:lnB>
                    <a:solidFill>
                      <a:srgbClr val="FFFFFF"/>
                    </a:solidFill>
                  </a:tcPr>
                </a:tc>
                <a:tc>
                  <a:txBody>
                    <a:bodyPr/>
                    <a:lstStyle/>
                    <a:p>
                      <a:pPr indent="0" marL="0">
                        <a:buNone/>
                      </a:pPr>
                      <a:r>
                        <a:rPr lang="en-US" sz="1500" dirty="0">
                          <a:solidFill>
                            <a:srgbClr val="2B3440"/>
                          </a:solidFill>
                          <a:latin typeface="Calibri" pitchFamily="34" charset="0"/>
                          <a:ea typeface="Calibri" pitchFamily="34" charset="-122"/>
                          <a:cs typeface="Calibri" pitchFamily="34" charset="-120"/>
                        </a:rPr>
                        <a:t>Only the owner can ask, and only for the account of the sender</a:t>
                      </a:r>
                      <a:endParaRPr lang="en-US" sz="1500" dirty="0">
                        <a:latin typeface="Calibri" charset="0"/>
                        <a:ea typeface="Calibri" charset="0"/>
                        <a:cs typeface="Calibri" charset="0"/>
                      </a:endParaRPr>
                    </a:p>
                  </a:txBody>
                  <a:tcPr marL="109728" marR="109728" marT="27432" marB="27432" anchor="ctr">
                    <a:lnL w="12700" cap="flat" cmpd="sng" algn="ctr">
                      <a:solidFill>
                        <a:srgbClr val="8C9BAD"/>
                      </a:solidFill>
                      <a:prstDash val="solid"/>
                      <a:round/>
                      <a:headEnd type="none" w="med" len="med"/>
                      <a:tailEnd type="none" w="med" len="med"/>
                    </a:lnL>
                    <a:lnR w="12700" cap="flat" cmpd="sng" algn="ctr">
                      <a:solidFill>
                        <a:srgbClr val="8C9BAD"/>
                      </a:solidFill>
                      <a:prstDash val="solid"/>
                      <a:round/>
                      <a:headEnd type="none" w="med" len="med"/>
                      <a:tailEnd type="none" w="med" len="med"/>
                    </a:lnR>
                    <a:lnT w="12700" cap="flat" cmpd="sng" algn="ctr">
                      <a:solidFill>
                        <a:srgbClr val="8C9BAD"/>
                      </a:solidFill>
                      <a:prstDash val="solid"/>
                      <a:round/>
                      <a:headEnd type="none" w="med" len="med"/>
                      <a:tailEnd type="none" w="med" len="med"/>
                    </a:lnT>
                    <a:lnB w="12700" cap="flat" cmpd="sng" algn="ctr">
                      <a:solidFill>
                        <a:srgbClr val="8C9BAD"/>
                      </a:solidFill>
                      <a:prstDash val="solid"/>
                      <a:round/>
                      <a:headEnd type="none" w="med" len="med"/>
                      <a:tailEnd type="none" w="med" len="med"/>
                    </a:lnB>
                    <a:solidFill>
                      <a:srgbClr val="FFFFFF"/>
                    </a:solidFill>
                  </a:tcPr>
                </a:tc>
                <a:tc>
                  <a:txBody>
                    <a:bodyPr/>
                    <a:lstStyle/>
                    <a:p>
                      <a:pPr indent="0" marL="0">
                        <a:buNone/>
                      </a:pPr>
                      <a:r>
                        <a:rPr lang="en-US" sz="1500" dirty="0">
                          <a:solidFill>
                            <a:srgbClr val="2B3440"/>
                          </a:solidFill>
                          <a:latin typeface="Calibri" pitchFamily="34" charset="0"/>
                          <a:ea typeface="Calibri" pitchFamily="34" charset="-122"/>
                          <a:cs typeface="Calibri" pitchFamily="34" charset="-120"/>
                        </a:rPr>
                        <a:t>teammate or another customer: deny</a:t>
                      </a:r>
                      <a:endParaRPr lang="en-US" sz="1500" dirty="0">
                        <a:latin typeface="Calibri" charset="0"/>
                        <a:ea typeface="Calibri" charset="0"/>
                        <a:cs typeface="Calibri" charset="0"/>
                      </a:endParaRPr>
                    </a:p>
                  </a:txBody>
                  <a:tcPr marL="109728" marR="109728" marT="27432" marB="27432" anchor="ctr">
                    <a:lnL w="12700" cap="flat" cmpd="sng" algn="ctr">
                      <a:solidFill>
                        <a:srgbClr val="8C9BAD"/>
                      </a:solidFill>
                      <a:prstDash val="solid"/>
                      <a:round/>
                      <a:headEnd type="none" w="med" len="med"/>
                      <a:tailEnd type="none" w="med" len="med"/>
                    </a:lnL>
                    <a:lnR w="12700" cap="flat" cmpd="sng" algn="ctr">
                      <a:solidFill>
                        <a:srgbClr val="8C9BAD"/>
                      </a:solidFill>
                      <a:prstDash val="solid"/>
                      <a:round/>
                      <a:headEnd type="none" w="med" len="med"/>
                      <a:tailEnd type="none" w="med" len="med"/>
                    </a:lnR>
                    <a:lnT w="12700" cap="flat" cmpd="sng" algn="ctr">
                      <a:solidFill>
                        <a:srgbClr val="8C9BAD"/>
                      </a:solidFill>
                      <a:prstDash val="solid"/>
                      <a:round/>
                      <a:headEnd type="none" w="med" len="med"/>
                      <a:tailEnd type="none" w="med" len="med"/>
                    </a:lnT>
                    <a:lnB w="12700" cap="flat" cmpd="sng" algn="ctr">
                      <a:solidFill>
                        <a:srgbClr val="8C9BAD"/>
                      </a:solidFill>
                      <a:prstDash val="solid"/>
                      <a:round/>
                      <a:headEnd type="none" w="med" len="med"/>
                      <a:tailEnd type="none" w="med" len="med"/>
                    </a:lnB>
                    <a:solidFill>
                      <a:srgbClr val="FFFFFF"/>
                    </a:solidFill>
                  </a:tcPr>
                </a:tc>
              </a:tr>
              <a:tr h="411480">
                <a:tc>
                  <a:txBody>
                    <a:bodyPr/>
                    <a:lstStyle/>
                    <a:p>
                      <a:pPr indent="0" marL="0">
                        <a:buNone/>
                      </a:pPr>
                      <a:r>
                        <a:rPr lang="en-US" sz="1500" b="1" dirty="0">
                          <a:solidFill>
                            <a:srgbClr val="2B3440"/>
                          </a:solidFill>
                          <a:latin typeface="Calibri" pitchFamily="34" charset="0"/>
                          <a:ea typeface="Calibri" pitchFamily="34" charset="-122"/>
                          <a:cs typeface="Calibri" pitchFamily="34" charset="-120"/>
                        </a:rPr>
                        <a:t>Reset password</a:t>
                      </a:r>
                      <a:endParaRPr lang="en-US" sz="1500" dirty="0">
                        <a:latin typeface="Calibri" charset="0"/>
                        <a:ea typeface="Calibri" charset="0"/>
                        <a:cs typeface="Calibri" charset="0"/>
                      </a:endParaRPr>
                    </a:p>
                  </a:txBody>
                  <a:tcPr marL="109728" marR="109728" marT="27432" marB="27432" anchor="ctr">
                    <a:lnL w="12700" cap="flat" cmpd="sng" algn="ctr">
                      <a:solidFill>
                        <a:srgbClr val="8C9BAD"/>
                      </a:solidFill>
                      <a:prstDash val="solid"/>
                      <a:round/>
                      <a:headEnd type="none" w="med" len="med"/>
                      <a:tailEnd type="none" w="med" len="med"/>
                    </a:lnL>
                    <a:lnR w="12700" cap="flat" cmpd="sng" algn="ctr">
                      <a:solidFill>
                        <a:srgbClr val="8C9BAD"/>
                      </a:solidFill>
                      <a:prstDash val="solid"/>
                      <a:round/>
                      <a:headEnd type="none" w="med" len="med"/>
                      <a:tailEnd type="none" w="med" len="med"/>
                    </a:lnR>
                    <a:lnT w="12700" cap="flat" cmpd="sng" algn="ctr">
                      <a:solidFill>
                        <a:srgbClr val="8C9BAD"/>
                      </a:solidFill>
                      <a:prstDash val="solid"/>
                      <a:round/>
                      <a:headEnd type="none" w="med" len="med"/>
                      <a:tailEnd type="none" w="med" len="med"/>
                    </a:lnT>
                    <a:lnB w="12700" cap="flat" cmpd="sng" algn="ctr">
                      <a:solidFill>
                        <a:srgbClr val="8C9BAD"/>
                      </a:solidFill>
                      <a:prstDash val="solid"/>
                      <a:round/>
                      <a:headEnd type="none" w="med" len="med"/>
                      <a:tailEnd type="none" w="med" len="med"/>
                    </a:lnB>
                    <a:solidFill>
                      <a:srgbClr val="FFFFFF"/>
                    </a:solidFill>
                  </a:tcPr>
                </a:tc>
                <a:tc>
                  <a:txBody>
                    <a:bodyPr/>
                    <a:lstStyle/>
                    <a:p>
                      <a:pPr indent="0" marL="0">
                        <a:buNone/>
                      </a:pPr>
                      <a:r>
                        <a:rPr lang="en-US" sz="1500" dirty="0">
                          <a:solidFill>
                            <a:srgbClr val="2B3440"/>
                          </a:solidFill>
                          <a:latin typeface="Calibri" pitchFamily="34" charset="0"/>
                          <a:ea typeface="Calibri" pitchFamily="34" charset="-122"/>
                          <a:cs typeface="Calibri" pitchFamily="34" charset="-120"/>
                        </a:rPr>
                        <a:t>The link goes only to the e-mail on file</a:t>
                      </a:r>
                      <a:endParaRPr lang="en-US" sz="1500" dirty="0">
                        <a:latin typeface="Calibri" charset="0"/>
                        <a:ea typeface="Calibri" charset="0"/>
                        <a:cs typeface="Calibri" charset="0"/>
                      </a:endParaRPr>
                    </a:p>
                  </a:txBody>
                  <a:tcPr marL="109728" marR="109728" marT="27432" marB="27432" anchor="ctr">
                    <a:lnL w="12700" cap="flat" cmpd="sng" algn="ctr">
                      <a:solidFill>
                        <a:srgbClr val="8C9BAD"/>
                      </a:solidFill>
                      <a:prstDash val="solid"/>
                      <a:round/>
                      <a:headEnd type="none" w="med" len="med"/>
                      <a:tailEnd type="none" w="med" len="med"/>
                    </a:lnL>
                    <a:lnR w="12700" cap="flat" cmpd="sng" algn="ctr">
                      <a:solidFill>
                        <a:srgbClr val="8C9BAD"/>
                      </a:solidFill>
                      <a:prstDash val="solid"/>
                      <a:round/>
                      <a:headEnd type="none" w="med" len="med"/>
                      <a:tailEnd type="none" w="med" len="med"/>
                    </a:lnR>
                    <a:lnT w="12700" cap="flat" cmpd="sng" algn="ctr">
                      <a:solidFill>
                        <a:srgbClr val="8C9BAD"/>
                      </a:solidFill>
                      <a:prstDash val="solid"/>
                      <a:round/>
                      <a:headEnd type="none" w="med" len="med"/>
                      <a:tailEnd type="none" w="med" len="med"/>
                    </a:lnT>
                    <a:lnB w="12700" cap="flat" cmpd="sng" algn="ctr">
                      <a:solidFill>
                        <a:srgbClr val="8C9BAD"/>
                      </a:solidFill>
                      <a:prstDash val="solid"/>
                      <a:round/>
                      <a:headEnd type="none" w="med" len="med"/>
                      <a:tailEnd type="none" w="med" len="med"/>
                    </a:lnB>
                    <a:solidFill>
                      <a:srgbClr val="FFFFFF"/>
                    </a:solidFill>
                  </a:tcPr>
                </a:tc>
                <a:tc>
                  <a:txBody>
                    <a:bodyPr/>
                    <a:lstStyle/>
                    <a:p>
                      <a:pPr indent="0" marL="0">
                        <a:buNone/>
                      </a:pPr>
                      <a:r>
                        <a:rPr lang="en-US" sz="1500" dirty="0">
                          <a:solidFill>
                            <a:srgbClr val="2B3440"/>
                          </a:solidFill>
                          <a:latin typeface="Calibri" pitchFamily="34" charset="0"/>
                          <a:ea typeface="Calibri" pitchFamily="34" charset="-122"/>
                          <a:cs typeface="Calibri" pitchFamily="34" charset="-120"/>
                        </a:rPr>
                        <a:t>an address in the text: deny</a:t>
                      </a:r>
                      <a:endParaRPr lang="en-US" sz="1500" dirty="0">
                        <a:latin typeface="Calibri" charset="0"/>
                        <a:ea typeface="Calibri" charset="0"/>
                        <a:cs typeface="Calibri" charset="0"/>
                      </a:endParaRPr>
                    </a:p>
                  </a:txBody>
                  <a:tcPr marL="109728" marR="109728" marT="27432" marB="27432" anchor="ctr">
                    <a:lnL w="12700" cap="flat" cmpd="sng" algn="ctr">
                      <a:solidFill>
                        <a:srgbClr val="8C9BAD"/>
                      </a:solidFill>
                      <a:prstDash val="solid"/>
                      <a:round/>
                      <a:headEnd type="none" w="med" len="med"/>
                      <a:tailEnd type="none" w="med" len="med"/>
                    </a:lnL>
                    <a:lnR w="12700" cap="flat" cmpd="sng" algn="ctr">
                      <a:solidFill>
                        <a:srgbClr val="8C9BAD"/>
                      </a:solidFill>
                      <a:prstDash val="solid"/>
                      <a:round/>
                      <a:headEnd type="none" w="med" len="med"/>
                      <a:tailEnd type="none" w="med" len="med"/>
                    </a:lnR>
                    <a:lnT w="12700" cap="flat" cmpd="sng" algn="ctr">
                      <a:solidFill>
                        <a:srgbClr val="8C9BAD"/>
                      </a:solidFill>
                      <a:prstDash val="solid"/>
                      <a:round/>
                      <a:headEnd type="none" w="med" len="med"/>
                      <a:tailEnd type="none" w="med" len="med"/>
                    </a:lnT>
                    <a:lnB w="12700" cap="flat" cmpd="sng" algn="ctr">
                      <a:solidFill>
                        <a:srgbClr val="8C9BAD"/>
                      </a:solidFill>
                      <a:prstDash val="solid"/>
                      <a:round/>
                      <a:headEnd type="none" w="med" len="med"/>
                      <a:tailEnd type="none" w="med" len="med"/>
                    </a:lnB>
                    <a:solidFill>
                      <a:srgbClr val="FFFFFF"/>
                    </a:solidFill>
                  </a:tcPr>
                </a:tc>
              </a:tr>
              <a:tr h="603504">
                <a:tc>
                  <a:txBody>
                    <a:bodyPr/>
                    <a:lstStyle/>
                    <a:p>
                      <a:pPr indent="0" marL="0">
                        <a:buNone/>
                      </a:pPr>
                      <a:r>
                        <a:rPr lang="en-US" sz="1500" b="1" dirty="0">
                          <a:solidFill>
                            <a:srgbClr val="2B3440"/>
                          </a:solidFill>
                          <a:latin typeface="Calibri" pitchFamily="34" charset="0"/>
                          <a:ea typeface="Calibri" pitchFamily="34" charset="-122"/>
                          <a:cs typeface="Calibri" pitchFamily="34" charset="-120"/>
                        </a:rPr>
                        <a:t>Refund</a:t>
                      </a:r>
                      <a:endParaRPr lang="en-US" sz="1500" dirty="0">
                        <a:latin typeface="Calibri" charset="0"/>
                        <a:ea typeface="Calibri" charset="0"/>
                        <a:cs typeface="Calibri" charset="0"/>
                      </a:endParaRPr>
                    </a:p>
                  </a:txBody>
                  <a:tcPr marL="109728" marR="109728" marT="27432" marB="27432" anchor="ctr">
                    <a:lnL w="12700" cap="flat" cmpd="sng" algn="ctr">
                      <a:solidFill>
                        <a:srgbClr val="8C9BAD"/>
                      </a:solidFill>
                      <a:prstDash val="solid"/>
                      <a:round/>
                      <a:headEnd type="none" w="med" len="med"/>
                      <a:tailEnd type="none" w="med" len="med"/>
                    </a:lnL>
                    <a:lnR w="12700" cap="flat" cmpd="sng" algn="ctr">
                      <a:solidFill>
                        <a:srgbClr val="8C9BAD"/>
                      </a:solidFill>
                      <a:prstDash val="solid"/>
                      <a:round/>
                      <a:headEnd type="none" w="med" len="med"/>
                      <a:tailEnd type="none" w="med" len="med"/>
                    </a:lnR>
                    <a:lnT w="12700" cap="flat" cmpd="sng" algn="ctr">
                      <a:solidFill>
                        <a:srgbClr val="8C9BAD"/>
                      </a:solidFill>
                      <a:prstDash val="solid"/>
                      <a:round/>
                      <a:headEnd type="none" w="med" len="med"/>
                      <a:tailEnd type="none" w="med" len="med"/>
                    </a:lnT>
                    <a:lnB w="12700" cap="flat" cmpd="sng" algn="ctr">
                      <a:solidFill>
                        <a:srgbClr val="8C9BAD"/>
                      </a:solidFill>
                      <a:prstDash val="solid"/>
                      <a:round/>
                      <a:headEnd type="none" w="med" len="med"/>
                      <a:tailEnd type="none" w="med" len="med"/>
                    </a:lnB>
                    <a:solidFill>
                      <a:srgbClr val="FFFFFF"/>
                    </a:solidFill>
                  </a:tcPr>
                </a:tc>
                <a:tc>
                  <a:txBody>
                    <a:bodyPr/>
                    <a:lstStyle/>
                    <a:p>
                      <a:pPr indent="0" marL="0">
                        <a:buNone/>
                      </a:pPr>
                      <a:r>
                        <a:rPr lang="en-US" sz="1500" dirty="0">
                          <a:solidFill>
                            <a:srgbClr val="2B3440"/>
                          </a:solidFill>
                          <a:latin typeface="Calibri" pitchFamily="34" charset="0"/>
                          <a:ea typeface="Calibri" pitchFamily="34" charset="-122"/>
                          <a:cs typeface="Calibri" pitchFamily="34" charset="-120"/>
                        </a:rPr>
                        <a:t>A credit pack: only while no credits are used. A charge: only after the bank settles it</a:t>
                      </a:r>
                      <a:endParaRPr lang="en-US" sz="1500" dirty="0">
                        <a:latin typeface="Calibri" charset="0"/>
                        <a:ea typeface="Calibri" charset="0"/>
                        <a:cs typeface="Calibri" charset="0"/>
                      </a:endParaRPr>
                    </a:p>
                  </a:txBody>
                  <a:tcPr marL="109728" marR="109728" marT="27432" marB="27432" anchor="ctr">
                    <a:lnL w="12700" cap="flat" cmpd="sng" algn="ctr">
                      <a:solidFill>
                        <a:srgbClr val="8C9BAD"/>
                      </a:solidFill>
                      <a:prstDash val="solid"/>
                      <a:round/>
                      <a:headEnd type="none" w="med" len="med"/>
                      <a:tailEnd type="none" w="med" len="med"/>
                    </a:lnL>
                    <a:lnR w="12700" cap="flat" cmpd="sng" algn="ctr">
                      <a:solidFill>
                        <a:srgbClr val="8C9BAD"/>
                      </a:solidFill>
                      <a:prstDash val="solid"/>
                      <a:round/>
                      <a:headEnd type="none" w="med" len="med"/>
                      <a:tailEnd type="none" w="med" len="med"/>
                    </a:lnR>
                    <a:lnT w="12700" cap="flat" cmpd="sng" algn="ctr">
                      <a:solidFill>
                        <a:srgbClr val="8C9BAD"/>
                      </a:solidFill>
                      <a:prstDash val="solid"/>
                      <a:round/>
                      <a:headEnd type="none" w="med" len="med"/>
                      <a:tailEnd type="none" w="med" len="med"/>
                    </a:lnT>
                    <a:lnB w="12700" cap="flat" cmpd="sng" algn="ctr">
                      <a:solidFill>
                        <a:srgbClr val="8C9BAD"/>
                      </a:solidFill>
                      <a:prstDash val="solid"/>
                      <a:round/>
                      <a:headEnd type="none" w="med" len="med"/>
                      <a:tailEnd type="none" w="med" len="med"/>
                    </a:lnB>
                    <a:solidFill>
                      <a:srgbClr val="FFFFFF"/>
                    </a:solidFill>
                  </a:tcPr>
                </a:tc>
                <a:tc>
                  <a:txBody>
                    <a:bodyPr/>
                    <a:lstStyle/>
                    <a:p>
                      <a:pPr indent="0" marL="0">
                        <a:buNone/>
                      </a:pPr>
                      <a:r>
                        <a:rPr lang="en-US" sz="1500" dirty="0">
                          <a:solidFill>
                            <a:srgbClr val="2B3440"/>
                          </a:solidFill>
                          <a:latin typeface="Calibri" pitchFamily="34" charset="0"/>
                          <a:ea typeface="Calibri" pitchFamily="34" charset="-122"/>
                          <a:cs typeface="Calibri" pitchFamily="34" charset="-120"/>
                        </a:rPr>
                        <a:t>used or not settled: deny</a:t>
                      </a:r>
                      <a:endParaRPr lang="en-US" sz="1500" dirty="0">
                        <a:latin typeface="Calibri" charset="0"/>
                        <a:ea typeface="Calibri" charset="0"/>
                        <a:cs typeface="Calibri" charset="0"/>
                      </a:endParaRPr>
                    </a:p>
                  </a:txBody>
                  <a:tcPr marL="109728" marR="109728" marT="27432" marB="27432" anchor="ctr">
                    <a:lnL w="12700" cap="flat" cmpd="sng" algn="ctr">
                      <a:solidFill>
                        <a:srgbClr val="8C9BAD"/>
                      </a:solidFill>
                      <a:prstDash val="solid"/>
                      <a:round/>
                      <a:headEnd type="none" w="med" len="med"/>
                      <a:tailEnd type="none" w="med" len="med"/>
                    </a:lnL>
                    <a:lnR w="12700" cap="flat" cmpd="sng" algn="ctr">
                      <a:solidFill>
                        <a:srgbClr val="8C9BAD"/>
                      </a:solidFill>
                      <a:prstDash val="solid"/>
                      <a:round/>
                      <a:headEnd type="none" w="med" len="med"/>
                      <a:tailEnd type="none" w="med" len="med"/>
                    </a:lnR>
                    <a:lnT w="12700" cap="flat" cmpd="sng" algn="ctr">
                      <a:solidFill>
                        <a:srgbClr val="8C9BAD"/>
                      </a:solidFill>
                      <a:prstDash val="solid"/>
                      <a:round/>
                      <a:headEnd type="none" w="med" len="med"/>
                      <a:tailEnd type="none" w="med" len="med"/>
                    </a:lnT>
                    <a:lnB w="12700" cap="flat" cmpd="sng" algn="ctr">
                      <a:solidFill>
                        <a:srgbClr val="8C9BAD"/>
                      </a:solidFill>
                      <a:prstDash val="solid"/>
                      <a:round/>
                      <a:headEnd type="none" w="med" len="med"/>
                      <a:tailEnd type="none" w="med" len="med"/>
                    </a:lnB>
                    <a:solidFill>
                      <a:srgbClr val="FFFFFF"/>
                    </a:solidFill>
                  </a:tcPr>
                </a:tc>
              </a:tr>
              <a:tr h="457200">
                <a:tc>
                  <a:txBody>
                    <a:bodyPr/>
                    <a:lstStyle/>
                    <a:p>
                      <a:pPr indent="0" marL="0">
                        <a:buNone/>
                      </a:pPr>
                      <a:r>
                        <a:rPr lang="en-US" sz="1500" b="1" dirty="0">
                          <a:solidFill>
                            <a:srgbClr val="2B3440"/>
                          </a:solidFill>
                          <a:latin typeface="Calibri" pitchFamily="34" charset="0"/>
                          <a:ea typeface="Calibri" pitchFamily="34" charset="-122"/>
                          <a:cs typeface="Calibri" pitchFamily="34" charset="-120"/>
                        </a:rPr>
                        <a:t>Refund</a:t>
                      </a:r>
                      <a:endParaRPr lang="en-US" sz="1500" dirty="0">
                        <a:latin typeface="Calibri" charset="0"/>
                        <a:ea typeface="Calibri" charset="0"/>
                        <a:cs typeface="Calibri" charset="0"/>
                      </a:endParaRPr>
                    </a:p>
                  </a:txBody>
                  <a:tcPr marL="109728" marR="109728" marT="27432" marB="27432" anchor="ctr">
                    <a:lnL w="12700" cap="flat" cmpd="sng" algn="ctr">
                      <a:solidFill>
                        <a:srgbClr val="8C9BAD"/>
                      </a:solidFill>
                      <a:prstDash val="solid"/>
                      <a:round/>
                      <a:headEnd type="none" w="med" len="med"/>
                      <a:tailEnd type="none" w="med" len="med"/>
                    </a:lnL>
                    <a:lnR w="12700" cap="flat" cmpd="sng" algn="ctr">
                      <a:solidFill>
                        <a:srgbClr val="8C9BAD"/>
                      </a:solidFill>
                      <a:prstDash val="solid"/>
                      <a:round/>
                      <a:headEnd type="none" w="med" len="med"/>
                      <a:tailEnd type="none" w="med" len="med"/>
                    </a:lnR>
                    <a:lnT w="12700" cap="flat" cmpd="sng" algn="ctr">
                      <a:solidFill>
                        <a:srgbClr val="8C9BAD"/>
                      </a:solidFill>
                      <a:prstDash val="solid"/>
                      <a:round/>
                      <a:headEnd type="none" w="med" len="med"/>
                      <a:tailEnd type="none" w="med" len="med"/>
                    </a:lnT>
                    <a:lnB w="12700" cap="flat" cmpd="sng" algn="ctr">
                      <a:solidFill>
                        <a:srgbClr val="8C9BAD"/>
                      </a:solidFill>
                      <a:prstDash val="solid"/>
                      <a:round/>
                      <a:headEnd type="none" w="med" len="med"/>
                      <a:tailEnd type="none" w="med" len="med"/>
                    </a:lnB>
                    <a:solidFill>
                      <a:srgbClr val="FFFFFF"/>
                    </a:solidFill>
                  </a:tcPr>
                </a:tc>
                <a:tc>
                  <a:txBody>
                    <a:bodyPr/>
                    <a:lstStyle/>
                    <a:p>
                      <a:pPr indent="0" marL="0">
                        <a:buNone/>
                      </a:pPr>
                      <a:r>
                        <a:rPr lang="en-US" sz="1500" dirty="0">
                          <a:solidFill>
                            <a:srgbClr val="2B3440"/>
                          </a:solidFill>
                          <a:latin typeface="Calibri" pitchFamily="34" charset="0"/>
                          <a:ea typeface="Calibri" pitchFamily="34" charset="-122"/>
                          <a:cs typeface="Calibri" pitchFamily="34" charset="-120"/>
                        </a:rPr>
                        <a:t>Within 14 days (monthly plan) or 30 days (annual plan) of the charge</a:t>
                      </a:r>
                      <a:endParaRPr lang="en-US" sz="1500" dirty="0">
                        <a:latin typeface="Calibri" charset="0"/>
                        <a:ea typeface="Calibri" charset="0"/>
                        <a:cs typeface="Calibri" charset="0"/>
                      </a:endParaRPr>
                    </a:p>
                  </a:txBody>
                  <a:tcPr marL="109728" marR="109728" marT="27432" marB="27432" anchor="ctr">
                    <a:lnL w="12700" cap="flat" cmpd="sng" algn="ctr">
                      <a:solidFill>
                        <a:srgbClr val="8C9BAD"/>
                      </a:solidFill>
                      <a:prstDash val="solid"/>
                      <a:round/>
                      <a:headEnd type="none" w="med" len="med"/>
                      <a:tailEnd type="none" w="med" len="med"/>
                    </a:lnL>
                    <a:lnR w="12700" cap="flat" cmpd="sng" algn="ctr">
                      <a:solidFill>
                        <a:srgbClr val="8C9BAD"/>
                      </a:solidFill>
                      <a:prstDash val="solid"/>
                      <a:round/>
                      <a:headEnd type="none" w="med" len="med"/>
                      <a:tailEnd type="none" w="med" len="med"/>
                    </a:lnR>
                    <a:lnT w="12700" cap="flat" cmpd="sng" algn="ctr">
                      <a:solidFill>
                        <a:srgbClr val="8C9BAD"/>
                      </a:solidFill>
                      <a:prstDash val="solid"/>
                      <a:round/>
                      <a:headEnd type="none" w="med" len="med"/>
                      <a:tailEnd type="none" w="med" len="med"/>
                    </a:lnT>
                    <a:lnB w="12700" cap="flat" cmpd="sng" algn="ctr">
                      <a:solidFill>
                        <a:srgbClr val="8C9BAD"/>
                      </a:solidFill>
                      <a:prstDash val="solid"/>
                      <a:round/>
                      <a:headEnd type="none" w="med" len="med"/>
                      <a:tailEnd type="none" w="med" len="med"/>
                    </a:lnB>
                    <a:solidFill>
                      <a:srgbClr val="FFFFFF"/>
                    </a:solidFill>
                  </a:tcPr>
                </a:tc>
                <a:tc>
                  <a:txBody>
                    <a:bodyPr/>
                    <a:lstStyle/>
                    <a:p>
                      <a:pPr indent="0" marL="0">
                        <a:buNone/>
                      </a:pPr>
                      <a:r>
                        <a:rPr lang="en-US" sz="1500" dirty="0">
                          <a:solidFill>
                            <a:srgbClr val="2B3440"/>
                          </a:solidFill>
                          <a:latin typeface="Calibri" pitchFamily="34" charset="0"/>
                          <a:ea typeface="Calibri" pitchFamily="34" charset="-122"/>
                          <a:cs typeface="Calibri" pitchFamily="34" charset="-120"/>
                        </a:rPr>
                        <a:t>outside: deny</a:t>
                      </a:r>
                      <a:endParaRPr lang="en-US" sz="1500" dirty="0">
                        <a:latin typeface="Calibri" charset="0"/>
                        <a:ea typeface="Calibri" charset="0"/>
                        <a:cs typeface="Calibri" charset="0"/>
                      </a:endParaRPr>
                    </a:p>
                  </a:txBody>
                  <a:tcPr marL="109728" marR="109728" marT="27432" marB="27432" anchor="ctr">
                    <a:lnL w="12700" cap="flat" cmpd="sng" algn="ctr">
                      <a:solidFill>
                        <a:srgbClr val="8C9BAD"/>
                      </a:solidFill>
                      <a:prstDash val="solid"/>
                      <a:round/>
                      <a:headEnd type="none" w="med" len="med"/>
                      <a:tailEnd type="none" w="med" len="med"/>
                    </a:lnL>
                    <a:lnR w="12700" cap="flat" cmpd="sng" algn="ctr">
                      <a:solidFill>
                        <a:srgbClr val="8C9BAD"/>
                      </a:solidFill>
                      <a:prstDash val="solid"/>
                      <a:round/>
                      <a:headEnd type="none" w="med" len="med"/>
                      <a:tailEnd type="none" w="med" len="med"/>
                    </a:lnR>
                    <a:lnT w="12700" cap="flat" cmpd="sng" algn="ctr">
                      <a:solidFill>
                        <a:srgbClr val="8C9BAD"/>
                      </a:solidFill>
                      <a:prstDash val="solid"/>
                      <a:round/>
                      <a:headEnd type="none" w="med" len="med"/>
                      <a:tailEnd type="none" w="med" len="med"/>
                    </a:lnT>
                    <a:lnB w="12700" cap="flat" cmpd="sng" algn="ctr">
                      <a:solidFill>
                        <a:srgbClr val="8C9BAD"/>
                      </a:solidFill>
                      <a:prstDash val="solid"/>
                      <a:round/>
                      <a:headEnd type="none" w="med" len="med"/>
                      <a:tailEnd type="none" w="med" len="med"/>
                    </a:lnB>
                    <a:solidFill>
                      <a:srgbClr val="FFFFFF"/>
                    </a:solidFill>
                  </a:tcPr>
                </a:tc>
              </a:tr>
              <a:tr h="457200">
                <a:tc>
                  <a:txBody>
                    <a:bodyPr/>
                    <a:lstStyle/>
                    <a:p>
                      <a:pPr indent="0" marL="0">
                        <a:buNone/>
                      </a:pPr>
                      <a:r>
                        <a:rPr lang="en-US" sz="1500" b="1" dirty="0">
                          <a:solidFill>
                            <a:srgbClr val="2B3440"/>
                          </a:solidFill>
                          <a:latin typeface="Calibri" pitchFamily="34" charset="0"/>
                          <a:ea typeface="Calibri" pitchFamily="34" charset="-122"/>
                          <a:cs typeface="Calibri" pitchFamily="34" charset="-120"/>
                        </a:rPr>
                        <a:t>Refund</a:t>
                      </a:r>
                      <a:endParaRPr lang="en-US" sz="1500" dirty="0">
                        <a:latin typeface="Calibri" charset="0"/>
                        <a:ea typeface="Calibri" charset="0"/>
                        <a:cs typeface="Calibri" charset="0"/>
                      </a:endParaRPr>
                    </a:p>
                  </a:txBody>
                  <a:tcPr marL="109728" marR="109728" marT="27432" marB="27432" anchor="ctr">
                    <a:lnL w="12700" cap="flat" cmpd="sng" algn="ctr">
                      <a:solidFill>
                        <a:srgbClr val="8C9BAD"/>
                      </a:solidFill>
                      <a:prstDash val="solid"/>
                      <a:round/>
                      <a:headEnd type="none" w="med" len="med"/>
                      <a:tailEnd type="none" w="med" len="med"/>
                    </a:lnL>
                    <a:lnR w="12700" cap="flat" cmpd="sng" algn="ctr">
                      <a:solidFill>
                        <a:srgbClr val="8C9BAD"/>
                      </a:solidFill>
                      <a:prstDash val="solid"/>
                      <a:round/>
                      <a:headEnd type="none" w="med" len="med"/>
                      <a:tailEnd type="none" w="med" len="med"/>
                    </a:lnR>
                    <a:lnT w="12700" cap="flat" cmpd="sng" algn="ctr">
                      <a:solidFill>
                        <a:srgbClr val="8C9BAD"/>
                      </a:solidFill>
                      <a:prstDash val="solid"/>
                      <a:round/>
                      <a:headEnd type="none" w="med" len="med"/>
                      <a:tailEnd type="none" w="med" len="med"/>
                    </a:lnT>
                    <a:lnB w="12700" cap="flat" cmpd="sng" algn="ctr">
                      <a:solidFill>
                        <a:srgbClr val="8C9BAD"/>
                      </a:solidFill>
                      <a:prstDash val="solid"/>
                      <a:round/>
                      <a:headEnd type="none" w="med" len="med"/>
                      <a:tailEnd type="none" w="med" len="med"/>
                    </a:lnB>
                    <a:solidFill>
                      <a:srgbClr val="FFFFFF"/>
                    </a:solidFill>
                  </a:tcPr>
                </a:tc>
                <a:tc>
                  <a:txBody>
                    <a:bodyPr/>
                    <a:lstStyle/>
                    <a:p>
                      <a:pPr indent="0" marL="0">
                        <a:buNone/>
                      </a:pPr>
                      <a:r>
                        <a:rPr lang="en-US" sz="1500" dirty="0">
                          <a:solidFill>
                            <a:srgbClr val="2B3440"/>
                          </a:solidFill>
                          <a:latin typeface="Calibri" pitchFamily="34" charset="0"/>
                          <a:ea typeface="Calibri" pitchFamily="34" charset="-122"/>
                          <a:cs typeface="Calibri" pitchFamily="34" charset="-120"/>
                        </a:rPr>
                        <a:t>Once for each purchase; not above $100; not after 2 refunds in 90 days</a:t>
                      </a:r>
                      <a:endParaRPr lang="en-US" sz="1500" dirty="0">
                        <a:latin typeface="Calibri" charset="0"/>
                        <a:ea typeface="Calibri" charset="0"/>
                        <a:cs typeface="Calibri" charset="0"/>
                      </a:endParaRPr>
                    </a:p>
                  </a:txBody>
                  <a:tcPr marL="109728" marR="109728" marT="27432" marB="27432" anchor="ctr">
                    <a:lnL w="12700" cap="flat" cmpd="sng" algn="ctr">
                      <a:solidFill>
                        <a:srgbClr val="8C9BAD"/>
                      </a:solidFill>
                      <a:prstDash val="solid"/>
                      <a:round/>
                      <a:headEnd type="none" w="med" len="med"/>
                      <a:tailEnd type="none" w="med" len="med"/>
                    </a:lnL>
                    <a:lnR w="12700" cap="flat" cmpd="sng" algn="ctr">
                      <a:solidFill>
                        <a:srgbClr val="8C9BAD"/>
                      </a:solidFill>
                      <a:prstDash val="solid"/>
                      <a:round/>
                      <a:headEnd type="none" w="med" len="med"/>
                      <a:tailEnd type="none" w="med" len="med"/>
                    </a:lnR>
                    <a:lnT w="12700" cap="flat" cmpd="sng" algn="ctr">
                      <a:solidFill>
                        <a:srgbClr val="8C9BAD"/>
                      </a:solidFill>
                      <a:prstDash val="solid"/>
                      <a:round/>
                      <a:headEnd type="none" w="med" len="med"/>
                      <a:tailEnd type="none" w="med" len="med"/>
                    </a:lnT>
                    <a:lnB w="12700" cap="flat" cmpd="sng" algn="ctr">
                      <a:solidFill>
                        <a:srgbClr val="8C9BAD"/>
                      </a:solidFill>
                      <a:prstDash val="solid"/>
                      <a:round/>
                      <a:headEnd type="none" w="med" len="med"/>
                      <a:tailEnd type="none" w="med" len="med"/>
                    </a:lnB>
                    <a:solidFill>
                      <a:srgbClr val="FFFFFF"/>
                    </a:solidFill>
                  </a:tcPr>
                </a:tc>
                <a:tc>
                  <a:txBody>
                    <a:bodyPr/>
                    <a:lstStyle/>
                    <a:p>
                      <a:pPr indent="0" marL="0">
                        <a:buNone/>
                      </a:pPr>
                      <a:r>
                        <a:rPr lang="en-US" sz="1500" dirty="0">
                          <a:solidFill>
                            <a:srgbClr val="2B3440"/>
                          </a:solidFill>
                          <a:latin typeface="Calibri" pitchFamily="34" charset="0"/>
                          <a:ea typeface="Calibri" pitchFamily="34" charset="-122"/>
                          <a:cs typeface="Calibri" pitchFamily="34" charset="-120"/>
                        </a:rPr>
                        <a:t>done before or over a limit: deny</a:t>
                      </a:r>
                      <a:endParaRPr lang="en-US" sz="1500" dirty="0">
                        <a:latin typeface="Calibri" charset="0"/>
                        <a:ea typeface="Calibri" charset="0"/>
                        <a:cs typeface="Calibri" charset="0"/>
                      </a:endParaRPr>
                    </a:p>
                  </a:txBody>
                  <a:tcPr marL="109728" marR="109728" marT="27432" marB="27432" anchor="ctr">
                    <a:lnL w="12700" cap="flat" cmpd="sng" algn="ctr">
                      <a:solidFill>
                        <a:srgbClr val="8C9BAD"/>
                      </a:solidFill>
                      <a:prstDash val="solid"/>
                      <a:round/>
                      <a:headEnd type="none" w="med" len="med"/>
                      <a:tailEnd type="none" w="med" len="med"/>
                    </a:lnL>
                    <a:lnR w="12700" cap="flat" cmpd="sng" algn="ctr">
                      <a:solidFill>
                        <a:srgbClr val="8C9BAD"/>
                      </a:solidFill>
                      <a:prstDash val="solid"/>
                      <a:round/>
                      <a:headEnd type="none" w="med" len="med"/>
                      <a:tailEnd type="none" w="med" len="med"/>
                    </a:lnR>
                    <a:lnT w="12700" cap="flat" cmpd="sng" algn="ctr">
                      <a:solidFill>
                        <a:srgbClr val="8C9BAD"/>
                      </a:solidFill>
                      <a:prstDash val="solid"/>
                      <a:round/>
                      <a:headEnd type="none" w="med" len="med"/>
                      <a:tailEnd type="none" w="med" len="med"/>
                    </a:lnT>
                    <a:lnB w="12700" cap="flat" cmpd="sng" algn="ctr">
                      <a:solidFill>
                        <a:srgbClr val="8C9BAD"/>
                      </a:solidFill>
                      <a:prstDash val="solid"/>
                      <a:round/>
                      <a:headEnd type="none" w="med" len="med"/>
                      <a:tailEnd type="none" w="med" len="med"/>
                    </a:lnB>
                    <a:solidFill>
                      <a:srgbClr val="FFFFFF"/>
                    </a:solidFill>
                  </a:tcPr>
                </a:tc>
              </a:tr>
              <a:tr h="411480">
                <a:tc>
                  <a:txBody>
                    <a:bodyPr/>
                    <a:lstStyle/>
                    <a:p>
                      <a:pPr indent="0" marL="0">
                        <a:buNone/>
                      </a:pPr>
                      <a:r>
                        <a:rPr lang="en-US" sz="1500" b="1" dirty="0">
                          <a:solidFill>
                            <a:srgbClr val="2B3440"/>
                          </a:solidFill>
                          <a:latin typeface="Calibri" pitchFamily="34" charset="0"/>
                          <a:ea typeface="Calibri" pitchFamily="34" charset="-122"/>
                          <a:cs typeface="Calibri" pitchFamily="34" charset="-120"/>
                        </a:rPr>
                        <a:t>Delete data</a:t>
                      </a:r>
                      <a:endParaRPr lang="en-US" sz="1500" dirty="0">
                        <a:latin typeface="Calibri" charset="0"/>
                        <a:ea typeface="Calibri" charset="0"/>
                        <a:cs typeface="Calibri" charset="0"/>
                      </a:endParaRPr>
                    </a:p>
                  </a:txBody>
                  <a:tcPr marL="109728" marR="109728" marT="27432" marB="27432" anchor="ctr">
                    <a:lnL w="12700" cap="flat" cmpd="sng" algn="ctr">
                      <a:solidFill>
                        <a:srgbClr val="8C9BAD"/>
                      </a:solidFill>
                      <a:prstDash val="solid"/>
                      <a:round/>
                      <a:headEnd type="none" w="med" len="med"/>
                      <a:tailEnd type="none" w="med" len="med"/>
                    </a:lnL>
                    <a:lnR w="12700" cap="flat" cmpd="sng" algn="ctr">
                      <a:solidFill>
                        <a:srgbClr val="8C9BAD"/>
                      </a:solidFill>
                      <a:prstDash val="solid"/>
                      <a:round/>
                      <a:headEnd type="none" w="med" len="med"/>
                      <a:tailEnd type="none" w="med" len="med"/>
                    </a:lnR>
                    <a:lnT w="12700" cap="flat" cmpd="sng" algn="ctr">
                      <a:solidFill>
                        <a:srgbClr val="8C9BAD"/>
                      </a:solidFill>
                      <a:prstDash val="solid"/>
                      <a:round/>
                      <a:headEnd type="none" w="med" len="med"/>
                      <a:tailEnd type="none" w="med" len="med"/>
                    </a:lnT>
                    <a:lnB w="12700" cap="flat" cmpd="sng" algn="ctr">
                      <a:solidFill>
                        <a:srgbClr val="8C9BAD"/>
                      </a:solidFill>
                      <a:prstDash val="solid"/>
                      <a:round/>
                      <a:headEnd type="none" w="med" len="med"/>
                      <a:tailEnd type="none" w="med" len="med"/>
                    </a:lnB>
                    <a:solidFill>
                      <a:srgbClr val="FFFFFF"/>
                    </a:solidFill>
                  </a:tcPr>
                </a:tc>
                <a:tc>
                  <a:txBody>
                    <a:bodyPr/>
                    <a:lstStyle/>
                    <a:p>
                      <a:pPr indent="0" marL="0">
                        <a:buNone/>
                      </a:pPr>
                      <a:r>
                        <a:rPr lang="en-US" sz="1500" dirty="0">
                          <a:solidFill>
                            <a:srgbClr val="2B3440"/>
                          </a:solidFill>
                          <a:latin typeface="Calibri" pitchFamily="34" charset="0"/>
                          <a:ea typeface="Calibri" pitchFamily="34" charset="-122"/>
                          <a:cs typeface="Calibri" pitchFamily="34" charset="-120"/>
                        </a:rPr>
                        <a:t>Deleting cannot be undone, so this chat never does it</a:t>
                      </a:r>
                      <a:endParaRPr lang="en-US" sz="1500" dirty="0">
                        <a:latin typeface="Calibri" charset="0"/>
                        <a:ea typeface="Calibri" charset="0"/>
                        <a:cs typeface="Calibri" charset="0"/>
                      </a:endParaRPr>
                    </a:p>
                  </a:txBody>
                  <a:tcPr marL="109728" marR="109728" marT="27432" marB="27432" anchor="ctr">
                    <a:lnL w="12700" cap="flat" cmpd="sng" algn="ctr">
                      <a:solidFill>
                        <a:srgbClr val="8C9BAD"/>
                      </a:solidFill>
                      <a:prstDash val="solid"/>
                      <a:round/>
                      <a:headEnd type="none" w="med" len="med"/>
                      <a:tailEnd type="none" w="med" len="med"/>
                    </a:lnL>
                    <a:lnR w="12700" cap="flat" cmpd="sng" algn="ctr">
                      <a:solidFill>
                        <a:srgbClr val="8C9BAD"/>
                      </a:solidFill>
                      <a:prstDash val="solid"/>
                      <a:round/>
                      <a:headEnd type="none" w="med" len="med"/>
                      <a:tailEnd type="none" w="med" len="med"/>
                    </a:lnR>
                    <a:lnT w="12700" cap="flat" cmpd="sng" algn="ctr">
                      <a:solidFill>
                        <a:srgbClr val="8C9BAD"/>
                      </a:solidFill>
                      <a:prstDash val="solid"/>
                      <a:round/>
                      <a:headEnd type="none" w="med" len="med"/>
                      <a:tailEnd type="none" w="med" len="med"/>
                    </a:lnT>
                    <a:lnB w="12700" cap="flat" cmpd="sng" algn="ctr">
                      <a:solidFill>
                        <a:srgbClr val="8C9BAD"/>
                      </a:solidFill>
                      <a:prstDash val="solid"/>
                      <a:round/>
                      <a:headEnd type="none" w="med" len="med"/>
                      <a:tailEnd type="none" w="med" len="med"/>
                    </a:lnB>
                    <a:solidFill>
                      <a:srgbClr val="FFFFFF"/>
                    </a:solidFill>
                  </a:tcPr>
                </a:tc>
                <a:tc>
                  <a:txBody>
                    <a:bodyPr/>
                    <a:lstStyle/>
                    <a:p>
                      <a:pPr indent="0" marL="0">
                        <a:buNone/>
                      </a:pPr>
                      <a:r>
                        <a:rPr lang="en-US" sz="1500" dirty="0">
                          <a:solidFill>
                            <a:srgbClr val="2B3440"/>
                          </a:solidFill>
                          <a:latin typeface="Calibri" pitchFamily="34" charset="0"/>
                          <a:ea typeface="Calibri" pitchFamily="34" charset="-122"/>
                          <a:cs typeface="Calibri" pitchFamily="34" charset="-120"/>
                        </a:rPr>
                        <a:t>always: deny</a:t>
                      </a:r>
                      <a:endParaRPr lang="en-US" sz="1500" dirty="0">
                        <a:latin typeface="Calibri" charset="0"/>
                        <a:ea typeface="Calibri" charset="0"/>
                        <a:cs typeface="Calibri" charset="0"/>
                      </a:endParaRPr>
                    </a:p>
                  </a:txBody>
                  <a:tcPr marL="109728" marR="109728" marT="27432" marB="27432" anchor="ctr">
                    <a:lnL w="12700" cap="flat" cmpd="sng" algn="ctr">
                      <a:solidFill>
                        <a:srgbClr val="8C9BAD"/>
                      </a:solidFill>
                      <a:prstDash val="solid"/>
                      <a:round/>
                      <a:headEnd type="none" w="med" len="med"/>
                      <a:tailEnd type="none" w="med" len="med"/>
                    </a:lnL>
                    <a:lnR w="12700" cap="flat" cmpd="sng" algn="ctr">
                      <a:solidFill>
                        <a:srgbClr val="8C9BAD"/>
                      </a:solidFill>
                      <a:prstDash val="solid"/>
                      <a:round/>
                      <a:headEnd type="none" w="med" len="med"/>
                      <a:tailEnd type="none" w="med" len="med"/>
                    </a:lnR>
                    <a:lnT w="12700" cap="flat" cmpd="sng" algn="ctr">
                      <a:solidFill>
                        <a:srgbClr val="8C9BAD"/>
                      </a:solidFill>
                      <a:prstDash val="solid"/>
                      <a:round/>
                      <a:headEnd type="none" w="med" len="med"/>
                      <a:tailEnd type="none" w="med" len="med"/>
                    </a:lnT>
                    <a:lnB w="12700" cap="flat" cmpd="sng" algn="ctr">
                      <a:solidFill>
                        <a:srgbClr val="8C9BAD"/>
                      </a:solidFill>
                      <a:prstDash val="solid"/>
                      <a:round/>
                      <a:headEnd type="none" w="med" len="med"/>
                      <a:tailEnd type="none" w="med" len="med"/>
                    </a:lnB>
                    <a:solidFill>
                      <a:srgbClr val="FFFFFF"/>
                    </a:solidFill>
                  </a:tcPr>
                </a:tc>
              </a:tr>
              <a:tr h="411480">
                <a:tc>
                  <a:txBody>
                    <a:bodyPr/>
                    <a:lstStyle/>
                    <a:p>
                      <a:pPr indent="0" marL="0">
                        <a:buNone/>
                      </a:pPr>
                      <a:r>
                        <a:rPr lang="en-US" sz="1500" b="1" dirty="0">
                          <a:solidFill>
                            <a:srgbClr val="2B3440"/>
                          </a:solidFill>
                          <a:latin typeface="Calibri" pitchFamily="34" charset="0"/>
                          <a:ea typeface="Calibri" pitchFamily="34" charset="-122"/>
                          <a:cs typeface="Calibri" pitchFamily="34" charset="-120"/>
                        </a:rPr>
                        <a:t>Cancel plan</a:t>
                      </a:r>
                      <a:endParaRPr lang="en-US" sz="1500" dirty="0">
                        <a:latin typeface="Calibri" charset="0"/>
                        <a:ea typeface="Calibri" charset="0"/>
                        <a:cs typeface="Calibri" charset="0"/>
                      </a:endParaRPr>
                    </a:p>
                  </a:txBody>
                  <a:tcPr marL="109728" marR="109728" marT="27432" marB="27432" anchor="ctr">
                    <a:lnL w="12700" cap="flat" cmpd="sng" algn="ctr">
                      <a:solidFill>
                        <a:srgbClr val="8C9BAD"/>
                      </a:solidFill>
                      <a:prstDash val="solid"/>
                      <a:round/>
                      <a:headEnd type="none" w="med" len="med"/>
                      <a:tailEnd type="none" w="med" len="med"/>
                    </a:lnL>
                    <a:lnR w="12700" cap="flat" cmpd="sng" algn="ctr">
                      <a:solidFill>
                        <a:srgbClr val="8C9BAD"/>
                      </a:solidFill>
                      <a:prstDash val="solid"/>
                      <a:round/>
                      <a:headEnd type="none" w="med" len="med"/>
                      <a:tailEnd type="none" w="med" len="med"/>
                    </a:lnR>
                    <a:lnT w="12700" cap="flat" cmpd="sng" algn="ctr">
                      <a:solidFill>
                        <a:srgbClr val="8C9BAD"/>
                      </a:solidFill>
                      <a:prstDash val="solid"/>
                      <a:round/>
                      <a:headEnd type="none" w="med" len="med"/>
                      <a:tailEnd type="none" w="med" len="med"/>
                    </a:lnT>
                    <a:lnB w="12700" cap="flat" cmpd="sng" algn="ctr">
                      <a:solidFill>
                        <a:srgbClr val="8C9BAD"/>
                      </a:solidFill>
                      <a:prstDash val="solid"/>
                      <a:round/>
                      <a:headEnd type="none" w="med" len="med"/>
                      <a:tailEnd type="none" w="med" len="med"/>
                    </a:lnB>
                    <a:solidFill>
                      <a:srgbClr val="FFFFFF"/>
                    </a:solidFill>
                  </a:tcPr>
                </a:tc>
                <a:tc>
                  <a:txBody>
                    <a:bodyPr/>
                    <a:lstStyle/>
                    <a:p>
                      <a:pPr indent="0" marL="0">
                        <a:buNone/>
                      </a:pPr>
                      <a:r>
                        <a:rPr lang="en-US" sz="1500" dirty="0">
                          <a:solidFill>
                            <a:srgbClr val="2B3440"/>
                          </a:solidFill>
                          <a:latin typeface="Calibri" pitchFamily="34" charset="0"/>
                          <a:ea typeface="Calibri" pitchFamily="34" charset="-122"/>
                          <a:cs typeface="Calibri" pitchFamily="34" charset="-120"/>
                        </a:rPr>
                        <a:t>A plan is cancelled once</a:t>
                      </a:r>
                      <a:endParaRPr lang="en-US" sz="1500" dirty="0">
                        <a:latin typeface="Calibri" charset="0"/>
                        <a:ea typeface="Calibri" charset="0"/>
                        <a:cs typeface="Calibri" charset="0"/>
                      </a:endParaRPr>
                    </a:p>
                  </a:txBody>
                  <a:tcPr marL="109728" marR="109728" marT="27432" marB="27432" anchor="ctr">
                    <a:lnL w="12700" cap="flat" cmpd="sng" algn="ctr">
                      <a:solidFill>
                        <a:srgbClr val="8C9BAD"/>
                      </a:solidFill>
                      <a:prstDash val="solid"/>
                      <a:round/>
                      <a:headEnd type="none" w="med" len="med"/>
                      <a:tailEnd type="none" w="med" len="med"/>
                    </a:lnL>
                    <a:lnR w="12700" cap="flat" cmpd="sng" algn="ctr">
                      <a:solidFill>
                        <a:srgbClr val="8C9BAD"/>
                      </a:solidFill>
                      <a:prstDash val="solid"/>
                      <a:round/>
                      <a:headEnd type="none" w="med" len="med"/>
                      <a:tailEnd type="none" w="med" len="med"/>
                    </a:lnR>
                    <a:lnT w="12700" cap="flat" cmpd="sng" algn="ctr">
                      <a:solidFill>
                        <a:srgbClr val="8C9BAD"/>
                      </a:solidFill>
                      <a:prstDash val="solid"/>
                      <a:round/>
                      <a:headEnd type="none" w="med" len="med"/>
                      <a:tailEnd type="none" w="med" len="med"/>
                    </a:lnT>
                    <a:lnB w="12700" cap="flat" cmpd="sng" algn="ctr">
                      <a:solidFill>
                        <a:srgbClr val="8C9BAD"/>
                      </a:solidFill>
                      <a:prstDash val="solid"/>
                      <a:round/>
                      <a:headEnd type="none" w="med" len="med"/>
                      <a:tailEnd type="none" w="med" len="med"/>
                    </a:lnB>
                    <a:solidFill>
                      <a:srgbClr val="FFFFFF"/>
                    </a:solidFill>
                  </a:tcPr>
                </a:tc>
                <a:tc>
                  <a:txBody>
                    <a:bodyPr/>
                    <a:lstStyle/>
                    <a:p>
                      <a:pPr indent="0" marL="0">
                        <a:buNone/>
                      </a:pPr>
                      <a:r>
                        <a:rPr lang="en-US" sz="1500" dirty="0">
                          <a:solidFill>
                            <a:srgbClr val="2B3440"/>
                          </a:solidFill>
                          <a:latin typeface="Calibri" pitchFamily="34" charset="0"/>
                          <a:ea typeface="Calibri" pitchFamily="34" charset="-122"/>
                          <a:cs typeface="Calibri" pitchFamily="34" charset="-120"/>
                        </a:rPr>
                        <a:t>already cancelled: deny; else allow</a:t>
                      </a:r>
                      <a:endParaRPr lang="en-US" sz="1500" dirty="0">
                        <a:latin typeface="Calibri" charset="0"/>
                        <a:ea typeface="Calibri" charset="0"/>
                        <a:cs typeface="Calibri" charset="0"/>
                      </a:endParaRPr>
                    </a:p>
                  </a:txBody>
                  <a:tcPr marL="109728" marR="109728" marT="27432" marB="27432" anchor="ctr">
                    <a:lnL w="12700" cap="flat" cmpd="sng" algn="ctr">
                      <a:solidFill>
                        <a:srgbClr val="8C9BAD"/>
                      </a:solidFill>
                      <a:prstDash val="solid"/>
                      <a:round/>
                      <a:headEnd type="none" w="med" len="med"/>
                      <a:tailEnd type="none" w="med" len="med"/>
                    </a:lnL>
                    <a:lnR w="12700" cap="flat" cmpd="sng" algn="ctr">
                      <a:solidFill>
                        <a:srgbClr val="8C9BAD"/>
                      </a:solidFill>
                      <a:prstDash val="solid"/>
                      <a:round/>
                      <a:headEnd type="none" w="med" len="med"/>
                      <a:tailEnd type="none" w="med" len="med"/>
                    </a:lnR>
                    <a:lnT w="12700" cap="flat" cmpd="sng" algn="ctr">
                      <a:solidFill>
                        <a:srgbClr val="8C9BAD"/>
                      </a:solidFill>
                      <a:prstDash val="solid"/>
                      <a:round/>
                      <a:headEnd type="none" w="med" len="med"/>
                      <a:tailEnd type="none" w="med" len="med"/>
                    </a:lnT>
                    <a:lnB w="12700" cap="flat" cmpd="sng" algn="ctr">
                      <a:solidFill>
                        <a:srgbClr val="8C9BAD"/>
                      </a:solidFill>
                      <a:prstDash val="solid"/>
                      <a:round/>
                      <a:headEnd type="none" w="med" len="med"/>
                      <a:tailEnd type="none" w="med" len="med"/>
                    </a:lnB>
                    <a:solidFill>
                      <a:srgbClr val="FFFFFF"/>
                    </a:solidFill>
                  </a:tcPr>
                </a:tc>
              </a:tr>
            </a:tbl>
          </a:graphicData>
        </a:graphic>
      </p:graphicFrame>
      <p:sp>
        <p:nvSpPr>
          <p:cNvPr id="6" name="Text 2"/>
          <p:cNvSpPr/>
          <p:nvPr/>
        </p:nvSpPr>
        <p:spPr>
          <a:xfrm>
            <a:off x="548640" y="5806440"/>
            <a:ext cx="11094415" cy="457200"/>
          </a:xfrm>
          <a:prstGeom prst="rect">
            <a:avLst/>
          </a:prstGeom>
          <a:noFill/>
          <a:ln/>
        </p:spPr>
        <p:txBody>
          <a:bodyPr wrap="square" lIns="0" tIns="0" rIns="0" bIns="0" rtlCol="0" anchor="ctr"/>
          <a:lstStyle/>
          <a:p>
            <a:pPr algn="l" indent="0" marL="0">
              <a:buNone/>
            </a:pPr>
            <a:r>
              <a:rPr lang="en-US" sz="1700" b="1" dirty="0">
                <a:solidFill>
                  <a:srgbClr val="1B365D"/>
                </a:solidFill>
                <a:latin typeface="Calibri" pitchFamily="34" charset="0"/>
                <a:ea typeface="Calibri" pitchFamily="34" charset="-122"/>
                <a:cs typeface="Calibri" pitchFamily="34" charset="-120"/>
              </a:rPr>
              <a:t>Level 2: </a:t>
            </a:r>
            <a:pPr algn="l" indent="0" marL="0">
              <a:buNone/>
            </a:pPr>
            <a:r>
              <a:rPr lang="en-US" sz="1700" dirty="0">
                <a:solidFill>
                  <a:srgbClr val="1B365D"/>
                </a:solidFill>
                <a:latin typeface="Calibri" pitchFamily="34" charset="0"/>
                <a:ea typeface="Calibri" pitchFamily="34" charset="-122"/>
                <a:cs typeface="Calibri" pitchFamily="34" charset="-120"/>
              </a:rPr>
              <a:t>the agent applies these rules itself.   </a:t>
            </a:r>
            <a:pPr algn="l" indent="0" marL="0">
              <a:buNone/>
            </a:pPr>
            <a:r>
              <a:rPr lang="en-US" sz="1700" b="1" dirty="0">
                <a:solidFill>
                  <a:srgbClr val="1B365D"/>
                </a:solidFill>
                <a:latin typeface="Calibri" pitchFamily="34" charset="0"/>
                <a:ea typeface="Calibri" pitchFamily="34" charset="-122"/>
                <a:cs typeface="Calibri" pitchFamily="34" charset="-120"/>
              </a:rPr>
              <a:t>Level 3: </a:t>
            </a:r>
            <a:pPr algn="l" indent="0" marL="0">
              <a:buNone/>
            </a:pPr>
            <a:r>
              <a:rPr lang="en-US" sz="1700" dirty="0">
                <a:solidFill>
                  <a:srgbClr val="1B365D"/>
                </a:solidFill>
                <a:latin typeface="Calibri" pitchFamily="34" charset="0"/>
                <a:ea typeface="Calibri" pitchFamily="34" charset="-122"/>
                <a:cs typeface="Calibri" pitchFamily="34" charset="-120"/>
              </a:rPr>
              <a:t>fixed code checks them.</a:t>
            </a:r>
            <a:endParaRPr lang="en-US" sz="17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Level 3: Jev, fixed code, and an LLM</a:t>
            </a:r>
            <a:endParaRPr lang="en-US" sz="3400" dirty="0"/>
          </a:p>
        </p:txBody>
      </p:sp>
      <p:sp>
        <p:nvSpPr>
          <p:cNvPr id="3" name="Text 1"/>
          <p:cNvSpPr/>
          <p:nvPr/>
        </p:nvSpPr>
        <p:spPr>
          <a:xfrm>
            <a:off x="548640" y="6400800"/>
            <a:ext cx="5486400" cy="274320"/>
          </a:xfrm>
          <a:prstGeom prst="rect">
            <a:avLst/>
          </a:prstGeom>
          <a:noFill/>
          <a:ln/>
        </p:spPr>
        <p:txBody>
          <a:bodyPr wrap="square" lIns="0" tIns="0" rIns="0" bIns="0" rtlCol="0" anchor="ctr"/>
          <a:lstStyle/>
          <a:p>
            <a:pPr indent="0" marL="0">
              <a:buNone/>
            </a:pPr>
            <a:r>
              <a:rPr lang="en-US" sz="1100" dirty="0">
                <a:solidFill>
                  <a:srgbClr val="56636F"/>
                </a:solidFill>
                <a:latin typeface="Calibri" pitchFamily="34" charset="0"/>
                <a:ea typeface="Calibri" pitchFamily="34" charset="-122"/>
                <a:cs typeface="Calibri" pitchFamily="34" charset="-120"/>
              </a:rPr>
              <a:t>Speaker: Nguyen Thanh Nam · 72 s</a:t>
            </a:r>
            <a:endParaRPr lang="en-US" sz="1100" dirty="0"/>
          </a:p>
        </p:txBody>
      </p:sp>
      <p:sp>
        <p:nvSpPr>
          <p:cNvPr id="5" name="Shape 2"/>
          <p:cNvSpPr/>
          <p:nvPr/>
        </p:nvSpPr>
        <p:spPr>
          <a:xfrm>
            <a:off x="548640" y="1691640"/>
            <a:ext cx="1188720" cy="1920240"/>
          </a:xfrm>
          <a:prstGeom prst="roundRect">
            <a:avLst>
              <a:gd name="adj" fmla="val 6154"/>
            </a:avLst>
          </a:prstGeom>
          <a:solidFill>
            <a:srgbClr val="AEB7C2"/>
          </a:solidFill>
          <a:ln/>
        </p:spPr>
      </p:sp>
      <p:sp>
        <p:nvSpPr>
          <p:cNvPr id="6" name="Shape 3"/>
          <p:cNvSpPr/>
          <p:nvPr/>
        </p:nvSpPr>
        <p:spPr>
          <a:xfrm>
            <a:off x="886968" y="1828800"/>
            <a:ext cx="512064" cy="512064"/>
          </a:xfrm>
          <a:prstGeom prst="ellipse">
            <a:avLst/>
          </a:prstGeom>
          <a:solidFill>
            <a:srgbClr val="5F6B7A"/>
          </a:solidFill>
          <a:ln w="12700">
            <a:solidFill>
              <a:srgbClr val="5F6B7A"/>
            </a:solidFill>
            <a:prstDash val="solid"/>
          </a:ln>
        </p:spPr>
      </p:sp>
      <p:pic>
        <p:nvPicPr>
          <p:cNvPr id="7" name="Image 0" descr="preencoded.png">    </p:cNvPr>
          <p:cNvPicPr>
            <a:picLocks noChangeAspect="1"/>
          </p:cNvPicPr>
          <p:nvPr/>
        </p:nvPicPr>
        <p:blipFill>
          <a:blip r:embed="rId1"/>
          <a:stretch>
            <a:fillRect/>
          </a:stretch>
        </p:blipFill>
        <p:spPr>
          <a:xfrm>
            <a:off x="999622" y="1941454"/>
            <a:ext cx="286756" cy="286756"/>
          </a:xfrm>
          <a:prstGeom prst="rect">
            <a:avLst/>
          </a:prstGeom>
        </p:spPr>
      </p:pic>
      <p:sp>
        <p:nvSpPr>
          <p:cNvPr id="8" name="Text 4"/>
          <p:cNvSpPr/>
          <p:nvPr/>
        </p:nvSpPr>
        <p:spPr>
          <a:xfrm>
            <a:off x="585216" y="2441448"/>
            <a:ext cx="1115568" cy="320040"/>
          </a:xfrm>
          <a:prstGeom prst="rect">
            <a:avLst/>
          </a:prstGeom>
          <a:no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New</a:t>
            </a:r>
            <a:endParaRPr lang="en-US" sz="1400" dirty="0"/>
          </a:p>
        </p:txBody>
      </p:sp>
      <p:sp>
        <p:nvSpPr>
          <p:cNvPr id="9" name="Text 5"/>
          <p:cNvSpPr/>
          <p:nvPr/>
        </p:nvSpPr>
        <p:spPr>
          <a:xfrm>
            <a:off x="621792" y="2788920"/>
            <a:ext cx="1042416" cy="777240"/>
          </a:xfrm>
          <a:prstGeom prst="rect">
            <a:avLst/>
          </a:prstGeom>
          <a:noFill/>
          <a:ln/>
        </p:spPr>
        <p:txBody>
          <a:bodyPr wrap="square" lIns="0" tIns="0" rIns="0" bIns="0" rtlCol="0" anchor="t"/>
          <a:lstStyle/>
          <a:p>
            <a:pPr algn="ctr" indent="0" marL="0">
              <a:buNone/>
            </a:pPr>
            <a:r>
              <a:rPr lang="en-US" sz="1200" dirty="0">
                <a:solidFill>
                  <a:srgbClr val="2B3440"/>
                </a:solidFill>
                <a:latin typeface="Calibri" pitchFamily="34" charset="0"/>
                <a:ea typeface="Calibri" pitchFamily="34" charset="-122"/>
                <a:cs typeface="Calibri" pitchFamily="34" charset="-120"/>
              </a:rPr>
              <a:t>message saved</a:t>
            </a:r>
            <a:endParaRPr lang="en-US" sz="1200" dirty="0"/>
          </a:p>
        </p:txBody>
      </p:sp>
      <p:sp>
        <p:nvSpPr>
          <p:cNvPr id="10" name="Shape 6"/>
          <p:cNvSpPr/>
          <p:nvPr/>
        </p:nvSpPr>
        <p:spPr>
          <a:xfrm>
            <a:off x="1755648" y="2651760"/>
            <a:ext cx="189803" cy="0"/>
          </a:xfrm>
          <a:prstGeom prst="line">
            <a:avLst/>
          </a:prstGeom>
          <a:noFill/>
          <a:ln w="25400">
            <a:solidFill>
              <a:srgbClr val="5F6B7A"/>
            </a:solidFill>
            <a:prstDash val="solid"/>
            <a:tailEnd type="triangle"/>
          </a:ln>
        </p:spPr>
      </p:sp>
      <p:sp>
        <p:nvSpPr>
          <p:cNvPr id="11" name="Shape 7"/>
          <p:cNvSpPr/>
          <p:nvPr/>
        </p:nvSpPr>
        <p:spPr>
          <a:xfrm>
            <a:off x="1963739" y="1691640"/>
            <a:ext cx="1188720" cy="1920240"/>
          </a:xfrm>
          <a:prstGeom prst="roundRect">
            <a:avLst>
              <a:gd name="adj" fmla="val 6154"/>
            </a:avLst>
          </a:prstGeom>
          <a:solidFill>
            <a:srgbClr val="A6BCD6"/>
          </a:solidFill>
          <a:ln/>
        </p:spPr>
      </p:sp>
      <p:sp>
        <p:nvSpPr>
          <p:cNvPr id="12" name="Shape 8"/>
          <p:cNvSpPr/>
          <p:nvPr/>
        </p:nvSpPr>
        <p:spPr>
          <a:xfrm>
            <a:off x="2302067" y="1828800"/>
            <a:ext cx="512064" cy="512064"/>
          </a:xfrm>
          <a:prstGeom prst="ellipse">
            <a:avLst/>
          </a:prstGeom>
          <a:solidFill>
            <a:srgbClr val="2F5F98"/>
          </a:solidFill>
          <a:ln w="12700">
            <a:solidFill>
              <a:srgbClr val="2F5F98"/>
            </a:solidFill>
            <a:prstDash val="solid"/>
          </a:ln>
        </p:spPr>
      </p:sp>
      <p:pic>
        <p:nvPicPr>
          <p:cNvPr id="13" name="Image 1" descr="preencoded.png">    </p:cNvPr>
          <p:cNvPicPr>
            <a:picLocks noChangeAspect="1"/>
          </p:cNvPicPr>
          <p:nvPr/>
        </p:nvPicPr>
        <p:blipFill>
          <a:blip r:embed="rId2"/>
          <a:stretch>
            <a:fillRect/>
          </a:stretch>
        </p:blipFill>
        <p:spPr>
          <a:xfrm>
            <a:off x="2414721" y="1941454"/>
            <a:ext cx="286756" cy="286756"/>
          </a:xfrm>
          <a:prstGeom prst="rect">
            <a:avLst/>
          </a:prstGeom>
        </p:spPr>
      </p:pic>
      <p:sp>
        <p:nvSpPr>
          <p:cNvPr id="14" name="Text 9"/>
          <p:cNvSpPr/>
          <p:nvPr/>
        </p:nvSpPr>
        <p:spPr>
          <a:xfrm>
            <a:off x="2000315" y="2441448"/>
            <a:ext cx="1115568" cy="320040"/>
          </a:xfrm>
          <a:prstGeom prst="rect">
            <a:avLst/>
          </a:prstGeom>
          <a:no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Triage</a:t>
            </a:r>
            <a:endParaRPr lang="en-US" sz="1400" dirty="0"/>
          </a:p>
        </p:txBody>
      </p:sp>
      <p:sp>
        <p:nvSpPr>
          <p:cNvPr id="15" name="Text 10"/>
          <p:cNvSpPr/>
          <p:nvPr/>
        </p:nvSpPr>
        <p:spPr>
          <a:xfrm>
            <a:off x="2036891" y="2788920"/>
            <a:ext cx="1042416" cy="777240"/>
          </a:xfrm>
          <a:prstGeom prst="rect">
            <a:avLst/>
          </a:prstGeom>
          <a:noFill/>
          <a:ln/>
        </p:spPr>
        <p:txBody>
          <a:bodyPr wrap="square" lIns="0" tIns="0" rIns="0" bIns="0" rtlCol="0" anchor="t"/>
          <a:lstStyle/>
          <a:p>
            <a:pPr algn="ctr" indent="0" marL="0">
              <a:buNone/>
            </a:pPr>
            <a:r>
              <a:rPr lang="en-US" sz="1200" dirty="0">
                <a:solidFill>
                  <a:srgbClr val="2B3440"/>
                </a:solidFill>
                <a:latin typeface="Calibri" pitchFamily="34" charset="0"/>
                <a:ea typeface="Calibri" pitchFamily="34" charset="-122"/>
                <a:cs typeface="Calibri" pitchFamily="34" charset="-120"/>
              </a:rPr>
              <a:t>Jev: five answers with confidence</a:t>
            </a:r>
            <a:endParaRPr lang="en-US" sz="1200" dirty="0"/>
          </a:p>
        </p:txBody>
      </p:sp>
      <p:sp>
        <p:nvSpPr>
          <p:cNvPr id="16" name="Shape 11"/>
          <p:cNvSpPr/>
          <p:nvPr/>
        </p:nvSpPr>
        <p:spPr>
          <a:xfrm>
            <a:off x="3170747" y="2651760"/>
            <a:ext cx="189803" cy="0"/>
          </a:xfrm>
          <a:prstGeom prst="line">
            <a:avLst/>
          </a:prstGeom>
          <a:noFill/>
          <a:ln w="25400">
            <a:solidFill>
              <a:srgbClr val="5F6B7A"/>
            </a:solidFill>
            <a:prstDash val="solid"/>
            <a:tailEnd type="triangle"/>
          </a:ln>
        </p:spPr>
      </p:sp>
      <p:sp>
        <p:nvSpPr>
          <p:cNvPr id="17" name="Shape 12"/>
          <p:cNvSpPr/>
          <p:nvPr/>
        </p:nvSpPr>
        <p:spPr>
          <a:xfrm>
            <a:off x="3378839" y="1691640"/>
            <a:ext cx="1188720" cy="1920240"/>
          </a:xfrm>
          <a:prstGeom prst="roundRect">
            <a:avLst>
              <a:gd name="adj" fmla="val 6154"/>
            </a:avLst>
          </a:prstGeom>
          <a:solidFill>
            <a:srgbClr val="AEB7C2"/>
          </a:solidFill>
          <a:ln/>
        </p:spPr>
      </p:sp>
      <p:sp>
        <p:nvSpPr>
          <p:cNvPr id="18" name="Shape 13"/>
          <p:cNvSpPr/>
          <p:nvPr/>
        </p:nvSpPr>
        <p:spPr>
          <a:xfrm>
            <a:off x="3717167" y="1828800"/>
            <a:ext cx="512064" cy="512064"/>
          </a:xfrm>
          <a:prstGeom prst="ellipse">
            <a:avLst/>
          </a:prstGeom>
          <a:solidFill>
            <a:srgbClr val="5F6B7A"/>
          </a:solidFill>
          <a:ln w="12700">
            <a:solidFill>
              <a:srgbClr val="5F6B7A"/>
            </a:solidFill>
            <a:prstDash val="solid"/>
          </a:ln>
        </p:spPr>
      </p:sp>
      <p:pic>
        <p:nvPicPr>
          <p:cNvPr id="19" name="Image 2" descr="preencoded.png">    </p:cNvPr>
          <p:cNvPicPr>
            <a:picLocks noChangeAspect="1"/>
          </p:cNvPicPr>
          <p:nvPr/>
        </p:nvPicPr>
        <p:blipFill>
          <a:blip r:embed="rId3"/>
          <a:stretch>
            <a:fillRect/>
          </a:stretch>
        </p:blipFill>
        <p:spPr>
          <a:xfrm>
            <a:off x="3829821" y="1941454"/>
            <a:ext cx="286756" cy="286756"/>
          </a:xfrm>
          <a:prstGeom prst="rect">
            <a:avLst/>
          </a:prstGeom>
        </p:spPr>
      </p:pic>
      <p:sp>
        <p:nvSpPr>
          <p:cNvPr id="20" name="Text 14"/>
          <p:cNvSpPr/>
          <p:nvPr/>
        </p:nvSpPr>
        <p:spPr>
          <a:xfrm>
            <a:off x="3415415" y="2441448"/>
            <a:ext cx="1115568" cy="320040"/>
          </a:xfrm>
          <a:prstGeom prst="rect">
            <a:avLst/>
          </a:prstGeom>
          <a:no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Gather info</a:t>
            </a:r>
            <a:endParaRPr lang="en-US" sz="1400" dirty="0"/>
          </a:p>
        </p:txBody>
      </p:sp>
      <p:sp>
        <p:nvSpPr>
          <p:cNvPr id="21" name="Text 15"/>
          <p:cNvSpPr/>
          <p:nvPr/>
        </p:nvSpPr>
        <p:spPr>
          <a:xfrm>
            <a:off x="3451991" y="2788920"/>
            <a:ext cx="1042416" cy="777240"/>
          </a:xfrm>
          <a:prstGeom prst="rect">
            <a:avLst/>
          </a:prstGeom>
          <a:noFill/>
          <a:ln/>
        </p:spPr>
        <p:txBody>
          <a:bodyPr wrap="square" lIns="0" tIns="0" rIns="0" bIns="0" rtlCol="0" anchor="t"/>
          <a:lstStyle/>
          <a:p>
            <a:pPr algn="ctr" indent="0" marL="0">
              <a:buNone/>
            </a:pPr>
            <a:r>
              <a:rPr lang="en-US" sz="1200" dirty="0">
                <a:solidFill>
                  <a:srgbClr val="2B3440"/>
                </a:solidFill>
                <a:latin typeface="Calibri" pitchFamily="34" charset="0"/>
                <a:ea typeface="Calibri" pitchFamily="34" charset="-122"/>
                <a:cs typeface="Calibri" pitchFamily="34" charset="-120"/>
              </a:rPr>
              <a:t>only the fields the action needs</a:t>
            </a:r>
            <a:endParaRPr lang="en-US" sz="1200" dirty="0"/>
          </a:p>
        </p:txBody>
      </p:sp>
      <p:sp>
        <p:nvSpPr>
          <p:cNvPr id="22" name="Shape 16"/>
          <p:cNvSpPr/>
          <p:nvPr/>
        </p:nvSpPr>
        <p:spPr>
          <a:xfrm>
            <a:off x="4585847" y="2651760"/>
            <a:ext cx="189803" cy="0"/>
          </a:xfrm>
          <a:prstGeom prst="line">
            <a:avLst/>
          </a:prstGeom>
          <a:noFill/>
          <a:ln w="25400">
            <a:solidFill>
              <a:srgbClr val="5F6B7A"/>
            </a:solidFill>
            <a:prstDash val="solid"/>
            <a:tailEnd type="triangle"/>
          </a:ln>
        </p:spPr>
      </p:sp>
      <p:sp>
        <p:nvSpPr>
          <p:cNvPr id="23" name="Shape 17"/>
          <p:cNvSpPr/>
          <p:nvPr/>
        </p:nvSpPr>
        <p:spPr>
          <a:xfrm>
            <a:off x="4793938" y="1691640"/>
            <a:ext cx="1188720" cy="1920240"/>
          </a:xfrm>
          <a:prstGeom prst="roundRect">
            <a:avLst>
              <a:gd name="adj" fmla="val 6154"/>
            </a:avLst>
          </a:prstGeom>
          <a:solidFill>
            <a:srgbClr val="A2C4BE"/>
          </a:solidFill>
          <a:ln/>
        </p:spPr>
      </p:sp>
      <p:sp>
        <p:nvSpPr>
          <p:cNvPr id="24" name="Shape 18"/>
          <p:cNvSpPr/>
          <p:nvPr/>
        </p:nvSpPr>
        <p:spPr>
          <a:xfrm>
            <a:off x="5132266" y="1828800"/>
            <a:ext cx="512064" cy="512064"/>
          </a:xfrm>
          <a:prstGeom prst="ellipse">
            <a:avLst/>
          </a:prstGeom>
          <a:solidFill>
            <a:srgbClr val="1F7A7A"/>
          </a:solidFill>
          <a:ln w="12700">
            <a:solidFill>
              <a:srgbClr val="1F7A7A"/>
            </a:solidFill>
            <a:prstDash val="solid"/>
          </a:ln>
        </p:spPr>
      </p:sp>
      <p:pic>
        <p:nvPicPr>
          <p:cNvPr id="25" name="Image 3" descr="preencoded.png">    </p:cNvPr>
          <p:cNvPicPr>
            <a:picLocks noChangeAspect="1"/>
          </p:cNvPicPr>
          <p:nvPr/>
        </p:nvPicPr>
        <p:blipFill>
          <a:blip r:embed="rId4"/>
          <a:stretch>
            <a:fillRect/>
          </a:stretch>
        </p:blipFill>
        <p:spPr>
          <a:xfrm>
            <a:off x="5244920" y="1941454"/>
            <a:ext cx="286756" cy="286756"/>
          </a:xfrm>
          <a:prstGeom prst="rect">
            <a:avLst/>
          </a:prstGeom>
        </p:spPr>
      </p:pic>
      <p:sp>
        <p:nvSpPr>
          <p:cNvPr id="26" name="Text 19"/>
          <p:cNvSpPr/>
          <p:nvPr/>
        </p:nvSpPr>
        <p:spPr>
          <a:xfrm>
            <a:off x="4830514" y="2441448"/>
            <a:ext cx="1115568" cy="320040"/>
          </a:xfrm>
          <a:prstGeom prst="rect">
            <a:avLst/>
          </a:prstGeom>
          <a:no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Rules check</a:t>
            </a:r>
            <a:endParaRPr lang="en-US" sz="1400" dirty="0"/>
          </a:p>
        </p:txBody>
      </p:sp>
      <p:sp>
        <p:nvSpPr>
          <p:cNvPr id="27" name="Text 20"/>
          <p:cNvSpPr/>
          <p:nvPr/>
        </p:nvSpPr>
        <p:spPr>
          <a:xfrm>
            <a:off x="4867090" y="2788920"/>
            <a:ext cx="1042416" cy="777240"/>
          </a:xfrm>
          <a:prstGeom prst="rect">
            <a:avLst/>
          </a:prstGeom>
          <a:noFill/>
          <a:ln/>
        </p:spPr>
        <p:txBody>
          <a:bodyPr wrap="square" lIns="0" tIns="0" rIns="0" bIns="0" rtlCol="0" anchor="t"/>
          <a:lstStyle/>
          <a:p>
            <a:pPr algn="ctr" indent="0" marL="0">
              <a:buNone/>
            </a:pPr>
            <a:r>
              <a:rPr lang="en-US" sz="1200" dirty="0">
                <a:solidFill>
                  <a:srgbClr val="2B3440"/>
                </a:solidFill>
                <a:latin typeface="Calibri" pitchFamily="34" charset="0"/>
                <a:ea typeface="Calibri" pitchFamily="34" charset="-122"/>
                <a:cs typeface="Calibri" pitchFamily="34" charset="-120"/>
              </a:rPr>
              <a:t>written rules: allow or deny</a:t>
            </a:r>
            <a:endParaRPr lang="en-US" sz="1200" dirty="0"/>
          </a:p>
        </p:txBody>
      </p:sp>
      <p:sp>
        <p:nvSpPr>
          <p:cNvPr id="28" name="Shape 21"/>
          <p:cNvSpPr/>
          <p:nvPr/>
        </p:nvSpPr>
        <p:spPr>
          <a:xfrm>
            <a:off x="6000946" y="2651760"/>
            <a:ext cx="189803" cy="0"/>
          </a:xfrm>
          <a:prstGeom prst="line">
            <a:avLst/>
          </a:prstGeom>
          <a:noFill/>
          <a:ln w="25400">
            <a:solidFill>
              <a:srgbClr val="1F7A7A"/>
            </a:solidFill>
            <a:prstDash val="solid"/>
            <a:tailEnd type="triangle"/>
          </a:ln>
        </p:spPr>
      </p:sp>
      <p:sp>
        <p:nvSpPr>
          <p:cNvPr id="29" name="Shape 22"/>
          <p:cNvSpPr/>
          <p:nvPr/>
        </p:nvSpPr>
        <p:spPr>
          <a:xfrm>
            <a:off x="6209037" y="1691640"/>
            <a:ext cx="1188720" cy="1920240"/>
          </a:xfrm>
          <a:prstGeom prst="roundRect">
            <a:avLst>
              <a:gd name="adj" fmla="val 6154"/>
            </a:avLst>
          </a:prstGeom>
          <a:solidFill>
            <a:srgbClr val="AEB7C2"/>
          </a:solidFill>
          <a:ln/>
        </p:spPr>
      </p:sp>
      <p:sp>
        <p:nvSpPr>
          <p:cNvPr id="30" name="Shape 23"/>
          <p:cNvSpPr/>
          <p:nvPr/>
        </p:nvSpPr>
        <p:spPr>
          <a:xfrm>
            <a:off x="6547365" y="1828800"/>
            <a:ext cx="512064" cy="512064"/>
          </a:xfrm>
          <a:prstGeom prst="ellipse">
            <a:avLst/>
          </a:prstGeom>
          <a:solidFill>
            <a:srgbClr val="5F6B7A"/>
          </a:solidFill>
          <a:ln w="12700">
            <a:solidFill>
              <a:srgbClr val="5F6B7A"/>
            </a:solidFill>
            <a:prstDash val="solid"/>
          </a:ln>
        </p:spPr>
      </p:sp>
      <p:pic>
        <p:nvPicPr>
          <p:cNvPr id="31" name="Image 4" descr="preencoded.png">    </p:cNvPr>
          <p:cNvPicPr>
            <a:picLocks noChangeAspect="1"/>
          </p:cNvPicPr>
          <p:nvPr/>
        </p:nvPicPr>
        <p:blipFill>
          <a:blip r:embed="rId5"/>
          <a:stretch>
            <a:fillRect/>
          </a:stretch>
        </p:blipFill>
        <p:spPr>
          <a:xfrm>
            <a:off x="6660019" y="1941454"/>
            <a:ext cx="286756" cy="286756"/>
          </a:xfrm>
          <a:prstGeom prst="rect">
            <a:avLst/>
          </a:prstGeom>
        </p:spPr>
      </p:pic>
      <p:sp>
        <p:nvSpPr>
          <p:cNvPr id="32" name="Text 24"/>
          <p:cNvSpPr/>
          <p:nvPr/>
        </p:nvSpPr>
        <p:spPr>
          <a:xfrm>
            <a:off x="6245613" y="2441448"/>
            <a:ext cx="1115568" cy="320040"/>
          </a:xfrm>
          <a:prstGeom prst="rect">
            <a:avLst/>
          </a:prstGeom>
          <a:no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Do action</a:t>
            </a:r>
            <a:endParaRPr lang="en-US" sz="1400" dirty="0"/>
          </a:p>
        </p:txBody>
      </p:sp>
      <p:sp>
        <p:nvSpPr>
          <p:cNvPr id="33" name="Text 25"/>
          <p:cNvSpPr/>
          <p:nvPr/>
        </p:nvSpPr>
        <p:spPr>
          <a:xfrm>
            <a:off x="6282189" y="2788920"/>
            <a:ext cx="1042416" cy="777240"/>
          </a:xfrm>
          <a:prstGeom prst="rect">
            <a:avLst/>
          </a:prstGeom>
          <a:noFill/>
          <a:ln/>
        </p:spPr>
        <p:txBody>
          <a:bodyPr wrap="square" lIns="0" tIns="0" rIns="0" bIns="0" rtlCol="0" anchor="t"/>
          <a:lstStyle/>
          <a:p>
            <a:pPr algn="ctr" indent="0" marL="0">
              <a:buNone/>
            </a:pPr>
            <a:r>
              <a:rPr lang="en-US" sz="1200" dirty="0">
                <a:solidFill>
                  <a:srgbClr val="2B3440"/>
                </a:solidFill>
                <a:latin typeface="Calibri" pitchFamily="34" charset="0"/>
                <a:ea typeface="Calibri" pitchFamily="34" charset="-122"/>
                <a:cs typeface="Calibri" pitchFamily="34" charset="-120"/>
              </a:rPr>
              <a:t>refund, cancel plan, or reset</a:t>
            </a:r>
            <a:endParaRPr lang="en-US" sz="1200" dirty="0"/>
          </a:p>
        </p:txBody>
      </p:sp>
      <p:sp>
        <p:nvSpPr>
          <p:cNvPr id="34" name="Shape 26"/>
          <p:cNvSpPr/>
          <p:nvPr/>
        </p:nvSpPr>
        <p:spPr>
          <a:xfrm>
            <a:off x="7416045" y="2651760"/>
            <a:ext cx="189803" cy="0"/>
          </a:xfrm>
          <a:prstGeom prst="line">
            <a:avLst/>
          </a:prstGeom>
          <a:noFill/>
          <a:ln w="25400">
            <a:solidFill>
              <a:srgbClr val="5F6B7A"/>
            </a:solidFill>
            <a:prstDash val="solid"/>
            <a:tailEnd type="triangle"/>
          </a:ln>
        </p:spPr>
      </p:sp>
      <p:sp>
        <p:nvSpPr>
          <p:cNvPr id="35" name="Shape 27"/>
          <p:cNvSpPr/>
          <p:nvPr/>
        </p:nvSpPr>
        <p:spPr>
          <a:xfrm>
            <a:off x="7624137" y="1691640"/>
            <a:ext cx="1188720" cy="1920240"/>
          </a:xfrm>
          <a:prstGeom prst="roundRect">
            <a:avLst>
              <a:gd name="adj" fmla="val 6154"/>
            </a:avLst>
          </a:prstGeom>
          <a:solidFill>
            <a:srgbClr val="A6BCD6"/>
          </a:solidFill>
          <a:ln/>
        </p:spPr>
      </p:sp>
      <p:sp>
        <p:nvSpPr>
          <p:cNvPr id="36" name="Shape 28"/>
          <p:cNvSpPr/>
          <p:nvPr/>
        </p:nvSpPr>
        <p:spPr>
          <a:xfrm>
            <a:off x="7962465" y="1828800"/>
            <a:ext cx="512064" cy="512064"/>
          </a:xfrm>
          <a:prstGeom prst="ellipse">
            <a:avLst/>
          </a:prstGeom>
          <a:solidFill>
            <a:srgbClr val="2F5F98"/>
          </a:solidFill>
          <a:ln w="12700">
            <a:solidFill>
              <a:srgbClr val="2F5F98"/>
            </a:solidFill>
            <a:prstDash val="solid"/>
          </a:ln>
        </p:spPr>
      </p:sp>
      <p:pic>
        <p:nvPicPr>
          <p:cNvPr id="37" name="Image 5" descr="preencoded.png">    </p:cNvPr>
          <p:cNvPicPr>
            <a:picLocks noChangeAspect="1"/>
          </p:cNvPicPr>
          <p:nvPr/>
        </p:nvPicPr>
        <p:blipFill>
          <a:blip r:embed="rId6"/>
          <a:stretch>
            <a:fillRect/>
          </a:stretch>
        </p:blipFill>
        <p:spPr>
          <a:xfrm>
            <a:off x="8075119" y="1941454"/>
            <a:ext cx="286756" cy="286756"/>
          </a:xfrm>
          <a:prstGeom prst="rect">
            <a:avLst/>
          </a:prstGeom>
        </p:spPr>
      </p:pic>
      <p:sp>
        <p:nvSpPr>
          <p:cNvPr id="38" name="Text 29"/>
          <p:cNvSpPr/>
          <p:nvPr/>
        </p:nvSpPr>
        <p:spPr>
          <a:xfrm>
            <a:off x="7660713" y="2441448"/>
            <a:ext cx="1115568" cy="320040"/>
          </a:xfrm>
          <a:prstGeom prst="rect">
            <a:avLst/>
          </a:prstGeom>
          <a:no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Final message</a:t>
            </a:r>
            <a:endParaRPr lang="en-US" sz="1400" dirty="0"/>
          </a:p>
        </p:txBody>
      </p:sp>
      <p:sp>
        <p:nvSpPr>
          <p:cNvPr id="39" name="Text 30"/>
          <p:cNvSpPr/>
          <p:nvPr/>
        </p:nvSpPr>
        <p:spPr>
          <a:xfrm>
            <a:off x="7697289" y="2788920"/>
            <a:ext cx="1042416" cy="777240"/>
          </a:xfrm>
          <a:prstGeom prst="rect">
            <a:avLst/>
          </a:prstGeom>
          <a:noFill/>
          <a:ln/>
        </p:spPr>
        <p:txBody>
          <a:bodyPr wrap="square" lIns="0" tIns="0" rIns="0" bIns="0" rtlCol="0" anchor="t"/>
          <a:lstStyle/>
          <a:p>
            <a:pPr algn="ctr" indent="0" marL="0">
              <a:buNone/>
            </a:pPr>
            <a:r>
              <a:rPr lang="en-US" sz="1200" dirty="0">
                <a:solidFill>
                  <a:srgbClr val="2B3440"/>
                </a:solidFill>
                <a:latin typeface="Calibri" pitchFamily="34" charset="0"/>
                <a:ea typeface="Calibri" pitchFamily="34" charset="-122"/>
                <a:cs typeface="Calibri" pitchFamily="34" charset="-120"/>
              </a:rPr>
              <a:t>the LLM writes the reply</a:t>
            </a:r>
            <a:endParaRPr lang="en-US" sz="1200" dirty="0"/>
          </a:p>
        </p:txBody>
      </p:sp>
      <p:sp>
        <p:nvSpPr>
          <p:cNvPr id="40" name="Shape 31"/>
          <p:cNvSpPr/>
          <p:nvPr/>
        </p:nvSpPr>
        <p:spPr>
          <a:xfrm>
            <a:off x="8831145" y="2651760"/>
            <a:ext cx="189803" cy="0"/>
          </a:xfrm>
          <a:prstGeom prst="line">
            <a:avLst/>
          </a:prstGeom>
          <a:noFill/>
          <a:ln w="25400">
            <a:solidFill>
              <a:srgbClr val="5F6B7A"/>
            </a:solidFill>
            <a:prstDash val="solid"/>
            <a:tailEnd type="triangle"/>
          </a:ln>
        </p:spPr>
      </p:sp>
      <p:sp>
        <p:nvSpPr>
          <p:cNvPr id="41" name="Shape 32"/>
          <p:cNvSpPr/>
          <p:nvPr/>
        </p:nvSpPr>
        <p:spPr>
          <a:xfrm>
            <a:off x="9039236" y="1691640"/>
            <a:ext cx="1188720" cy="1920240"/>
          </a:xfrm>
          <a:prstGeom prst="roundRect">
            <a:avLst>
              <a:gd name="adj" fmla="val 6154"/>
            </a:avLst>
          </a:prstGeom>
          <a:solidFill>
            <a:srgbClr val="AEB7C2"/>
          </a:solidFill>
          <a:ln/>
        </p:spPr>
      </p:sp>
      <p:sp>
        <p:nvSpPr>
          <p:cNvPr id="42" name="Shape 33"/>
          <p:cNvSpPr/>
          <p:nvPr/>
        </p:nvSpPr>
        <p:spPr>
          <a:xfrm>
            <a:off x="9377564" y="1828800"/>
            <a:ext cx="512064" cy="512064"/>
          </a:xfrm>
          <a:prstGeom prst="ellipse">
            <a:avLst/>
          </a:prstGeom>
          <a:solidFill>
            <a:srgbClr val="5F6B7A"/>
          </a:solidFill>
          <a:ln w="12700">
            <a:solidFill>
              <a:srgbClr val="5F6B7A"/>
            </a:solidFill>
            <a:prstDash val="solid"/>
          </a:ln>
        </p:spPr>
      </p:sp>
      <p:pic>
        <p:nvPicPr>
          <p:cNvPr id="43" name="Image 6" descr="preencoded.png">    </p:cNvPr>
          <p:cNvPicPr>
            <a:picLocks noChangeAspect="1"/>
          </p:cNvPicPr>
          <p:nvPr/>
        </p:nvPicPr>
        <p:blipFill>
          <a:blip r:embed="rId7"/>
          <a:stretch>
            <a:fillRect/>
          </a:stretch>
        </p:blipFill>
        <p:spPr>
          <a:xfrm>
            <a:off x="9490218" y="1941454"/>
            <a:ext cx="286756" cy="286756"/>
          </a:xfrm>
          <a:prstGeom prst="rect">
            <a:avLst/>
          </a:prstGeom>
        </p:spPr>
      </p:pic>
      <p:sp>
        <p:nvSpPr>
          <p:cNvPr id="44" name="Text 34"/>
          <p:cNvSpPr/>
          <p:nvPr/>
        </p:nvSpPr>
        <p:spPr>
          <a:xfrm>
            <a:off x="9075812" y="2441448"/>
            <a:ext cx="1115568" cy="320040"/>
          </a:xfrm>
          <a:prstGeom prst="rect">
            <a:avLst/>
          </a:prstGeom>
          <a:no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Chat open</a:t>
            </a:r>
            <a:endParaRPr lang="en-US" sz="1400" dirty="0"/>
          </a:p>
        </p:txBody>
      </p:sp>
      <p:sp>
        <p:nvSpPr>
          <p:cNvPr id="45" name="Text 35"/>
          <p:cNvSpPr/>
          <p:nvPr/>
        </p:nvSpPr>
        <p:spPr>
          <a:xfrm>
            <a:off x="9112388" y="2788920"/>
            <a:ext cx="1042416" cy="777240"/>
          </a:xfrm>
          <a:prstGeom prst="rect">
            <a:avLst/>
          </a:prstGeom>
          <a:noFill/>
          <a:ln/>
        </p:spPr>
        <p:txBody>
          <a:bodyPr wrap="square" lIns="0" tIns="0" rIns="0" bIns="0" rtlCol="0" anchor="t"/>
          <a:lstStyle/>
          <a:p>
            <a:pPr algn="ctr" indent="0" marL="0">
              <a:buNone/>
            </a:pPr>
            <a:r>
              <a:rPr lang="en-US" sz="1200" dirty="0">
                <a:solidFill>
                  <a:srgbClr val="2B3440"/>
                </a:solidFill>
                <a:latin typeface="Calibri" pitchFamily="34" charset="0"/>
                <a:ea typeface="Calibri" pitchFamily="34" charset="-122"/>
                <a:cs typeface="Calibri" pitchFamily="34" charset="-120"/>
              </a:rPr>
              <a:t>popup: did this solve it?</a:t>
            </a:r>
            <a:endParaRPr lang="en-US" sz="1200" dirty="0"/>
          </a:p>
        </p:txBody>
      </p:sp>
      <p:sp>
        <p:nvSpPr>
          <p:cNvPr id="46" name="Shape 36"/>
          <p:cNvSpPr/>
          <p:nvPr/>
        </p:nvSpPr>
        <p:spPr>
          <a:xfrm>
            <a:off x="10246244" y="2651760"/>
            <a:ext cx="189803" cy="0"/>
          </a:xfrm>
          <a:prstGeom prst="line">
            <a:avLst/>
          </a:prstGeom>
          <a:noFill/>
          <a:ln w="25400">
            <a:solidFill>
              <a:srgbClr val="5F6B7A"/>
            </a:solidFill>
            <a:prstDash val="solid"/>
            <a:tailEnd type="triangle"/>
          </a:ln>
        </p:spPr>
      </p:sp>
      <p:sp>
        <p:nvSpPr>
          <p:cNvPr id="47" name="Shape 37"/>
          <p:cNvSpPr/>
          <p:nvPr/>
        </p:nvSpPr>
        <p:spPr>
          <a:xfrm>
            <a:off x="10454335" y="1691640"/>
            <a:ext cx="1188720" cy="1920240"/>
          </a:xfrm>
          <a:prstGeom prst="roundRect">
            <a:avLst>
              <a:gd name="adj" fmla="val 6154"/>
            </a:avLst>
          </a:prstGeom>
          <a:solidFill>
            <a:srgbClr val="AEB7C2"/>
          </a:solidFill>
          <a:ln/>
        </p:spPr>
      </p:sp>
      <p:sp>
        <p:nvSpPr>
          <p:cNvPr id="48" name="Shape 38"/>
          <p:cNvSpPr/>
          <p:nvPr/>
        </p:nvSpPr>
        <p:spPr>
          <a:xfrm>
            <a:off x="10792663" y="1828800"/>
            <a:ext cx="512064" cy="512064"/>
          </a:xfrm>
          <a:prstGeom prst="ellipse">
            <a:avLst/>
          </a:prstGeom>
          <a:solidFill>
            <a:srgbClr val="5F6B7A"/>
          </a:solidFill>
          <a:ln w="12700">
            <a:solidFill>
              <a:srgbClr val="5F6B7A"/>
            </a:solidFill>
            <a:prstDash val="solid"/>
          </a:ln>
        </p:spPr>
      </p:sp>
      <p:pic>
        <p:nvPicPr>
          <p:cNvPr id="49" name="Image 7" descr="preencoded.png">    </p:cNvPr>
          <p:cNvPicPr>
            <a:picLocks noChangeAspect="1"/>
          </p:cNvPicPr>
          <p:nvPr/>
        </p:nvPicPr>
        <p:blipFill>
          <a:blip r:embed="rId8"/>
          <a:stretch>
            <a:fillRect/>
          </a:stretch>
        </p:blipFill>
        <p:spPr>
          <a:xfrm>
            <a:off x="10905317" y="1941454"/>
            <a:ext cx="286756" cy="286756"/>
          </a:xfrm>
          <a:prstGeom prst="rect">
            <a:avLst/>
          </a:prstGeom>
        </p:spPr>
      </p:pic>
      <p:sp>
        <p:nvSpPr>
          <p:cNvPr id="50" name="Text 39"/>
          <p:cNvSpPr/>
          <p:nvPr/>
        </p:nvSpPr>
        <p:spPr>
          <a:xfrm>
            <a:off x="10490911" y="2441448"/>
            <a:ext cx="1115568" cy="320040"/>
          </a:xfrm>
          <a:prstGeom prst="rect">
            <a:avLst/>
          </a:prstGeom>
          <a:no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Resolved</a:t>
            </a:r>
            <a:endParaRPr lang="en-US" sz="1400" dirty="0"/>
          </a:p>
        </p:txBody>
      </p:sp>
      <p:sp>
        <p:nvSpPr>
          <p:cNvPr id="51" name="Text 40"/>
          <p:cNvSpPr/>
          <p:nvPr/>
        </p:nvSpPr>
        <p:spPr>
          <a:xfrm>
            <a:off x="10527487" y="2788920"/>
            <a:ext cx="1042416" cy="777240"/>
          </a:xfrm>
          <a:prstGeom prst="rect">
            <a:avLst/>
          </a:prstGeom>
          <a:noFill/>
          <a:ln/>
        </p:spPr>
        <p:txBody>
          <a:bodyPr wrap="square" lIns="0" tIns="0" rIns="0" bIns="0" rtlCol="0" anchor="t"/>
          <a:lstStyle/>
          <a:p>
            <a:pPr algn="ctr" indent="0" marL="0">
              <a:buNone/>
            </a:pPr>
            <a:r>
              <a:rPr lang="en-US" sz="1200" dirty="0">
                <a:solidFill>
                  <a:srgbClr val="2B3440"/>
                </a:solidFill>
                <a:latin typeface="Calibri" pitchFamily="34" charset="0"/>
                <a:ea typeface="Calibri" pitchFamily="34" charset="-122"/>
                <a:cs typeface="Calibri" pitchFamily="34" charset="-120"/>
              </a:rPr>
              <a:t>chat closed</a:t>
            </a:r>
            <a:endParaRPr lang="en-US" sz="1200" dirty="0"/>
          </a:p>
        </p:txBody>
      </p:sp>
      <p:sp>
        <p:nvSpPr>
          <p:cNvPr id="52" name="Text 41"/>
          <p:cNvSpPr/>
          <p:nvPr/>
        </p:nvSpPr>
        <p:spPr>
          <a:xfrm>
            <a:off x="5684368" y="1417320"/>
            <a:ext cx="822960" cy="228600"/>
          </a:xfrm>
          <a:prstGeom prst="rect">
            <a:avLst/>
          </a:prstGeom>
          <a:noFill/>
          <a:ln/>
        </p:spPr>
        <p:txBody>
          <a:bodyPr wrap="square" lIns="0" tIns="0" rIns="0" bIns="0" rtlCol="0" anchor="ctr"/>
          <a:lstStyle/>
          <a:p>
            <a:pPr algn="ctr" indent="0" marL="0">
              <a:buNone/>
            </a:pPr>
            <a:r>
              <a:rPr lang="en-US" sz="1200" b="1" dirty="0">
                <a:solidFill>
                  <a:srgbClr val="1F7A7A"/>
                </a:solidFill>
                <a:latin typeface="Calibri" pitchFamily="34" charset="0"/>
                <a:ea typeface="Calibri" pitchFamily="34" charset="-122"/>
                <a:cs typeface="Calibri" pitchFamily="34" charset="-120"/>
              </a:rPr>
              <a:t>allowed</a:t>
            </a:r>
            <a:endParaRPr lang="en-US" sz="1200" dirty="0"/>
          </a:p>
        </p:txBody>
      </p:sp>
      <p:sp>
        <p:nvSpPr>
          <p:cNvPr id="53" name="Shape 42"/>
          <p:cNvSpPr/>
          <p:nvPr/>
        </p:nvSpPr>
        <p:spPr>
          <a:xfrm>
            <a:off x="5388298" y="3611880"/>
            <a:ext cx="0" cy="411480"/>
          </a:xfrm>
          <a:prstGeom prst="line">
            <a:avLst/>
          </a:prstGeom>
          <a:noFill/>
          <a:ln w="25400">
            <a:solidFill>
              <a:srgbClr val="1F7A7A"/>
            </a:solidFill>
            <a:prstDash val="solid"/>
          </a:ln>
        </p:spPr>
      </p:sp>
      <p:sp>
        <p:nvSpPr>
          <p:cNvPr id="54" name="Shape 43"/>
          <p:cNvSpPr/>
          <p:nvPr/>
        </p:nvSpPr>
        <p:spPr>
          <a:xfrm>
            <a:off x="5388298" y="4023360"/>
            <a:ext cx="2830199" cy="0"/>
          </a:xfrm>
          <a:prstGeom prst="line">
            <a:avLst/>
          </a:prstGeom>
          <a:noFill/>
          <a:ln w="25400">
            <a:solidFill>
              <a:srgbClr val="1F7A7A"/>
            </a:solidFill>
            <a:prstDash val="solid"/>
          </a:ln>
        </p:spPr>
      </p:sp>
      <p:sp>
        <p:nvSpPr>
          <p:cNvPr id="55" name="Shape 44"/>
          <p:cNvSpPr/>
          <p:nvPr/>
        </p:nvSpPr>
        <p:spPr>
          <a:xfrm flipV="1">
            <a:off x="8218497" y="3611880"/>
            <a:ext cx="0" cy="411480"/>
          </a:xfrm>
          <a:prstGeom prst="line">
            <a:avLst/>
          </a:prstGeom>
          <a:noFill/>
          <a:ln w="25400">
            <a:solidFill>
              <a:srgbClr val="1F7A7A"/>
            </a:solidFill>
            <a:prstDash val="solid"/>
            <a:tailEnd type="triangle"/>
          </a:ln>
        </p:spPr>
      </p:sp>
      <p:sp>
        <p:nvSpPr>
          <p:cNvPr id="56" name="Text 45"/>
          <p:cNvSpPr/>
          <p:nvPr/>
        </p:nvSpPr>
        <p:spPr>
          <a:xfrm>
            <a:off x="5388298" y="4069080"/>
            <a:ext cx="2830199" cy="256032"/>
          </a:xfrm>
          <a:prstGeom prst="rect">
            <a:avLst/>
          </a:prstGeom>
          <a:noFill/>
          <a:ln/>
        </p:spPr>
        <p:txBody>
          <a:bodyPr wrap="square" lIns="0" tIns="0" rIns="0" bIns="0" rtlCol="0" anchor="ctr"/>
          <a:lstStyle/>
          <a:p>
            <a:pPr algn="ctr" indent="0" marL="0">
              <a:buNone/>
            </a:pPr>
            <a:r>
              <a:rPr lang="en-US" sz="1300" b="1" dirty="0">
                <a:solidFill>
                  <a:srgbClr val="1F7A7A"/>
                </a:solidFill>
                <a:latin typeface="Calibri" pitchFamily="34" charset="0"/>
                <a:ea typeface="Calibri" pitchFamily="34" charset="-122"/>
                <a:cs typeface="Calibri" pitchFamily="34" charset="-120"/>
              </a:rPr>
              <a:t>denied: nothing runs</a:t>
            </a:r>
            <a:endParaRPr lang="en-US" sz="1300" dirty="0"/>
          </a:p>
        </p:txBody>
      </p:sp>
      <p:sp>
        <p:nvSpPr>
          <p:cNvPr id="57" name="Shape 46"/>
          <p:cNvSpPr/>
          <p:nvPr/>
        </p:nvSpPr>
        <p:spPr>
          <a:xfrm>
            <a:off x="9633596" y="3611880"/>
            <a:ext cx="0" cy="960120"/>
          </a:xfrm>
          <a:prstGeom prst="line">
            <a:avLst/>
          </a:prstGeom>
          <a:noFill/>
          <a:ln w="25400">
            <a:solidFill>
              <a:srgbClr val="5F6B7A"/>
            </a:solidFill>
            <a:prstDash val="solid"/>
          </a:ln>
        </p:spPr>
      </p:sp>
      <p:sp>
        <p:nvSpPr>
          <p:cNvPr id="58" name="Shape 47"/>
          <p:cNvSpPr/>
          <p:nvPr/>
        </p:nvSpPr>
        <p:spPr>
          <a:xfrm>
            <a:off x="1143000" y="4572000"/>
            <a:ext cx="8490596" cy="0"/>
          </a:xfrm>
          <a:prstGeom prst="line">
            <a:avLst/>
          </a:prstGeom>
          <a:noFill/>
          <a:ln w="25400">
            <a:solidFill>
              <a:srgbClr val="5F6B7A"/>
            </a:solidFill>
            <a:prstDash val="solid"/>
          </a:ln>
        </p:spPr>
      </p:sp>
      <p:sp>
        <p:nvSpPr>
          <p:cNvPr id="59" name="Shape 48"/>
          <p:cNvSpPr/>
          <p:nvPr/>
        </p:nvSpPr>
        <p:spPr>
          <a:xfrm flipV="1">
            <a:off x="1143000" y="3611880"/>
            <a:ext cx="0" cy="960120"/>
          </a:xfrm>
          <a:prstGeom prst="line">
            <a:avLst/>
          </a:prstGeom>
          <a:noFill/>
          <a:ln w="25400">
            <a:solidFill>
              <a:srgbClr val="5F6B7A"/>
            </a:solidFill>
            <a:prstDash val="solid"/>
            <a:tailEnd type="triangle"/>
          </a:ln>
        </p:spPr>
      </p:sp>
      <p:sp>
        <p:nvSpPr>
          <p:cNvPr id="60" name="Text 49"/>
          <p:cNvSpPr/>
          <p:nvPr/>
        </p:nvSpPr>
        <p:spPr>
          <a:xfrm>
            <a:off x="1143000" y="4617720"/>
            <a:ext cx="8490596" cy="256032"/>
          </a:xfrm>
          <a:prstGeom prst="rect">
            <a:avLst/>
          </a:prstGeom>
          <a:noFill/>
          <a:ln/>
        </p:spPr>
        <p:txBody>
          <a:bodyPr wrap="square" lIns="0" tIns="0" rIns="0" bIns="0" rtlCol="0" anchor="ctr"/>
          <a:lstStyle/>
          <a:p>
            <a:pPr algn="ctr" indent="0" marL="0">
              <a:buNone/>
            </a:pPr>
            <a:r>
              <a:rPr lang="en-US" sz="1300" dirty="0">
                <a:solidFill>
                  <a:srgbClr val="56636F"/>
                </a:solidFill>
                <a:latin typeface="Calibri" pitchFamily="34" charset="0"/>
                <a:ea typeface="Calibri" pitchFamily="34" charset="-122"/>
                <a:cs typeface="Calibri" pitchFamily="34" charset="-120"/>
              </a:rPr>
              <a:t>same chat: the customer writes again</a:t>
            </a:r>
            <a:endParaRPr lang="en-US" sz="1300" dirty="0"/>
          </a:p>
        </p:txBody>
      </p:sp>
      <p:sp>
        <p:nvSpPr>
          <p:cNvPr id="61" name="Text 50"/>
          <p:cNvSpPr/>
          <p:nvPr/>
        </p:nvSpPr>
        <p:spPr>
          <a:xfrm>
            <a:off x="548640" y="5029200"/>
            <a:ext cx="1554480" cy="292608"/>
          </a:xfrm>
          <a:prstGeom prst="roundRect">
            <a:avLst>
              <a:gd name="adj" fmla="val 25000"/>
            </a:avLst>
          </a:prstGeom>
          <a:solidFill>
            <a:srgbClr val="AEB7C2"/>
          </a:solidFill>
          <a:ln w="12700">
            <a:solidFill>
              <a:srgbClr val="5F6B7A"/>
            </a:solidFill>
          </a:ln>
        </p:spPr>
        <p:txBody>
          <a:bodyPr wrap="square" lIns="91440" tIns="0" rIns="91440" bIns="0" rtlCol="0" anchor="ctr"/>
          <a:lstStyle/>
          <a:p>
            <a:pPr algn="ctr" indent="0" marL="0">
              <a:buNone/>
            </a:pPr>
            <a:r>
              <a:rPr lang="en-US" sz="1300" dirty="0">
                <a:solidFill>
                  <a:srgbClr val="2B3440"/>
                </a:solidFill>
                <a:latin typeface="Calibri" pitchFamily="34" charset="0"/>
                <a:ea typeface="Calibri" pitchFamily="34" charset="-122"/>
                <a:cs typeface="Calibri" pitchFamily="34" charset="-120"/>
              </a:rPr>
              <a:t>Fixed code</a:t>
            </a:r>
            <a:endParaRPr lang="en-US" sz="1300" dirty="0"/>
          </a:p>
        </p:txBody>
      </p:sp>
      <p:sp>
        <p:nvSpPr>
          <p:cNvPr id="62" name="Text 51"/>
          <p:cNvSpPr/>
          <p:nvPr/>
        </p:nvSpPr>
        <p:spPr>
          <a:xfrm>
            <a:off x="2286000" y="5029200"/>
            <a:ext cx="1554480" cy="292608"/>
          </a:xfrm>
          <a:prstGeom prst="roundRect">
            <a:avLst>
              <a:gd name="adj" fmla="val 25000"/>
            </a:avLst>
          </a:prstGeom>
          <a:solidFill>
            <a:srgbClr val="A6BCD6"/>
          </a:solidFill>
          <a:ln w="12700">
            <a:solidFill>
              <a:srgbClr val="2F5F98"/>
            </a:solidFill>
          </a:ln>
        </p:spPr>
        <p:txBody>
          <a:bodyPr wrap="square" lIns="91440" tIns="0" rIns="91440" bIns="0" rtlCol="0" anchor="ctr"/>
          <a:lstStyle/>
          <a:p>
            <a:pPr algn="ctr" indent="0" marL="0">
              <a:buNone/>
            </a:pPr>
            <a:r>
              <a:rPr lang="en-US" sz="1300" dirty="0">
                <a:solidFill>
                  <a:srgbClr val="2B3440"/>
                </a:solidFill>
                <a:latin typeface="Calibri" pitchFamily="34" charset="0"/>
                <a:ea typeface="Calibri" pitchFamily="34" charset="-122"/>
                <a:cs typeface="Calibri" pitchFamily="34" charset="-120"/>
              </a:rPr>
              <a:t>Model</a:t>
            </a:r>
            <a:endParaRPr lang="en-US" sz="1300" dirty="0"/>
          </a:p>
        </p:txBody>
      </p:sp>
      <p:sp>
        <p:nvSpPr>
          <p:cNvPr id="63" name="Text 52"/>
          <p:cNvSpPr/>
          <p:nvPr/>
        </p:nvSpPr>
        <p:spPr>
          <a:xfrm>
            <a:off x="4023360" y="5029200"/>
            <a:ext cx="1554480" cy="292608"/>
          </a:xfrm>
          <a:prstGeom prst="roundRect">
            <a:avLst>
              <a:gd name="adj" fmla="val 25000"/>
            </a:avLst>
          </a:prstGeom>
          <a:solidFill>
            <a:srgbClr val="A2C4BE"/>
          </a:solidFill>
          <a:ln w="12700">
            <a:solidFill>
              <a:srgbClr val="1F7A7A"/>
            </a:solidFill>
          </a:ln>
        </p:spPr>
        <p:txBody>
          <a:bodyPr wrap="square" lIns="91440" tIns="0" rIns="91440" bIns="0" rtlCol="0" anchor="ctr"/>
          <a:lstStyle/>
          <a:p>
            <a:pPr algn="ctr" indent="0" marL="0">
              <a:buNone/>
            </a:pPr>
            <a:r>
              <a:rPr lang="en-US" sz="1300" dirty="0">
                <a:solidFill>
                  <a:srgbClr val="2B3440"/>
                </a:solidFill>
                <a:latin typeface="Calibri" pitchFamily="34" charset="0"/>
                <a:ea typeface="Calibri" pitchFamily="34" charset="-122"/>
                <a:cs typeface="Calibri" pitchFamily="34" charset="-120"/>
              </a:rPr>
              <a:t>Written rules</a:t>
            </a:r>
            <a:endParaRPr lang="en-US" sz="1300" dirty="0"/>
          </a:p>
        </p:txBody>
      </p:sp>
      <p:sp>
        <p:nvSpPr>
          <p:cNvPr id="64" name="Shape 53"/>
          <p:cNvSpPr/>
          <p:nvPr/>
        </p:nvSpPr>
        <p:spPr>
          <a:xfrm>
            <a:off x="548640" y="5486400"/>
            <a:ext cx="11094415" cy="731520"/>
          </a:xfrm>
          <a:prstGeom prst="roundRect">
            <a:avLst>
              <a:gd name="adj" fmla="val 10000"/>
            </a:avLst>
          </a:prstGeom>
          <a:solidFill>
            <a:srgbClr val="1F7A7A"/>
          </a:solidFill>
          <a:ln/>
        </p:spPr>
      </p:sp>
      <p:pic>
        <p:nvPicPr>
          <p:cNvPr id="65" name="Image 8" descr="preencoded.png">    </p:cNvPr>
          <p:cNvPicPr>
            <a:picLocks noChangeAspect="1"/>
          </p:cNvPicPr>
          <p:nvPr/>
        </p:nvPicPr>
        <p:blipFill>
          <a:blip r:embed="rId9"/>
          <a:stretch>
            <a:fillRect/>
          </a:stretch>
        </p:blipFill>
        <p:spPr>
          <a:xfrm>
            <a:off x="822960" y="5623560"/>
            <a:ext cx="457200" cy="457200"/>
          </a:xfrm>
          <a:prstGeom prst="rect">
            <a:avLst/>
          </a:prstGeom>
        </p:spPr>
      </p:pic>
      <p:sp>
        <p:nvSpPr>
          <p:cNvPr id="66" name="Text 54"/>
          <p:cNvSpPr/>
          <p:nvPr/>
        </p:nvSpPr>
        <p:spPr>
          <a:xfrm>
            <a:off x="1508760" y="5486400"/>
            <a:ext cx="9859975" cy="731520"/>
          </a:xfrm>
          <a:prstGeom prst="rect">
            <a:avLst/>
          </a:prstGeom>
          <a:noFill/>
          <a:ln/>
        </p:spPr>
        <p:txBody>
          <a:bodyPr wrap="square" lIns="0" tIns="0" rIns="0" bIns="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Jev never reads the account. </a:t>
            </a:r>
            <a:pPr algn="l" indent="0" marL="0">
              <a:buNone/>
            </a:pPr>
            <a:r>
              <a:rPr lang="en-US" sz="1800" dirty="0">
                <a:solidFill>
                  <a:srgbClr val="FFFFFF"/>
                </a:solidFill>
                <a:latin typeface="Calibri" pitchFamily="34" charset="0"/>
                <a:ea typeface="Calibri" pitchFamily="34" charset="-122"/>
                <a:cs typeface="Calibri" pitchFamily="34" charset="-120"/>
              </a:rPr>
              <a:t>Fixed code reads only the fields the action needs: the Final message input falls from 617 to 590 tokens.</a:t>
            </a:r>
            <a:endParaRPr lang="en-US" sz="18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Experiment: synthetic data, real model calls</a:t>
            </a:r>
            <a:endParaRPr lang="en-US" sz="3400" dirty="0"/>
          </a:p>
        </p:txBody>
      </p:sp>
      <p:sp>
        <p:nvSpPr>
          <p:cNvPr id="3" name="Text 1"/>
          <p:cNvSpPr/>
          <p:nvPr/>
        </p:nvSpPr>
        <p:spPr>
          <a:xfrm>
            <a:off x="548640" y="6400800"/>
            <a:ext cx="5486400" cy="274320"/>
          </a:xfrm>
          <a:prstGeom prst="rect">
            <a:avLst/>
          </a:prstGeom>
          <a:noFill/>
          <a:ln/>
        </p:spPr>
        <p:txBody>
          <a:bodyPr wrap="square" lIns="0" tIns="0" rIns="0" bIns="0" rtlCol="0" anchor="ctr"/>
          <a:lstStyle/>
          <a:p>
            <a:pPr indent="0" marL="0">
              <a:buNone/>
            </a:pPr>
            <a:r>
              <a:rPr lang="en-US" sz="1100" dirty="0">
                <a:solidFill>
                  <a:srgbClr val="56636F"/>
                </a:solidFill>
                <a:latin typeface="Calibri" pitchFamily="34" charset="0"/>
                <a:ea typeface="Calibri" pitchFamily="34" charset="-122"/>
                <a:cs typeface="Calibri" pitchFamily="34" charset="-120"/>
              </a:rPr>
              <a:t>Speaker: Vu Van Son · 162 s</a:t>
            </a:r>
            <a:endParaRPr lang="en-US" sz="1100" dirty="0"/>
          </a:p>
        </p:txBody>
      </p:sp>
      <p:sp>
        <p:nvSpPr>
          <p:cNvPr id="5" name="Shape 2"/>
          <p:cNvSpPr/>
          <p:nvPr/>
        </p:nvSpPr>
        <p:spPr>
          <a:xfrm>
            <a:off x="548640" y="1417320"/>
            <a:ext cx="2567864" cy="1691640"/>
          </a:xfrm>
          <a:prstGeom prst="roundRect">
            <a:avLst>
              <a:gd name="adj" fmla="val 4324"/>
            </a:avLst>
          </a:prstGeom>
          <a:solidFill>
            <a:srgbClr val="FFFFFF"/>
          </a:solidFill>
          <a:ln/>
        </p:spPr>
      </p:sp>
      <p:sp>
        <p:nvSpPr>
          <p:cNvPr id="6" name="Shape 3"/>
          <p:cNvSpPr/>
          <p:nvPr/>
        </p:nvSpPr>
        <p:spPr>
          <a:xfrm>
            <a:off x="822960" y="1673352"/>
            <a:ext cx="685800" cy="685800"/>
          </a:xfrm>
          <a:prstGeom prst="ellipse">
            <a:avLst/>
          </a:prstGeom>
          <a:solidFill>
            <a:srgbClr val="2F5F98"/>
          </a:solidFill>
          <a:ln w="12700">
            <a:solidFill>
              <a:srgbClr val="2F5F98"/>
            </a:solidFill>
            <a:prstDash val="solid"/>
          </a:ln>
        </p:spPr>
      </p:sp>
      <p:pic>
        <p:nvPicPr>
          <p:cNvPr id="7" name="Image 0" descr="preencoded.png">    </p:cNvPr>
          <p:cNvPicPr>
            <a:picLocks noChangeAspect="1"/>
          </p:cNvPicPr>
          <p:nvPr/>
        </p:nvPicPr>
        <p:blipFill>
          <a:blip r:embed="rId1"/>
          <a:stretch>
            <a:fillRect/>
          </a:stretch>
        </p:blipFill>
        <p:spPr>
          <a:xfrm>
            <a:off x="973836" y="1824228"/>
            <a:ext cx="384048" cy="384048"/>
          </a:xfrm>
          <a:prstGeom prst="rect">
            <a:avLst/>
          </a:prstGeom>
        </p:spPr>
      </p:pic>
      <p:sp>
        <p:nvSpPr>
          <p:cNvPr id="8" name="Text 4"/>
          <p:cNvSpPr/>
          <p:nvPr/>
        </p:nvSpPr>
        <p:spPr>
          <a:xfrm>
            <a:off x="1737360" y="1600200"/>
            <a:ext cx="1196264" cy="868680"/>
          </a:xfrm>
          <a:prstGeom prst="rect">
            <a:avLst/>
          </a:prstGeom>
          <a:noFill/>
          <a:ln/>
        </p:spPr>
        <p:txBody>
          <a:bodyPr wrap="square" lIns="0" tIns="0" rIns="0" bIns="0" rtlCol="0" anchor="ctr"/>
          <a:lstStyle/>
          <a:p>
            <a:pPr algn="l" indent="0" marL="0">
              <a:buNone/>
            </a:pPr>
            <a:r>
              <a:rPr lang="en-US" sz="4400" b="1" dirty="0">
                <a:solidFill>
                  <a:srgbClr val="2F5F98"/>
                </a:solidFill>
                <a:latin typeface="Calibri" pitchFamily="34" charset="0"/>
                <a:ea typeface="Calibri" pitchFamily="34" charset="-122"/>
                <a:cs typeface="Calibri" pitchFamily="34" charset="-120"/>
              </a:rPr>
              <a:t>72</a:t>
            </a:r>
            <a:endParaRPr lang="en-US" sz="4400" dirty="0"/>
          </a:p>
        </p:txBody>
      </p:sp>
      <p:sp>
        <p:nvSpPr>
          <p:cNvPr id="9" name="Text 5"/>
          <p:cNvSpPr/>
          <p:nvPr/>
        </p:nvSpPr>
        <p:spPr>
          <a:xfrm>
            <a:off x="822960" y="2514600"/>
            <a:ext cx="2019224" cy="50292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synthetic customers</a:t>
            </a:r>
            <a:endParaRPr lang="en-US" sz="1500" dirty="0"/>
          </a:p>
        </p:txBody>
      </p:sp>
      <p:sp>
        <p:nvSpPr>
          <p:cNvPr id="10" name="Shape 6"/>
          <p:cNvSpPr/>
          <p:nvPr/>
        </p:nvSpPr>
        <p:spPr>
          <a:xfrm>
            <a:off x="3390824" y="1417320"/>
            <a:ext cx="2567864" cy="1691640"/>
          </a:xfrm>
          <a:prstGeom prst="roundRect">
            <a:avLst>
              <a:gd name="adj" fmla="val 4324"/>
            </a:avLst>
          </a:prstGeom>
          <a:solidFill>
            <a:srgbClr val="FFFFFF"/>
          </a:solidFill>
          <a:ln/>
        </p:spPr>
      </p:sp>
      <p:sp>
        <p:nvSpPr>
          <p:cNvPr id="11" name="Shape 7"/>
          <p:cNvSpPr/>
          <p:nvPr/>
        </p:nvSpPr>
        <p:spPr>
          <a:xfrm>
            <a:off x="3665144" y="1673352"/>
            <a:ext cx="685800" cy="685800"/>
          </a:xfrm>
          <a:prstGeom prst="ellipse">
            <a:avLst/>
          </a:prstGeom>
          <a:solidFill>
            <a:srgbClr val="2F5F98"/>
          </a:solidFill>
          <a:ln w="12700">
            <a:solidFill>
              <a:srgbClr val="2F5F98"/>
            </a:solidFill>
            <a:prstDash val="solid"/>
          </a:ln>
        </p:spPr>
      </p:sp>
      <p:pic>
        <p:nvPicPr>
          <p:cNvPr id="12" name="Image 1" descr="preencoded.png">    </p:cNvPr>
          <p:cNvPicPr>
            <a:picLocks noChangeAspect="1"/>
          </p:cNvPicPr>
          <p:nvPr/>
        </p:nvPicPr>
        <p:blipFill>
          <a:blip r:embed="rId2"/>
          <a:stretch>
            <a:fillRect/>
          </a:stretch>
        </p:blipFill>
        <p:spPr>
          <a:xfrm>
            <a:off x="3816020" y="1824228"/>
            <a:ext cx="384048" cy="384048"/>
          </a:xfrm>
          <a:prstGeom prst="rect">
            <a:avLst/>
          </a:prstGeom>
        </p:spPr>
      </p:pic>
      <p:sp>
        <p:nvSpPr>
          <p:cNvPr id="13" name="Text 8"/>
          <p:cNvSpPr/>
          <p:nvPr/>
        </p:nvSpPr>
        <p:spPr>
          <a:xfrm>
            <a:off x="4579544" y="1600200"/>
            <a:ext cx="1196264" cy="868680"/>
          </a:xfrm>
          <a:prstGeom prst="rect">
            <a:avLst/>
          </a:prstGeom>
          <a:noFill/>
          <a:ln/>
        </p:spPr>
        <p:txBody>
          <a:bodyPr wrap="square" lIns="0" tIns="0" rIns="0" bIns="0" rtlCol="0" anchor="ctr"/>
          <a:lstStyle/>
          <a:p>
            <a:pPr algn="l" indent="0" marL="0">
              <a:buNone/>
            </a:pPr>
            <a:r>
              <a:rPr lang="en-US" sz="4400" b="1" dirty="0">
                <a:solidFill>
                  <a:srgbClr val="2F5F98"/>
                </a:solidFill>
                <a:latin typeface="Calibri" pitchFamily="34" charset="0"/>
                <a:ea typeface="Calibri" pitchFamily="34" charset="-122"/>
                <a:cs typeface="Calibri" pitchFamily="34" charset="-120"/>
              </a:rPr>
              <a:t>50</a:t>
            </a:r>
            <a:endParaRPr lang="en-US" sz="4400" dirty="0"/>
          </a:p>
        </p:txBody>
      </p:sp>
      <p:sp>
        <p:nvSpPr>
          <p:cNvPr id="14" name="Text 9"/>
          <p:cNvSpPr/>
          <p:nvPr/>
        </p:nvSpPr>
        <p:spPr>
          <a:xfrm>
            <a:off x="3665144" y="2514600"/>
            <a:ext cx="2019224" cy="50292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requests in 24 types</a:t>
            </a:r>
            <a:endParaRPr lang="en-US" sz="1500" dirty="0"/>
          </a:p>
        </p:txBody>
      </p:sp>
      <p:sp>
        <p:nvSpPr>
          <p:cNvPr id="15" name="Shape 10"/>
          <p:cNvSpPr/>
          <p:nvPr/>
        </p:nvSpPr>
        <p:spPr>
          <a:xfrm>
            <a:off x="6233008" y="1417320"/>
            <a:ext cx="2567864" cy="1691640"/>
          </a:xfrm>
          <a:prstGeom prst="roundRect">
            <a:avLst>
              <a:gd name="adj" fmla="val 4324"/>
            </a:avLst>
          </a:prstGeom>
          <a:solidFill>
            <a:srgbClr val="FFFFFF"/>
          </a:solidFill>
          <a:ln/>
        </p:spPr>
      </p:sp>
      <p:sp>
        <p:nvSpPr>
          <p:cNvPr id="16" name="Shape 11"/>
          <p:cNvSpPr/>
          <p:nvPr/>
        </p:nvSpPr>
        <p:spPr>
          <a:xfrm>
            <a:off x="6507328" y="1673352"/>
            <a:ext cx="685800" cy="685800"/>
          </a:xfrm>
          <a:prstGeom prst="ellipse">
            <a:avLst/>
          </a:prstGeom>
          <a:solidFill>
            <a:srgbClr val="2F5F98"/>
          </a:solidFill>
          <a:ln w="12700">
            <a:solidFill>
              <a:srgbClr val="2F5F98"/>
            </a:solidFill>
            <a:prstDash val="solid"/>
          </a:ln>
        </p:spPr>
      </p:sp>
      <p:pic>
        <p:nvPicPr>
          <p:cNvPr id="17" name="Image 2" descr="preencoded.png">    </p:cNvPr>
          <p:cNvPicPr>
            <a:picLocks noChangeAspect="1"/>
          </p:cNvPicPr>
          <p:nvPr/>
        </p:nvPicPr>
        <p:blipFill>
          <a:blip r:embed="rId3"/>
          <a:stretch>
            <a:fillRect/>
          </a:stretch>
        </p:blipFill>
        <p:spPr>
          <a:xfrm>
            <a:off x="6658204" y="1824228"/>
            <a:ext cx="384048" cy="384048"/>
          </a:xfrm>
          <a:prstGeom prst="rect">
            <a:avLst/>
          </a:prstGeom>
        </p:spPr>
      </p:pic>
      <p:sp>
        <p:nvSpPr>
          <p:cNvPr id="18" name="Text 12"/>
          <p:cNvSpPr/>
          <p:nvPr/>
        </p:nvSpPr>
        <p:spPr>
          <a:xfrm>
            <a:off x="7421728" y="1600200"/>
            <a:ext cx="1196264" cy="868680"/>
          </a:xfrm>
          <a:prstGeom prst="rect">
            <a:avLst/>
          </a:prstGeom>
          <a:noFill/>
          <a:ln/>
        </p:spPr>
        <p:txBody>
          <a:bodyPr wrap="square" lIns="0" tIns="0" rIns="0" bIns="0" rtlCol="0" anchor="ctr"/>
          <a:lstStyle/>
          <a:p>
            <a:pPr algn="l" indent="0" marL="0">
              <a:buNone/>
            </a:pPr>
            <a:r>
              <a:rPr lang="en-US" sz="4400" b="1" dirty="0">
                <a:solidFill>
                  <a:srgbClr val="2F5F98"/>
                </a:solidFill>
                <a:latin typeface="Calibri" pitchFamily="34" charset="0"/>
                <a:ea typeface="Calibri" pitchFamily="34" charset="-122"/>
                <a:cs typeface="Calibri" pitchFamily="34" charset="-120"/>
              </a:rPr>
              <a:t>300</a:t>
            </a:r>
            <a:endParaRPr lang="en-US" sz="4400" dirty="0"/>
          </a:p>
        </p:txBody>
      </p:sp>
      <p:sp>
        <p:nvSpPr>
          <p:cNvPr id="19" name="Text 13"/>
          <p:cNvSpPr/>
          <p:nvPr/>
        </p:nvSpPr>
        <p:spPr>
          <a:xfrm>
            <a:off x="6507328" y="2514600"/>
            <a:ext cx="2019224" cy="50292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model calls: 100 for each of three runs</a:t>
            </a:r>
            <a:endParaRPr lang="en-US" sz="1500" dirty="0"/>
          </a:p>
        </p:txBody>
      </p:sp>
      <p:sp>
        <p:nvSpPr>
          <p:cNvPr id="20" name="Shape 14"/>
          <p:cNvSpPr/>
          <p:nvPr/>
        </p:nvSpPr>
        <p:spPr>
          <a:xfrm>
            <a:off x="9075191" y="1417320"/>
            <a:ext cx="2567864" cy="1691640"/>
          </a:xfrm>
          <a:prstGeom prst="roundRect">
            <a:avLst>
              <a:gd name="adj" fmla="val 4324"/>
            </a:avLst>
          </a:prstGeom>
          <a:solidFill>
            <a:srgbClr val="FFFFFF"/>
          </a:solidFill>
          <a:ln/>
        </p:spPr>
      </p:sp>
      <p:sp>
        <p:nvSpPr>
          <p:cNvPr id="21" name="Shape 15"/>
          <p:cNvSpPr/>
          <p:nvPr/>
        </p:nvSpPr>
        <p:spPr>
          <a:xfrm>
            <a:off x="9349511" y="1673352"/>
            <a:ext cx="685800" cy="685800"/>
          </a:xfrm>
          <a:prstGeom prst="ellipse">
            <a:avLst/>
          </a:prstGeom>
          <a:solidFill>
            <a:srgbClr val="2F5F98"/>
          </a:solidFill>
          <a:ln w="12700">
            <a:solidFill>
              <a:srgbClr val="2F5F98"/>
            </a:solidFill>
            <a:prstDash val="solid"/>
          </a:ln>
        </p:spPr>
      </p:sp>
      <p:pic>
        <p:nvPicPr>
          <p:cNvPr id="22" name="Image 3" descr="preencoded.png">    </p:cNvPr>
          <p:cNvPicPr>
            <a:picLocks noChangeAspect="1"/>
          </p:cNvPicPr>
          <p:nvPr/>
        </p:nvPicPr>
        <p:blipFill>
          <a:blip r:embed="rId4"/>
          <a:stretch>
            <a:fillRect/>
          </a:stretch>
        </p:blipFill>
        <p:spPr>
          <a:xfrm>
            <a:off x="9500387" y="1824228"/>
            <a:ext cx="384048" cy="384048"/>
          </a:xfrm>
          <a:prstGeom prst="rect">
            <a:avLst/>
          </a:prstGeom>
        </p:spPr>
      </p:pic>
      <p:sp>
        <p:nvSpPr>
          <p:cNvPr id="23" name="Text 16"/>
          <p:cNvSpPr/>
          <p:nvPr/>
        </p:nvSpPr>
        <p:spPr>
          <a:xfrm>
            <a:off x="10263911" y="1600200"/>
            <a:ext cx="1196264" cy="868680"/>
          </a:xfrm>
          <a:prstGeom prst="rect">
            <a:avLst/>
          </a:prstGeom>
          <a:noFill/>
          <a:ln/>
        </p:spPr>
        <p:txBody>
          <a:bodyPr wrap="square" lIns="0" tIns="0" rIns="0" bIns="0" rtlCol="0" anchor="ctr"/>
          <a:lstStyle/>
          <a:p>
            <a:pPr algn="l" indent="0" marL="0">
              <a:buNone/>
            </a:pPr>
            <a:r>
              <a:rPr lang="en-US" sz="4400" b="1" dirty="0">
                <a:solidFill>
                  <a:srgbClr val="2F5F98"/>
                </a:solidFill>
                <a:latin typeface="Calibri" pitchFamily="34" charset="0"/>
                <a:ea typeface="Calibri" pitchFamily="34" charset="-122"/>
                <a:cs typeface="Calibri" pitchFamily="34" charset="-120"/>
              </a:rPr>
              <a:t>2</a:t>
            </a:r>
            <a:endParaRPr lang="en-US" sz="4400" dirty="0"/>
          </a:p>
        </p:txBody>
      </p:sp>
      <p:sp>
        <p:nvSpPr>
          <p:cNvPr id="24" name="Text 17"/>
          <p:cNvSpPr/>
          <p:nvPr/>
        </p:nvSpPr>
        <p:spPr>
          <a:xfrm>
            <a:off x="9349511" y="2514600"/>
            <a:ext cx="2019224" cy="50292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hosted models: Jev and an LLM</a:t>
            </a:r>
            <a:endParaRPr lang="en-US" sz="1500" dirty="0"/>
          </a:p>
        </p:txBody>
      </p:sp>
      <p:sp>
        <p:nvSpPr>
          <p:cNvPr id="25" name="Shape 18"/>
          <p:cNvSpPr/>
          <p:nvPr/>
        </p:nvSpPr>
        <p:spPr>
          <a:xfrm>
            <a:off x="548640" y="3520440"/>
            <a:ext cx="11094415" cy="822960"/>
          </a:xfrm>
          <a:prstGeom prst="roundRect">
            <a:avLst>
              <a:gd name="adj" fmla="val 8889"/>
            </a:avLst>
          </a:prstGeom>
          <a:solidFill>
            <a:srgbClr val="FFFFFF"/>
          </a:solidFill>
          <a:ln/>
        </p:spPr>
      </p:sp>
      <p:sp>
        <p:nvSpPr>
          <p:cNvPr id="26" name="Text 19"/>
          <p:cNvSpPr/>
          <p:nvPr/>
        </p:nvSpPr>
        <p:spPr>
          <a:xfrm>
            <a:off x="777240" y="3703320"/>
            <a:ext cx="822960" cy="457200"/>
          </a:xfrm>
          <a:prstGeom prst="roundRect">
            <a:avLst>
              <a:gd name="adj" fmla="val 16000"/>
            </a:avLst>
          </a:prstGeom>
          <a:solidFill>
            <a:srgbClr val="2F5F98"/>
          </a:solidFill>
          <a:ln w="12700">
            <a:solidFill>
              <a:srgbClr val="2F5F98"/>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Q1</a:t>
            </a:r>
            <a:endParaRPr lang="en-US" sz="1800" dirty="0"/>
          </a:p>
        </p:txBody>
      </p:sp>
      <p:sp>
        <p:nvSpPr>
          <p:cNvPr id="27" name="Text 20"/>
          <p:cNvSpPr/>
          <p:nvPr/>
        </p:nvSpPr>
        <p:spPr>
          <a:xfrm>
            <a:off x="1828800" y="3520440"/>
            <a:ext cx="9585655" cy="822960"/>
          </a:xfrm>
          <a:prstGeom prst="rect">
            <a:avLst/>
          </a:prstGeom>
          <a:noFill/>
          <a:ln/>
        </p:spPr>
        <p:txBody>
          <a:bodyPr wrap="square" lIns="0" tIns="0" rIns="0" bIns="0" rtlCol="0" anchor="ctr"/>
          <a:lstStyle/>
          <a:p>
            <a:pPr algn="l" indent="0" marL="0">
              <a:buNone/>
            </a:pPr>
            <a:r>
              <a:rPr lang="en-US" sz="1800" dirty="0">
                <a:solidFill>
                  <a:srgbClr val="2B3440"/>
                </a:solidFill>
                <a:latin typeface="Calibri" pitchFamily="34" charset="0"/>
                <a:ea typeface="Calibri" pitchFamily="34" charset="-122"/>
                <a:cs typeface="Calibri" pitchFamily="34" charset="-120"/>
              </a:rPr>
              <a:t>What does each level buy and cost? Served, stopped, errors, harm, time, and cost.</a:t>
            </a:r>
            <a:endParaRPr lang="en-US" sz="1800" dirty="0"/>
          </a:p>
        </p:txBody>
      </p:sp>
      <p:sp>
        <p:nvSpPr>
          <p:cNvPr id="28" name="Shape 21"/>
          <p:cNvSpPr/>
          <p:nvPr/>
        </p:nvSpPr>
        <p:spPr>
          <a:xfrm>
            <a:off x="548640" y="4526280"/>
            <a:ext cx="11094415" cy="822960"/>
          </a:xfrm>
          <a:prstGeom prst="roundRect">
            <a:avLst>
              <a:gd name="adj" fmla="val 8889"/>
            </a:avLst>
          </a:prstGeom>
          <a:solidFill>
            <a:srgbClr val="FFFFFF"/>
          </a:solidFill>
          <a:ln/>
        </p:spPr>
      </p:sp>
      <p:sp>
        <p:nvSpPr>
          <p:cNvPr id="29" name="Text 22"/>
          <p:cNvSpPr/>
          <p:nvPr/>
        </p:nvSpPr>
        <p:spPr>
          <a:xfrm>
            <a:off x="777240" y="4709160"/>
            <a:ext cx="822960" cy="457200"/>
          </a:xfrm>
          <a:prstGeom prst="roundRect">
            <a:avLst>
              <a:gd name="adj" fmla="val 16000"/>
            </a:avLst>
          </a:prstGeom>
          <a:solidFill>
            <a:srgbClr val="2F5F98"/>
          </a:solidFill>
          <a:ln w="12700">
            <a:solidFill>
              <a:srgbClr val="2F5F98"/>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Q2</a:t>
            </a:r>
            <a:endParaRPr lang="en-US" sz="1800" dirty="0"/>
          </a:p>
        </p:txBody>
      </p:sp>
      <p:sp>
        <p:nvSpPr>
          <p:cNvPr id="30" name="Text 23"/>
          <p:cNvSpPr/>
          <p:nvPr/>
        </p:nvSpPr>
        <p:spPr>
          <a:xfrm>
            <a:off x="1828800" y="4526280"/>
            <a:ext cx="9585655" cy="822960"/>
          </a:xfrm>
          <a:prstGeom prst="rect">
            <a:avLst/>
          </a:prstGeom>
          <a:noFill/>
          <a:ln/>
        </p:spPr>
        <p:txBody>
          <a:bodyPr wrap="square" lIns="0" tIns="0" rIns="0" bIns="0" rtlCol="0" anchor="ctr"/>
          <a:lstStyle/>
          <a:p>
            <a:pPr algn="l" indent="0" marL="0">
              <a:buNone/>
            </a:pPr>
            <a:r>
              <a:rPr lang="en-US" sz="1800" dirty="0">
                <a:solidFill>
                  <a:srgbClr val="2B3440"/>
                </a:solidFill>
                <a:latin typeface="Calibri" pitchFamily="34" charset="0"/>
                <a:ea typeface="Calibri" pitchFamily="34" charset="-122"/>
                <a:cs typeface="Calibri" pitchFamily="34" charset="-120"/>
              </a:rPr>
              <a:t>What changes when Jev replaces the LLM as the classifier? Accuracy, speed, and cost.</a:t>
            </a:r>
            <a:endParaRPr lang="en-US" sz="1800" dirty="0"/>
          </a:p>
        </p:txBody>
      </p:sp>
      <p:sp>
        <p:nvSpPr>
          <p:cNvPr id="31" name="Text 24"/>
          <p:cNvSpPr/>
          <p:nvPr/>
        </p:nvSpPr>
        <p:spPr>
          <a:xfrm>
            <a:off x="548640" y="5669280"/>
            <a:ext cx="11094415" cy="457200"/>
          </a:xfrm>
          <a:prstGeom prst="rect">
            <a:avLst/>
          </a:prstGeom>
          <a:noFill/>
          <a:ln/>
        </p:spPr>
        <p:txBody>
          <a:bodyPr wrap="square" lIns="0" tIns="0" rIns="0" bIns="0" rtlCol="0" anchor="ctr"/>
          <a:lstStyle/>
          <a:p>
            <a:pPr algn="l" indent="0" marL="0">
              <a:buNone/>
            </a:pPr>
            <a:r>
              <a:rPr lang="en-US" sz="1500" dirty="0">
                <a:solidFill>
                  <a:srgbClr val="56636F"/>
                </a:solidFill>
                <a:latin typeface="Calibri" pitchFamily="34" charset="0"/>
                <a:ea typeface="Calibri" pitchFamily="34" charset="-122"/>
                <a:cs typeface="Calibri" pitchFamily="34" charset="-120"/>
              </a:rPr>
              <a:t>Live calls to two hosted models: Jev (jev-1.13.0) and deepseek-v4.1-flash through the DeepSeek API. An offline replay gives the same numbers.</a:t>
            </a:r>
            <a:endParaRPr lang="en-US" sz="15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Result 1: Jev is 18x faster, 11x cheaper</a:t>
            </a:r>
            <a:endParaRPr lang="en-US" sz="3400" dirty="0"/>
          </a:p>
        </p:txBody>
      </p:sp>
      <p:sp>
        <p:nvSpPr>
          <p:cNvPr id="3" name="Text 1"/>
          <p:cNvSpPr/>
          <p:nvPr/>
        </p:nvSpPr>
        <p:spPr>
          <a:xfrm>
            <a:off x="548640" y="6400800"/>
            <a:ext cx="5486400" cy="274320"/>
          </a:xfrm>
          <a:prstGeom prst="rect">
            <a:avLst/>
          </a:prstGeom>
          <a:noFill/>
          <a:ln/>
        </p:spPr>
        <p:txBody>
          <a:bodyPr wrap="square" lIns="0" tIns="0" rIns="0" bIns="0" rtlCol="0" anchor="ctr"/>
          <a:lstStyle/>
          <a:p>
            <a:pPr indent="0" marL="0">
              <a:buNone/>
            </a:pPr>
            <a:r>
              <a:rPr lang="en-US" sz="1100" dirty="0">
                <a:solidFill>
                  <a:srgbClr val="56636F"/>
                </a:solidFill>
                <a:latin typeface="Calibri" pitchFamily="34" charset="0"/>
                <a:ea typeface="Calibri" pitchFamily="34" charset="-122"/>
                <a:cs typeface="Calibri" pitchFamily="34" charset="-120"/>
              </a:rPr>
              <a:t>Speaker: Vuong Quang Quy · 30 s</a:t>
            </a:r>
            <a:endParaRPr lang="en-US" sz="1100" dirty="0"/>
          </a:p>
        </p:txBody>
      </p:sp>
      <p:sp>
        <p:nvSpPr>
          <p:cNvPr id="5" name="Shape 2"/>
          <p:cNvSpPr/>
          <p:nvPr/>
        </p:nvSpPr>
        <p:spPr>
          <a:xfrm>
            <a:off x="548640" y="1508760"/>
            <a:ext cx="6949440" cy="4480560"/>
          </a:xfrm>
          <a:prstGeom prst="roundRect">
            <a:avLst>
              <a:gd name="adj" fmla="val 1633"/>
            </a:avLst>
          </a:prstGeom>
          <a:solidFill>
            <a:srgbClr val="FFFFFF"/>
          </a:solidFill>
          <a:ln/>
        </p:spPr>
      </p:sp>
      <p:graphicFrame>
        <p:nvGraphicFramePr>
          <p:cNvPr id="6" name="Chart 0" descr=""/>
          <p:cNvGraphicFramePr/>
          <p:nvPr/>
        </p:nvGraphicFramePr>
        <p:xfrm>
          <a:off x="731520" y="1645920"/>
          <a:ext cx="6583680" cy="4206240"/>
        </p:xfrm>
        <a:graphic xmlns:a="http://schemas.openxmlformats.org/drawingml/2006/main">
          <a:graphicData uri="http://schemas.openxmlformats.org/drawingml/2006/chart">
            <c:chart xmlns:c="http://schemas.openxmlformats.org/drawingml/2006/chart" r:id="rId1"/>
          </a:graphicData>
        </a:graphic>
      </p:graphicFrame>
      <p:sp>
        <p:nvSpPr>
          <p:cNvPr id="7" name="Shape 3"/>
          <p:cNvSpPr/>
          <p:nvPr/>
        </p:nvSpPr>
        <p:spPr>
          <a:xfrm>
            <a:off x="7772400" y="1508760"/>
            <a:ext cx="3870655" cy="1371600"/>
          </a:xfrm>
          <a:prstGeom prst="roundRect">
            <a:avLst>
              <a:gd name="adj" fmla="val 5333"/>
            </a:avLst>
          </a:prstGeom>
          <a:solidFill>
            <a:srgbClr val="FFFFFF"/>
          </a:solidFill>
          <a:ln/>
        </p:spPr>
      </p:sp>
      <p:sp>
        <p:nvSpPr>
          <p:cNvPr id="8" name="Shape 4"/>
          <p:cNvSpPr/>
          <p:nvPr/>
        </p:nvSpPr>
        <p:spPr>
          <a:xfrm>
            <a:off x="8001000" y="1737360"/>
            <a:ext cx="640080" cy="640080"/>
          </a:xfrm>
          <a:prstGeom prst="ellipse">
            <a:avLst/>
          </a:prstGeom>
          <a:solidFill>
            <a:srgbClr val="234B84"/>
          </a:solidFill>
          <a:ln w="12700">
            <a:solidFill>
              <a:srgbClr val="234B84"/>
            </a:solidFill>
            <a:prstDash val="solid"/>
          </a:ln>
        </p:spPr>
      </p:sp>
      <p:pic>
        <p:nvPicPr>
          <p:cNvPr id="9" name="Image 0" descr="preencoded.png">    </p:cNvPr>
          <p:cNvPicPr>
            <a:picLocks noChangeAspect="1"/>
          </p:cNvPicPr>
          <p:nvPr/>
        </p:nvPicPr>
        <p:blipFill>
          <a:blip r:embed="rId2"/>
          <a:stretch>
            <a:fillRect/>
          </a:stretch>
        </p:blipFill>
        <p:spPr>
          <a:xfrm>
            <a:off x="8141818" y="1878178"/>
            <a:ext cx="358445" cy="358445"/>
          </a:xfrm>
          <a:prstGeom prst="rect">
            <a:avLst/>
          </a:prstGeom>
        </p:spPr>
      </p:pic>
      <p:sp>
        <p:nvSpPr>
          <p:cNvPr id="10" name="Text 5"/>
          <p:cNvSpPr/>
          <p:nvPr/>
        </p:nvSpPr>
        <p:spPr>
          <a:xfrm>
            <a:off x="8823960" y="1618488"/>
            <a:ext cx="2681935" cy="566928"/>
          </a:xfrm>
          <a:prstGeom prst="rect">
            <a:avLst/>
          </a:prstGeom>
          <a:noFill/>
          <a:ln/>
        </p:spPr>
        <p:txBody>
          <a:bodyPr wrap="square" lIns="0" tIns="0" rIns="0" bIns="0" rtlCol="0" anchor="ctr"/>
          <a:lstStyle/>
          <a:p>
            <a:pPr algn="l" indent="0" marL="0">
              <a:buNone/>
            </a:pPr>
            <a:r>
              <a:rPr lang="en-US" sz="3000" b="1" dirty="0">
                <a:solidFill>
                  <a:srgbClr val="234B84"/>
                </a:solidFill>
                <a:latin typeface="Calibri" pitchFamily="34" charset="0"/>
                <a:ea typeface="Calibri" pitchFamily="34" charset="-122"/>
                <a:cs typeface="Calibri" pitchFamily="34" charset="-120"/>
              </a:rPr>
              <a:t>18x</a:t>
            </a:r>
            <a:endParaRPr lang="en-US" sz="3000" dirty="0"/>
          </a:p>
        </p:txBody>
      </p:sp>
      <p:sp>
        <p:nvSpPr>
          <p:cNvPr id="11" name="Text 6"/>
          <p:cNvSpPr/>
          <p:nvPr/>
        </p:nvSpPr>
        <p:spPr>
          <a:xfrm>
            <a:off x="8823960" y="2203704"/>
            <a:ext cx="2636215" cy="603504"/>
          </a:xfrm>
          <a:prstGeom prst="rect">
            <a:avLst/>
          </a:prstGeom>
          <a:noFill/>
          <a:ln/>
        </p:spPr>
        <p:txBody>
          <a:bodyPr wrap="square" lIns="0" tIns="0" rIns="0" bIns="0" rtlCol="0" anchor="t"/>
          <a:lstStyle/>
          <a:p>
            <a:pPr algn="l" indent="0" marL="0">
              <a:buNone/>
            </a:pPr>
            <a:r>
              <a:rPr lang="en-US" sz="1400" dirty="0">
                <a:solidFill>
                  <a:srgbClr val="2B3440"/>
                </a:solidFill>
                <a:latin typeface="Calibri" pitchFamily="34" charset="0"/>
                <a:ea typeface="Calibri" pitchFamily="34" charset="-122"/>
                <a:cs typeface="Calibri" pitchFamily="34" charset="-120"/>
              </a:rPr>
              <a:t>faster: 0.241 s against 4.410 s, median for one classifier call</a:t>
            </a:r>
            <a:endParaRPr lang="en-US" sz="1400" dirty="0"/>
          </a:p>
        </p:txBody>
      </p:sp>
      <p:sp>
        <p:nvSpPr>
          <p:cNvPr id="12" name="Shape 7"/>
          <p:cNvSpPr/>
          <p:nvPr/>
        </p:nvSpPr>
        <p:spPr>
          <a:xfrm>
            <a:off x="7772400" y="3063240"/>
            <a:ext cx="3870655" cy="1371600"/>
          </a:xfrm>
          <a:prstGeom prst="roundRect">
            <a:avLst>
              <a:gd name="adj" fmla="val 5333"/>
            </a:avLst>
          </a:prstGeom>
          <a:solidFill>
            <a:srgbClr val="FFFFFF"/>
          </a:solidFill>
          <a:ln/>
        </p:spPr>
      </p:sp>
      <p:sp>
        <p:nvSpPr>
          <p:cNvPr id="13" name="Shape 8"/>
          <p:cNvSpPr/>
          <p:nvPr/>
        </p:nvSpPr>
        <p:spPr>
          <a:xfrm>
            <a:off x="8001000" y="3291840"/>
            <a:ext cx="640080" cy="640080"/>
          </a:xfrm>
          <a:prstGeom prst="ellipse">
            <a:avLst/>
          </a:prstGeom>
          <a:solidFill>
            <a:srgbClr val="234B84"/>
          </a:solidFill>
          <a:ln w="12700">
            <a:solidFill>
              <a:srgbClr val="234B84"/>
            </a:solidFill>
            <a:prstDash val="solid"/>
          </a:ln>
        </p:spPr>
      </p:sp>
      <p:pic>
        <p:nvPicPr>
          <p:cNvPr id="14" name="Image 1" descr="preencoded.png">    </p:cNvPr>
          <p:cNvPicPr>
            <a:picLocks noChangeAspect="1"/>
          </p:cNvPicPr>
          <p:nvPr/>
        </p:nvPicPr>
        <p:blipFill>
          <a:blip r:embed="rId3"/>
          <a:stretch>
            <a:fillRect/>
          </a:stretch>
        </p:blipFill>
        <p:spPr>
          <a:xfrm>
            <a:off x="8141818" y="3432658"/>
            <a:ext cx="358445" cy="358445"/>
          </a:xfrm>
          <a:prstGeom prst="rect">
            <a:avLst/>
          </a:prstGeom>
        </p:spPr>
      </p:pic>
      <p:sp>
        <p:nvSpPr>
          <p:cNvPr id="15" name="Text 9"/>
          <p:cNvSpPr/>
          <p:nvPr/>
        </p:nvSpPr>
        <p:spPr>
          <a:xfrm>
            <a:off x="8823960" y="3172968"/>
            <a:ext cx="2681935" cy="566928"/>
          </a:xfrm>
          <a:prstGeom prst="rect">
            <a:avLst/>
          </a:prstGeom>
          <a:noFill/>
          <a:ln/>
        </p:spPr>
        <p:txBody>
          <a:bodyPr wrap="square" lIns="0" tIns="0" rIns="0" bIns="0" rtlCol="0" anchor="ctr"/>
          <a:lstStyle/>
          <a:p>
            <a:pPr algn="l" indent="0" marL="0">
              <a:buNone/>
            </a:pPr>
            <a:r>
              <a:rPr lang="en-US" sz="3000" b="1" dirty="0">
                <a:solidFill>
                  <a:srgbClr val="234B84"/>
                </a:solidFill>
                <a:latin typeface="Calibri" pitchFamily="34" charset="0"/>
                <a:ea typeface="Calibri" pitchFamily="34" charset="-122"/>
                <a:cs typeface="Calibri" pitchFamily="34" charset="-120"/>
              </a:rPr>
              <a:t>11x</a:t>
            </a:r>
            <a:endParaRPr lang="en-US" sz="3000" dirty="0"/>
          </a:p>
        </p:txBody>
      </p:sp>
      <p:sp>
        <p:nvSpPr>
          <p:cNvPr id="16" name="Text 10"/>
          <p:cNvSpPr/>
          <p:nvPr/>
        </p:nvSpPr>
        <p:spPr>
          <a:xfrm>
            <a:off x="8823960" y="3758184"/>
            <a:ext cx="2636215" cy="603504"/>
          </a:xfrm>
          <a:prstGeom prst="rect">
            <a:avLst/>
          </a:prstGeom>
          <a:noFill/>
          <a:ln/>
        </p:spPr>
        <p:txBody>
          <a:bodyPr wrap="square" lIns="0" tIns="0" rIns="0" bIns="0" rtlCol="0" anchor="t"/>
          <a:lstStyle/>
          <a:p>
            <a:pPr algn="l" indent="0" marL="0">
              <a:buNone/>
            </a:pPr>
            <a:r>
              <a:rPr lang="en-US" sz="1400" dirty="0">
                <a:solidFill>
                  <a:srgbClr val="2B3440"/>
                </a:solidFill>
                <a:latin typeface="Calibri" pitchFamily="34" charset="0"/>
                <a:ea typeface="Calibri" pitchFamily="34" charset="-122"/>
                <a:cs typeface="Calibri" pitchFamily="34" charset="-120"/>
              </a:rPr>
              <a:t>cheaper: $0.052 against $0.587 per 1,000 requests</a:t>
            </a:r>
            <a:endParaRPr lang="en-US" sz="1400" dirty="0"/>
          </a:p>
        </p:txBody>
      </p:sp>
      <p:sp>
        <p:nvSpPr>
          <p:cNvPr id="17" name="Shape 11"/>
          <p:cNvSpPr/>
          <p:nvPr/>
        </p:nvSpPr>
        <p:spPr>
          <a:xfrm>
            <a:off x="7772400" y="4617720"/>
            <a:ext cx="3870655" cy="1371600"/>
          </a:xfrm>
          <a:prstGeom prst="roundRect">
            <a:avLst>
              <a:gd name="adj" fmla="val 5333"/>
            </a:avLst>
          </a:prstGeom>
          <a:solidFill>
            <a:srgbClr val="FFFFFF"/>
          </a:solidFill>
          <a:ln/>
        </p:spPr>
      </p:sp>
      <p:sp>
        <p:nvSpPr>
          <p:cNvPr id="18" name="Shape 12"/>
          <p:cNvSpPr/>
          <p:nvPr/>
        </p:nvSpPr>
        <p:spPr>
          <a:xfrm>
            <a:off x="8001000" y="4846320"/>
            <a:ext cx="640080" cy="640080"/>
          </a:xfrm>
          <a:prstGeom prst="ellipse">
            <a:avLst/>
          </a:prstGeom>
          <a:solidFill>
            <a:srgbClr val="1F7A7A"/>
          </a:solidFill>
          <a:ln w="12700">
            <a:solidFill>
              <a:srgbClr val="1F7A7A"/>
            </a:solidFill>
            <a:prstDash val="solid"/>
          </a:ln>
        </p:spPr>
      </p:sp>
      <p:pic>
        <p:nvPicPr>
          <p:cNvPr id="19" name="Image 2" descr="preencoded.png">    </p:cNvPr>
          <p:cNvPicPr>
            <a:picLocks noChangeAspect="1"/>
          </p:cNvPicPr>
          <p:nvPr/>
        </p:nvPicPr>
        <p:blipFill>
          <a:blip r:embed="rId4"/>
          <a:stretch>
            <a:fillRect/>
          </a:stretch>
        </p:blipFill>
        <p:spPr>
          <a:xfrm>
            <a:off x="8141818" y="4987138"/>
            <a:ext cx="358445" cy="358445"/>
          </a:xfrm>
          <a:prstGeom prst="rect">
            <a:avLst/>
          </a:prstGeom>
        </p:spPr>
      </p:pic>
      <p:sp>
        <p:nvSpPr>
          <p:cNvPr id="20" name="Text 13"/>
          <p:cNvSpPr/>
          <p:nvPr/>
        </p:nvSpPr>
        <p:spPr>
          <a:xfrm>
            <a:off x="8823960" y="4727448"/>
            <a:ext cx="2681935" cy="566928"/>
          </a:xfrm>
          <a:prstGeom prst="rect">
            <a:avLst/>
          </a:prstGeom>
          <a:noFill/>
          <a:ln/>
        </p:spPr>
        <p:txBody>
          <a:bodyPr wrap="square" lIns="0" tIns="0" rIns="0" bIns="0" rtlCol="0" anchor="ctr"/>
          <a:lstStyle/>
          <a:p>
            <a:pPr algn="l" indent="0" marL="0">
              <a:buNone/>
            </a:pPr>
            <a:r>
              <a:rPr lang="en-US" sz="3000" b="1" dirty="0">
                <a:solidFill>
                  <a:srgbClr val="1F7A7A"/>
                </a:solidFill>
                <a:latin typeface="Calibri" pitchFamily="34" charset="0"/>
                <a:ea typeface="Calibri" pitchFamily="34" charset="-122"/>
                <a:cs typeface="Calibri" pitchFamily="34" charset="-120"/>
              </a:rPr>
              <a:t>11 of 50</a:t>
            </a:r>
            <a:endParaRPr lang="en-US" sz="3000" dirty="0"/>
          </a:p>
        </p:txBody>
      </p:sp>
      <p:sp>
        <p:nvSpPr>
          <p:cNvPr id="21" name="Text 14"/>
          <p:cNvSpPr/>
          <p:nvPr/>
        </p:nvSpPr>
        <p:spPr>
          <a:xfrm>
            <a:off x="8823960" y="5312664"/>
            <a:ext cx="2636215" cy="603504"/>
          </a:xfrm>
          <a:prstGeom prst="rect">
            <a:avLst/>
          </a:prstGeom>
          <a:noFill/>
          <a:ln/>
        </p:spPr>
        <p:txBody>
          <a:bodyPr wrap="square" lIns="0" tIns="0" rIns="0" bIns="0" rtlCol="0" anchor="t"/>
          <a:lstStyle/>
          <a:p>
            <a:pPr algn="l" indent="0" marL="0">
              <a:buNone/>
            </a:pPr>
            <a:r>
              <a:rPr lang="en-US" sz="1400" dirty="0">
                <a:solidFill>
                  <a:srgbClr val="2B3440"/>
                </a:solidFill>
                <a:latin typeface="Calibri" pitchFamily="34" charset="0"/>
                <a:ea typeface="Calibri" pitchFamily="34" charset="-122"/>
                <a:cs typeface="Calibri" pitchFamily="34" charset="-120"/>
              </a:rPr>
              <a:t>wrong queue or action from Jev. None is an error at Level 3.</a:t>
            </a:r>
            <a:endParaRPr lang="en-US" sz="14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Result 2: Level 3 is never worse</a:t>
            </a:r>
            <a:endParaRPr lang="en-US" sz="3400" dirty="0"/>
          </a:p>
        </p:txBody>
      </p:sp>
      <p:sp>
        <p:nvSpPr>
          <p:cNvPr id="3" name="Text 1"/>
          <p:cNvSpPr/>
          <p:nvPr/>
        </p:nvSpPr>
        <p:spPr>
          <a:xfrm>
            <a:off x="548640" y="6400800"/>
            <a:ext cx="5486400" cy="274320"/>
          </a:xfrm>
          <a:prstGeom prst="rect">
            <a:avLst/>
          </a:prstGeom>
          <a:noFill/>
          <a:ln/>
        </p:spPr>
        <p:txBody>
          <a:bodyPr wrap="square" lIns="0" tIns="0" rIns="0" bIns="0" rtlCol="0" anchor="ctr"/>
          <a:lstStyle/>
          <a:p>
            <a:pPr indent="0" marL="0">
              <a:buNone/>
            </a:pPr>
            <a:r>
              <a:rPr lang="en-US" sz="1100" dirty="0">
                <a:solidFill>
                  <a:srgbClr val="56636F"/>
                </a:solidFill>
                <a:latin typeface="Calibri" pitchFamily="34" charset="0"/>
                <a:ea typeface="Calibri" pitchFamily="34" charset="-122"/>
                <a:cs typeface="Calibri" pitchFamily="34" charset="-120"/>
              </a:rPr>
              <a:t>Speaker: Vuong Quang Quy · 60 s</a:t>
            </a:r>
            <a:endParaRPr lang="en-US" sz="1100" dirty="0"/>
          </a:p>
        </p:txBody>
      </p:sp>
      <p:sp>
        <p:nvSpPr>
          <p:cNvPr id="5" name="Shape 2"/>
          <p:cNvSpPr/>
          <p:nvPr/>
        </p:nvSpPr>
        <p:spPr>
          <a:xfrm>
            <a:off x="548640" y="1508760"/>
            <a:ext cx="6949440" cy="3611880"/>
          </a:xfrm>
          <a:prstGeom prst="roundRect">
            <a:avLst>
              <a:gd name="adj" fmla="val 2025"/>
            </a:avLst>
          </a:prstGeom>
          <a:solidFill>
            <a:srgbClr val="FFFFFF"/>
          </a:solidFill>
          <a:ln/>
        </p:spPr>
      </p:sp>
      <p:graphicFrame>
        <p:nvGraphicFramePr>
          <p:cNvPr id="6" name="Chart 0" descr=""/>
          <p:cNvGraphicFramePr/>
          <p:nvPr/>
        </p:nvGraphicFramePr>
        <p:xfrm>
          <a:off x="731520" y="1600200"/>
          <a:ext cx="6583680" cy="3429000"/>
        </p:xfrm>
        <a:graphic xmlns:a="http://schemas.openxmlformats.org/drawingml/2006/main">
          <a:graphicData uri="http://schemas.openxmlformats.org/drawingml/2006/chart">
            <c:chart xmlns:c="http://schemas.openxmlformats.org/drawingml/2006/chart" r:id="rId1"/>
          </a:graphicData>
        </a:graphic>
      </p:graphicFrame>
      <p:sp>
        <p:nvSpPr>
          <p:cNvPr id="7" name="Shape 3"/>
          <p:cNvSpPr/>
          <p:nvPr/>
        </p:nvSpPr>
        <p:spPr>
          <a:xfrm>
            <a:off x="7772400" y="1508760"/>
            <a:ext cx="3870655" cy="1143000"/>
          </a:xfrm>
          <a:prstGeom prst="roundRect">
            <a:avLst>
              <a:gd name="adj" fmla="val 6400"/>
            </a:avLst>
          </a:prstGeom>
          <a:solidFill>
            <a:srgbClr val="FFFFFF"/>
          </a:solidFill>
          <a:ln/>
        </p:spPr>
      </p:sp>
      <p:sp>
        <p:nvSpPr>
          <p:cNvPr id="8" name="Shape 4"/>
          <p:cNvSpPr/>
          <p:nvPr/>
        </p:nvSpPr>
        <p:spPr>
          <a:xfrm>
            <a:off x="8001000" y="1737360"/>
            <a:ext cx="640080" cy="640080"/>
          </a:xfrm>
          <a:prstGeom prst="ellipse">
            <a:avLst/>
          </a:prstGeom>
          <a:solidFill>
            <a:srgbClr val="234B84"/>
          </a:solidFill>
          <a:ln w="12700">
            <a:solidFill>
              <a:srgbClr val="234B84"/>
            </a:solidFill>
            <a:prstDash val="solid"/>
          </a:ln>
        </p:spPr>
      </p:sp>
      <p:pic>
        <p:nvPicPr>
          <p:cNvPr id="9" name="Image 0" descr="preencoded.png">    </p:cNvPr>
          <p:cNvPicPr>
            <a:picLocks noChangeAspect="1"/>
          </p:cNvPicPr>
          <p:nvPr/>
        </p:nvPicPr>
        <p:blipFill>
          <a:blip r:embed="rId2"/>
          <a:stretch>
            <a:fillRect/>
          </a:stretch>
        </p:blipFill>
        <p:spPr>
          <a:xfrm>
            <a:off x="8141818" y="1878178"/>
            <a:ext cx="358445" cy="358445"/>
          </a:xfrm>
          <a:prstGeom prst="rect">
            <a:avLst/>
          </a:prstGeom>
        </p:spPr>
      </p:pic>
      <p:sp>
        <p:nvSpPr>
          <p:cNvPr id="10" name="Text 5"/>
          <p:cNvSpPr/>
          <p:nvPr/>
        </p:nvSpPr>
        <p:spPr>
          <a:xfrm>
            <a:off x="8823960" y="1600200"/>
            <a:ext cx="2681935" cy="502920"/>
          </a:xfrm>
          <a:prstGeom prst="rect">
            <a:avLst/>
          </a:prstGeom>
          <a:noFill/>
          <a:ln/>
        </p:spPr>
        <p:txBody>
          <a:bodyPr wrap="square" lIns="0" tIns="0" rIns="0" bIns="0" rtlCol="0" anchor="ctr"/>
          <a:lstStyle/>
          <a:p>
            <a:pPr algn="l" indent="0" marL="0">
              <a:buNone/>
            </a:pPr>
            <a:r>
              <a:rPr lang="en-US" sz="2800" b="1" dirty="0">
                <a:solidFill>
                  <a:srgbClr val="234B84"/>
                </a:solidFill>
                <a:latin typeface="Calibri" pitchFamily="34" charset="0"/>
                <a:ea typeface="Calibri" pitchFamily="34" charset="-122"/>
                <a:cs typeface="Calibri" pitchFamily="34" charset="-120"/>
              </a:rPr>
              <a:t>2.2x</a:t>
            </a:r>
            <a:endParaRPr lang="en-US" sz="2800" dirty="0"/>
          </a:p>
        </p:txBody>
      </p:sp>
      <p:sp>
        <p:nvSpPr>
          <p:cNvPr id="11" name="Text 6"/>
          <p:cNvSpPr/>
          <p:nvPr/>
        </p:nvSpPr>
        <p:spPr>
          <a:xfrm>
            <a:off x="8823960" y="2121408"/>
            <a:ext cx="2636215" cy="457200"/>
          </a:xfrm>
          <a:prstGeom prst="rect">
            <a:avLst/>
          </a:prstGeom>
          <a:noFill/>
          <a:ln/>
        </p:spPr>
        <p:txBody>
          <a:bodyPr wrap="square" lIns="0" tIns="0" rIns="0" bIns="0" rtlCol="0" anchor="t"/>
          <a:lstStyle/>
          <a:p>
            <a:pPr algn="l" indent="0" marL="0">
              <a:buNone/>
            </a:pPr>
            <a:r>
              <a:rPr lang="en-US" sz="1400" dirty="0">
                <a:solidFill>
                  <a:srgbClr val="2B3440"/>
                </a:solidFill>
                <a:latin typeface="Calibri" pitchFamily="34" charset="0"/>
                <a:ea typeface="Calibri" pitchFamily="34" charset="-122"/>
                <a:cs typeface="Calibri" pitchFamily="34" charset="-120"/>
              </a:rPr>
              <a:t>faster: 3.16 s against 6.85 s of machine time</a:t>
            </a:r>
            <a:endParaRPr lang="en-US" sz="1400" dirty="0"/>
          </a:p>
        </p:txBody>
      </p:sp>
      <p:sp>
        <p:nvSpPr>
          <p:cNvPr id="12" name="Shape 7"/>
          <p:cNvSpPr/>
          <p:nvPr/>
        </p:nvSpPr>
        <p:spPr>
          <a:xfrm>
            <a:off x="7772400" y="2743200"/>
            <a:ext cx="3870655" cy="1143000"/>
          </a:xfrm>
          <a:prstGeom prst="roundRect">
            <a:avLst>
              <a:gd name="adj" fmla="val 6400"/>
            </a:avLst>
          </a:prstGeom>
          <a:solidFill>
            <a:srgbClr val="FFFFFF"/>
          </a:solidFill>
          <a:ln/>
        </p:spPr>
      </p:sp>
      <p:sp>
        <p:nvSpPr>
          <p:cNvPr id="13" name="Shape 8"/>
          <p:cNvSpPr/>
          <p:nvPr/>
        </p:nvSpPr>
        <p:spPr>
          <a:xfrm>
            <a:off x="8001000" y="2971800"/>
            <a:ext cx="640080" cy="640080"/>
          </a:xfrm>
          <a:prstGeom prst="ellipse">
            <a:avLst/>
          </a:prstGeom>
          <a:solidFill>
            <a:srgbClr val="234B84"/>
          </a:solidFill>
          <a:ln w="12700">
            <a:solidFill>
              <a:srgbClr val="234B84"/>
            </a:solidFill>
            <a:prstDash val="solid"/>
          </a:ln>
        </p:spPr>
      </p:sp>
      <p:pic>
        <p:nvPicPr>
          <p:cNvPr id="14" name="Image 1" descr="preencoded.png">    </p:cNvPr>
          <p:cNvPicPr>
            <a:picLocks noChangeAspect="1"/>
          </p:cNvPicPr>
          <p:nvPr/>
        </p:nvPicPr>
        <p:blipFill>
          <a:blip r:embed="rId3"/>
          <a:stretch>
            <a:fillRect/>
          </a:stretch>
        </p:blipFill>
        <p:spPr>
          <a:xfrm>
            <a:off x="8141818" y="3112618"/>
            <a:ext cx="358445" cy="358445"/>
          </a:xfrm>
          <a:prstGeom prst="rect">
            <a:avLst/>
          </a:prstGeom>
        </p:spPr>
      </p:pic>
      <p:sp>
        <p:nvSpPr>
          <p:cNvPr id="15" name="Text 9"/>
          <p:cNvSpPr/>
          <p:nvPr/>
        </p:nvSpPr>
        <p:spPr>
          <a:xfrm>
            <a:off x="8823960" y="2834640"/>
            <a:ext cx="2681935" cy="502920"/>
          </a:xfrm>
          <a:prstGeom prst="rect">
            <a:avLst/>
          </a:prstGeom>
          <a:noFill/>
          <a:ln/>
        </p:spPr>
        <p:txBody>
          <a:bodyPr wrap="square" lIns="0" tIns="0" rIns="0" bIns="0" rtlCol="0" anchor="ctr"/>
          <a:lstStyle/>
          <a:p>
            <a:pPr algn="l" indent="0" marL="0">
              <a:buNone/>
            </a:pPr>
            <a:r>
              <a:rPr lang="en-US" sz="2800" b="1" dirty="0">
                <a:solidFill>
                  <a:srgbClr val="234B84"/>
                </a:solidFill>
                <a:latin typeface="Calibri" pitchFamily="34" charset="0"/>
                <a:ea typeface="Calibri" pitchFamily="34" charset="-122"/>
                <a:cs typeface="Calibri" pitchFamily="34" charset="-120"/>
              </a:rPr>
              <a:t>2.4x</a:t>
            </a:r>
            <a:endParaRPr lang="en-US" sz="2800" dirty="0"/>
          </a:p>
        </p:txBody>
      </p:sp>
      <p:sp>
        <p:nvSpPr>
          <p:cNvPr id="16" name="Text 10"/>
          <p:cNvSpPr/>
          <p:nvPr/>
        </p:nvSpPr>
        <p:spPr>
          <a:xfrm>
            <a:off x="8823960" y="3355848"/>
            <a:ext cx="2636215" cy="457200"/>
          </a:xfrm>
          <a:prstGeom prst="rect">
            <a:avLst/>
          </a:prstGeom>
          <a:noFill/>
          <a:ln/>
        </p:spPr>
        <p:txBody>
          <a:bodyPr wrap="square" lIns="0" tIns="0" rIns="0" bIns="0" rtlCol="0" anchor="t"/>
          <a:lstStyle/>
          <a:p>
            <a:pPr algn="l" indent="0" marL="0">
              <a:buNone/>
            </a:pPr>
            <a:r>
              <a:rPr lang="en-US" sz="1400" dirty="0">
                <a:solidFill>
                  <a:srgbClr val="2B3440"/>
                </a:solidFill>
                <a:latin typeface="Calibri" pitchFamily="34" charset="0"/>
                <a:ea typeface="Calibri" pitchFamily="34" charset="-122"/>
                <a:cs typeface="Calibri" pitchFamily="34" charset="-120"/>
              </a:rPr>
              <a:t>cheaper: $0.30 against $0.71 per 1,000 requests</a:t>
            </a:r>
            <a:endParaRPr lang="en-US" sz="1400" dirty="0"/>
          </a:p>
        </p:txBody>
      </p:sp>
      <p:sp>
        <p:nvSpPr>
          <p:cNvPr id="17" name="Shape 11"/>
          <p:cNvSpPr/>
          <p:nvPr/>
        </p:nvSpPr>
        <p:spPr>
          <a:xfrm>
            <a:off x="7772400" y="3977640"/>
            <a:ext cx="3870655" cy="1143000"/>
          </a:xfrm>
          <a:prstGeom prst="roundRect">
            <a:avLst>
              <a:gd name="adj" fmla="val 6400"/>
            </a:avLst>
          </a:prstGeom>
          <a:solidFill>
            <a:srgbClr val="FFFFFF"/>
          </a:solidFill>
          <a:ln/>
        </p:spPr>
      </p:sp>
      <p:sp>
        <p:nvSpPr>
          <p:cNvPr id="18" name="Shape 12"/>
          <p:cNvSpPr/>
          <p:nvPr/>
        </p:nvSpPr>
        <p:spPr>
          <a:xfrm>
            <a:off x="8001000" y="4206240"/>
            <a:ext cx="640080" cy="640080"/>
          </a:xfrm>
          <a:prstGeom prst="ellipse">
            <a:avLst/>
          </a:prstGeom>
          <a:solidFill>
            <a:srgbClr val="1F7A7A"/>
          </a:solidFill>
          <a:ln w="12700">
            <a:solidFill>
              <a:srgbClr val="1F7A7A"/>
            </a:solidFill>
            <a:prstDash val="solid"/>
          </a:ln>
        </p:spPr>
      </p:sp>
      <p:pic>
        <p:nvPicPr>
          <p:cNvPr id="19" name="Image 2" descr="preencoded.png">    </p:cNvPr>
          <p:cNvPicPr>
            <a:picLocks noChangeAspect="1"/>
          </p:cNvPicPr>
          <p:nvPr/>
        </p:nvPicPr>
        <p:blipFill>
          <a:blip r:embed="rId4"/>
          <a:stretch>
            <a:fillRect/>
          </a:stretch>
        </p:blipFill>
        <p:spPr>
          <a:xfrm>
            <a:off x="8141818" y="4347058"/>
            <a:ext cx="358445" cy="358445"/>
          </a:xfrm>
          <a:prstGeom prst="rect">
            <a:avLst/>
          </a:prstGeom>
        </p:spPr>
      </p:pic>
      <p:sp>
        <p:nvSpPr>
          <p:cNvPr id="20" name="Text 13"/>
          <p:cNvSpPr/>
          <p:nvPr/>
        </p:nvSpPr>
        <p:spPr>
          <a:xfrm>
            <a:off x="8823960" y="4069080"/>
            <a:ext cx="2681935" cy="502920"/>
          </a:xfrm>
          <a:prstGeom prst="rect">
            <a:avLst/>
          </a:prstGeom>
          <a:noFill/>
          <a:ln/>
        </p:spPr>
        <p:txBody>
          <a:bodyPr wrap="square" lIns="0" tIns="0" rIns="0" bIns="0" rtlCol="0" anchor="ctr"/>
          <a:lstStyle/>
          <a:p>
            <a:pPr algn="l" indent="0" marL="0">
              <a:buNone/>
            </a:pPr>
            <a:r>
              <a:rPr lang="en-US" sz="2800" b="1" dirty="0">
                <a:solidFill>
                  <a:srgbClr val="1F7A7A"/>
                </a:solidFill>
                <a:latin typeface="Calibri" pitchFamily="34" charset="0"/>
                <a:ea typeface="Calibri" pitchFamily="34" charset="-122"/>
                <a:cs typeface="Calibri" pitchFamily="34" charset="-120"/>
              </a:rPr>
              <a:t>0 and 3</a:t>
            </a:r>
            <a:endParaRPr lang="en-US" sz="2800" dirty="0"/>
          </a:p>
        </p:txBody>
      </p:sp>
      <p:sp>
        <p:nvSpPr>
          <p:cNvPr id="21" name="Text 14"/>
          <p:cNvSpPr/>
          <p:nvPr/>
        </p:nvSpPr>
        <p:spPr>
          <a:xfrm>
            <a:off x="8823960" y="4590288"/>
            <a:ext cx="2636215" cy="457200"/>
          </a:xfrm>
          <a:prstGeom prst="rect">
            <a:avLst/>
          </a:prstGeom>
          <a:noFill/>
          <a:ln/>
        </p:spPr>
        <p:txBody>
          <a:bodyPr wrap="square" lIns="0" tIns="0" rIns="0" bIns="0" rtlCol="0" anchor="t"/>
          <a:lstStyle/>
          <a:p>
            <a:pPr algn="l" indent="0" marL="0">
              <a:buNone/>
            </a:pPr>
            <a:r>
              <a:rPr lang="en-US" sz="1300" dirty="0">
                <a:solidFill>
                  <a:srgbClr val="2B3440"/>
                </a:solidFill>
                <a:latin typeface="Calibri" pitchFamily="34" charset="0"/>
                <a:ea typeface="Calibri" pitchFamily="34" charset="-122"/>
                <a:cs typeface="Calibri" pitchFamily="34" charset="-120"/>
              </a:rPr>
              <a:t>errors at Level 3 and Level 2. Sign test: p = 0.25, not significant</a:t>
            </a:r>
            <a:endParaRPr lang="en-US" sz="1300" dirty="0"/>
          </a:p>
        </p:txBody>
      </p:sp>
      <p:sp>
        <p:nvSpPr>
          <p:cNvPr id="22" name="Shape 15"/>
          <p:cNvSpPr/>
          <p:nvPr/>
        </p:nvSpPr>
        <p:spPr>
          <a:xfrm>
            <a:off x="548640" y="5349240"/>
            <a:ext cx="11094415" cy="868680"/>
          </a:xfrm>
          <a:prstGeom prst="roundRect">
            <a:avLst>
              <a:gd name="adj" fmla="val 8421"/>
            </a:avLst>
          </a:prstGeom>
          <a:solidFill>
            <a:srgbClr val="1F7A7A"/>
          </a:solidFill>
          <a:ln/>
        </p:spPr>
      </p:sp>
      <p:pic>
        <p:nvPicPr>
          <p:cNvPr id="23" name="Image 3" descr="preencoded.png">    </p:cNvPr>
          <p:cNvPicPr>
            <a:picLocks noChangeAspect="1"/>
          </p:cNvPicPr>
          <p:nvPr/>
        </p:nvPicPr>
        <p:blipFill>
          <a:blip r:embed="rId5"/>
          <a:stretch>
            <a:fillRect/>
          </a:stretch>
        </p:blipFill>
        <p:spPr>
          <a:xfrm>
            <a:off x="822960" y="5554980"/>
            <a:ext cx="457200" cy="457200"/>
          </a:xfrm>
          <a:prstGeom prst="rect">
            <a:avLst/>
          </a:prstGeom>
        </p:spPr>
      </p:pic>
      <p:sp>
        <p:nvSpPr>
          <p:cNvPr id="24" name="Text 16"/>
          <p:cNvSpPr/>
          <p:nvPr/>
        </p:nvSpPr>
        <p:spPr>
          <a:xfrm>
            <a:off x="1508760" y="5349240"/>
            <a:ext cx="9859975" cy="868680"/>
          </a:xfrm>
          <a:prstGeom prst="rect">
            <a:avLst/>
          </a:prstGeom>
          <a:noFill/>
          <a:ln/>
        </p:spPr>
        <p:txBody>
          <a:bodyPr wrap="square" lIns="0" tIns="0" rIns="0" bIns="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Level 3 is never worse in any column. </a:t>
            </a:r>
            <a:pPr algn="l" indent="0" marL="0">
              <a:buNone/>
            </a:pPr>
            <a:r>
              <a:rPr lang="en-US" sz="1800" dirty="0">
                <a:solidFill>
                  <a:srgbClr val="FFFFFF"/>
                </a:solidFill>
                <a:latin typeface="Calibri" pitchFamily="34" charset="0"/>
                <a:ea typeface="Calibri" pitchFamily="34" charset="-122"/>
                <a:cs typeface="Calibri" pitchFamily="34" charset="-120"/>
              </a:rPr>
              <a:t>Harmful runs: 0 at both levels. Level 1 baseline: 90 s per request (assumed).</a:t>
            </a:r>
            <a:endParaRPr lang="en-US" sz="18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Limits and what we claim</a:t>
            </a:r>
            <a:endParaRPr lang="en-US" sz="3400" dirty="0"/>
          </a:p>
        </p:txBody>
      </p:sp>
      <p:sp>
        <p:nvSpPr>
          <p:cNvPr id="3" name="Text 1"/>
          <p:cNvSpPr/>
          <p:nvPr/>
        </p:nvSpPr>
        <p:spPr>
          <a:xfrm>
            <a:off x="548640" y="6400800"/>
            <a:ext cx="5486400" cy="274320"/>
          </a:xfrm>
          <a:prstGeom prst="rect">
            <a:avLst/>
          </a:prstGeom>
          <a:noFill/>
          <a:ln/>
        </p:spPr>
        <p:txBody>
          <a:bodyPr wrap="square" lIns="0" tIns="0" rIns="0" bIns="0" rtlCol="0" anchor="ctr"/>
          <a:lstStyle/>
          <a:p>
            <a:pPr indent="0" marL="0">
              <a:buNone/>
            </a:pPr>
            <a:r>
              <a:rPr lang="en-US" sz="1100" dirty="0">
                <a:solidFill>
                  <a:srgbClr val="56636F"/>
                </a:solidFill>
                <a:latin typeface="Calibri" pitchFamily="34" charset="0"/>
                <a:ea typeface="Calibri" pitchFamily="34" charset="-122"/>
                <a:cs typeface="Calibri" pitchFamily="34" charset="-120"/>
              </a:rPr>
              <a:t>Speaker: Nguyen Phuong Nam · 75 s</a:t>
            </a:r>
            <a:endParaRPr lang="en-US" sz="1100" dirty="0"/>
          </a:p>
        </p:txBody>
      </p:sp>
      <p:sp>
        <p:nvSpPr>
          <p:cNvPr id="5" name="Shape 2"/>
          <p:cNvSpPr/>
          <p:nvPr/>
        </p:nvSpPr>
        <p:spPr>
          <a:xfrm>
            <a:off x="548640" y="1508760"/>
            <a:ext cx="6309360" cy="4663440"/>
          </a:xfrm>
          <a:prstGeom prst="roundRect">
            <a:avLst>
              <a:gd name="adj" fmla="val 1569"/>
            </a:avLst>
          </a:prstGeom>
          <a:solidFill>
            <a:srgbClr val="FFFFFF"/>
          </a:solidFill>
          <a:ln/>
        </p:spPr>
      </p:sp>
      <p:sp>
        <p:nvSpPr>
          <p:cNvPr id="6" name="Shape 3"/>
          <p:cNvSpPr/>
          <p:nvPr/>
        </p:nvSpPr>
        <p:spPr>
          <a:xfrm>
            <a:off x="868680" y="1737360"/>
            <a:ext cx="640080" cy="640080"/>
          </a:xfrm>
          <a:prstGeom prst="ellipse">
            <a:avLst/>
          </a:prstGeom>
          <a:solidFill>
            <a:srgbClr val="5F6B7A"/>
          </a:solidFill>
          <a:ln w="12700">
            <a:solidFill>
              <a:srgbClr val="5F6B7A"/>
            </a:solidFill>
            <a:prstDash val="solid"/>
          </a:ln>
        </p:spPr>
      </p:sp>
      <p:pic>
        <p:nvPicPr>
          <p:cNvPr id="7" name="Image 0" descr="preencoded.png">    </p:cNvPr>
          <p:cNvPicPr>
            <a:picLocks noChangeAspect="1"/>
          </p:cNvPicPr>
          <p:nvPr/>
        </p:nvPicPr>
        <p:blipFill>
          <a:blip r:embed="rId1"/>
          <a:stretch>
            <a:fillRect/>
          </a:stretch>
        </p:blipFill>
        <p:spPr>
          <a:xfrm>
            <a:off x="1009498" y="1878178"/>
            <a:ext cx="358445" cy="358445"/>
          </a:xfrm>
          <a:prstGeom prst="rect">
            <a:avLst/>
          </a:prstGeom>
        </p:spPr>
      </p:pic>
      <p:sp>
        <p:nvSpPr>
          <p:cNvPr id="8" name="Text 4"/>
          <p:cNvSpPr/>
          <p:nvPr/>
        </p:nvSpPr>
        <p:spPr>
          <a:xfrm>
            <a:off x="1737360" y="1737360"/>
            <a:ext cx="4846320" cy="640080"/>
          </a:xfrm>
          <a:prstGeom prst="rect">
            <a:avLst/>
          </a:prstGeom>
          <a:noFill/>
          <a:ln/>
        </p:spPr>
        <p:txBody>
          <a:bodyPr wrap="square" lIns="0" tIns="0" rIns="0" bIns="0" rtlCol="0" anchor="ctr"/>
          <a:lstStyle/>
          <a:p>
            <a:pPr algn="l" indent="0" marL="0">
              <a:buNone/>
            </a:pPr>
            <a:r>
              <a:rPr lang="en-US" sz="2400" b="1" dirty="0">
                <a:solidFill>
                  <a:srgbClr val="1B365D"/>
                </a:solidFill>
                <a:latin typeface="Calibri" pitchFamily="34" charset="0"/>
                <a:ea typeface="Calibri" pitchFamily="34" charset="-122"/>
                <a:cs typeface="Calibri" pitchFamily="34" charset="-120"/>
              </a:rPr>
              <a:t>Limits</a:t>
            </a:r>
            <a:endParaRPr lang="en-US" sz="2400" dirty="0"/>
          </a:p>
        </p:txBody>
      </p:sp>
      <p:sp>
        <p:nvSpPr>
          <p:cNvPr id="9" name="Text 5"/>
          <p:cNvSpPr/>
          <p:nvPr/>
        </p:nvSpPr>
        <p:spPr>
          <a:xfrm>
            <a:off x="868680" y="2560320"/>
            <a:ext cx="5669280" cy="3474720"/>
          </a:xfrm>
          <a:prstGeom prst="rect">
            <a:avLst/>
          </a:prstGeom>
          <a:noFill/>
          <a:ln/>
        </p:spPr>
        <p:txBody>
          <a:bodyPr wrap="square" lIns="0" tIns="0" rIns="0" bIns="0" rtlCol="0" anchor="t"/>
          <a:lstStyle/>
          <a:p>
            <a:pPr marL="342900" indent="-342900">
              <a:spcAft>
                <a:spcPts val="1200"/>
              </a:spcAft>
              <a:buSzPct val="100000"/>
              <a:buChar char="•"/>
            </a:pPr>
            <a:r>
              <a:rPr lang="en-US" sz="1600" dirty="0">
                <a:solidFill>
                  <a:srgbClr val="2B3440"/>
                </a:solidFill>
                <a:latin typeface="Calibri" pitchFamily="34" charset="0"/>
                <a:ea typeface="Calibri" pitchFamily="34" charset="-122"/>
                <a:cs typeface="Calibri" pitchFamily="34" charset="-120"/>
              </a:rPr>
              <a:t>Synthetic data and our own labels: 50 requests in 24 types</a:t>
            </a:r>
            <a:endParaRPr lang="en-US" sz="1600" dirty="0"/>
          </a:p>
          <a:p>
            <a:pPr marL="342900" indent="-342900">
              <a:spcAft>
                <a:spcPts val="1200"/>
              </a:spcAft>
              <a:buSzPct val="100000"/>
              <a:buChar char="•"/>
            </a:pPr>
            <a:r>
              <a:rPr lang="en-US" sz="1600" dirty="0">
                <a:solidFill>
                  <a:srgbClr val="2B3440"/>
                </a:solidFill>
                <a:latin typeface="Calibri" pitchFamily="34" charset="0"/>
                <a:ea typeface="Calibri" pitchFamily="34" charset="-122"/>
                <a:cs typeface="Calibri" pitchFamily="34" charset="-120"/>
              </a:rPr>
              <a:t>0 harmful runs in 50 is not proof of zero: the 95% upper limit is about 6%</a:t>
            </a:r>
            <a:endParaRPr lang="en-US" sz="1600" dirty="0"/>
          </a:p>
          <a:p>
            <a:pPr marL="342900" indent="-342900">
              <a:spcAft>
                <a:spcPts val="1200"/>
              </a:spcAft>
              <a:buSzPct val="100000"/>
              <a:buChar char="•"/>
            </a:pPr>
            <a:r>
              <a:rPr lang="en-US" sz="1600" dirty="0">
                <a:solidFill>
                  <a:srgbClr val="2B3440"/>
                </a:solidFill>
                <a:latin typeface="Calibri" pitchFamily="34" charset="0"/>
                <a:ea typeface="Calibri" pitchFamily="34" charset="-122"/>
                <a:cs typeface="Calibri" pitchFamily="34" charset="-120"/>
              </a:rPr>
              <a:t>The 90 s at Level 1 is assumed; the popup and the silence timer are not simulated</a:t>
            </a:r>
            <a:endParaRPr lang="en-US" sz="1600" dirty="0"/>
          </a:p>
          <a:p>
            <a:pPr marL="342900" indent="-342900">
              <a:spcAft>
                <a:spcPts val="1200"/>
              </a:spcAft>
              <a:buSzPct val="100000"/>
              <a:buChar char="•"/>
            </a:pPr>
            <a:r>
              <a:rPr lang="en-US" sz="1600" dirty="0">
                <a:solidFill>
                  <a:srgbClr val="2B3440"/>
                </a:solidFill>
                <a:latin typeface="Calibri" pitchFamily="34" charset="0"/>
                <a:ea typeface="Calibri" pitchFamily="34" charset="-122"/>
                <a:cs typeface="Calibri" pitchFamily="34" charset="-120"/>
              </a:rPr>
              <a:t>One prompt wording and one run for each request; two hosted models</a:t>
            </a:r>
            <a:endParaRPr lang="en-US" sz="1600" dirty="0"/>
          </a:p>
          <a:p>
            <a:pPr marL="342900" indent="-342900">
              <a:spcAft>
                <a:spcPts val="1200"/>
              </a:spcAft>
              <a:buSzPct val="100000"/>
              <a:buChar char="•"/>
            </a:pPr>
            <a:r>
              <a:rPr lang="en-US" sz="1600" dirty="0">
                <a:solidFill>
                  <a:srgbClr val="2B3440"/>
                </a:solidFill>
                <a:latin typeface="Calibri" pitchFamily="34" charset="0"/>
                <a:ea typeface="Calibri" pitchFamily="34" charset="-122"/>
                <a:cs typeface="Calibri" pitchFamily="34" charset="-120"/>
              </a:rPr>
              <a:t>The Security rule was added after fraud reports showed a defect on these 50 requests, so the main numbers are not a blind test</a:t>
            </a:r>
            <a:endParaRPr lang="en-US" sz="1600" dirty="0"/>
          </a:p>
        </p:txBody>
      </p:sp>
      <p:sp>
        <p:nvSpPr>
          <p:cNvPr id="10" name="Shape 6"/>
          <p:cNvSpPr/>
          <p:nvPr/>
        </p:nvSpPr>
        <p:spPr>
          <a:xfrm>
            <a:off x="7132320" y="1508760"/>
            <a:ext cx="4510735" cy="2331720"/>
          </a:xfrm>
          <a:prstGeom prst="roundRect">
            <a:avLst>
              <a:gd name="adj" fmla="val 3137"/>
            </a:avLst>
          </a:prstGeom>
          <a:solidFill>
            <a:srgbClr val="FFFFFF"/>
          </a:solidFill>
          <a:ln/>
        </p:spPr>
      </p:sp>
      <p:sp>
        <p:nvSpPr>
          <p:cNvPr id="11" name="Shape 7"/>
          <p:cNvSpPr/>
          <p:nvPr/>
        </p:nvSpPr>
        <p:spPr>
          <a:xfrm>
            <a:off x="7406640" y="1691640"/>
            <a:ext cx="548640" cy="548640"/>
          </a:xfrm>
          <a:prstGeom prst="ellipse">
            <a:avLst/>
          </a:prstGeom>
          <a:solidFill>
            <a:srgbClr val="234B84"/>
          </a:solidFill>
          <a:ln w="12700">
            <a:solidFill>
              <a:srgbClr val="234B84"/>
            </a:solidFill>
            <a:prstDash val="solid"/>
          </a:ln>
        </p:spPr>
      </p:sp>
      <p:pic>
        <p:nvPicPr>
          <p:cNvPr id="12" name="Image 1" descr="preencoded.png">    </p:cNvPr>
          <p:cNvPicPr>
            <a:picLocks noChangeAspect="1"/>
          </p:cNvPicPr>
          <p:nvPr/>
        </p:nvPicPr>
        <p:blipFill>
          <a:blip r:embed="rId2"/>
          <a:stretch>
            <a:fillRect/>
          </a:stretch>
        </p:blipFill>
        <p:spPr>
          <a:xfrm>
            <a:off x="7527341" y="1812341"/>
            <a:ext cx="307238" cy="307238"/>
          </a:xfrm>
          <a:prstGeom prst="rect">
            <a:avLst/>
          </a:prstGeom>
        </p:spPr>
      </p:pic>
      <p:sp>
        <p:nvSpPr>
          <p:cNvPr id="13" name="Text 8"/>
          <p:cNvSpPr/>
          <p:nvPr/>
        </p:nvSpPr>
        <p:spPr>
          <a:xfrm>
            <a:off x="8138160" y="1691640"/>
            <a:ext cx="3322015" cy="548640"/>
          </a:xfrm>
          <a:prstGeom prst="rect">
            <a:avLst/>
          </a:prstGeom>
          <a:noFill/>
          <a:ln/>
        </p:spPr>
        <p:txBody>
          <a:bodyPr wrap="square" lIns="0" tIns="0" rIns="0" bIns="0" rtlCol="0" anchor="ctr"/>
          <a:lstStyle/>
          <a:p>
            <a:pPr algn="l" indent="0" marL="0">
              <a:buNone/>
            </a:pPr>
            <a:r>
              <a:rPr lang="en-US" sz="2200" b="1" dirty="0">
                <a:solidFill>
                  <a:srgbClr val="1B365D"/>
                </a:solidFill>
                <a:latin typeface="Calibri" pitchFamily="34" charset="0"/>
                <a:ea typeface="Calibri" pitchFamily="34" charset="-122"/>
                <a:cs typeface="Calibri" pitchFamily="34" charset="-120"/>
              </a:rPr>
              <a:t>What we claim</a:t>
            </a:r>
            <a:endParaRPr lang="en-US" sz="2200" dirty="0"/>
          </a:p>
        </p:txBody>
      </p:sp>
      <p:sp>
        <p:nvSpPr>
          <p:cNvPr id="14" name="Text 9"/>
          <p:cNvSpPr/>
          <p:nvPr/>
        </p:nvSpPr>
        <p:spPr>
          <a:xfrm>
            <a:off x="7406640" y="2377440"/>
            <a:ext cx="3962095" cy="1371600"/>
          </a:xfrm>
          <a:prstGeom prst="rect">
            <a:avLst/>
          </a:prstGeom>
          <a:noFill/>
          <a:ln/>
        </p:spPr>
        <p:txBody>
          <a:bodyPr wrap="square" lIns="0" tIns="0" rIns="0" bIns="0" rtlCol="0" anchor="t"/>
          <a:lstStyle/>
          <a:p>
            <a:pPr marL="342900" indent="-342900">
              <a:spcAft>
                <a:spcPts val="800"/>
              </a:spcAft>
              <a:buSzPct val="100000"/>
              <a:buChar char="•"/>
            </a:pPr>
            <a:r>
              <a:rPr lang="en-US" sz="1600" dirty="0">
                <a:solidFill>
                  <a:srgbClr val="2B3440"/>
                </a:solidFill>
                <a:latin typeface="Calibri" pitchFamily="34" charset="0"/>
                <a:ea typeface="Calibri" pitchFamily="34" charset="-122"/>
                <a:cs typeface="Calibri" pitchFamily="34" charset="-120"/>
              </a:rPr>
              <a:t>Level 3 is 2.2x faster, 2.4x cheaper, and never worse</a:t>
            </a:r>
            <a:endParaRPr lang="en-US" sz="1600" dirty="0"/>
          </a:p>
          <a:p>
            <a:pPr marL="342900" indent="-342900">
              <a:spcAft>
                <a:spcPts val="800"/>
              </a:spcAft>
              <a:buSzPct val="100000"/>
              <a:buChar char="•"/>
            </a:pPr>
            <a:r>
              <a:rPr lang="en-US" sz="1600" dirty="0">
                <a:solidFill>
                  <a:srgbClr val="2B3440"/>
                </a:solidFill>
                <a:latin typeface="Calibri" pitchFamily="34" charset="0"/>
                <a:ea typeface="Calibri" pitchFamily="34" charset="-122"/>
                <a:cs typeface="Calibri" pitchFamily="34" charset="-120"/>
              </a:rPr>
              <a:t>p = 0.25: no accuracy gap is shown</a:t>
            </a:r>
            <a:endParaRPr lang="en-US" sz="1600" dirty="0"/>
          </a:p>
        </p:txBody>
      </p:sp>
      <p:sp>
        <p:nvSpPr>
          <p:cNvPr id="15" name="Shape 10"/>
          <p:cNvSpPr/>
          <p:nvPr/>
        </p:nvSpPr>
        <p:spPr>
          <a:xfrm>
            <a:off x="7132320" y="4023360"/>
            <a:ext cx="4510735" cy="2148840"/>
          </a:xfrm>
          <a:prstGeom prst="roundRect">
            <a:avLst>
              <a:gd name="adj" fmla="val 3404"/>
            </a:avLst>
          </a:prstGeom>
          <a:solidFill>
            <a:srgbClr val="FFFFFF"/>
          </a:solidFill>
          <a:ln/>
        </p:spPr>
      </p:sp>
      <p:sp>
        <p:nvSpPr>
          <p:cNvPr id="16" name="Shape 11"/>
          <p:cNvSpPr/>
          <p:nvPr/>
        </p:nvSpPr>
        <p:spPr>
          <a:xfrm>
            <a:off x="7406640" y="4206240"/>
            <a:ext cx="548640" cy="548640"/>
          </a:xfrm>
          <a:prstGeom prst="ellipse">
            <a:avLst/>
          </a:prstGeom>
          <a:solidFill>
            <a:srgbClr val="1F7A7A"/>
          </a:solidFill>
          <a:ln w="12700">
            <a:solidFill>
              <a:srgbClr val="1F7A7A"/>
            </a:solidFill>
            <a:prstDash val="solid"/>
          </a:ln>
        </p:spPr>
      </p:sp>
      <p:pic>
        <p:nvPicPr>
          <p:cNvPr id="17" name="Image 2" descr="preencoded.png">    </p:cNvPr>
          <p:cNvPicPr>
            <a:picLocks noChangeAspect="1"/>
          </p:cNvPicPr>
          <p:nvPr/>
        </p:nvPicPr>
        <p:blipFill>
          <a:blip r:embed="rId3"/>
          <a:stretch>
            <a:fillRect/>
          </a:stretch>
        </p:blipFill>
        <p:spPr>
          <a:xfrm>
            <a:off x="7527341" y="4326941"/>
            <a:ext cx="307238" cy="307238"/>
          </a:xfrm>
          <a:prstGeom prst="rect">
            <a:avLst/>
          </a:prstGeom>
        </p:spPr>
      </p:pic>
      <p:sp>
        <p:nvSpPr>
          <p:cNvPr id="18" name="Text 12"/>
          <p:cNvSpPr/>
          <p:nvPr/>
        </p:nvSpPr>
        <p:spPr>
          <a:xfrm>
            <a:off x="8138160" y="4206240"/>
            <a:ext cx="3322015" cy="548640"/>
          </a:xfrm>
          <a:prstGeom prst="rect">
            <a:avLst/>
          </a:prstGeom>
          <a:noFill/>
          <a:ln/>
        </p:spPr>
        <p:txBody>
          <a:bodyPr wrap="square" lIns="0" tIns="0" rIns="0" bIns="0" rtlCol="0" anchor="ctr"/>
          <a:lstStyle/>
          <a:p>
            <a:pPr algn="l" indent="0" marL="0">
              <a:buNone/>
            </a:pPr>
            <a:r>
              <a:rPr lang="en-US" sz="2200" b="1" dirty="0">
                <a:solidFill>
                  <a:srgbClr val="1B365D"/>
                </a:solidFill>
                <a:latin typeface="Calibri" pitchFamily="34" charset="0"/>
                <a:ea typeface="Calibri" pitchFamily="34" charset="-122"/>
                <a:cs typeface="Calibri" pitchFamily="34" charset="-120"/>
              </a:rPr>
              <a:t>Next</a:t>
            </a:r>
            <a:endParaRPr lang="en-US" sz="2200" dirty="0"/>
          </a:p>
        </p:txBody>
      </p:sp>
      <p:sp>
        <p:nvSpPr>
          <p:cNvPr id="19" name="Text 13"/>
          <p:cNvSpPr/>
          <p:nvPr/>
        </p:nvSpPr>
        <p:spPr>
          <a:xfrm>
            <a:off x="7406640" y="4892040"/>
            <a:ext cx="3962095" cy="1188720"/>
          </a:xfrm>
          <a:prstGeom prst="rect">
            <a:avLst/>
          </a:prstGeom>
          <a:noFill/>
          <a:ln/>
        </p:spPr>
        <p:txBody>
          <a:bodyPr wrap="square" lIns="0" tIns="0" rIns="0" bIns="0" rtlCol="0" anchor="t"/>
          <a:lstStyle/>
          <a:p>
            <a:pPr marL="342900" indent="-342900">
              <a:spcAft>
                <a:spcPts val="800"/>
              </a:spcAft>
              <a:buSzPct val="100000"/>
              <a:buChar char="•"/>
            </a:pPr>
            <a:r>
              <a:rPr lang="en-US" sz="1600" dirty="0">
                <a:solidFill>
                  <a:srgbClr val="2B3440"/>
                </a:solidFill>
                <a:latin typeface="Calibri" pitchFamily="34" charset="0"/>
                <a:ea typeface="Calibri" pitchFamily="34" charset="-122"/>
                <a:cs typeface="Calibri" pitchFamily="34" charset="-120"/>
              </a:rPr>
              <a:t>Real tickets and more request types</a:t>
            </a:r>
            <a:endParaRPr lang="en-US" sz="1600" dirty="0"/>
          </a:p>
          <a:p>
            <a:pPr marL="342900" indent="-342900">
              <a:spcAft>
                <a:spcPts val="800"/>
              </a:spcAft>
              <a:buSzPct val="100000"/>
              <a:buChar char="•"/>
            </a:pPr>
            <a:r>
              <a:rPr lang="en-US" sz="1600" dirty="0">
                <a:solidFill>
                  <a:srgbClr val="2B3440"/>
                </a:solidFill>
                <a:latin typeface="Calibri" pitchFamily="34" charset="0"/>
                <a:ea typeface="Calibri" pitchFamily="34" charset="-122"/>
                <a:cs typeface="Calibri" pitchFamily="34" charset="-120"/>
              </a:rPr>
              <a:t>Adversarial inputs</a:t>
            </a:r>
            <a:endParaRPr lang="en-US" sz="1600" dirty="0"/>
          </a:p>
          <a:p>
            <a:pPr marL="342900" indent="-342900">
              <a:spcAft>
                <a:spcPts val="800"/>
              </a:spcAft>
              <a:buSzPct val="100000"/>
              <a:buChar char="•"/>
            </a:pPr>
            <a:r>
              <a:rPr lang="en-US" sz="1600" dirty="0">
                <a:solidFill>
                  <a:srgbClr val="2B3440"/>
                </a:solidFill>
                <a:latin typeface="Calibri" pitchFamily="34" charset="0"/>
                <a:ea typeface="Calibri" pitchFamily="34" charset="-122"/>
                <a:cs typeface="Calibri" pitchFamily="34" charset="-120"/>
              </a:rPr>
              <a:t>Real customers for the popup and timer</a:t>
            </a:r>
            <a:endParaRPr lang="en-US" sz="16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3E6A9A"/>
        </a:solidFill>
      </p:bgPr>
    </p:bg>
    <p:spTree>
      <p:nvGrpSpPr>
        <p:cNvPr id="1" name=""/>
        <p:cNvGrpSpPr/>
        <p:nvPr/>
      </p:nvGrpSpPr>
      <p:grpSpPr>
        <a:xfrm>
          <a:off x="0" y="0"/>
          <a:ext cx="0" cy="0"/>
          <a:chOff x="0" y="0"/>
          <a:chExt cx="0" cy="0"/>
        </a:xfrm>
      </p:grpSpPr>
      <p:sp>
        <p:nvSpPr>
          <p:cNvPr id="2" name="Text 0"/>
          <p:cNvSpPr/>
          <p:nvPr/>
        </p:nvSpPr>
        <p:spPr>
          <a:xfrm>
            <a:off x="731520" y="640080"/>
            <a:ext cx="6035040" cy="822960"/>
          </a:xfrm>
          <a:prstGeom prst="rect">
            <a:avLst/>
          </a:prstGeom>
          <a:noFill/>
          <a:ln/>
        </p:spPr>
        <p:txBody>
          <a:bodyPr wrap="square" lIns="0" tIns="0" rIns="0" bIns="0" rtlCol="0" anchor="ctr"/>
          <a:lstStyle/>
          <a:p>
            <a:pPr indent="0" marL="0">
              <a:buNone/>
            </a:pPr>
            <a:r>
              <a:rPr lang="en-US" sz="3800" b="1" dirty="0">
                <a:solidFill>
                  <a:srgbClr val="FFFFFF"/>
                </a:solidFill>
                <a:latin typeface="Calibri" pitchFamily="34" charset="0"/>
                <a:ea typeface="Calibri" pitchFamily="34" charset="-122"/>
                <a:cs typeface="Calibri" pitchFamily="34" charset="-120"/>
              </a:rPr>
              <a:t>Conclusion</a:t>
            </a:r>
            <a:endParaRPr lang="en-US" sz="3800" dirty="0"/>
          </a:p>
        </p:txBody>
      </p:sp>
      <p:sp>
        <p:nvSpPr>
          <p:cNvPr id="3" name="Text 1"/>
          <p:cNvSpPr/>
          <p:nvPr/>
        </p:nvSpPr>
        <p:spPr>
          <a:xfrm>
            <a:off x="731520" y="1600200"/>
            <a:ext cx="5943600" cy="3794760"/>
          </a:xfrm>
          <a:prstGeom prst="rect">
            <a:avLst/>
          </a:prstGeom>
          <a:noFill/>
          <a:ln/>
        </p:spPr>
        <p:txBody>
          <a:bodyPr wrap="square" lIns="0" tIns="0" rIns="0" bIns="0" rtlCol="0" anchor="t"/>
          <a:lstStyle/>
          <a:p>
            <a:pPr marL="342900" indent="-342900">
              <a:spcAft>
                <a:spcPts val="1200"/>
              </a:spcAft>
              <a:buSzPct val="100000"/>
              <a:buChar char="•"/>
            </a:pPr>
            <a:r>
              <a:rPr lang="en-US" sz="1800" dirty="0">
                <a:solidFill>
                  <a:srgbClr val="FFFFFF"/>
                </a:solidFill>
                <a:latin typeface="Calibri" pitchFamily="34" charset="0"/>
                <a:ea typeface="Calibri" pitchFamily="34" charset="-122"/>
                <a:cs typeface="Calibri" pitchFamily="34" charset="-120"/>
              </a:rPr>
              <a:t>Same 50 requests at every level. Level 2: 32 served, 15 stopped, 3 errors. Level 3: 35 served, 15 stopped, 0 errors.</a:t>
            </a:r>
            <a:endParaRPr lang="en-US" sz="1800" dirty="0"/>
          </a:p>
          <a:p>
            <a:pPr marL="342900" indent="-342900">
              <a:spcAft>
                <a:spcPts val="1200"/>
              </a:spcAft>
              <a:buSzPct val="100000"/>
              <a:buChar char="•"/>
            </a:pPr>
            <a:r>
              <a:rPr lang="en-US" sz="1800" dirty="0">
                <a:solidFill>
                  <a:srgbClr val="FFFFFF"/>
                </a:solidFill>
                <a:latin typeface="Calibri" pitchFamily="34" charset="0"/>
                <a:ea typeface="Calibri" pitchFamily="34" charset="-122"/>
                <a:cs typeface="Calibri" pitchFamily="34" charset="-120"/>
              </a:rPr>
              <a:t>Level 3 is never worse, 2.2x faster, and 2.4x cheaper: 3.16 s and $0.30 against 6.85 s and $0.71. The sign test (p = 0.25) shows no accuracy gap.</a:t>
            </a:r>
            <a:endParaRPr lang="en-US" sz="1800" dirty="0"/>
          </a:p>
          <a:p>
            <a:pPr marL="342900" indent="-342900">
              <a:spcAft>
                <a:spcPts val="1200"/>
              </a:spcAft>
              <a:buSzPct val="100000"/>
              <a:buChar char="•"/>
            </a:pPr>
            <a:r>
              <a:rPr lang="en-US" sz="1800" dirty="0">
                <a:solidFill>
                  <a:srgbClr val="FFFFFF"/>
                </a:solidFill>
                <a:latin typeface="Calibri" pitchFamily="34" charset="0"/>
                <a:ea typeface="Calibri" pitchFamily="34" charset="-122"/>
                <a:cs typeface="Calibri" pitchFamily="34" charset="-120"/>
              </a:rPr>
              <a:t>A Security rule stops state changes on fraud reports. We added it after we saw a defect on these 50 requests.</a:t>
            </a:r>
            <a:endParaRPr lang="en-US" sz="1800" dirty="0"/>
          </a:p>
          <a:p>
            <a:pPr marL="342900" indent="-342900">
              <a:spcAft>
                <a:spcPts val="1200"/>
              </a:spcAft>
              <a:buSzPct val="100000"/>
              <a:buChar char="•"/>
            </a:pPr>
            <a:r>
              <a:rPr lang="en-US" sz="1800" dirty="0">
                <a:solidFill>
                  <a:srgbClr val="FFFFFF"/>
                </a:solidFill>
                <a:latin typeface="Calibri" pitchFamily="34" charset="0"/>
                <a:ea typeface="Calibri" pitchFamily="34" charset="-122"/>
                <a:cs typeface="Calibri" pitchFamily="34" charset="-120"/>
              </a:rPr>
              <a:t>Jev is less accurate than the LLM on four of five fields, but the written rules catch its wrong answers, so Level 3 makes 0 errors.</a:t>
            </a:r>
            <a:endParaRPr lang="en-US" sz="1800" dirty="0"/>
          </a:p>
        </p:txBody>
      </p:sp>
      <p:sp>
        <p:nvSpPr>
          <p:cNvPr id="4" name="Text 2"/>
          <p:cNvSpPr/>
          <p:nvPr/>
        </p:nvSpPr>
        <p:spPr>
          <a:xfrm>
            <a:off x="731520" y="5486400"/>
            <a:ext cx="6035040" cy="640080"/>
          </a:xfrm>
          <a:prstGeom prst="rect">
            <a:avLst/>
          </a:prstGeom>
          <a:noFill/>
          <a:ln/>
        </p:spPr>
        <p:txBody>
          <a:bodyPr wrap="square" lIns="0" tIns="0" rIns="0" bIns="0" rtlCol="0" anchor="ctr"/>
          <a:lstStyle/>
          <a:p>
            <a:pPr indent="0" marL="0">
              <a:buNone/>
            </a:pPr>
            <a:r>
              <a:rPr lang="en-US" sz="3000" b="1" dirty="0">
                <a:solidFill>
                  <a:srgbClr val="FFFFFF"/>
                </a:solidFill>
                <a:latin typeface="Calibri" pitchFamily="34" charset="0"/>
                <a:ea typeface="Calibri" pitchFamily="34" charset="-122"/>
                <a:cs typeface="Calibri" pitchFamily="34" charset="-120"/>
              </a:rPr>
              <a:t>Thank you. Questions?</a:t>
            </a:r>
            <a:endParaRPr lang="en-US" sz="3000" dirty="0"/>
          </a:p>
        </p:txBody>
      </p:sp>
      <p:pic>
        <p:nvPicPr>
          <p:cNvPr id="5" name="Image 0" descr="preencoded.png">    </p:cNvPr>
          <p:cNvPicPr>
            <a:picLocks noChangeAspect="1"/>
          </p:cNvPicPr>
          <p:nvPr/>
        </p:nvPicPr>
        <p:blipFill>
          <a:blip r:embed="rId1"/>
          <a:stretch>
            <a:fillRect/>
          </a:stretch>
        </p:blipFill>
        <p:spPr>
          <a:xfrm>
            <a:off x="7040880" y="1188720"/>
            <a:ext cx="4480560" cy="4480560"/>
          </a:xfrm>
          <a:prstGeom prst="rect">
            <a:avLst/>
          </a:prstGeom>
        </p:spPr>
      </p:pic>
      <p:sp>
        <p:nvSpPr>
          <p:cNvPr id="6" name="Text 3"/>
          <p:cNvSpPr/>
          <p:nvPr/>
        </p:nvSpPr>
        <p:spPr>
          <a:xfrm>
            <a:off x="731520" y="6400800"/>
            <a:ext cx="5486400" cy="274320"/>
          </a:xfrm>
          <a:prstGeom prst="rect">
            <a:avLst/>
          </a:prstGeom>
          <a:noFill/>
          <a:ln/>
        </p:spPr>
        <p:txBody>
          <a:bodyPr wrap="square" lIns="0" tIns="0" rIns="0" bIns="0" rtlCol="0" anchor="ctr"/>
          <a:lstStyle/>
          <a:p>
            <a:pPr indent="0" marL="0">
              <a:buNone/>
            </a:pPr>
            <a:r>
              <a:rPr lang="en-US" sz="1100" dirty="0">
                <a:solidFill>
                  <a:srgbClr val="E3ECF6"/>
                </a:solidFill>
                <a:latin typeface="Calibri" pitchFamily="34" charset="0"/>
                <a:ea typeface="Calibri" pitchFamily="34" charset="-122"/>
                <a:cs typeface="Calibri" pitchFamily="34" charset="-120"/>
              </a:rPr>
              <a:t>Speaker: Nguyen Phuong Nam · 40 s</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Human to LLM &amp; Classifier Support Agent: A Three-Level Ladder for SaaS Request Triage</dc:title>
  <dc:subject>PptxGenJS Presentation</dc:subject>
  <dc:creator>Phenikaa School of Computing</dc:creator>
  <cp:lastModifiedBy>Phenikaa School of Computing</cp:lastModifiedBy>
  <cp:revision>1</cp:revision>
  <dcterms:created xsi:type="dcterms:W3CDTF">2026-10-07T01:17:17Z</dcterms:created>
  <dcterms:modified xsi:type="dcterms:W3CDTF">2026-10-07T01:17:17Z</dcterms:modified>
</cp:coreProperties>
</file>