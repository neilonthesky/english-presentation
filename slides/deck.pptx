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Wrong outcome</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Today we look at a support chat for a made-up AI video maker service company. The chat can do real things, such as give a refund. The slide shows two designs for this chat. On the left, an LLM agent. One model reads the chat and the rules, and it does the action. On the right, a classifier labels the request, code applies each rule answer, and the LLM only writes the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Then show the evidence: the next two slides are the charts from Artificial Analysis behind these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This is the chart behind the answer. Each bar is one model. The bar shows the hallucination rate on AA-Omniscience: the share of wrong answers among all answers that are not correct. A lower bar is better. Read the two ends. The lowest bar is 18%, and it belongs to MiniMax-M3, a cheaper open-weight model. The highest bar is 96%. The models that most people call the smartest, GPT, Gemini, and Claude, sit between 45% and 77%. Most models on the board fall between 30 and 65%. Source: Artificial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25 s. This chart puts the same models on two axes. Left to right is the AA-Omniscience Index, the score of the model. Bottom to top is the hallucination rate. Each dot is one model. The green box is the most attractive area: a high score and a hallucination rate below 50%. Only a few models reach it. Many models with a high score still sit above 50%. A higher score does not make the rate fall to zero. So a smarter model is not the fix. The fix is the system around the model: separate steps, with fixed rules that decide. Support has been built that way for years. The next slide shows that history. Source: Artificial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written rules that allow or deny an action. First, the Security rule: if someone else used the account or the card, the answer is deny. A refund above 100 dollars is denied. A refund is also denied when the customer already used credits. A plan that is already cancelled is denied. Deleting data is always denied. Deny means nothing runs, and the reply gives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Real policies have many rules. Who should apply every rule: an LLM agent, or a fast classifier? We compare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28 s. 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This walk-through is 4 slides: press the next key once for each one, and the slides morph into each other. This is the flow of one request. A message enters New, Jev reads the chat, Rules asks one question for each rule, and the LLM writes the reply. A customer asks for a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for a refund. Watch the Rules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2.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12-6.png"/><Relationship Id="rId15" Type="http://schemas.openxmlformats.org/officeDocument/2006/relationships/slideLayout" Target="../slideLayouts/slideLayout1.xml"/><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10-7.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0-5.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1-5.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image" Target="../media/image-10-3.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image" Target="../media/image-11-5.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image" Target="../media/image-11-3.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image" Target="../media/image-11-5.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image" Target="../media/image-11-3.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image" Target="../media/image-10-3.png"/><Relationship Id="rId10" Type="http://schemas.openxmlformats.org/officeDocument/2006/relationships/slideLayout" Target="../slideLayouts/slideLayout1.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image" Target="../media/image-11-3.png"/><Relationship Id="rId10" Type="http://schemas.openxmlformats.org/officeDocument/2006/relationships/slideLayout" Target="../slideLayouts/slideLayout1.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23-3.png"/><Relationship Id="rId5" Type="http://schemas.openxmlformats.org/officeDocument/2006/relationships/image" Target="../media/image-11-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12-6.png"/><Relationship Id="rId7" Type="http://schemas.openxmlformats.org/officeDocument/2006/relationships/image" Target="../media/image-24-7.png"/><Relationship Id="rId8" Type="http://schemas.openxmlformats.org/officeDocument/2006/relationships/image" Target="../media/image-10-6.png"/><Relationship Id="rId9" Type="http://schemas.openxmlformats.org/officeDocument/2006/relationships/image" Target="../media/image-24-3.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25-3.png"/><Relationship Id="rId4" Type="http://schemas.openxmlformats.org/officeDocument/2006/relationships/image" Target="../media/image-1-2.png"/><Relationship Id="rId5" Type="http://schemas.openxmlformats.org/officeDocument/2006/relationships/image" Target="../media/image-1-2.png"/><Relationship Id="rId6" Type="http://schemas.openxmlformats.org/officeDocument/2006/relationships/image" Target="../media/image-10-3.png"/><Relationship Id="rId7" Type="http://schemas.openxmlformats.org/officeDocument/2006/relationships/image" Target="../media/image-10-3.png"/><Relationship Id="rId8" Type="http://schemas.openxmlformats.org/officeDocument/2006/relationships/image" Target="../media/image-1-2.png"/><Relationship Id="rId9" Type="http://schemas.openxmlformats.org/officeDocument/2006/relationships/slideLayout" Target="../slideLayouts/slideLayout1.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2-5.png"/><Relationship Id="rId5" Type="http://schemas.openxmlformats.org/officeDocument/2006/relationships/image" Target="../media/image-10-6.png"/><Relationship Id="rId6" Type="http://schemas.openxmlformats.org/officeDocument/2006/relationships/image" Target="../media/image-24-3.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chart" Target="/ppt/charts/chart3.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24-3.png"/><Relationship Id="rId5" Type="http://schemas.openxmlformats.org/officeDocument/2006/relationships/image" Target="../media/image-24-7.png"/><Relationship Id="rId6" Type="http://schemas.openxmlformats.org/officeDocument/2006/relationships/image" Target="../media/image-10-6.png"/><Relationship Id="rId7" Type="http://schemas.openxmlformats.org/officeDocument/2006/relationships/image" Target="../media/image-24-4.png"/><Relationship Id="rId8" Type="http://schemas.openxmlformats.org/officeDocument/2006/relationships/slideLayout" Target="../slideLayouts/slideLayout1.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2-6.png"/><Relationship Id="rId4" Type="http://schemas.openxmlformats.org/officeDocument/2006/relationships/image" Target="../media/image-11-5.png"/><Relationship Id="rId5" Type="http://schemas.openxmlformats.org/officeDocument/2006/relationships/image" Target="../media/image-28-5.png"/><Relationship Id="rId6" Type="http://schemas.openxmlformats.org/officeDocument/2006/relationships/image" Target="../media/image-24-4.pn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24-4.png"/><Relationship Id="rId5" Type="http://schemas.openxmlformats.org/officeDocument/2006/relationships/image" Target="../media/image-1-2.png"/><Relationship Id="rId6" Type="http://schemas.openxmlformats.org/officeDocument/2006/relationships/image" Target="../media/image-24-4.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4-3.png"/><Relationship Id="rId2" Type="http://schemas.openxmlformats.org/officeDocument/2006/relationships/image" Target="../media/image-24-7.png"/><Relationship Id="rId3" Type="http://schemas.openxmlformats.org/officeDocument/2006/relationships/image" Target="../media/image-10-6.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1-4.png"/><Relationship Id="rId3" Type="http://schemas.openxmlformats.org/officeDocument/2006/relationships/image" Target="../media/image-24-3.png"/><Relationship Id="rId4" Type="http://schemas.openxmlformats.org/officeDocument/2006/relationships/image" Target="../media/image-11-5.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7F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548640"/>
            <a:ext cx="5852160" cy="640080"/>
          </a:xfrm>
          <a:prstGeom prst="rect">
            <a:avLst/>
          </a:prstGeom>
          <a:noFill/>
          <a:ln/>
        </p:spPr>
        <p:txBody>
          <a:bodyPr wrap="square" lIns="0" tIns="0" rIns="0" bIns="0" rtlCol="0" anchor="t"/>
          <a:lstStyle/>
          <a:p>
            <a:pPr indent="0" marL="0">
              <a:spcAft>
                <a:spcPts val="200"/>
              </a:spcAft>
              <a:buNone/>
            </a:pPr>
            <a:r>
              <a:rPr lang="en-US" sz="1500" b="1" dirty="0">
                <a:solidFill>
                  <a:srgbClr val="56636F"/>
                </a:solidFill>
                <a:latin typeface="Calibri" pitchFamily="34" charset="0"/>
                <a:ea typeface="Calibri" pitchFamily="34" charset="-122"/>
                <a:cs typeface="Calibri" pitchFamily="34" charset="-120"/>
              </a:rPr>
              <a:t>Phenikaa School of Computing</a:t>
            </a:r>
            <a:endParaRPr lang="en-US" sz="1500" dirty="0"/>
          </a:p>
          <a:p>
            <a:pPr indent="0" marL="0">
              <a:spcAft>
                <a:spcPts val="200"/>
              </a:spcAft>
              <a:buNone/>
            </a:pPr>
            <a:r>
              <a:rPr lang="en-US" sz="1500" dirty="0">
                <a:solidFill>
                  <a:srgbClr val="56636F"/>
                </a:solidFill>
                <a:latin typeface="Calibri" pitchFamily="34" charset="0"/>
                <a:ea typeface="Calibri" pitchFamily="34" charset="-122"/>
                <a:cs typeface="Calibri" pitchFamily="34" charset="-120"/>
              </a:rPr>
              <a:t>English Writing and Presentation Skills · October 2026</a:t>
            </a:r>
            <a:endParaRPr lang="en-US" sz="1500" dirty="0"/>
          </a:p>
        </p:txBody>
      </p:sp>
      <p:sp>
        <p:nvSpPr>
          <p:cNvPr id="4" name="Text 1"/>
          <p:cNvSpPr/>
          <p:nvPr/>
        </p:nvSpPr>
        <p:spPr>
          <a:xfrm>
            <a:off x="640080" y="1417320"/>
            <a:ext cx="5852160" cy="1828800"/>
          </a:xfrm>
          <a:prstGeom prst="rect">
            <a:avLst/>
          </a:prstGeom>
          <a:noFill/>
          <a:ln/>
        </p:spPr>
        <p:txBody>
          <a:bodyPr wrap="square" lIns="0" tIns="0" rIns="0" bIns="0" rtlCol="0" anchor="t"/>
          <a:lstStyle/>
          <a:p>
            <a:pPr indent="0" marL="0">
              <a:buNone/>
            </a:pPr>
            <a:r>
              <a:rPr lang="en-US" sz="3400" b="1" dirty="0">
                <a:solidFill>
                  <a:srgbClr val="1B365D"/>
                </a:solidFill>
                <a:latin typeface="Calibri" pitchFamily="34" charset="0"/>
                <a:ea typeface="Calibri" pitchFamily="34" charset="-122"/>
                <a:cs typeface="Calibri" pitchFamily="34" charset="-120"/>
              </a:rPr>
              <a:t>Structured Decision Gates for Customer Support Agents:</a:t>
            </a:r>
            <a:endParaRPr lang="en-US" sz="3400" dirty="0"/>
          </a:p>
        </p:txBody>
      </p:sp>
      <p:sp>
        <p:nvSpPr>
          <p:cNvPr id="5" name="Text 2"/>
          <p:cNvSpPr/>
          <p:nvPr/>
        </p:nvSpPr>
        <p:spPr>
          <a:xfrm>
            <a:off x="640080" y="3383280"/>
            <a:ext cx="5852160" cy="548640"/>
          </a:xfrm>
          <a:prstGeom prst="rect">
            <a:avLst/>
          </a:prstGeom>
          <a:noFill/>
          <a:ln/>
        </p:spPr>
        <p:txBody>
          <a:bodyPr wrap="square" lIns="0" tIns="0" rIns="0" bIns="0" rtlCol="0" anchor="t"/>
          <a:lstStyle/>
          <a:p>
            <a:pPr indent="0" marL="0">
              <a:buNone/>
            </a:pPr>
            <a:r>
              <a:rPr lang="en-US" sz="2400" b="1" dirty="0">
                <a:solidFill>
                  <a:srgbClr val="1F7A7A"/>
                </a:solidFill>
                <a:latin typeface="Calibri" pitchFamily="34" charset="0"/>
                <a:ea typeface="Calibri" pitchFamily="34" charset="-122"/>
                <a:cs typeface="Calibri" pitchFamily="34" charset="-120"/>
              </a:rPr>
              <a:t>Intent Detection and Rule Checks</a:t>
            </a:r>
            <a:endParaRPr lang="en-US" sz="2400" dirty="0"/>
          </a:p>
        </p:txBody>
      </p:sp>
      <p:sp>
        <p:nvSpPr>
          <p:cNvPr id="6" name="Shape 3"/>
          <p:cNvSpPr/>
          <p:nvPr/>
        </p:nvSpPr>
        <p:spPr>
          <a:xfrm>
            <a:off x="640080" y="4206240"/>
            <a:ext cx="914400" cy="0"/>
          </a:xfrm>
          <a:prstGeom prst="line">
            <a:avLst/>
          </a:prstGeom>
          <a:noFill/>
          <a:ln w="38100">
            <a:solidFill>
              <a:srgbClr val="4A82B8"/>
            </a:solidFill>
            <a:prstDash val="solid"/>
          </a:ln>
        </p:spPr>
      </p:sp>
      <p:sp>
        <p:nvSpPr>
          <p:cNvPr id="7" name="Text 4"/>
          <p:cNvSpPr/>
          <p:nvPr/>
        </p:nvSpPr>
        <p:spPr>
          <a:xfrm>
            <a:off x="640080" y="4434840"/>
            <a:ext cx="5852160" cy="1371600"/>
          </a:xfrm>
          <a:prstGeom prst="rect">
            <a:avLst/>
          </a:prstGeom>
          <a:noFill/>
          <a:ln/>
        </p:spPr>
        <p:txBody>
          <a:bodyPr wrap="square" lIns="0" tIns="0" rIns="0" bIns="0" rtlCol="0" anchor="t"/>
          <a:lstStyle/>
          <a:p>
            <a:pPr indent="0" marL="0">
              <a:buNone/>
            </a:pPr>
            <a:r>
              <a:rPr lang="en-US" sz="1700" dirty="0">
                <a:solidFill>
                  <a:srgbClr val="2B3440"/>
                </a:solidFill>
                <a:latin typeface="Calibri" pitchFamily="34" charset="0"/>
                <a:ea typeface="Calibri" pitchFamily="34" charset="-122"/>
                <a:cs typeface="Calibri" pitchFamily="34" charset="-120"/>
              </a:rPr>
              <a:t>Tran Thanh Long</a:t>
            </a:r>
            <a:endParaRPr lang="en-US" sz="1700" dirty="0"/>
          </a:p>
          <a:p>
            <a:pPr indent="0" marL="0">
              <a:buNone/>
            </a:pPr>
            <a:r>
              <a:rPr lang="en-US" sz="1700" dirty="0">
                <a:solidFill>
                  <a:srgbClr val="2B3440"/>
                </a:solidFill>
                <a:latin typeface="Calibri" pitchFamily="34" charset="0"/>
                <a:ea typeface="Calibri" pitchFamily="34" charset="-122"/>
                <a:cs typeface="Calibri" pitchFamily="34" charset="-120"/>
              </a:rPr>
              <a:t>Nguyen Thanh Nam</a:t>
            </a:r>
            <a:endParaRPr lang="en-US" sz="1700" dirty="0"/>
          </a:p>
          <a:p>
            <a:pPr indent="0" marL="0">
              <a:buNone/>
            </a:pPr>
            <a:r>
              <a:rPr lang="en-US" sz="1700" dirty="0">
                <a:solidFill>
                  <a:srgbClr val="2B3440"/>
                </a:solidFill>
                <a:latin typeface="Calibri" pitchFamily="34" charset="0"/>
                <a:ea typeface="Calibri" pitchFamily="34" charset="-122"/>
                <a:cs typeface="Calibri" pitchFamily="34" charset="-120"/>
              </a:rPr>
              <a:t>Vu Van Son</a:t>
            </a:r>
            <a:endParaRPr lang="en-US" sz="1700" dirty="0"/>
          </a:p>
          <a:p>
            <a:pPr indent="0" marL="0">
              <a:buNone/>
            </a:pPr>
            <a:r>
              <a:rPr lang="en-US" sz="1700" dirty="0">
                <a:solidFill>
                  <a:srgbClr val="2B3440"/>
                </a:solidFill>
                <a:latin typeface="Calibri" pitchFamily="34" charset="0"/>
                <a:ea typeface="Calibri" pitchFamily="34" charset="-122"/>
                <a:cs typeface="Calibri" pitchFamily="34" charset="-120"/>
              </a:rPr>
              <a:t>Vuong Quang Quy</a:t>
            </a:r>
            <a:endParaRPr lang="en-US" sz="1700" dirty="0"/>
          </a:p>
          <a:p>
            <a:pPr indent="0" marL="0">
              <a:buNone/>
            </a:pPr>
            <a:r>
              <a:rPr lang="en-US" sz="1700" dirty="0">
                <a:solidFill>
                  <a:srgbClr val="2B3440"/>
                </a:solidFill>
                <a:latin typeface="Calibri" pitchFamily="34" charset="0"/>
                <a:ea typeface="Calibri" pitchFamily="34" charset="-122"/>
                <a:cs typeface="Calibri" pitchFamily="34" charset="-120"/>
              </a:rPr>
              <a:t>Nguyen Phuong Nam</a:t>
            </a:r>
            <a:endParaRPr lang="en-US" sz="1700" dirty="0"/>
          </a:p>
        </p:txBody>
      </p:sp>
      <p:sp>
        <p:nvSpPr>
          <p:cNvPr id="8" name="Shape 5"/>
          <p:cNvSpPr/>
          <p:nvPr/>
        </p:nvSpPr>
        <p:spPr>
          <a:xfrm>
            <a:off x="6629400" y="411480"/>
            <a:ext cx="5242255" cy="6035040"/>
          </a:xfrm>
          <a:prstGeom prst="roundRect">
            <a:avLst>
              <a:gd name="adj" fmla="val 2093"/>
            </a:avLst>
          </a:prstGeom>
          <a:solidFill>
            <a:srgbClr val="F4F7FA">
              <a:alpha val="94000"/>
            </a:srgbClr>
          </a:solidFill>
          <a:ln w="12700">
            <a:solidFill>
              <a:srgbClr val="F4F7FA"/>
            </a:solidFill>
            <a:prstDash val="solid"/>
          </a:ln>
        </p:spPr>
      </p:sp>
      <p:sp>
        <p:nvSpPr>
          <p:cNvPr id="9"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agent designs</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for support</a:t>
            </a:r>
            <a:endParaRPr lang="en-US" sz="2600" dirty="0"/>
          </a:p>
        </p:txBody>
      </p:sp>
      <p:sp>
        <p:nvSpPr>
          <p:cNvPr id="10"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design fits customer actions that are hard to undo?</a:t>
            </a:r>
            <a:endParaRPr lang="en-US" sz="1400" dirty="0"/>
          </a:p>
        </p:txBody>
      </p:sp>
      <p:sp>
        <p:nvSpPr>
          <p:cNvPr id="11" name="Shape 8"/>
          <p:cNvSpPr/>
          <p:nvPr/>
        </p:nvSpPr>
        <p:spPr>
          <a:xfrm>
            <a:off x="6949440" y="2176272"/>
            <a:ext cx="2186788" cy="4041648"/>
          </a:xfrm>
          <a:prstGeom prst="roundRect">
            <a:avLst>
              <a:gd name="adj" fmla="val 3345"/>
            </a:avLst>
          </a:prstGeom>
          <a:solidFill>
            <a:srgbClr val="FFFFFF"/>
          </a:solidFill>
          <a:ln/>
        </p:spPr>
      </p:sp>
      <p:sp>
        <p:nvSpPr>
          <p:cNvPr id="12"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3" name="Image 1" descr="preencoded.png">    </p:cNvPr>
          <p:cNvPicPr>
            <a:picLocks noChangeAspect="1"/>
          </p:cNvPicPr>
          <p:nvPr/>
        </p:nvPicPr>
        <p:blipFill>
          <a:blip r:embed="rId2"/>
          <a:stretch>
            <a:fillRect/>
          </a:stretch>
        </p:blipFill>
        <p:spPr>
          <a:xfrm>
            <a:off x="7095744" y="2322576"/>
            <a:ext cx="457200" cy="457200"/>
          </a:xfrm>
          <a:prstGeom prst="rect">
            <a:avLst/>
          </a:prstGeom>
        </p:spPr>
      </p:pic>
      <p:sp>
        <p:nvSpPr>
          <p:cNvPr id="14"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LLM</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Agent</a:t>
            </a:r>
            <a:endParaRPr lang="en-US" sz="1500" dirty="0"/>
          </a:p>
        </p:txBody>
      </p:sp>
      <p:sp>
        <p:nvSpPr>
          <p:cNvPr id="15"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big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The rules are in its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The model decides and acts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Slow and costly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Can follow hidden orders</a:t>
            </a:r>
            <a:endParaRPr lang="en-US" sz="1400" dirty="0"/>
          </a:p>
        </p:txBody>
      </p:sp>
      <p:sp>
        <p:nvSpPr>
          <p:cNvPr id="16" name="Shape 12"/>
          <p:cNvSpPr/>
          <p:nvPr/>
        </p:nvSpPr>
        <p:spPr>
          <a:xfrm>
            <a:off x="9364828" y="2176272"/>
            <a:ext cx="2186788" cy="4041648"/>
          </a:xfrm>
          <a:prstGeom prst="roundRect">
            <a:avLst>
              <a:gd name="adj" fmla="val 3345"/>
            </a:avLst>
          </a:prstGeom>
          <a:solidFill>
            <a:srgbClr val="FFFFFF"/>
          </a:solidFill>
          <a:ln/>
        </p:spPr>
      </p:sp>
      <p:sp>
        <p:nvSpPr>
          <p:cNvPr id="17"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8" name="Image 2" descr="preencoded.png">    </p:cNvPr>
          <p:cNvPicPr>
            <a:picLocks noChangeAspect="1"/>
          </p:cNvPicPr>
          <p:nvPr/>
        </p:nvPicPr>
        <p:blipFill>
          <a:blip r:embed="rId3"/>
          <a:stretch>
            <a:fillRect/>
          </a:stretch>
        </p:blipFill>
        <p:spPr>
          <a:xfrm>
            <a:off x="9511132" y="2322576"/>
            <a:ext cx="457200" cy="457200"/>
          </a:xfrm>
          <a:prstGeom prst="rect">
            <a:avLst/>
          </a:prstGeom>
        </p:spPr>
      </p:pic>
      <p:sp>
        <p:nvSpPr>
          <p:cNvPr id="19"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20"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A classifier labels the request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It reads facts from the chat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Code applies each rule answer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The LLM only writes the reply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No action without a check</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LLM agents fail alone</a:t>
            </a:r>
            <a:endParaRPr lang="en-US" sz="3600" dirty="0"/>
          </a:p>
        </p:txBody>
      </p:sp>
      <p:sp>
        <p:nvSpPr>
          <p:cNvPr id="6"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7"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8" name="Image 2" descr="preencoded.png">    </p:cNvPr>
          <p:cNvPicPr>
            <a:picLocks noChangeAspect="1"/>
          </p:cNvPicPr>
          <p:nvPr/>
        </p:nvPicPr>
        <p:blipFill>
          <a:blip r:embed="rId3"/>
          <a:stretch>
            <a:fillRect/>
          </a:stretch>
        </p:blipFill>
        <p:spPr>
          <a:xfrm>
            <a:off x="1716146" y="1642994"/>
            <a:ext cx="225308" cy="225308"/>
          </a:xfrm>
          <a:prstGeom prst="rect">
            <a:avLst/>
          </a:prstGeom>
        </p:spPr>
      </p:pic>
      <p:sp>
        <p:nvSpPr>
          <p:cNvPr id="9"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10"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11"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2" name="Image 3" descr="preencoded.png">    </p:cNvPr>
          <p:cNvPicPr>
            <a:picLocks noChangeAspect="1"/>
          </p:cNvPicPr>
          <p:nvPr/>
        </p:nvPicPr>
        <p:blipFill>
          <a:blip r:embed="rId4"/>
          <a:stretch>
            <a:fillRect/>
          </a:stretch>
        </p:blipFill>
        <p:spPr>
          <a:xfrm>
            <a:off x="1755648" y="2734056"/>
            <a:ext cx="256032" cy="256032"/>
          </a:xfrm>
          <a:prstGeom prst="rect">
            <a:avLst/>
          </a:prstGeom>
        </p:spPr>
      </p:pic>
      <p:sp>
        <p:nvSpPr>
          <p:cNvPr id="13"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4" name="Image 4" descr="preencoded.png">    </p:cNvPr>
          <p:cNvPicPr>
            <a:picLocks noChangeAspect="1"/>
          </p:cNvPicPr>
          <p:nvPr/>
        </p:nvPicPr>
        <p:blipFill>
          <a:blip r:embed="rId5"/>
          <a:stretch>
            <a:fillRect/>
          </a:stretch>
        </p:blipFill>
        <p:spPr>
          <a:xfrm>
            <a:off x="5166360" y="2194560"/>
            <a:ext cx="1188720" cy="685800"/>
          </a:xfrm>
          <a:prstGeom prst="rect">
            <a:avLst/>
          </a:prstGeom>
        </p:spPr>
      </p:pic>
      <p:sp>
        <p:nvSpPr>
          <p:cNvPr id="15"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6"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7" name="Image 5" descr="preencoded.png">    </p:cNvPr>
          <p:cNvPicPr>
            <a:picLocks noChangeAspect="1"/>
          </p:cNvPicPr>
          <p:nvPr/>
        </p:nvPicPr>
        <p:blipFill>
          <a:blip r:embed="rId6"/>
          <a:stretch>
            <a:fillRect/>
          </a:stretch>
        </p:blipFill>
        <p:spPr>
          <a:xfrm>
            <a:off x="6568135" y="2087575"/>
            <a:ext cx="588874" cy="588874"/>
          </a:xfrm>
          <a:prstGeom prst="rect">
            <a:avLst/>
          </a:prstGeom>
        </p:spPr>
      </p:pic>
      <p:sp>
        <p:nvSpPr>
          <p:cNvPr id="18"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LLM agent</a:t>
            </a:r>
            <a:endParaRPr lang="en-US" sz="1500" dirty="0"/>
          </a:p>
        </p:txBody>
      </p:sp>
      <p:sp>
        <p:nvSpPr>
          <p:cNvPr id="19"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20" name="Image 6" descr="preencoded.png">    </p:cNvPr>
          <p:cNvPicPr>
            <a:picLocks noChangeAspect="1"/>
          </p:cNvPicPr>
          <p:nvPr/>
        </p:nvPicPr>
        <p:blipFill>
          <a:blip r:embed="rId7"/>
          <a:stretch>
            <a:fillRect/>
          </a:stretch>
        </p:blipFill>
        <p:spPr>
          <a:xfrm>
            <a:off x="7315200" y="2148840"/>
            <a:ext cx="777240" cy="457200"/>
          </a:xfrm>
          <a:prstGeom prst="rect">
            <a:avLst/>
          </a:prstGeom>
        </p:spPr>
      </p:pic>
      <p:sp>
        <p:nvSpPr>
          <p:cNvPr id="21"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2"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3" name="Image 7" descr="preencoded.png">    </p:cNvPr>
          <p:cNvPicPr>
            <a:picLocks noChangeAspect="1"/>
          </p:cNvPicPr>
          <p:nvPr/>
        </p:nvPicPr>
        <p:blipFill>
          <a:blip r:embed="rId8"/>
          <a:stretch>
            <a:fillRect/>
          </a:stretch>
        </p:blipFill>
        <p:spPr>
          <a:xfrm>
            <a:off x="8302752" y="1517904"/>
            <a:ext cx="274320" cy="274320"/>
          </a:xfrm>
          <a:prstGeom prst="rect">
            <a:avLst/>
          </a:prstGeom>
        </p:spPr>
      </p:pic>
      <p:sp>
        <p:nvSpPr>
          <p:cNvPr id="24"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5"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6" name="Image 8" descr="preencoded.png">    </p:cNvPr>
          <p:cNvPicPr>
            <a:picLocks noChangeAspect="1"/>
          </p:cNvPicPr>
          <p:nvPr/>
        </p:nvPicPr>
        <p:blipFill>
          <a:blip r:embed="rId9"/>
          <a:stretch>
            <a:fillRect/>
          </a:stretch>
        </p:blipFill>
        <p:spPr>
          <a:xfrm>
            <a:off x="8302752" y="2103120"/>
            <a:ext cx="274320" cy="274320"/>
          </a:xfrm>
          <a:prstGeom prst="rect">
            <a:avLst/>
          </a:prstGeom>
        </p:spPr>
      </p:pic>
      <p:sp>
        <p:nvSpPr>
          <p:cNvPr id="27"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8"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9" name="Image 9" descr="preencoded.png">    </p:cNvPr>
          <p:cNvPicPr>
            <a:picLocks noChangeAspect="1"/>
          </p:cNvPicPr>
          <p:nvPr/>
        </p:nvPicPr>
        <p:blipFill>
          <a:blip r:embed="rId10"/>
          <a:stretch>
            <a:fillRect/>
          </a:stretch>
        </p:blipFill>
        <p:spPr>
          <a:xfrm>
            <a:off x="8302752" y="2688336"/>
            <a:ext cx="274320" cy="274320"/>
          </a:xfrm>
          <a:prstGeom prst="rect">
            <a:avLst/>
          </a:prstGeom>
        </p:spPr>
      </p:pic>
      <p:sp>
        <p:nvSpPr>
          <p:cNvPr id="30"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31"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2" name="Image 10" descr="preencoded.png">    </p:cNvPr>
          <p:cNvPicPr>
            <a:picLocks noChangeAspect="1"/>
          </p:cNvPicPr>
          <p:nvPr/>
        </p:nvPicPr>
        <p:blipFill>
          <a:blip r:embed="rId11"/>
          <a:stretch>
            <a:fillRect/>
          </a:stretch>
        </p:blipFill>
        <p:spPr>
          <a:xfrm>
            <a:off x="8275320" y="3300984"/>
            <a:ext cx="274320" cy="274320"/>
          </a:xfrm>
          <a:prstGeom prst="rect">
            <a:avLst/>
          </a:prstGeom>
        </p:spPr>
      </p:pic>
      <p:sp>
        <p:nvSpPr>
          <p:cNvPr id="33"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4"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5"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6"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7" name="Image 11" descr="preencoded.png">    </p:cNvPr>
          <p:cNvPicPr>
            <a:picLocks noChangeAspect="1"/>
          </p:cNvPicPr>
          <p:nvPr/>
        </p:nvPicPr>
        <p:blipFill>
          <a:blip r:embed="rId12"/>
          <a:stretch>
            <a:fillRect/>
          </a:stretch>
        </p:blipFill>
        <p:spPr>
          <a:xfrm>
            <a:off x="1150681" y="5402641"/>
            <a:ext cx="368686" cy="368686"/>
          </a:xfrm>
          <a:prstGeom prst="rect">
            <a:avLst/>
          </a:prstGeom>
        </p:spPr>
      </p:pic>
      <p:sp>
        <p:nvSpPr>
          <p:cNvPr id="38"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9"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40"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41" name="Image 12" descr="preencoded.png">    </p:cNvPr>
          <p:cNvPicPr>
            <a:picLocks noChangeAspect="1"/>
          </p:cNvPicPr>
          <p:nvPr/>
        </p:nvPicPr>
        <p:blipFill>
          <a:blip r:embed="rId13"/>
          <a:stretch>
            <a:fillRect/>
          </a:stretch>
        </p:blipFill>
        <p:spPr>
          <a:xfrm>
            <a:off x="4899721" y="5402641"/>
            <a:ext cx="368686" cy="368686"/>
          </a:xfrm>
          <a:prstGeom prst="rect">
            <a:avLst/>
          </a:prstGeom>
        </p:spPr>
      </p:pic>
      <p:sp>
        <p:nvSpPr>
          <p:cNvPr id="42"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3"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4"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5" name="Image 13" descr="preencoded.png">    </p:cNvPr>
          <p:cNvPicPr>
            <a:picLocks noChangeAspect="1"/>
          </p:cNvPicPr>
          <p:nvPr/>
        </p:nvPicPr>
        <p:blipFill>
          <a:blip r:embed="rId14"/>
          <a:stretch>
            <a:fillRect/>
          </a:stretch>
        </p:blipFill>
        <p:spPr>
          <a:xfrm>
            <a:off x="8648761" y="5402641"/>
            <a:ext cx="368686" cy="368686"/>
          </a:xfrm>
          <a:prstGeom prst="rect">
            <a:avLst/>
          </a:prstGeom>
        </p:spPr>
      </p:pic>
      <p:sp>
        <p:nvSpPr>
          <p:cNvPr id="46"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7"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6"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7"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8"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9"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10"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11"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2"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3"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4" name="Shape 9"/>
          <p:cNvSpPr/>
          <p:nvPr/>
        </p:nvSpPr>
        <p:spPr>
          <a:xfrm>
            <a:off x="914400" y="4297680"/>
            <a:ext cx="10362895" cy="0"/>
          </a:xfrm>
          <a:prstGeom prst="line">
            <a:avLst/>
          </a:prstGeom>
          <a:noFill/>
          <a:ln w="25400">
            <a:solidFill>
              <a:srgbClr val="8C9BAD"/>
            </a:solidFill>
            <a:prstDash val="solid"/>
          </a:ln>
        </p:spPr>
      </p:sp>
      <p:sp>
        <p:nvSpPr>
          <p:cNvPr id="15"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6"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7"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8"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9"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20"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21"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2"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3"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4"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5"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6"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7"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8"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9"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30"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31"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2"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3"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4"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6"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7"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8"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9"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10"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11"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2"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3"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4" name="Shape 9"/>
          <p:cNvSpPr/>
          <p:nvPr/>
        </p:nvSpPr>
        <p:spPr>
          <a:xfrm>
            <a:off x="914400" y="4297680"/>
            <a:ext cx="10362895" cy="0"/>
          </a:xfrm>
          <a:prstGeom prst="line">
            <a:avLst/>
          </a:prstGeom>
          <a:noFill/>
          <a:ln w="25400">
            <a:solidFill>
              <a:srgbClr val="8C9BAD"/>
            </a:solidFill>
            <a:prstDash val="solid"/>
          </a:ln>
        </p:spPr>
      </p:sp>
      <p:sp>
        <p:nvSpPr>
          <p:cNvPr id="15"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6"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7"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8"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9"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20"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21"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2"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3"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4"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5"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6"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7"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8"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9"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30"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31"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2"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3"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4"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pic>
        <p:nvPicPr>
          <p:cNvPr id="2" name="!!decor-bl" descr="preencoded.png">    </p:cNvPr>
          <p:cNvPicPr>
            <a:picLocks noChangeAspect="1"/>
          </p:cNvPicPr>
          <p:nvPr/>
        </p:nvPicPr>
        <p:blipFill>
          <a:blip r:embed="rId1"/>
          <a:stretch>
            <a:fillRect/>
          </a:stretch>
        </p:blipFill>
        <p:spPr>
          <a:xfrm>
            <a:off x="0" y="1371600"/>
            <a:ext cx="5486400" cy="5486400"/>
          </a:xfrm>
          <a:prstGeom prst="rect">
            <a:avLst/>
          </a:prstGeom>
        </p:spPr>
      </p:pic>
      <p:pic>
        <p:nvPicPr>
          <p:cNvPr id="3" name="!!decor-br" descr="preencoded.png">    </p:cNvPr>
          <p:cNvPicPr>
            <a:picLocks noChangeAspect="1"/>
          </p:cNvPicPr>
          <p:nvPr/>
        </p:nvPicPr>
        <p:blipFill>
          <a:blip r:embed="rId2"/>
          <a:stretch>
            <a:fillRect/>
          </a:stretch>
        </p:blipFill>
        <p:spPr>
          <a:xfrm>
            <a:off x="6705295"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Hallucination rate on AA-Omniscience</a:t>
            </a:r>
            <a:endParaRPr lang="en-US" sz="3600" dirty="0"/>
          </a:p>
        </p:txBody>
      </p:sp>
      <p:sp>
        <p:nvSpPr>
          <p:cNvPr id="6" name="Shape 1"/>
          <p:cNvSpPr/>
          <p:nvPr/>
        </p:nvSpPr>
        <p:spPr>
          <a:xfrm>
            <a:off x="640021" y="1417320"/>
            <a:ext cx="10911652" cy="3429000"/>
          </a:xfrm>
          <a:prstGeom prst="roundRect">
            <a:avLst>
              <a:gd name="adj" fmla="val 2133"/>
            </a:avLst>
          </a:prstGeom>
          <a:solidFill>
            <a:srgbClr val="FFFFFF"/>
          </a:solidFill>
          <a:ln/>
        </p:spPr>
      </p:sp>
      <p:pic>
        <p:nvPicPr>
          <p:cNvPr id="7" name="Image 2" descr="assets/omniscience_rate.png">    </p:cNvPr>
          <p:cNvPicPr>
            <a:picLocks noChangeAspect="1"/>
          </p:cNvPicPr>
          <p:nvPr/>
        </p:nvPicPr>
        <p:blipFill>
          <a:blip r:embed="rId3"/>
          <a:stretch>
            <a:fillRect/>
          </a:stretch>
        </p:blipFill>
        <p:spPr>
          <a:xfrm>
            <a:off x="777181" y="1554480"/>
            <a:ext cx="10637332" cy="3154680"/>
          </a:xfrm>
          <a:prstGeom prst="rect">
            <a:avLst/>
          </a:prstGeom>
        </p:spPr>
      </p:pic>
      <p:sp>
        <p:nvSpPr>
          <p:cNvPr id="8" name="Shape 2"/>
          <p:cNvSpPr/>
          <p:nvPr/>
        </p:nvSpPr>
        <p:spPr>
          <a:xfrm>
            <a:off x="548640" y="4983480"/>
            <a:ext cx="11094415" cy="822960"/>
          </a:xfrm>
          <a:prstGeom prst="roundRect">
            <a:avLst>
              <a:gd name="adj" fmla="val 8889"/>
            </a:avLst>
          </a:prstGeom>
          <a:solidFill>
            <a:srgbClr val="1F7A7A"/>
          </a:solidFill>
          <a:ln/>
        </p:spPr>
      </p:sp>
      <p:pic>
        <p:nvPicPr>
          <p:cNvPr id="9" name="Image 3" descr="preencoded.png">    </p:cNvPr>
          <p:cNvPicPr>
            <a:picLocks noChangeAspect="1"/>
          </p:cNvPicPr>
          <p:nvPr/>
        </p:nvPicPr>
        <p:blipFill>
          <a:blip r:embed="rId4"/>
          <a:stretch>
            <a:fillRect/>
          </a:stretch>
        </p:blipFill>
        <p:spPr>
          <a:xfrm>
            <a:off x="822960" y="5166360"/>
            <a:ext cx="457200" cy="457200"/>
          </a:xfrm>
          <a:prstGeom prst="rect">
            <a:avLst/>
          </a:prstGeom>
        </p:spPr>
      </p:pic>
      <p:sp>
        <p:nvSpPr>
          <p:cNvPr id="10" name="Text 3"/>
          <p:cNvSpPr/>
          <p:nvPr/>
        </p:nvSpPr>
        <p:spPr>
          <a:xfrm>
            <a:off x="1508760" y="498348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lowest rate on the board is 18%. </a:t>
            </a:r>
            <a:pPr algn="l" indent="0" marL="0">
              <a:buNone/>
            </a:pPr>
            <a:r>
              <a:rPr lang="en-US" sz="1800" dirty="0">
                <a:solidFill>
                  <a:srgbClr val="FFFFFF"/>
                </a:solidFill>
                <a:latin typeface="Calibri" pitchFamily="34" charset="0"/>
                <a:ea typeface="Calibri" pitchFamily="34" charset="-122"/>
                <a:cs typeface="Calibri" pitchFamily="34" charset="-120"/>
              </a:rPr>
              <a:t>Most models sit between 30 and 65%.</a:t>
            </a:r>
            <a:endParaRPr lang="en-US" sz="1800" dirty="0"/>
          </a:p>
        </p:txBody>
      </p:sp>
      <p:sp>
        <p:nvSpPr>
          <p:cNvPr id="11" name="Text 4"/>
          <p:cNvSpPr/>
          <p:nvPr/>
        </p:nvSpPr>
        <p:spPr>
          <a:xfrm>
            <a:off x="548640" y="5943600"/>
            <a:ext cx="11094415" cy="32004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Hallucination rate: the share of wrong answers among all answers that are not correct. Source: Artificial Analysis.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higher score does not remove hallucination</a:t>
            </a:r>
            <a:endParaRPr lang="en-US" sz="3600" dirty="0"/>
          </a:p>
        </p:txBody>
      </p:sp>
      <p:sp>
        <p:nvSpPr>
          <p:cNvPr id="6" name="Shape 1"/>
          <p:cNvSpPr/>
          <p:nvPr/>
        </p:nvSpPr>
        <p:spPr>
          <a:xfrm>
            <a:off x="670504" y="1417320"/>
            <a:ext cx="10850688" cy="4526280"/>
          </a:xfrm>
          <a:prstGeom prst="roundRect">
            <a:avLst>
              <a:gd name="adj" fmla="val 1616"/>
            </a:avLst>
          </a:prstGeom>
          <a:solidFill>
            <a:srgbClr val="FFFFFF"/>
          </a:solidFill>
          <a:ln/>
        </p:spPr>
      </p:sp>
      <p:pic>
        <p:nvPicPr>
          <p:cNvPr id="7" name="Image 2" descr="assets/omniscience_scatter.png">    </p:cNvPr>
          <p:cNvPicPr>
            <a:picLocks noChangeAspect="1"/>
          </p:cNvPicPr>
          <p:nvPr/>
        </p:nvPicPr>
        <p:blipFill>
          <a:blip r:embed="rId3"/>
          <a:stretch>
            <a:fillRect/>
          </a:stretch>
        </p:blipFill>
        <p:spPr>
          <a:xfrm>
            <a:off x="807664" y="1554480"/>
            <a:ext cx="10576368" cy="4251960"/>
          </a:xfrm>
          <a:prstGeom prst="rect">
            <a:avLst/>
          </a:prstGeom>
        </p:spPr>
      </p:pic>
      <p:sp>
        <p:nvSpPr>
          <p:cNvPr id="8" name="Text 2"/>
          <p:cNvSpPr/>
          <p:nvPr/>
        </p:nvSpPr>
        <p:spPr>
          <a:xfrm>
            <a:off x="548640" y="6053328"/>
            <a:ext cx="11094415" cy="27432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Green box: a high score and a hallucination rate below 50%. Source: Artificial Analysis.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short history of support systems</a:t>
            </a:r>
            <a:endParaRPr lang="en-US" sz="3600" dirty="0"/>
          </a:p>
        </p:txBody>
      </p:sp>
      <p:pic>
        <p:nvPicPr>
          <p:cNvPr id="6" name="Image 2" descr="preencoded.png">    </p:cNvPr>
          <p:cNvPicPr>
            <a:picLocks noChangeAspect="1"/>
          </p:cNvPicPr>
          <p:nvPr/>
        </p:nvPicPr>
        <p:blipFill>
          <a:blip r:embed="rId3"/>
          <a:stretch>
            <a:fillRect/>
          </a:stretch>
        </p:blipFill>
        <p:spPr>
          <a:xfrm>
            <a:off x="0" y="0"/>
            <a:ext cx="12191695" cy="6858000"/>
          </a:xfrm>
          <a:prstGeom prst="rect">
            <a:avLst/>
          </a:prstGeom>
        </p:spPr>
      </p:pic>
      <p:pic>
        <p:nvPicPr>
          <p:cNvPr id="7" name="Image 3" descr="preencoded.png">    </p:cNvPr>
          <p:cNvPicPr>
            <a:picLocks noChangeAspect="1"/>
          </p:cNvPicPr>
          <p:nvPr/>
        </p:nvPicPr>
        <p:blipFill>
          <a:blip r:embed="rId4"/>
          <a:stretch>
            <a:fillRect/>
          </a:stretch>
        </p:blipFill>
        <p:spPr>
          <a:xfrm>
            <a:off x="502920" y="4922215"/>
            <a:ext cx="822960" cy="822960"/>
          </a:xfrm>
          <a:prstGeom prst="rect">
            <a:avLst/>
          </a:prstGeom>
        </p:spPr>
      </p:pic>
      <p:pic>
        <p:nvPicPr>
          <p:cNvPr id="8" name="Image 4" descr="preencoded.png">    </p:cNvPr>
          <p:cNvPicPr>
            <a:picLocks noChangeAspect="1"/>
          </p:cNvPicPr>
          <p:nvPr/>
        </p:nvPicPr>
        <p:blipFill>
          <a:blip r:embed="rId5"/>
          <a:stretch>
            <a:fillRect/>
          </a:stretch>
        </p:blipFill>
        <p:spPr>
          <a:xfrm>
            <a:off x="3550615" y="3246120"/>
            <a:ext cx="822960" cy="822960"/>
          </a:xfrm>
          <a:prstGeom prst="rect">
            <a:avLst/>
          </a:prstGeom>
        </p:spPr>
      </p:pic>
      <p:sp>
        <p:nvSpPr>
          <p:cNvPr id="9" name="Text 1"/>
          <p:cNvSpPr/>
          <p:nvPr/>
        </p:nvSpPr>
        <p:spPr>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a:t>
            </a:r>
            <a:endParaRPr lang="en-US" sz="4000" dirty="0"/>
          </a:p>
        </p:txBody>
      </p:sp>
      <p:pic>
        <p:nvPicPr>
          <p:cNvPr id="10" name="Image 5" descr="preencoded.png">    </p:cNvPr>
          <p:cNvPicPr>
            <a:picLocks noChangeAspect="1"/>
          </p:cNvPicPr>
          <p:nvPr/>
        </p:nvPicPr>
        <p:blipFill>
          <a:blip r:embed="rId6"/>
          <a:stretch>
            <a:fillRect/>
          </a:stretch>
        </p:blipFill>
        <p:spPr>
          <a:xfrm>
            <a:off x="1726387" y="4615891"/>
            <a:ext cx="402336" cy="402336"/>
          </a:xfrm>
          <a:prstGeom prst="rect">
            <a:avLst/>
          </a:prstGeom>
        </p:spPr>
      </p:pic>
      <p:sp>
        <p:nvSpPr>
          <p:cNvPr id="11" name="Shape 2"/>
          <p:cNvSpPr/>
          <p:nvPr/>
        </p:nvSpPr>
        <p:spPr>
          <a:xfrm>
            <a:off x="11183112" y="3410712"/>
            <a:ext cx="182880" cy="182880"/>
          </a:xfrm>
          <a:prstGeom prst="ellipse">
            <a:avLst/>
          </a:prstGeom>
          <a:solidFill>
            <a:srgbClr val="1B365D"/>
          </a:solidFill>
          <a:ln w="25400">
            <a:solidFill>
              <a:srgbClr val="FFFFFF"/>
            </a:solidFill>
            <a:prstDash val="solid"/>
          </a:ln>
        </p:spPr>
      </p:sp>
      <p:sp>
        <p:nvSpPr>
          <p:cNvPr id="12" name="Text 3"/>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3" name="Text 4"/>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a:t>
            </a:r>
            <a:endParaRPr lang="en-US" sz="2200" dirty="0"/>
          </a:p>
        </p:txBody>
      </p:sp>
      <p:sp>
        <p:nvSpPr>
          <p:cNvPr id="14" name="Text 5"/>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trained model labels the message, fixed rules run the flow</a:t>
            </a:r>
            <a:endParaRPr lang="en-US" sz="1600" dirty="0"/>
          </a:p>
        </p:txBody>
      </p:sp>
      <p:sp>
        <p:nvSpPr>
          <p:cNvPr id="15" name="Text 6"/>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2023-now</a:t>
            </a:r>
            <a:endParaRPr lang="en-US" sz="1600" dirty="0"/>
          </a:p>
        </p:txBody>
      </p:sp>
      <p:sp>
        <p:nvSpPr>
          <p:cNvPr id="16" name="Text 7"/>
          <p:cNvSpPr/>
          <p:nvPr/>
        </p:nvSpPr>
        <p:spPr>
          <a:xfrm>
            <a:off x="4267505" y="4261104"/>
            <a:ext cx="51206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LLM Classifier + Agent</a:t>
            </a:r>
            <a:endParaRPr lang="en-US" sz="2200" dirty="0"/>
          </a:p>
        </p:txBody>
      </p:sp>
      <p:sp>
        <p:nvSpPr>
          <p:cNvPr id="17" name="Text 8"/>
          <p:cNvSpPr/>
          <p:nvPr/>
        </p:nvSpPr>
        <p:spPr>
          <a:xfrm>
            <a:off x="4267505" y="468172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An LLM labels the message, then an LLM agent</a:t>
            </a:r>
            <a:endParaRPr lang="en-US" sz="1600" dirty="0"/>
          </a:p>
        </p:txBody>
      </p:sp>
      <p:sp>
        <p:nvSpPr>
          <p:cNvPr id="18" name="Text 9"/>
          <p:cNvSpPr/>
          <p:nvPr/>
        </p:nvSpPr>
        <p:spPr>
          <a:xfrm>
            <a:off x="4267505" y="495604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holds the rules, decides, and acts</a:t>
            </a:r>
            <a:endParaRPr lang="en-US" sz="1600" dirty="0"/>
          </a:p>
        </p:txBody>
      </p:sp>
      <p:sp>
        <p:nvSpPr>
          <p:cNvPr id="19" name="Text 10"/>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next</a:t>
            </a:r>
            <a:endParaRPr lang="en-US" sz="1600" dirty="0"/>
          </a:p>
        </p:txBody>
      </p:sp>
      <p:sp>
        <p:nvSpPr>
          <p:cNvPr id="20" name="Text 11"/>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How do we improve it?</a:t>
            </a:r>
            <a:endParaRPr lang="en-US" sz="2200" dirty="0"/>
          </a:p>
        </p:txBody>
      </p:sp>
      <p:sp>
        <p:nvSpPr>
          <p:cNvPr id="21" name="Text 12"/>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6" name="Shape 1"/>
          <p:cNvSpPr/>
          <p:nvPr/>
        </p:nvSpPr>
        <p:spPr>
          <a:xfrm>
            <a:off x="548640" y="1417320"/>
            <a:ext cx="11094415" cy="731520"/>
          </a:xfrm>
          <a:prstGeom prst="roundRect">
            <a:avLst>
              <a:gd name="adj" fmla="val 10000"/>
            </a:avLst>
          </a:prstGeom>
          <a:solidFill>
            <a:srgbClr val="A2C4BE"/>
          </a:solidFill>
          <a:ln/>
        </p:spPr>
      </p:sp>
      <p:sp>
        <p:nvSpPr>
          <p:cNvPr id="7"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Security</a:t>
            </a:r>
            <a:endParaRPr lang="en-US" sz="2200" dirty="0"/>
          </a:p>
        </p:txBody>
      </p:sp>
      <p:sp>
        <p:nvSpPr>
          <p:cNvPr id="8"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9"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0" name="Shape 5"/>
          <p:cNvSpPr/>
          <p:nvPr/>
        </p:nvSpPr>
        <p:spPr>
          <a:xfrm>
            <a:off x="548640" y="2258568"/>
            <a:ext cx="11094415" cy="731520"/>
          </a:xfrm>
          <a:prstGeom prst="roundRect">
            <a:avLst>
              <a:gd name="adj" fmla="val 10000"/>
            </a:avLst>
          </a:prstGeom>
          <a:solidFill>
            <a:srgbClr val="FFFFFF"/>
          </a:solidFill>
          <a:ln/>
        </p:spPr>
      </p:sp>
      <p:sp>
        <p:nvSpPr>
          <p:cNvPr id="11"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2"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3"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4" name="Shape 9"/>
          <p:cNvSpPr/>
          <p:nvPr/>
        </p:nvSpPr>
        <p:spPr>
          <a:xfrm>
            <a:off x="548640" y="3099816"/>
            <a:ext cx="11094415" cy="731520"/>
          </a:xfrm>
          <a:prstGeom prst="roundRect">
            <a:avLst>
              <a:gd name="adj" fmla="val 10000"/>
            </a:avLst>
          </a:prstGeom>
          <a:solidFill>
            <a:srgbClr val="FFFFFF"/>
          </a:solidFill>
          <a:ln/>
        </p:spPr>
      </p:sp>
      <p:sp>
        <p:nvSpPr>
          <p:cNvPr id="15"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6"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Credits are already used</a:t>
            </a:r>
            <a:endParaRPr lang="en-US" sz="2200" dirty="0"/>
          </a:p>
        </p:txBody>
      </p:sp>
      <p:sp>
        <p:nvSpPr>
          <p:cNvPr id="17"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8" name="Shape 13"/>
          <p:cNvSpPr/>
          <p:nvPr/>
        </p:nvSpPr>
        <p:spPr>
          <a:xfrm>
            <a:off x="548640" y="3941064"/>
            <a:ext cx="11094415" cy="731520"/>
          </a:xfrm>
          <a:prstGeom prst="roundRect">
            <a:avLst>
              <a:gd name="adj" fmla="val 10000"/>
            </a:avLst>
          </a:prstGeom>
          <a:solidFill>
            <a:srgbClr val="FFFFFF"/>
          </a:solidFill>
          <a:ln/>
        </p:spPr>
      </p:sp>
      <p:sp>
        <p:nvSpPr>
          <p:cNvPr id="19"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20"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21"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2" name="Shape 17"/>
          <p:cNvSpPr/>
          <p:nvPr/>
        </p:nvSpPr>
        <p:spPr>
          <a:xfrm>
            <a:off x="548640" y="4782312"/>
            <a:ext cx="11094415" cy="731520"/>
          </a:xfrm>
          <a:prstGeom prst="roundRect">
            <a:avLst>
              <a:gd name="adj" fmla="val 10000"/>
            </a:avLst>
          </a:prstGeom>
          <a:solidFill>
            <a:srgbClr val="FFFFFF"/>
          </a:solidFill>
          <a:ln/>
        </p:spPr>
      </p:sp>
      <p:sp>
        <p:nvSpPr>
          <p:cNvPr id="23"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4"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5"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6"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Deny means nothing runs. </a:t>
            </a:r>
            <a:pPr algn="l" indent="0" marL="0">
              <a:buNone/>
            </a:pPr>
            <a:r>
              <a:rPr lang="en-US" sz="1700" dirty="0">
                <a:solidFill>
                  <a:srgbClr val="1B365D"/>
                </a:solidFill>
                <a:latin typeface="Calibri" pitchFamily="34" charset="0"/>
                <a:ea typeface="Calibri" pitchFamily="34" charset="-122"/>
                <a:cs typeface="Calibri" pitchFamily="34" charset="-120"/>
              </a:rPr>
              <a:t>The reply gives the reason.</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6"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7"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8"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9"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10"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11"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2"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3"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4"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5"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6"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7"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8"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9"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20"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21"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2"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3"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4"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5"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6"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7"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8"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9"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30"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31"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2"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3"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4"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5"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6"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7"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8"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9"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40"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41"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2"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3"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4"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5"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6"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7"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8"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9"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50"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51"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2"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3"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4"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5"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6"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a fast classifier?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Meet Jev, a fast classifier</a:t>
            </a:r>
            <a:endParaRPr lang="en-US" sz="3600" dirty="0"/>
          </a:p>
        </p:txBody>
      </p:sp>
      <p:sp>
        <p:nvSpPr>
          <p:cNvPr id="6" name="Shape 1"/>
          <p:cNvSpPr/>
          <p:nvPr/>
        </p:nvSpPr>
        <p:spPr>
          <a:xfrm>
            <a:off x="548640" y="1371600"/>
            <a:ext cx="6400800" cy="914400"/>
          </a:xfrm>
          <a:prstGeom prst="roundRect">
            <a:avLst>
              <a:gd name="adj" fmla="val 8000"/>
            </a:avLst>
          </a:prstGeom>
          <a:solidFill>
            <a:srgbClr val="FFFFFF"/>
          </a:solidFill>
          <a:ln/>
        </p:spPr>
      </p:sp>
      <p:sp>
        <p:nvSpPr>
          <p:cNvPr id="7" name="Shape 2"/>
          <p:cNvSpPr/>
          <p:nvPr/>
        </p:nvSpPr>
        <p:spPr>
          <a:xfrm>
            <a:off x="777240" y="1508760"/>
            <a:ext cx="640080" cy="64008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918058" y="1649578"/>
            <a:ext cx="358445" cy="358445"/>
          </a:xfrm>
          <a:prstGeom prst="rect">
            <a:avLst/>
          </a:prstGeom>
        </p:spPr>
      </p:pic>
      <p:sp>
        <p:nvSpPr>
          <p:cNvPr id="9" name="Text 3"/>
          <p:cNvSpPr/>
          <p:nvPr/>
        </p:nvSpPr>
        <p:spPr>
          <a:xfrm>
            <a:off x="1600200" y="1463040"/>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Typed labels, each with a confidence</a:t>
            </a:r>
            <a:endParaRPr lang="en-US" sz="2000" dirty="0"/>
          </a:p>
        </p:txBody>
      </p:sp>
      <p:sp>
        <p:nvSpPr>
          <p:cNvPr id="10" name="Text 4"/>
          <p:cNvSpPr/>
          <p:nvPr/>
        </p:nvSpPr>
        <p:spPr>
          <a:xfrm>
            <a:off x="1600200" y="1847088"/>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Topic, action, priority, risk, injection: fixed answers.</a:t>
            </a:r>
            <a:endParaRPr lang="en-US" sz="1500" dirty="0"/>
          </a:p>
        </p:txBody>
      </p:sp>
      <p:sp>
        <p:nvSpPr>
          <p:cNvPr id="11" name="Shape 5"/>
          <p:cNvSpPr/>
          <p:nvPr/>
        </p:nvSpPr>
        <p:spPr>
          <a:xfrm>
            <a:off x="548640" y="2414016"/>
            <a:ext cx="6400800" cy="914400"/>
          </a:xfrm>
          <a:prstGeom prst="roundRect">
            <a:avLst>
              <a:gd name="adj" fmla="val 8000"/>
            </a:avLst>
          </a:prstGeom>
          <a:solidFill>
            <a:srgbClr val="FFFFFF"/>
          </a:solidFill>
          <a:ln/>
        </p:spPr>
      </p:sp>
      <p:sp>
        <p:nvSpPr>
          <p:cNvPr id="12" name="Shape 6"/>
          <p:cNvSpPr/>
          <p:nvPr/>
        </p:nvSpPr>
        <p:spPr>
          <a:xfrm>
            <a:off x="777240" y="2551176"/>
            <a:ext cx="640080" cy="640080"/>
          </a:xfrm>
          <a:prstGeom prst="ellipse">
            <a:avLst/>
          </a:prstGeom>
          <a:solidFill>
            <a:srgbClr val="234B84"/>
          </a:solidFill>
          <a:ln w="12700">
            <a:solidFill>
              <a:srgbClr val="234B84"/>
            </a:solidFill>
            <a:prstDash val="solid"/>
          </a:ln>
        </p:spPr>
      </p:sp>
      <p:pic>
        <p:nvPicPr>
          <p:cNvPr id="13" name="Image 3" descr="preencoded.png">    </p:cNvPr>
          <p:cNvPicPr>
            <a:picLocks noChangeAspect="1"/>
          </p:cNvPicPr>
          <p:nvPr/>
        </p:nvPicPr>
        <p:blipFill>
          <a:blip r:embed="rId4"/>
          <a:stretch>
            <a:fillRect/>
          </a:stretch>
        </p:blipFill>
        <p:spPr>
          <a:xfrm>
            <a:off x="918058" y="2691994"/>
            <a:ext cx="358445" cy="358445"/>
          </a:xfrm>
          <a:prstGeom prst="rect">
            <a:avLst/>
          </a:prstGeom>
        </p:spPr>
      </p:pic>
      <p:sp>
        <p:nvSpPr>
          <p:cNvPr id="14" name="Text 7"/>
          <p:cNvSpPr/>
          <p:nvPr/>
        </p:nvSpPr>
        <p:spPr>
          <a:xfrm>
            <a:off x="1600200" y="2505456"/>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Answers our own yes/no questions</a:t>
            </a:r>
            <a:endParaRPr lang="en-US" sz="2000" dirty="0"/>
          </a:p>
        </p:txBody>
      </p:sp>
      <p:sp>
        <p:nvSpPr>
          <p:cNvPr id="15" name="Text 8"/>
          <p:cNvSpPr/>
          <p:nvPr/>
        </p:nvSpPr>
        <p:spPr>
          <a:xfrm>
            <a:off x="1600200" y="2889504"/>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One zero-shot question for each rule, with no fine-tuning.</a:t>
            </a:r>
            <a:endParaRPr lang="en-US" sz="1500" dirty="0"/>
          </a:p>
        </p:txBody>
      </p:sp>
      <p:sp>
        <p:nvSpPr>
          <p:cNvPr id="16" name="Shape 9"/>
          <p:cNvSpPr/>
          <p:nvPr/>
        </p:nvSpPr>
        <p:spPr>
          <a:xfrm>
            <a:off x="548640" y="3456432"/>
            <a:ext cx="6400800" cy="914400"/>
          </a:xfrm>
          <a:prstGeom prst="roundRect">
            <a:avLst>
              <a:gd name="adj" fmla="val 8000"/>
            </a:avLst>
          </a:prstGeom>
          <a:solidFill>
            <a:srgbClr val="FFFFFF"/>
          </a:solidFill>
          <a:ln/>
        </p:spPr>
      </p:sp>
      <p:sp>
        <p:nvSpPr>
          <p:cNvPr id="17" name="Shape 10"/>
          <p:cNvSpPr/>
          <p:nvPr/>
        </p:nvSpPr>
        <p:spPr>
          <a:xfrm>
            <a:off x="777240" y="3593592"/>
            <a:ext cx="640080" cy="640080"/>
          </a:xfrm>
          <a:prstGeom prst="ellipse">
            <a:avLst/>
          </a:prstGeom>
          <a:solidFill>
            <a:srgbClr val="234B84"/>
          </a:solidFill>
          <a:ln w="12700">
            <a:solidFill>
              <a:srgbClr val="234B84"/>
            </a:solidFill>
            <a:prstDash val="solid"/>
          </a:ln>
        </p:spPr>
      </p:sp>
      <p:pic>
        <p:nvPicPr>
          <p:cNvPr id="18" name="Image 4" descr="preencoded.png">    </p:cNvPr>
          <p:cNvPicPr>
            <a:picLocks noChangeAspect="1"/>
          </p:cNvPicPr>
          <p:nvPr/>
        </p:nvPicPr>
        <p:blipFill>
          <a:blip r:embed="rId5"/>
          <a:stretch>
            <a:fillRect/>
          </a:stretch>
        </p:blipFill>
        <p:spPr>
          <a:xfrm>
            <a:off x="918058" y="3734410"/>
            <a:ext cx="358445" cy="358445"/>
          </a:xfrm>
          <a:prstGeom prst="rect">
            <a:avLst/>
          </a:prstGeom>
        </p:spPr>
      </p:pic>
      <p:sp>
        <p:nvSpPr>
          <p:cNvPr id="19" name="Text 11"/>
          <p:cNvSpPr/>
          <p:nvPr/>
        </p:nvSpPr>
        <p:spPr>
          <a:xfrm>
            <a:off x="1600200" y="3547872"/>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Cannot act and never writes text</a:t>
            </a:r>
            <a:endParaRPr lang="en-US" sz="2000" dirty="0"/>
          </a:p>
        </p:txBody>
      </p:sp>
      <p:sp>
        <p:nvSpPr>
          <p:cNvPr id="20" name="Text 12"/>
          <p:cNvSpPr/>
          <p:nvPr/>
        </p:nvSpPr>
        <p:spPr>
          <a:xfrm>
            <a:off x="1600200" y="3931920"/>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It only answers. It cannot run an action or write a reply.</a:t>
            </a:r>
            <a:endParaRPr lang="en-US" sz="1500" dirty="0"/>
          </a:p>
        </p:txBody>
      </p:sp>
      <p:sp>
        <p:nvSpPr>
          <p:cNvPr id="21" name="Shape 13"/>
          <p:cNvSpPr/>
          <p:nvPr/>
        </p:nvSpPr>
        <p:spPr>
          <a:xfrm>
            <a:off x="548640" y="4498848"/>
            <a:ext cx="6400800" cy="914400"/>
          </a:xfrm>
          <a:prstGeom prst="roundRect">
            <a:avLst>
              <a:gd name="adj" fmla="val 8000"/>
            </a:avLst>
          </a:prstGeom>
          <a:solidFill>
            <a:srgbClr val="FFFFFF"/>
          </a:solidFill>
          <a:ln/>
        </p:spPr>
      </p:sp>
      <p:sp>
        <p:nvSpPr>
          <p:cNvPr id="22" name="Shape 14"/>
          <p:cNvSpPr/>
          <p:nvPr/>
        </p:nvSpPr>
        <p:spPr>
          <a:xfrm>
            <a:off x="777240" y="4636008"/>
            <a:ext cx="640080" cy="640080"/>
          </a:xfrm>
          <a:prstGeom prst="ellipse">
            <a:avLst/>
          </a:prstGeom>
          <a:solidFill>
            <a:srgbClr val="234B84"/>
          </a:solidFill>
          <a:ln w="12700">
            <a:solidFill>
              <a:srgbClr val="234B84"/>
            </a:solidFill>
            <a:prstDash val="solid"/>
          </a:ln>
        </p:spPr>
      </p:sp>
      <p:pic>
        <p:nvPicPr>
          <p:cNvPr id="23" name="Image 5" descr="preencoded.png">    </p:cNvPr>
          <p:cNvPicPr>
            <a:picLocks noChangeAspect="1"/>
          </p:cNvPicPr>
          <p:nvPr/>
        </p:nvPicPr>
        <p:blipFill>
          <a:blip r:embed="rId6"/>
          <a:stretch>
            <a:fillRect/>
          </a:stretch>
        </p:blipFill>
        <p:spPr>
          <a:xfrm>
            <a:off x="918058" y="4776826"/>
            <a:ext cx="358445" cy="358445"/>
          </a:xfrm>
          <a:prstGeom prst="rect">
            <a:avLst/>
          </a:prstGeom>
        </p:spPr>
      </p:pic>
      <p:sp>
        <p:nvSpPr>
          <p:cNvPr id="24" name="Text 15"/>
          <p:cNvSpPr/>
          <p:nvPr/>
        </p:nvSpPr>
        <p:spPr>
          <a:xfrm>
            <a:off x="1600200" y="4590288"/>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Cheap per call</a:t>
            </a:r>
            <a:endParaRPr lang="en-US" sz="2000" dirty="0"/>
          </a:p>
        </p:txBody>
      </p:sp>
      <p:sp>
        <p:nvSpPr>
          <p:cNvPr id="25" name="Text 16"/>
          <p:cNvSpPr/>
          <p:nvPr/>
        </p:nvSpPr>
        <p:spPr>
          <a:xfrm>
            <a:off x="1600200" y="4974336"/>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Input: $0.042 per million tokens. Output: free.</a:t>
            </a:r>
            <a:endParaRPr lang="en-US" sz="1500" dirty="0"/>
          </a:p>
        </p:txBody>
      </p:sp>
      <p:sp>
        <p:nvSpPr>
          <p:cNvPr id="26" name="Shape 17"/>
          <p:cNvSpPr/>
          <p:nvPr/>
        </p:nvSpPr>
        <p:spPr>
          <a:xfrm>
            <a:off x="7269480" y="1371600"/>
            <a:ext cx="4373575" cy="4041648"/>
          </a:xfrm>
          <a:prstGeom prst="roundRect">
            <a:avLst>
              <a:gd name="adj" fmla="val 1810"/>
            </a:avLst>
          </a:prstGeom>
          <a:solidFill>
            <a:srgbClr val="FFFFFF"/>
          </a:solidFill>
          <a:ln/>
        </p:spPr>
      </p:sp>
      <p:sp>
        <p:nvSpPr>
          <p:cNvPr id="27" name="Text 18"/>
          <p:cNvSpPr/>
          <p:nvPr/>
        </p:nvSpPr>
        <p:spPr>
          <a:xfrm>
            <a:off x="7543800" y="1481328"/>
            <a:ext cx="3824935"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What Jev returns</a:t>
            </a:r>
            <a:endParaRPr lang="en-US" sz="2000" dirty="0"/>
          </a:p>
        </p:txBody>
      </p:sp>
      <p:sp>
        <p:nvSpPr>
          <p:cNvPr id="28" name="Text 19"/>
          <p:cNvSpPr/>
          <p:nvPr/>
        </p:nvSpPr>
        <p:spPr>
          <a:xfrm>
            <a:off x="7543800" y="1847088"/>
            <a:ext cx="382493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Recorded answers for one request</a:t>
            </a:r>
            <a:endParaRPr lang="en-US" sz="1400" dirty="0"/>
          </a:p>
        </p:txBody>
      </p:sp>
      <p:sp>
        <p:nvSpPr>
          <p:cNvPr id="29" name="Text 20"/>
          <p:cNvSpPr/>
          <p:nvPr/>
        </p:nvSpPr>
        <p:spPr>
          <a:xfrm>
            <a:off x="7543800" y="2286000"/>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30" name="Text 21"/>
          <p:cNvSpPr/>
          <p:nvPr/>
        </p:nvSpPr>
        <p:spPr>
          <a:xfrm>
            <a:off x="7543800" y="3310128"/>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31" name="Text 22"/>
          <p:cNvSpPr/>
          <p:nvPr/>
        </p:nvSpPr>
        <p:spPr>
          <a:xfrm>
            <a:off x="7543800" y="4334256"/>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Rule: Amount limit</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ok</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32" name="Shape 23"/>
          <p:cNvSpPr/>
          <p:nvPr/>
        </p:nvSpPr>
        <p:spPr>
          <a:xfrm>
            <a:off x="548640" y="5806440"/>
            <a:ext cx="11094415" cy="594360"/>
          </a:xfrm>
          <a:prstGeom prst="roundRect">
            <a:avLst>
              <a:gd name="adj" fmla="val 12308"/>
            </a:avLst>
          </a:prstGeom>
          <a:solidFill>
            <a:srgbClr val="1F7A7A"/>
          </a:solidFill>
          <a:ln/>
        </p:spPr>
      </p:sp>
      <p:pic>
        <p:nvPicPr>
          <p:cNvPr id="33" name="Image 6" descr="preencoded.png">    </p:cNvPr>
          <p:cNvPicPr>
            <a:picLocks noChangeAspect="1"/>
          </p:cNvPicPr>
          <p:nvPr/>
        </p:nvPicPr>
        <p:blipFill>
          <a:blip r:embed="rId7"/>
          <a:stretch>
            <a:fillRect/>
          </a:stretch>
        </p:blipFill>
        <p:spPr>
          <a:xfrm>
            <a:off x="822960" y="5875020"/>
            <a:ext cx="457200" cy="457200"/>
          </a:xfrm>
          <a:prstGeom prst="rect">
            <a:avLst/>
          </a:prstGeom>
        </p:spPr>
      </p:pic>
      <p:sp>
        <p:nvSpPr>
          <p:cNvPr id="34" name="Text 24"/>
          <p:cNvSpPr/>
          <p:nvPr/>
        </p:nvSpPr>
        <p:spPr>
          <a:xfrm>
            <a:off x="1508760" y="5806440"/>
            <a:ext cx="9859975" cy="5943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a:t>
            </a:r>
            <a:pPr algn="l" indent="0" marL="0">
              <a:buNone/>
            </a:pPr>
            <a:r>
              <a:rPr lang="en-US" sz="1800" dirty="0">
                <a:solidFill>
                  <a:srgbClr val="FFFFFF"/>
                </a:solidFill>
                <a:latin typeface="Calibri" pitchFamily="34" charset="0"/>
                <a:ea typeface="Calibri" pitchFamily="34" charset="-122"/>
                <a:cs typeface="Calibri" pitchFamily="34" charset="-120"/>
              </a:rPr>
              <a:t>System One family, TypeSafe AI (Almeida, 2026), version 1.13.0.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6" name="Shape 1"/>
          <p:cNvSpPr/>
          <p:nvPr/>
        </p:nvSpPr>
        <p:spPr>
          <a:xfrm>
            <a:off x="548640" y="1463040"/>
            <a:ext cx="3515258" cy="2331720"/>
          </a:xfrm>
          <a:prstGeom prst="roundRect">
            <a:avLst>
              <a:gd name="adj" fmla="val 3137"/>
            </a:avLst>
          </a:prstGeom>
          <a:solidFill>
            <a:srgbClr val="FFFFFF"/>
          </a:solidFill>
          <a:ln/>
        </p:spPr>
      </p:sp>
      <p:sp>
        <p:nvSpPr>
          <p:cNvPr id="7"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8" name="Image 2" descr="preencoded.png">    </p:cNvPr>
          <p:cNvPicPr>
            <a:picLocks noChangeAspect="1"/>
          </p:cNvPicPr>
          <p:nvPr/>
        </p:nvPicPr>
        <p:blipFill>
          <a:blip r:embed="rId3"/>
          <a:stretch>
            <a:fillRect/>
          </a:stretch>
        </p:blipFill>
        <p:spPr>
          <a:xfrm>
            <a:off x="897941" y="1766621"/>
            <a:ext cx="307238" cy="307238"/>
          </a:xfrm>
          <a:prstGeom prst="rect">
            <a:avLst/>
          </a:prstGeom>
        </p:spPr>
      </p:pic>
      <p:sp>
        <p:nvSpPr>
          <p:cNvPr id="9"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10"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11" name="Shape 5"/>
          <p:cNvSpPr/>
          <p:nvPr/>
        </p:nvSpPr>
        <p:spPr>
          <a:xfrm>
            <a:off x="2306269" y="3822192"/>
            <a:ext cx="0" cy="292608"/>
          </a:xfrm>
          <a:prstGeom prst="line">
            <a:avLst/>
          </a:prstGeom>
          <a:noFill/>
          <a:ln w="25400">
            <a:solidFill>
              <a:srgbClr val="5F6B7A"/>
            </a:solidFill>
            <a:prstDash val="solid"/>
            <a:tailEnd type="triangle"/>
          </a:ln>
        </p:spPr>
      </p:sp>
      <p:sp>
        <p:nvSpPr>
          <p:cNvPr id="12" name="Shape 6"/>
          <p:cNvSpPr/>
          <p:nvPr/>
        </p:nvSpPr>
        <p:spPr>
          <a:xfrm>
            <a:off x="4338218" y="1463040"/>
            <a:ext cx="3515258" cy="2331720"/>
          </a:xfrm>
          <a:prstGeom prst="roundRect">
            <a:avLst>
              <a:gd name="adj" fmla="val 3137"/>
            </a:avLst>
          </a:prstGeom>
          <a:solidFill>
            <a:srgbClr val="FFFFFF"/>
          </a:solidFill>
          <a:ln/>
        </p:spPr>
      </p:sp>
      <p:sp>
        <p:nvSpPr>
          <p:cNvPr id="13"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4" name="Image 3" descr="preencoded.png">    </p:cNvPr>
          <p:cNvPicPr>
            <a:picLocks noChangeAspect="1"/>
          </p:cNvPicPr>
          <p:nvPr/>
        </p:nvPicPr>
        <p:blipFill>
          <a:blip r:embed="rId4"/>
          <a:stretch>
            <a:fillRect/>
          </a:stretch>
        </p:blipFill>
        <p:spPr>
          <a:xfrm>
            <a:off x="4687519" y="1766621"/>
            <a:ext cx="307238" cy="307238"/>
          </a:xfrm>
          <a:prstGeom prst="rect">
            <a:avLst/>
          </a:prstGeom>
        </p:spPr>
      </p:pic>
      <p:sp>
        <p:nvSpPr>
          <p:cNvPr id="15"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6"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7"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8"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9"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20"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21"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2"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3" name="Shape 16"/>
          <p:cNvSpPr/>
          <p:nvPr/>
        </p:nvSpPr>
        <p:spPr>
          <a:xfrm>
            <a:off x="6095848" y="3822192"/>
            <a:ext cx="0" cy="292608"/>
          </a:xfrm>
          <a:prstGeom prst="line">
            <a:avLst/>
          </a:prstGeom>
          <a:noFill/>
          <a:ln w="25400">
            <a:solidFill>
              <a:srgbClr val="5F6B7A"/>
            </a:solidFill>
            <a:prstDash val="solid"/>
            <a:tailEnd type="triangle"/>
          </a:ln>
        </p:spPr>
      </p:sp>
      <p:sp>
        <p:nvSpPr>
          <p:cNvPr id="24" name="Shape 17"/>
          <p:cNvSpPr/>
          <p:nvPr/>
        </p:nvSpPr>
        <p:spPr>
          <a:xfrm>
            <a:off x="8127797" y="1463040"/>
            <a:ext cx="3515258" cy="2331720"/>
          </a:xfrm>
          <a:prstGeom prst="roundRect">
            <a:avLst>
              <a:gd name="adj" fmla="val 3137"/>
            </a:avLst>
          </a:prstGeom>
          <a:solidFill>
            <a:srgbClr val="FFFFFF"/>
          </a:solidFill>
          <a:ln/>
        </p:spPr>
      </p:sp>
      <p:sp>
        <p:nvSpPr>
          <p:cNvPr id="25"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6" name="Image 4" descr="preencoded.png">    </p:cNvPr>
          <p:cNvPicPr>
            <a:picLocks noChangeAspect="1"/>
          </p:cNvPicPr>
          <p:nvPr/>
        </p:nvPicPr>
        <p:blipFill>
          <a:blip r:embed="rId5"/>
          <a:stretch>
            <a:fillRect/>
          </a:stretch>
        </p:blipFill>
        <p:spPr>
          <a:xfrm>
            <a:off x="8477098" y="1766621"/>
            <a:ext cx="307238" cy="307238"/>
          </a:xfrm>
          <a:prstGeom prst="rect">
            <a:avLst/>
          </a:prstGeom>
        </p:spPr>
      </p:pic>
      <p:sp>
        <p:nvSpPr>
          <p:cNvPr id="27"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8"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9" name="Shape 21"/>
          <p:cNvSpPr/>
          <p:nvPr/>
        </p:nvSpPr>
        <p:spPr>
          <a:xfrm>
            <a:off x="9885426" y="3822192"/>
            <a:ext cx="0" cy="292608"/>
          </a:xfrm>
          <a:prstGeom prst="line">
            <a:avLst/>
          </a:prstGeom>
          <a:noFill/>
          <a:ln w="25400">
            <a:solidFill>
              <a:srgbClr val="5F6B7A"/>
            </a:solidFill>
            <a:prstDash val="solid"/>
            <a:tailEnd type="triangle"/>
          </a:ln>
        </p:spPr>
      </p:sp>
      <p:sp>
        <p:nvSpPr>
          <p:cNvPr id="30"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31" name="Shape 23"/>
          <p:cNvSpPr/>
          <p:nvPr/>
        </p:nvSpPr>
        <p:spPr>
          <a:xfrm>
            <a:off x="548640" y="5074920"/>
            <a:ext cx="11094415" cy="731520"/>
          </a:xfrm>
          <a:prstGeom prst="roundRect">
            <a:avLst>
              <a:gd name="adj" fmla="val 10000"/>
            </a:avLst>
          </a:prstGeom>
          <a:solidFill>
            <a:srgbClr val="1F7A7A"/>
          </a:solidFill>
          <a:ln/>
        </p:spPr>
      </p:sp>
      <p:pic>
        <p:nvPicPr>
          <p:cNvPr id="32" name="Image 5" descr="preencoded.png">    </p:cNvPr>
          <p:cNvPicPr>
            <a:picLocks noChangeAspect="1"/>
          </p:cNvPicPr>
          <p:nvPr/>
        </p:nvPicPr>
        <p:blipFill>
          <a:blip r:embed="rId6"/>
          <a:stretch>
            <a:fillRect/>
          </a:stretch>
        </p:blipFill>
        <p:spPr>
          <a:xfrm>
            <a:off x="822960" y="5212080"/>
            <a:ext cx="457200" cy="457200"/>
          </a:xfrm>
          <a:prstGeom prst="rect">
            <a:avLst/>
          </a:prstGeom>
        </p:spPr>
      </p:pic>
      <p:sp>
        <p:nvSpPr>
          <p:cNvPr id="33"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6"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7"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8"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9" name="Shape 4"/>
          <p:cNvSpPr/>
          <p:nvPr/>
        </p:nvSpPr>
        <p:spPr>
          <a:xfrm>
            <a:off x="548640" y="1783080"/>
            <a:ext cx="2008571" cy="3566160"/>
          </a:xfrm>
          <a:prstGeom prst="roundRect">
            <a:avLst>
              <a:gd name="adj" fmla="val 3642"/>
            </a:avLst>
          </a:prstGeom>
          <a:solidFill>
            <a:srgbClr val="FFFFFF"/>
          </a:solidFill>
          <a:ln/>
        </p:spPr>
      </p:sp>
      <p:sp>
        <p:nvSpPr>
          <p:cNvPr id="10"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11" name="Image 2" descr="preencoded.png">    </p:cNvPr>
          <p:cNvPicPr>
            <a:picLocks noChangeAspect="1"/>
          </p:cNvPicPr>
          <p:nvPr/>
        </p:nvPicPr>
        <p:blipFill>
          <a:blip r:embed="rId3"/>
          <a:stretch>
            <a:fillRect/>
          </a:stretch>
        </p:blipFill>
        <p:spPr>
          <a:xfrm>
            <a:off x="852221" y="2086661"/>
            <a:ext cx="307238" cy="307238"/>
          </a:xfrm>
          <a:prstGeom prst="rect">
            <a:avLst/>
          </a:prstGeom>
        </p:spPr>
      </p:pic>
      <p:sp>
        <p:nvSpPr>
          <p:cNvPr id="12"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3"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4"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5"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6"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7"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8"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9"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20" name="Shape 14"/>
          <p:cNvSpPr/>
          <p:nvPr/>
        </p:nvSpPr>
        <p:spPr>
          <a:xfrm>
            <a:off x="2740091" y="1783080"/>
            <a:ext cx="2008571" cy="3566160"/>
          </a:xfrm>
          <a:prstGeom prst="roundRect">
            <a:avLst>
              <a:gd name="adj" fmla="val 3642"/>
            </a:avLst>
          </a:prstGeom>
          <a:solidFill>
            <a:srgbClr val="FFFFFF"/>
          </a:solidFill>
          <a:ln/>
        </p:spPr>
      </p:sp>
      <p:sp>
        <p:nvSpPr>
          <p:cNvPr id="21"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2" name="Image 3" descr="preencoded.png">    </p:cNvPr>
          <p:cNvPicPr>
            <a:picLocks noChangeAspect="1"/>
          </p:cNvPicPr>
          <p:nvPr/>
        </p:nvPicPr>
        <p:blipFill>
          <a:blip r:embed="rId4"/>
          <a:stretch>
            <a:fillRect/>
          </a:stretch>
        </p:blipFill>
        <p:spPr>
          <a:xfrm>
            <a:off x="3043672" y="2086661"/>
            <a:ext cx="307238" cy="307238"/>
          </a:xfrm>
          <a:prstGeom prst="rect">
            <a:avLst/>
          </a:prstGeom>
        </p:spPr>
      </p:pic>
      <p:sp>
        <p:nvSpPr>
          <p:cNvPr id="23"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4"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5"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6"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7"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8"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9" name="Shape 22"/>
          <p:cNvSpPr/>
          <p:nvPr/>
        </p:nvSpPr>
        <p:spPr>
          <a:xfrm>
            <a:off x="4931542" y="1783080"/>
            <a:ext cx="2008571" cy="3566160"/>
          </a:xfrm>
          <a:prstGeom prst="roundRect">
            <a:avLst>
              <a:gd name="adj" fmla="val 3642"/>
            </a:avLst>
          </a:prstGeom>
          <a:solidFill>
            <a:srgbClr val="FFFFFF"/>
          </a:solidFill>
          <a:ln/>
        </p:spPr>
      </p:sp>
      <p:sp>
        <p:nvSpPr>
          <p:cNvPr id="30"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31" name="Image 4" descr="preencoded.png">    </p:cNvPr>
          <p:cNvPicPr>
            <a:picLocks noChangeAspect="1"/>
          </p:cNvPicPr>
          <p:nvPr/>
        </p:nvPicPr>
        <p:blipFill>
          <a:blip r:embed="rId5"/>
          <a:stretch>
            <a:fillRect/>
          </a:stretch>
        </p:blipFill>
        <p:spPr>
          <a:xfrm>
            <a:off x="5235123" y="2086661"/>
            <a:ext cx="307238" cy="307238"/>
          </a:xfrm>
          <a:prstGeom prst="rect">
            <a:avLst/>
          </a:prstGeom>
        </p:spPr>
      </p:pic>
      <p:sp>
        <p:nvSpPr>
          <p:cNvPr id="32"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3"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4"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5"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6"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7"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8"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9" name="Shape 31"/>
          <p:cNvSpPr/>
          <p:nvPr/>
        </p:nvSpPr>
        <p:spPr>
          <a:xfrm>
            <a:off x="7122993" y="1783080"/>
            <a:ext cx="2008571" cy="3566160"/>
          </a:xfrm>
          <a:prstGeom prst="roundRect">
            <a:avLst>
              <a:gd name="adj" fmla="val 3642"/>
            </a:avLst>
          </a:prstGeom>
          <a:solidFill>
            <a:srgbClr val="FFFFFF"/>
          </a:solidFill>
          <a:ln/>
        </p:spPr>
      </p:sp>
      <p:sp>
        <p:nvSpPr>
          <p:cNvPr id="40"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41" name="Image 5" descr="preencoded.png">    </p:cNvPr>
          <p:cNvPicPr>
            <a:picLocks noChangeAspect="1"/>
          </p:cNvPicPr>
          <p:nvPr/>
        </p:nvPicPr>
        <p:blipFill>
          <a:blip r:embed="rId6"/>
          <a:stretch>
            <a:fillRect/>
          </a:stretch>
        </p:blipFill>
        <p:spPr>
          <a:xfrm>
            <a:off x="7426574" y="2086661"/>
            <a:ext cx="307238" cy="307238"/>
          </a:xfrm>
          <a:prstGeom prst="rect">
            <a:avLst/>
          </a:prstGeom>
        </p:spPr>
      </p:pic>
      <p:sp>
        <p:nvSpPr>
          <p:cNvPr id="42"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3"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4" name="Text 35"/>
          <p:cNvSpPr/>
          <p:nvPr/>
        </p:nvSpPr>
        <p:spPr>
          <a:xfrm>
            <a:off x="7305873" y="3566160"/>
            <a:ext cx="343814" cy="274320"/>
          </a:xfrm>
          <a:prstGeom prst="roundRect">
            <a:avLst>
              <a:gd name="adj" fmla="val 46667"/>
            </a:avLst>
          </a:prstGeom>
          <a:solidFill>
            <a:srgbClr val="B91C1C"/>
          </a:solidFill>
          <a:ln/>
        </p:spPr>
        <p:txBody>
          <a:bodyPr wrap="non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on</a:t>
            </a:r>
            <a:endParaRPr lang="en-US" sz="1300" dirty="0"/>
          </a:p>
        </p:txBody>
      </p:sp>
      <p:sp>
        <p:nvSpPr>
          <p:cNvPr id="45"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6"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7" name="Shape 38"/>
          <p:cNvSpPr/>
          <p:nvPr/>
        </p:nvSpPr>
        <p:spPr>
          <a:xfrm>
            <a:off x="9634484" y="1783080"/>
            <a:ext cx="2008571" cy="3566160"/>
          </a:xfrm>
          <a:prstGeom prst="roundRect">
            <a:avLst>
              <a:gd name="adj" fmla="val 3642"/>
            </a:avLst>
          </a:prstGeom>
          <a:solidFill>
            <a:srgbClr val="A2C4BE"/>
          </a:solidFill>
          <a:ln/>
        </p:spPr>
      </p:sp>
      <p:sp>
        <p:nvSpPr>
          <p:cNvPr id="48"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9" name="Image 6" descr="preencoded.png">    </p:cNvPr>
          <p:cNvPicPr>
            <a:picLocks noChangeAspect="1"/>
          </p:cNvPicPr>
          <p:nvPr/>
        </p:nvPicPr>
        <p:blipFill>
          <a:blip r:embed="rId7"/>
          <a:stretch>
            <a:fillRect/>
          </a:stretch>
        </p:blipFill>
        <p:spPr>
          <a:xfrm>
            <a:off x="9938065" y="2086661"/>
            <a:ext cx="307238" cy="307238"/>
          </a:xfrm>
          <a:prstGeom prst="rect">
            <a:avLst/>
          </a:prstGeom>
        </p:spPr>
      </p:pic>
      <p:sp>
        <p:nvSpPr>
          <p:cNvPr id="50"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51"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2" name="Text 42"/>
          <p:cNvSpPr/>
          <p:nvPr/>
        </p:nvSpPr>
        <p:spPr>
          <a:xfrm>
            <a:off x="9817364" y="3566160"/>
            <a:ext cx="629107"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Blocks</a:t>
            </a:r>
            <a:endParaRPr lang="en-US" sz="1300" dirty="0"/>
          </a:p>
        </p:txBody>
      </p:sp>
      <p:sp>
        <p:nvSpPr>
          <p:cNvPr id="53" name="Text 43"/>
          <p:cNvSpPr/>
          <p:nvPr/>
        </p:nvSpPr>
        <p:spPr>
          <a:xfrm>
            <a:off x="9817364" y="3895344"/>
            <a:ext cx="1199693"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Does not block</a:t>
            </a:r>
            <a:endParaRPr lang="en-US" sz="1300" dirty="0"/>
          </a:p>
        </p:txBody>
      </p:sp>
      <p:sp>
        <p:nvSpPr>
          <p:cNvPr id="54" name="Text 44"/>
          <p:cNvSpPr/>
          <p:nvPr/>
        </p:nvSpPr>
        <p:spPr>
          <a:xfrm>
            <a:off x="9817364" y="4306824"/>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3246120"/>
            <a:ext cx="1737360" cy="1234440"/>
          </a:xfrm>
          <a:prstGeom prst="roundRect">
            <a:avLst>
              <a:gd name="adj" fmla="val 5926"/>
            </a:avLst>
          </a:prstGeom>
          <a:solidFill>
            <a:srgbClr val="AEB7C2"/>
          </a:solidFill>
          <a:ln/>
        </p:spPr>
      </p:sp>
      <p:sp>
        <p:nvSpPr>
          <p:cNvPr id="11" name="!!state-0#1"/>
          <p:cNvSpPr/>
          <p:nvPr/>
        </p:nvSpPr>
        <p:spPr>
          <a:xfrm>
            <a:off x="118872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3456432"/>
            <a:ext cx="256032" cy="256032"/>
          </a:xfrm>
          <a:prstGeom prst="rect">
            <a:avLst/>
          </a:prstGeom>
        </p:spPr>
      </p:pic>
      <p:sp>
        <p:nvSpPr>
          <p:cNvPr id="13" name="!!state-0#3"/>
          <p:cNvSpPr/>
          <p:nvPr/>
        </p:nvSpPr>
        <p:spPr>
          <a:xfrm>
            <a:off x="585216" y="386791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3863340"/>
            <a:ext cx="565328" cy="0"/>
          </a:xfrm>
          <a:prstGeom prst="line">
            <a:avLst/>
          </a:prstGeom>
          <a:noFill/>
          <a:ln w="25400">
            <a:solidFill>
              <a:srgbClr val="9AA6B3"/>
            </a:solidFill>
            <a:prstDash val="solid"/>
            <a:tailEnd type="triangle"/>
          </a:ln>
        </p:spPr>
      </p:sp>
      <p:sp>
        <p:nvSpPr>
          <p:cNvPr id="15" name="!!state-1#0"/>
          <p:cNvSpPr/>
          <p:nvPr/>
        </p:nvSpPr>
        <p:spPr>
          <a:xfrm>
            <a:off x="2887904" y="3246120"/>
            <a:ext cx="1737360" cy="1234440"/>
          </a:xfrm>
          <a:prstGeom prst="roundRect">
            <a:avLst>
              <a:gd name="adj" fmla="val 5926"/>
            </a:avLst>
          </a:prstGeom>
          <a:solidFill>
            <a:srgbClr val="E9EDF2"/>
          </a:solidFill>
          <a:ln/>
        </p:spPr>
      </p:sp>
      <p:sp>
        <p:nvSpPr>
          <p:cNvPr id="16" name="!!state-1#1"/>
          <p:cNvSpPr/>
          <p:nvPr/>
        </p:nvSpPr>
        <p:spPr>
          <a:xfrm>
            <a:off x="3527984"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3628568" y="3456432"/>
            <a:ext cx="256032" cy="256032"/>
          </a:xfrm>
          <a:prstGeom prst="rect">
            <a:avLst/>
          </a:prstGeom>
        </p:spPr>
      </p:pic>
      <p:sp>
        <p:nvSpPr>
          <p:cNvPr id="18" name="!!state-1#3"/>
          <p:cNvSpPr/>
          <p:nvPr/>
        </p:nvSpPr>
        <p:spPr>
          <a:xfrm>
            <a:off x="2924480"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3863340"/>
            <a:ext cx="565328" cy="0"/>
          </a:xfrm>
          <a:prstGeom prst="line">
            <a:avLst/>
          </a:prstGeom>
          <a:noFill/>
          <a:ln w="25400">
            <a:solidFill>
              <a:srgbClr val="9AA6B3"/>
            </a:solidFill>
            <a:prstDash val="solid"/>
            <a:tailEnd type="triangle"/>
          </a:ln>
        </p:spPr>
      </p:sp>
      <p:sp>
        <p:nvSpPr>
          <p:cNvPr id="20" name="!!state-2#0"/>
          <p:cNvSpPr/>
          <p:nvPr/>
        </p:nvSpPr>
        <p:spPr>
          <a:xfrm>
            <a:off x="5227168" y="3246120"/>
            <a:ext cx="1737360" cy="1234440"/>
          </a:xfrm>
          <a:prstGeom prst="roundRect">
            <a:avLst>
              <a:gd name="adj" fmla="val 5926"/>
            </a:avLst>
          </a:prstGeom>
          <a:solidFill>
            <a:srgbClr val="E9EDF2"/>
          </a:solidFill>
          <a:ln/>
        </p:spPr>
      </p:sp>
      <p:sp>
        <p:nvSpPr>
          <p:cNvPr id="21" name="!!state-2#1"/>
          <p:cNvSpPr/>
          <p:nvPr/>
        </p:nvSpPr>
        <p:spPr>
          <a:xfrm>
            <a:off x="5867248" y="335584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5967832" y="3456432"/>
            <a:ext cx="256032" cy="256032"/>
          </a:xfrm>
          <a:prstGeom prst="rect">
            <a:avLst/>
          </a:prstGeom>
        </p:spPr>
      </p:pic>
      <p:sp>
        <p:nvSpPr>
          <p:cNvPr id="23" name="!!state-2#3"/>
          <p:cNvSpPr/>
          <p:nvPr/>
        </p:nvSpPr>
        <p:spPr>
          <a:xfrm>
            <a:off x="5263744"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3863340"/>
            <a:ext cx="565328" cy="0"/>
          </a:xfrm>
          <a:prstGeom prst="line">
            <a:avLst/>
          </a:prstGeom>
          <a:noFill/>
          <a:ln w="25400">
            <a:solidFill>
              <a:srgbClr val="9AA6B3"/>
            </a:solidFill>
            <a:prstDash val="solid"/>
            <a:tailEnd type="triangle"/>
          </a:ln>
        </p:spPr>
      </p:sp>
      <p:sp>
        <p:nvSpPr>
          <p:cNvPr id="25" name="!!state-3#0"/>
          <p:cNvSpPr/>
          <p:nvPr/>
        </p:nvSpPr>
        <p:spPr>
          <a:xfrm>
            <a:off x="7566431" y="3246120"/>
            <a:ext cx="1737360" cy="1234440"/>
          </a:xfrm>
          <a:prstGeom prst="roundRect">
            <a:avLst>
              <a:gd name="adj" fmla="val 5926"/>
            </a:avLst>
          </a:prstGeom>
          <a:solidFill>
            <a:srgbClr val="E9EDF2"/>
          </a:solidFill>
          <a:ln/>
        </p:spPr>
      </p:sp>
      <p:sp>
        <p:nvSpPr>
          <p:cNvPr id="26" name="!!state-3#1"/>
          <p:cNvSpPr/>
          <p:nvPr/>
        </p:nvSpPr>
        <p:spPr>
          <a:xfrm>
            <a:off x="8206511" y="335584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8307095" y="3456432"/>
            <a:ext cx="256032" cy="256032"/>
          </a:xfrm>
          <a:prstGeom prst="rect">
            <a:avLst/>
          </a:prstGeom>
        </p:spPr>
      </p:pic>
      <p:sp>
        <p:nvSpPr>
          <p:cNvPr id="28" name="!!state-3#3"/>
          <p:cNvSpPr/>
          <p:nvPr/>
        </p:nvSpPr>
        <p:spPr>
          <a:xfrm>
            <a:off x="7603007"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3863340"/>
            <a:ext cx="565328" cy="0"/>
          </a:xfrm>
          <a:prstGeom prst="line">
            <a:avLst/>
          </a:prstGeom>
          <a:noFill/>
          <a:ln w="25400">
            <a:solidFill>
              <a:srgbClr val="9AA6B3"/>
            </a:solidFill>
            <a:prstDash val="solid"/>
            <a:tailEnd type="triangle"/>
          </a:ln>
        </p:spPr>
      </p:sp>
      <p:sp>
        <p:nvSpPr>
          <p:cNvPr id="30" name="!!state-4#0"/>
          <p:cNvSpPr/>
          <p:nvPr/>
        </p:nvSpPr>
        <p:spPr>
          <a:xfrm>
            <a:off x="9905695" y="3246120"/>
            <a:ext cx="1737360" cy="1234440"/>
          </a:xfrm>
          <a:prstGeom prst="roundRect">
            <a:avLst>
              <a:gd name="adj" fmla="val 5926"/>
            </a:avLst>
          </a:prstGeom>
          <a:solidFill>
            <a:srgbClr val="E9EDF2"/>
          </a:solidFill>
          <a:ln/>
        </p:spPr>
      </p:sp>
      <p:sp>
        <p:nvSpPr>
          <p:cNvPr id="31" name="!!state-4#1"/>
          <p:cNvSpPr/>
          <p:nvPr/>
        </p:nvSpPr>
        <p:spPr>
          <a:xfrm>
            <a:off x="10545775" y="335584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10646359" y="3456432"/>
            <a:ext cx="256032" cy="256032"/>
          </a:xfrm>
          <a:prstGeom prst="rect">
            <a:avLst/>
          </a:prstGeom>
        </p:spPr>
      </p:pic>
      <p:sp>
        <p:nvSpPr>
          <p:cNvPr id="33" name="!!state-4#3"/>
          <p:cNvSpPr/>
          <p:nvPr/>
        </p:nvSpPr>
        <p:spPr>
          <a:xfrm>
            <a:off x="9942271"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ring#0"/>
          <p:cNvSpPr/>
          <p:nvPr/>
        </p:nvSpPr>
        <p:spPr>
          <a:xfrm>
            <a:off x="502920" y="320040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25400">
            <a:solidFill>
              <a:srgbClr val="9AA6B3"/>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E9EDF2"/>
          </a:solidFill>
          <a:ln/>
        </p:spPr>
      </p:sp>
      <p:sp>
        <p:nvSpPr>
          <p:cNvPr id="21" name="!!state-2#1"/>
          <p:cNvSpPr/>
          <p:nvPr/>
        </p:nvSpPr>
        <p:spPr>
          <a:xfrm>
            <a:off x="5867248" y="207568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2583180"/>
            <a:ext cx="565328" cy="0"/>
          </a:xfrm>
          <a:prstGeom prst="line">
            <a:avLst/>
          </a:prstGeom>
          <a:noFill/>
          <a:ln w="25400">
            <a:solidFill>
              <a:srgbClr val="9AA6B3"/>
            </a:solidFill>
            <a:prstDash val="solid"/>
            <a:tailEnd type="triangle"/>
          </a:ln>
        </p:spPr>
      </p:sp>
      <p:sp>
        <p:nvSpPr>
          <p:cNvPr id="25" name="!!state-3#0"/>
          <p:cNvSpPr/>
          <p:nvPr/>
        </p:nvSpPr>
        <p:spPr>
          <a:xfrm>
            <a:off x="7566431" y="1965960"/>
            <a:ext cx="1737360" cy="1234440"/>
          </a:xfrm>
          <a:prstGeom prst="roundRect">
            <a:avLst>
              <a:gd name="adj" fmla="val 5926"/>
            </a:avLst>
          </a:prstGeom>
          <a:solidFill>
            <a:srgbClr val="E9EDF2"/>
          </a:solidFill>
          <a:ln/>
        </p:spPr>
      </p:sp>
      <p:sp>
        <p:nvSpPr>
          <p:cNvPr id="26"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8"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2583180"/>
            <a:ext cx="565328" cy="0"/>
          </a:xfrm>
          <a:prstGeom prst="line">
            <a:avLst/>
          </a:prstGeom>
          <a:noFill/>
          <a:ln w="25400">
            <a:solidFill>
              <a:srgbClr val="9AA6B3"/>
            </a:solidFill>
            <a:prstDash val="solid"/>
            <a:tailEnd type="triangle"/>
          </a:ln>
        </p:spPr>
      </p:sp>
      <p:sp>
        <p:nvSpPr>
          <p:cNvPr id="30" name="!!state-4#0"/>
          <p:cNvSpPr/>
          <p:nvPr/>
        </p:nvSpPr>
        <p:spPr>
          <a:xfrm>
            <a:off x="9905695" y="1965960"/>
            <a:ext cx="1737360" cy="1234440"/>
          </a:xfrm>
          <a:prstGeom prst="roundRect">
            <a:avLst>
              <a:gd name="adj" fmla="val 5926"/>
            </a:avLst>
          </a:prstGeom>
          <a:solidFill>
            <a:srgbClr val="E9EDF2"/>
          </a:solidFill>
          <a:ln/>
        </p:spPr>
      </p:sp>
      <p:sp>
        <p:nvSpPr>
          <p:cNvPr id="31"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3"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card#0"/>
          <p:cNvSpPr/>
          <p:nvPr/>
        </p:nvSpPr>
        <p:spPr>
          <a:xfrm>
            <a:off x="548640" y="3749040"/>
            <a:ext cx="11094415" cy="2423160"/>
          </a:xfrm>
          <a:prstGeom prst="roundRect">
            <a:avLst>
              <a:gd name="adj" fmla="val 3019"/>
            </a:avLst>
          </a:prstGeom>
          <a:solidFill>
            <a:srgbClr val="FFFFFF"/>
          </a:solidFill>
          <a:ln/>
        </p:spPr>
      </p:sp>
      <p:sp>
        <p:nvSpPr>
          <p:cNvPr id="35"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6"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7"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38"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39"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40"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41"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42"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43" name="!!ring#0"/>
          <p:cNvSpPr/>
          <p:nvPr/>
        </p:nvSpPr>
        <p:spPr>
          <a:xfrm>
            <a:off x="2842184"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A6BCD6"/>
          </a:solidFill>
          <a:ln/>
        </p:spPr>
      </p:sp>
      <p:sp>
        <p:nvSpPr>
          <p:cNvPr id="21" name="!!state-2#1"/>
          <p:cNvSpPr/>
          <p:nvPr/>
        </p:nvSpPr>
        <p:spPr>
          <a:xfrm>
            <a:off x="5867248" y="2075688"/>
            <a:ext cx="457200" cy="457200"/>
          </a:xfrm>
          <a:prstGeom prst="ellipse">
            <a:avLst/>
          </a:prstGeom>
          <a:solidFill>
            <a:srgbClr val="2F5F98"/>
          </a:solidFill>
          <a:ln w="12700">
            <a:solidFill>
              <a:srgbClr val="2F5F98"/>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2583180"/>
            <a:ext cx="565328" cy="0"/>
          </a:xfrm>
          <a:prstGeom prst="line">
            <a:avLst/>
          </a:prstGeom>
          <a:noFill/>
          <a:ln w="25400">
            <a:solidFill>
              <a:srgbClr val="9AA6B3"/>
            </a:solidFill>
            <a:prstDash val="solid"/>
            <a:tailEnd type="triangle"/>
          </a:ln>
        </p:spPr>
      </p:sp>
      <p:sp>
        <p:nvSpPr>
          <p:cNvPr id="25" name="!!state-3#0"/>
          <p:cNvSpPr/>
          <p:nvPr/>
        </p:nvSpPr>
        <p:spPr>
          <a:xfrm>
            <a:off x="7566431" y="1965960"/>
            <a:ext cx="1737360" cy="1234440"/>
          </a:xfrm>
          <a:prstGeom prst="roundRect">
            <a:avLst>
              <a:gd name="adj" fmla="val 5926"/>
            </a:avLst>
          </a:prstGeom>
          <a:solidFill>
            <a:srgbClr val="E9EDF2"/>
          </a:solidFill>
          <a:ln/>
        </p:spPr>
      </p:sp>
      <p:sp>
        <p:nvSpPr>
          <p:cNvPr id="26"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8"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2583180"/>
            <a:ext cx="565328" cy="0"/>
          </a:xfrm>
          <a:prstGeom prst="line">
            <a:avLst/>
          </a:prstGeom>
          <a:noFill/>
          <a:ln w="25400">
            <a:solidFill>
              <a:srgbClr val="9AA6B3"/>
            </a:solidFill>
            <a:prstDash val="solid"/>
            <a:tailEnd type="triangle"/>
          </a:ln>
        </p:spPr>
      </p:sp>
      <p:sp>
        <p:nvSpPr>
          <p:cNvPr id="30" name="!!state-4#0"/>
          <p:cNvSpPr/>
          <p:nvPr/>
        </p:nvSpPr>
        <p:spPr>
          <a:xfrm>
            <a:off x="9905695" y="1965960"/>
            <a:ext cx="1737360" cy="1234440"/>
          </a:xfrm>
          <a:prstGeom prst="roundRect">
            <a:avLst>
              <a:gd name="adj" fmla="val 5926"/>
            </a:avLst>
          </a:prstGeom>
          <a:solidFill>
            <a:srgbClr val="E9EDF2"/>
          </a:solidFill>
          <a:ln/>
        </p:spPr>
      </p:sp>
      <p:sp>
        <p:nvSpPr>
          <p:cNvPr id="31"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3"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card#0"/>
          <p:cNvSpPr/>
          <p:nvPr/>
        </p:nvSpPr>
        <p:spPr>
          <a:xfrm>
            <a:off x="548640" y="3749040"/>
            <a:ext cx="11094415" cy="2423160"/>
          </a:xfrm>
          <a:prstGeom prst="roundRect">
            <a:avLst>
              <a:gd name="adj" fmla="val 3019"/>
            </a:avLst>
          </a:prstGeom>
          <a:solidFill>
            <a:srgbClr val="FFFFFF"/>
          </a:solidFill>
          <a:ln/>
        </p:spPr>
      </p:sp>
      <p:sp>
        <p:nvSpPr>
          <p:cNvPr id="35"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6"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7"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38"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39"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40"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1"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0.90</a:t>
            </a:r>
            <a:endParaRPr lang="en-US" sz="1600" dirty="0"/>
          </a:p>
        </p:txBody>
      </p:sp>
      <p:sp>
        <p:nvSpPr>
          <p:cNvPr id="42"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43"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44"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5"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6"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blocks the refund: it runs.</a:t>
            </a:r>
            <a:endParaRPr lang="en-US" sz="1600" dirty="0"/>
          </a:p>
        </p:txBody>
      </p:sp>
      <p:sp>
        <p:nvSpPr>
          <p:cNvPr id="47" name="!!ring#0"/>
          <p:cNvSpPr/>
          <p:nvPr/>
        </p:nvSpPr>
        <p:spPr>
          <a:xfrm>
            <a:off x="5181448"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A6BCD6"/>
          </a:solidFill>
          <a:ln/>
        </p:spPr>
      </p:sp>
      <p:sp>
        <p:nvSpPr>
          <p:cNvPr id="21" name="!!state-2#1"/>
          <p:cNvSpPr/>
          <p:nvPr/>
        </p:nvSpPr>
        <p:spPr>
          <a:xfrm>
            <a:off x="5867248" y="2075688"/>
            <a:ext cx="457200" cy="457200"/>
          </a:xfrm>
          <a:prstGeom prst="ellipse">
            <a:avLst/>
          </a:prstGeom>
          <a:solidFill>
            <a:srgbClr val="2F5F98"/>
          </a:solidFill>
          <a:ln w="12700">
            <a:solidFill>
              <a:srgbClr val="2F5F98"/>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2583180"/>
            <a:ext cx="565328" cy="0"/>
          </a:xfrm>
          <a:prstGeom prst="line">
            <a:avLst/>
          </a:prstGeom>
          <a:noFill/>
          <a:ln w="44450">
            <a:solidFill>
              <a:srgbClr val="1B365D"/>
            </a:solidFill>
            <a:prstDash val="solid"/>
            <a:tailEnd type="triangle"/>
          </a:ln>
        </p:spPr>
      </p:sp>
      <p:sp>
        <p:nvSpPr>
          <p:cNvPr id="25" name="!!state-3#0"/>
          <p:cNvSpPr/>
          <p:nvPr/>
        </p:nvSpPr>
        <p:spPr>
          <a:xfrm>
            <a:off x="7566431" y="1965960"/>
            <a:ext cx="1737360" cy="1234440"/>
          </a:xfrm>
          <a:prstGeom prst="roundRect">
            <a:avLst>
              <a:gd name="adj" fmla="val 5926"/>
            </a:avLst>
          </a:prstGeom>
          <a:solidFill>
            <a:srgbClr val="AEB7C2"/>
          </a:solidFill>
          <a:ln/>
        </p:spPr>
      </p:sp>
      <p:sp>
        <p:nvSpPr>
          <p:cNvPr id="26" name="!!state-3#1"/>
          <p:cNvSpPr/>
          <p:nvPr/>
        </p:nvSpPr>
        <p:spPr>
          <a:xfrm>
            <a:off x="8206511" y="2075688"/>
            <a:ext cx="457200" cy="457200"/>
          </a:xfrm>
          <a:prstGeom prst="ellipse">
            <a:avLst/>
          </a:prstGeom>
          <a:solidFill>
            <a:srgbClr val="5F6B7A"/>
          </a:solidFill>
          <a:ln w="12700">
            <a:solidFill>
              <a:srgbClr val="5F6B7A"/>
            </a:solidFill>
            <a:prstDash val="solid"/>
          </a:ln>
        </p:spPr>
      </p:sp>
      <p:pic>
        <p:nvPicPr>
          <p:cNvPr id="27"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8"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2583180"/>
            <a:ext cx="565328" cy="0"/>
          </a:xfrm>
          <a:prstGeom prst="line">
            <a:avLst/>
          </a:prstGeom>
          <a:noFill/>
          <a:ln w="44450">
            <a:solidFill>
              <a:srgbClr val="1B365D"/>
            </a:solidFill>
            <a:prstDash val="solid"/>
            <a:tailEnd type="triangle"/>
          </a:ln>
        </p:spPr>
      </p:sp>
      <p:sp>
        <p:nvSpPr>
          <p:cNvPr id="30" name="!!state-4#0"/>
          <p:cNvSpPr/>
          <p:nvPr/>
        </p:nvSpPr>
        <p:spPr>
          <a:xfrm>
            <a:off x="9905695" y="1965960"/>
            <a:ext cx="1737360" cy="1234440"/>
          </a:xfrm>
          <a:prstGeom prst="roundRect">
            <a:avLst>
              <a:gd name="adj" fmla="val 5926"/>
            </a:avLst>
          </a:prstGeom>
          <a:solidFill>
            <a:srgbClr val="A6BCD6"/>
          </a:solidFill>
          <a:ln/>
        </p:spPr>
      </p:sp>
      <p:sp>
        <p:nvSpPr>
          <p:cNvPr id="31" name="!!state-4#1"/>
          <p:cNvSpPr/>
          <p:nvPr/>
        </p:nvSpPr>
        <p:spPr>
          <a:xfrm>
            <a:off x="10545775" y="2075688"/>
            <a:ext cx="457200" cy="457200"/>
          </a:xfrm>
          <a:prstGeom prst="ellipse">
            <a:avLst/>
          </a:prstGeom>
          <a:solidFill>
            <a:srgbClr val="2F5F98"/>
          </a:solidFill>
          <a:ln w="12700">
            <a:solidFill>
              <a:srgbClr val="2F5F98"/>
            </a:solidFill>
            <a:prstDash val="solid"/>
          </a:ln>
        </p:spPr>
      </p:sp>
      <p:pic>
        <p:nvPicPr>
          <p:cNvPr id="32"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3"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4" name="!!card#0"/>
          <p:cNvSpPr/>
          <p:nvPr/>
        </p:nvSpPr>
        <p:spPr>
          <a:xfrm>
            <a:off x="548640" y="3749040"/>
            <a:ext cx="11094415" cy="2423160"/>
          </a:xfrm>
          <a:prstGeom prst="roundRect">
            <a:avLst>
              <a:gd name="adj" fmla="val 3019"/>
            </a:avLst>
          </a:prstGeom>
          <a:solidFill>
            <a:srgbClr val="FFFFFF"/>
          </a:solidFill>
          <a:ln/>
        </p:spPr>
      </p:sp>
      <p:sp>
        <p:nvSpPr>
          <p:cNvPr id="35"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6"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7"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38"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Nam. I've started a refund of $66 for your Pro annual plan (FF-10038), and it was approved. The money will return to your original payment method in 5 to 10 business days.”</a:t>
            </a:r>
            <a:endParaRPr lang="en-US" sz="1900" dirty="0"/>
          </a:p>
        </p:txBody>
      </p:sp>
      <p:sp>
        <p:nvSpPr>
          <p:cNvPr id="39" name="!!ring#0"/>
          <p:cNvSpPr/>
          <p:nvPr/>
        </p:nvSpPr>
        <p:spPr>
          <a:xfrm>
            <a:off x="9859975"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A5C10"/>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3246120"/>
            <a:ext cx="1737360" cy="1234440"/>
          </a:xfrm>
          <a:prstGeom prst="roundRect">
            <a:avLst>
              <a:gd name="adj" fmla="val 5926"/>
            </a:avLst>
          </a:prstGeom>
          <a:solidFill>
            <a:srgbClr val="AEB7C2"/>
          </a:solidFill>
          <a:ln/>
        </p:spPr>
      </p:sp>
      <p:sp>
        <p:nvSpPr>
          <p:cNvPr id="11" name="!!state-0#1"/>
          <p:cNvSpPr/>
          <p:nvPr/>
        </p:nvSpPr>
        <p:spPr>
          <a:xfrm>
            <a:off x="118872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3456432"/>
            <a:ext cx="256032" cy="256032"/>
          </a:xfrm>
          <a:prstGeom prst="rect">
            <a:avLst/>
          </a:prstGeom>
        </p:spPr>
      </p:pic>
      <p:sp>
        <p:nvSpPr>
          <p:cNvPr id="13" name="!!state-0#3"/>
          <p:cNvSpPr/>
          <p:nvPr/>
        </p:nvSpPr>
        <p:spPr>
          <a:xfrm>
            <a:off x="585216" y="386791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3863340"/>
            <a:ext cx="565328" cy="0"/>
          </a:xfrm>
          <a:prstGeom prst="line">
            <a:avLst/>
          </a:prstGeom>
          <a:noFill/>
          <a:ln w="25400">
            <a:solidFill>
              <a:srgbClr val="9AA6B3"/>
            </a:solidFill>
            <a:prstDash val="solid"/>
            <a:tailEnd type="triangle"/>
          </a:ln>
        </p:spPr>
      </p:sp>
      <p:sp>
        <p:nvSpPr>
          <p:cNvPr id="15" name="!!state-1#0"/>
          <p:cNvSpPr/>
          <p:nvPr/>
        </p:nvSpPr>
        <p:spPr>
          <a:xfrm>
            <a:off x="2887904" y="3246120"/>
            <a:ext cx="1737360" cy="1234440"/>
          </a:xfrm>
          <a:prstGeom prst="roundRect">
            <a:avLst>
              <a:gd name="adj" fmla="val 5926"/>
            </a:avLst>
          </a:prstGeom>
          <a:solidFill>
            <a:srgbClr val="E9EDF2"/>
          </a:solidFill>
          <a:ln/>
        </p:spPr>
      </p:sp>
      <p:sp>
        <p:nvSpPr>
          <p:cNvPr id="16" name="!!state-1#1"/>
          <p:cNvSpPr/>
          <p:nvPr/>
        </p:nvSpPr>
        <p:spPr>
          <a:xfrm>
            <a:off x="3527984"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3628568" y="3456432"/>
            <a:ext cx="256032" cy="256032"/>
          </a:xfrm>
          <a:prstGeom prst="rect">
            <a:avLst/>
          </a:prstGeom>
        </p:spPr>
      </p:pic>
      <p:sp>
        <p:nvSpPr>
          <p:cNvPr id="18" name="!!state-1#3"/>
          <p:cNvSpPr/>
          <p:nvPr/>
        </p:nvSpPr>
        <p:spPr>
          <a:xfrm>
            <a:off x="2924480"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3863340"/>
            <a:ext cx="565328" cy="0"/>
          </a:xfrm>
          <a:prstGeom prst="line">
            <a:avLst/>
          </a:prstGeom>
          <a:noFill/>
          <a:ln w="25400">
            <a:solidFill>
              <a:srgbClr val="9AA6B3"/>
            </a:solidFill>
            <a:prstDash val="solid"/>
            <a:tailEnd type="triangle"/>
          </a:ln>
        </p:spPr>
      </p:sp>
      <p:sp>
        <p:nvSpPr>
          <p:cNvPr id="20" name="!!state-2#0"/>
          <p:cNvSpPr/>
          <p:nvPr/>
        </p:nvSpPr>
        <p:spPr>
          <a:xfrm>
            <a:off x="5227168" y="3246120"/>
            <a:ext cx="1737360" cy="1234440"/>
          </a:xfrm>
          <a:prstGeom prst="roundRect">
            <a:avLst>
              <a:gd name="adj" fmla="val 5926"/>
            </a:avLst>
          </a:prstGeom>
          <a:solidFill>
            <a:srgbClr val="E9EDF2"/>
          </a:solidFill>
          <a:ln/>
        </p:spPr>
      </p:sp>
      <p:sp>
        <p:nvSpPr>
          <p:cNvPr id="21" name="!!state-2#1"/>
          <p:cNvSpPr/>
          <p:nvPr/>
        </p:nvSpPr>
        <p:spPr>
          <a:xfrm>
            <a:off x="5867248" y="335584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5967832" y="3456432"/>
            <a:ext cx="256032" cy="256032"/>
          </a:xfrm>
          <a:prstGeom prst="rect">
            <a:avLst/>
          </a:prstGeom>
        </p:spPr>
      </p:pic>
      <p:sp>
        <p:nvSpPr>
          <p:cNvPr id="23" name="!!state-2#3"/>
          <p:cNvSpPr/>
          <p:nvPr/>
        </p:nvSpPr>
        <p:spPr>
          <a:xfrm>
            <a:off x="5263744"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state-3#0"/>
          <p:cNvSpPr/>
          <p:nvPr/>
        </p:nvSpPr>
        <p:spPr>
          <a:xfrm>
            <a:off x="7566431" y="3246120"/>
            <a:ext cx="1737360" cy="1234440"/>
          </a:xfrm>
          <a:prstGeom prst="roundRect">
            <a:avLst>
              <a:gd name="adj" fmla="val 5926"/>
            </a:avLst>
          </a:prstGeom>
          <a:solidFill>
            <a:srgbClr val="E9EDF2"/>
          </a:solidFill>
          <a:ln/>
        </p:spPr>
      </p:sp>
      <p:sp>
        <p:nvSpPr>
          <p:cNvPr id="25" name="!!state-3#1"/>
          <p:cNvSpPr/>
          <p:nvPr/>
        </p:nvSpPr>
        <p:spPr>
          <a:xfrm>
            <a:off x="8206511" y="3355848"/>
            <a:ext cx="457200" cy="457200"/>
          </a:xfrm>
          <a:prstGeom prst="ellipse">
            <a:avLst/>
          </a:prstGeom>
          <a:solidFill>
            <a:srgbClr val="AEB7C2"/>
          </a:solidFill>
          <a:ln w="12700">
            <a:solidFill>
              <a:srgbClr val="AEB7C2"/>
            </a:solidFill>
            <a:prstDash val="solid"/>
          </a:ln>
        </p:spPr>
      </p:sp>
      <p:pic>
        <p:nvPicPr>
          <p:cNvPr id="26" name="!!state-3#2" descr="preencoded.png">    </p:cNvPr>
          <p:cNvPicPr>
            <a:picLocks noChangeAspect="1"/>
          </p:cNvPicPr>
          <p:nvPr/>
        </p:nvPicPr>
        <p:blipFill>
          <a:blip r:embed="rId7"/>
          <a:stretch>
            <a:fillRect/>
          </a:stretch>
        </p:blipFill>
        <p:spPr>
          <a:xfrm>
            <a:off x="8307095" y="3456432"/>
            <a:ext cx="256032" cy="256032"/>
          </a:xfrm>
          <a:prstGeom prst="rect">
            <a:avLst/>
          </a:prstGeom>
        </p:spPr>
      </p:pic>
      <p:sp>
        <p:nvSpPr>
          <p:cNvPr id="27" name="!!state-3#3"/>
          <p:cNvSpPr/>
          <p:nvPr/>
        </p:nvSpPr>
        <p:spPr>
          <a:xfrm>
            <a:off x="7603007"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8" name="!!state-4#0"/>
          <p:cNvSpPr/>
          <p:nvPr/>
        </p:nvSpPr>
        <p:spPr>
          <a:xfrm>
            <a:off x="9905695" y="3246120"/>
            <a:ext cx="1737360" cy="1234440"/>
          </a:xfrm>
          <a:prstGeom prst="roundRect">
            <a:avLst>
              <a:gd name="adj" fmla="val 5926"/>
            </a:avLst>
          </a:prstGeom>
          <a:solidFill>
            <a:srgbClr val="E9EDF2"/>
          </a:solidFill>
          <a:ln/>
        </p:spPr>
      </p:sp>
      <p:sp>
        <p:nvSpPr>
          <p:cNvPr id="29" name="!!state-4#1"/>
          <p:cNvSpPr/>
          <p:nvPr/>
        </p:nvSpPr>
        <p:spPr>
          <a:xfrm>
            <a:off x="10545775"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8"/>
          <a:stretch>
            <a:fillRect/>
          </a:stretch>
        </p:blipFill>
        <p:spPr>
          <a:xfrm>
            <a:off x="10646359" y="3456432"/>
            <a:ext cx="256032" cy="256032"/>
          </a:xfrm>
          <a:prstGeom prst="rect">
            <a:avLst/>
          </a:prstGeom>
        </p:spPr>
      </p:pic>
      <p:sp>
        <p:nvSpPr>
          <p:cNvPr id="31" name="!!state-4#3"/>
          <p:cNvSpPr/>
          <p:nvPr/>
        </p:nvSpPr>
        <p:spPr>
          <a:xfrm>
            <a:off x="9942271"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ring#0"/>
          <p:cNvSpPr/>
          <p:nvPr/>
        </p:nvSpPr>
        <p:spPr>
          <a:xfrm>
            <a:off x="502920" y="320040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A5C10"/>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FFB282"/>
          </a:solidFill>
          <a:ln/>
        </p:spPr>
      </p:sp>
      <p:sp>
        <p:nvSpPr>
          <p:cNvPr id="21" name="!!state-2#1"/>
          <p:cNvSpPr/>
          <p:nvPr/>
        </p:nvSpPr>
        <p:spPr>
          <a:xfrm>
            <a:off x="5867248" y="2075688"/>
            <a:ext cx="457200" cy="457200"/>
          </a:xfrm>
          <a:prstGeom prst="ellipse">
            <a:avLst/>
          </a:prstGeom>
          <a:solidFill>
            <a:srgbClr val="1B365D"/>
          </a:solidFill>
          <a:ln w="12700">
            <a:solidFill>
              <a:srgbClr val="1B365D"/>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state-3#0"/>
          <p:cNvSpPr/>
          <p:nvPr/>
        </p:nvSpPr>
        <p:spPr>
          <a:xfrm>
            <a:off x="7566431" y="1965960"/>
            <a:ext cx="1737360" cy="1234440"/>
          </a:xfrm>
          <a:prstGeom prst="roundRect">
            <a:avLst>
              <a:gd name="adj" fmla="val 5926"/>
            </a:avLst>
          </a:prstGeom>
          <a:solidFill>
            <a:srgbClr val="E9EDF2"/>
          </a:solidFill>
          <a:ln/>
        </p:spPr>
      </p:sp>
      <p:sp>
        <p:nvSpPr>
          <p:cNvPr id="25"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6"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7"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8" name="!!state-4#0"/>
          <p:cNvSpPr/>
          <p:nvPr/>
        </p:nvSpPr>
        <p:spPr>
          <a:xfrm>
            <a:off x="9905695" y="1965960"/>
            <a:ext cx="1737360" cy="1234440"/>
          </a:xfrm>
          <a:prstGeom prst="roundRect">
            <a:avLst>
              <a:gd name="adj" fmla="val 5926"/>
            </a:avLst>
          </a:prstGeom>
          <a:solidFill>
            <a:srgbClr val="E9EDF2"/>
          </a:solidFill>
          <a:ln/>
        </p:spPr>
      </p:sp>
      <p:sp>
        <p:nvSpPr>
          <p:cNvPr id="29"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1"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card#0"/>
          <p:cNvSpPr/>
          <p:nvPr/>
        </p:nvSpPr>
        <p:spPr>
          <a:xfrm>
            <a:off x="548640" y="3749040"/>
            <a:ext cx="11094415" cy="2423160"/>
          </a:xfrm>
          <a:prstGeom prst="roundRect">
            <a:avLst>
              <a:gd name="adj" fmla="val 3019"/>
            </a:avLst>
          </a:prstGeom>
          <a:solidFill>
            <a:srgbClr val="FFFFFF"/>
          </a:solidFill>
          <a:ln/>
        </p:spPr>
      </p:sp>
      <p:sp>
        <p:nvSpPr>
          <p:cNvPr id="33"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4"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5"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36"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37"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38"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39"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40"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41" name="panel-2#5"/>
          <p:cNvSpPr/>
          <p:nvPr/>
        </p:nvSpPr>
        <p:spPr>
          <a:xfrm>
            <a:off x="777240" y="4992624"/>
            <a:ext cx="2039661" cy="530352"/>
          </a:xfrm>
          <a:prstGeom prst="roundRect">
            <a:avLst>
              <a:gd name="adj" fmla="val 13793"/>
            </a:avLst>
          </a:prstGeom>
          <a:solidFill>
            <a:srgbClr val="FFB282"/>
          </a:solidFill>
          <a:ln w="12700">
            <a:solidFill>
              <a:srgbClr val="FFB282"/>
            </a:solidFill>
          </a:ln>
        </p:spPr>
        <p:txBody>
          <a:bodyPr wrap="square" lIns="91440" tIns="27432" rIns="91440" bIns="27432" rtlCol="0" anchor="ctr"/>
          <a:lstStyle/>
          <a:p>
            <a:pPr algn="l" indent="0" marL="0">
              <a:buNone/>
            </a:pPr>
            <a:r>
              <a:rPr lang="en-US" sz="1400" dirty="0">
                <a:solidFill>
                  <a:srgbClr val="1B365D"/>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blocks  0.99</a:t>
            </a:r>
            <a:endParaRPr lang="en-US" sz="1600" dirty="0"/>
          </a:p>
        </p:txBody>
      </p:sp>
      <p:sp>
        <p:nvSpPr>
          <p:cNvPr id="42"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3"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4"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blocks the refund: it is $297 and the limit is $100. Nothing runs.</a:t>
            </a:r>
            <a:endParaRPr lang="en-US" sz="1600" dirty="0"/>
          </a:p>
        </p:txBody>
      </p:sp>
      <p:sp>
        <p:nvSpPr>
          <p:cNvPr id="45" name="!!ring#0"/>
          <p:cNvSpPr/>
          <p:nvPr/>
        </p:nvSpPr>
        <p:spPr>
          <a:xfrm>
            <a:off x="5181448"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A5C10"/>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FFB282"/>
          </a:solidFill>
          <a:ln/>
        </p:spPr>
      </p:sp>
      <p:sp>
        <p:nvSpPr>
          <p:cNvPr id="21" name="!!state-2#1"/>
          <p:cNvSpPr/>
          <p:nvPr/>
        </p:nvSpPr>
        <p:spPr>
          <a:xfrm>
            <a:off x="5867248" y="2075688"/>
            <a:ext cx="457200" cy="457200"/>
          </a:xfrm>
          <a:prstGeom prst="ellipse">
            <a:avLst/>
          </a:prstGeom>
          <a:solidFill>
            <a:srgbClr val="1B365D"/>
          </a:solidFill>
          <a:ln w="12700">
            <a:solidFill>
              <a:srgbClr val="1B365D"/>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state-3#0"/>
          <p:cNvSpPr/>
          <p:nvPr/>
        </p:nvSpPr>
        <p:spPr>
          <a:xfrm>
            <a:off x="7566431" y="1965960"/>
            <a:ext cx="1737360" cy="1234440"/>
          </a:xfrm>
          <a:prstGeom prst="roundRect">
            <a:avLst>
              <a:gd name="adj" fmla="val 5926"/>
            </a:avLst>
          </a:prstGeom>
          <a:solidFill>
            <a:srgbClr val="E9EDF2"/>
          </a:solidFill>
          <a:ln/>
        </p:spPr>
      </p:sp>
      <p:sp>
        <p:nvSpPr>
          <p:cNvPr id="25"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6"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7"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8" name="!!state-4#0"/>
          <p:cNvSpPr/>
          <p:nvPr/>
        </p:nvSpPr>
        <p:spPr>
          <a:xfrm>
            <a:off x="9905695" y="1965960"/>
            <a:ext cx="1737360" cy="1234440"/>
          </a:xfrm>
          <a:prstGeom prst="roundRect">
            <a:avLst>
              <a:gd name="adj" fmla="val 5926"/>
            </a:avLst>
          </a:prstGeom>
          <a:solidFill>
            <a:srgbClr val="A6BCD6"/>
          </a:solidFill>
          <a:ln/>
        </p:spPr>
      </p:sp>
      <p:sp>
        <p:nvSpPr>
          <p:cNvPr id="29" name="!!state-4#1"/>
          <p:cNvSpPr/>
          <p:nvPr/>
        </p:nvSpPr>
        <p:spPr>
          <a:xfrm>
            <a:off x="10545775"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1"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deny#0"/>
          <p:cNvSpPr/>
          <p:nvPr/>
        </p:nvSpPr>
        <p:spPr>
          <a:xfrm>
            <a:off x="6095848" y="3200400"/>
            <a:ext cx="0" cy="201168"/>
          </a:xfrm>
          <a:prstGeom prst="line">
            <a:avLst/>
          </a:prstGeom>
          <a:noFill/>
          <a:ln w="44450">
            <a:solidFill>
              <a:srgbClr val="BA5C10"/>
            </a:solidFill>
            <a:prstDash val="solid"/>
          </a:ln>
        </p:spPr>
      </p:sp>
      <p:sp>
        <p:nvSpPr>
          <p:cNvPr id="33" name="!!deny#1"/>
          <p:cNvSpPr/>
          <p:nvPr/>
        </p:nvSpPr>
        <p:spPr>
          <a:xfrm>
            <a:off x="6095848" y="3401568"/>
            <a:ext cx="4678528" cy="0"/>
          </a:xfrm>
          <a:prstGeom prst="line">
            <a:avLst/>
          </a:prstGeom>
          <a:noFill/>
          <a:ln w="44450">
            <a:solidFill>
              <a:srgbClr val="BA5C10"/>
            </a:solidFill>
            <a:prstDash val="solid"/>
          </a:ln>
        </p:spPr>
      </p:sp>
      <p:sp>
        <p:nvSpPr>
          <p:cNvPr id="34" name="!!deny#2"/>
          <p:cNvSpPr/>
          <p:nvPr/>
        </p:nvSpPr>
        <p:spPr>
          <a:xfrm flipV="1">
            <a:off x="10774375" y="3200400"/>
            <a:ext cx="0" cy="201168"/>
          </a:xfrm>
          <a:prstGeom prst="line">
            <a:avLst/>
          </a:prstGeom>
          <a:noFill/>
          <a:ln w="44450">
            <a:solidFill>
              <a:srgbClr val="BA5C10"/>
            </a:solidFill>
            <a:prstDash val="solid"/>
            <a:tailEnd type="triangle"/>
          </a:ln>
        </p:spPr>
      </p:sp>
      <p:sp>
        <p:nvSpPr>
          <p:cNvPr id="35" name="!!deny#3"/>
          <p:cNvSpPr/>
          <p:nvPr/>
        </p:nvSpPr>
        <p:spPr>
          <a:xfrm>
            <a:off x="6095848" y="3429000"/>
            <a:ext cx="467852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36" name="!!skipped#0"/>
          <p:cNvSpPr/>
          <p:nvPr/>
        </p:nvSpPr>
        <p:spPr>
          <a:xfrm>
            <a:off x="7566431" y="2898648"/>
            <a:ext cx="1737360" cy="256032"/>
          </a:xfrm>
          <a:prstGeom prst="rect">
            <a:avLst/>
          </a:prstGeom>
          <a:noFill/>
          <a:ln/>
        </p:spPr>
        <p:txBody>
          <a:bodyPr wrap="square" lIns="0" tIns="0" rIns="0" bIns="0" rtlCol="0" anchor="ctr"/>
          <a:lstStyle/>
          <a:p>
            <a:pPr algn="ctr" indent="0" marL="0">
              <a:buNone/>
            </a:pPr>
            <a:r>
              <a:rPr lang="en-US" sz="1400" b="1" dirty="0">
                <a:solidFill>
                  <a:srgbClr val="BA5C10"/>
                </a:solidFill>
                <a:latin typeface="Calibri" pitchFamily="34" charset="0"/>
                <a:ea typeface="Calibri" pitchFamily="34" charset="-122"/>
                <a:cs typeface="Calibri" pitchFamily="34" charset="-120"/>
              </a:rPr>
              <a:t>skipped</a:t>
            </a:r>
            <a:endParaRPr lang="en-US" sz="1400" dirty="0"/>
          </a:p>
        </p:txBody>
      </p:sp>
      <p:sp>
        <p:nvSpPr>
          <p:cNvPr id="37" name="!!card#0"/>
          <p:cNvSpPr/>
          <p:nvPr/>
        </p:nvSpPr>
        <p:spPr>
          <a:xfrm>
            <a:off x="548640" y="3749040"/>
            <a:ext cx="11094415" cy="2423160"/>
          </a:xfrm>
          <a:prstGeom prst="roundRect">
            <a:avLst>
              <a:gd name="adj" fmla="val 3019"/>
            </a:avLst>
          </a:prstGeom>
          <a:solidFill>
            <a:srgbClr val="FFFFFF"/>
          </a:solidFill>
          <a:ln/>
        </p:spPr>
      </p:sp>
      <p:sp>
        <p:nvSpPr>
          <p:cNvPr id="3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4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about a refund for your Max annual plan. I can't start this refund here because it's $297, which is above the $100 limit for refunds in this chat. Here is what you can do: cancel the plan's next renewal before it's charged, at no cost.”</a:t>
            </a:r>
            <a:endParaRPr lang="en-US" sz="1900" dirty="0"/>
          </a:p>
        </p:txBody>
      </p:sp>
      <p:sp>
        <p:nvSpPr>
          <p:cNvPr id="42" name="!!ring#0"/>
          <p:cNvSpPr/>
          <p:nvPr/>
        </p:nvSpPr>
        <p:spPr>
          <a:xfrm>
            <a:off x="9859975"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3246120"/>
            <a:ext cx="1737360" cy="1234440"/>
          </a:xfrm>
          <a:prstGeom prst="roundRect">
            <a:avLst>
              <a:gd name="adj" fmla="val 5926"/>
            </a:avLst>
          </a:prstGeom>
          <a:solidFill>
            <a:srgbClr val="AEB7C2"/>
          </a:solidFill>
          <a:ln/>
        </p:spPr>
      </p:sp>
      <p:sp>
        <p:nvSpPr>
          <p:cNvPr id="11" name="!!state-0#1"/>
          <p:cNvSpPr/>
          <p:nvPr/>
        </p:nvSpPr>
        <p:spPr>
          <a:xfrm>
            <a:off x="118872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3456432"/>
            <a:ext cx="256032" cy="256032"/>
          </a:xfrm>
          <a:prstGeom prst="rect">
            <a:avLst/>
          </a:prstGeom>
        </p:spPr>
      </p:pic>
      <p:sp>
        <p:nvSpPr>
          <p:cNvPr id="13" name="!!state-0#3"/>
          <p:cNvSpPr/>
          <p:nvPr/>
        </p:nvSpPr>
        <p:spPr>
          <a:xfrm>
            <a:off x="585216" y="386791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3863340"/>
            <a:ext cx="565328" cy="0"/>
          </a:xfrm>
          <a:prstGeom prst="line">
            <a:avLst/>
          </a:prstGeom>
          <a:noFill/>
          <a:ln w="25400">
            <a:solidFill>
              <a:srgbClr val="9AA6B3"/>
            </a:solidFill>
            <a:prstDash val="solid"/>
            <a:tailEnd type="triangle"/>
          </a:ln>
        </p:spPr>
      </p:sp>
      <p:sp>
        <p:nvSpPr>
          <p:cNvPr id="15" name="!!state-1#0"/>
          <p:cNvSpPr/>
          <p:nvPr/>
        </p:nvSpPr>
        <p:spPr>
          <a:xfrm>
            <a:off x="2887904" y="3246120"/>
            <a:ext cx="1737360" cy="1234440"/>
          </a:xfrm>
          <a:prstGeom prst="roundRect">
            <a:avLst>
              <a:gd name="adj" fmla="val 5926"/>
            </a:avLst>
          </a:prstGeom>
          <a:solidFill>
            <a:srgbClr val="E9EDF2"/>
          </a:solidFill>
          <a:ln/>
        </p:spPr>
      </p:sp>
      <p:sp>
        <p:nvSpPr>
          <p:cNvPr id="16" name="!!state-1#1"/>
          <p:cNvSpPr/>
          <p:nvPr/>
        </p:nvSpPr>
        <p:spPr>
          <a:xfrm>
            <a:off x="3527984"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3628568" y="3456432"/>
            <a:ext cx="256032" cy="256032"/>
          </a:xfrm>
          <a:prstGeom prst="rect">
            <a:avLst/>
          </a:prstGeom>
        </p:spPr>
      </p:pic>
      <p:sp>
        <p:nvSpPr>
          <p:cNvPr id="18" name="!!state-1#3"/>
          <p:cNvSpPr/>
          <p:nvPr/>
        </p:nvSpPr>
        <p:spPr>
          <a:xfrm>
            <a:off x="2924480"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state-2#0"/>
          <p:cNvSpPr/>
          <p:nvPr/>
        </p:nvSpPr>
        <p:spPr>
          <a:xfrm>
            <a:off x="5227168" y="3246120"/>
            <a:ext cx="1737360" cy="1234440"/>
          </a:xfrm>
          <a:prstGeom prst="roundRect">
            <a:avLst>
              <a:gd name="adj" fmla="val 5926"/>
            </a:avLst>
          </a:prstGeom>
          <a:solidFill>
            <a:srgbClr val="E9EDF2"/>
          </a:solidFill>
          <a:ln/>
        </p:spPr>
      </p:sp>
      <p:sp>
        <p:nvSpPr>
          <p:cNvPr id="20" name="!!state-2#1"/>
          <p:cNvSpPr/>
          <p:nvPr/>
        </p:nvSpPr>
        <p:spPr>
          <a:xfrm>
            <a:off x="5867248" y="3355848"/>
            <a:ext cx="457200" cy="457200"/>
          </a:xfrm>
          <a:prstGeom prst="ellipse">
            <a:avLst/>
          </a:prstGeom>
          <a:solidFill>
            <a:srgbClr val="AEB7C2"/>
          </a:solidFill>
          <a:ln w="12700">
            <a:solidFill>
              <a:srgbClr val="AEB7C2"/>
            </a:solidFill>
            <a:prstDash val="solid"/>
          </a:ln>
        </p:spPr>
      </p:sp>
      <p:pic>
        <p:nvPicPr>
          <p:cNvPr id="21" name="!!state-2#2" descr="preencoded.png">    </p:cNvPr>
          <p:cNvPicPr>
            <a:picLocks noChangeAspect="1"/>
          </p:cNvPicPr>
          <p:nvPr/>
        </p:nvPicPr>
        <p:blipFill>
          <a:blip r:embed="rId6"/>
          <a:stretch>
            <a:fillRect/>
          </a:stretch>
        </p:blipFill>
        <p:spPr>
          <a:xfrm>
            <a:off x="5967832" y="3456432"/>
            <a:ext cx="256032" cy="256032"/>
          </a:xfrm>
          <a:prstGeom prst="rect">
            <a:avLst/>
          </a:prstGeom>
        </p:spPr>
      </p:pic>
      <p:sp>
        <p:nvSpPr>
          <p:cNvPr id="22" name="!!state-2#3"/>
          <p:cNvSpPr/>
          <p:nvPr/>
        </p:nvSpPr>
        <p:spPr>
          <a:xfrm>
            <a:off x="5263744"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3" name="!!state-3#0"/>
          <p:cNvSpPr/>
          <p:nvPr/>
        </p:nvSpPr>
        <p:spPr>
          <a:xfrm>
            <a:off x="7566431" y="3246120"/>
            <a:ext cx="1737360" cy="1234440"/>
          </a:xfrm>
          <a:prstGeom prst="roundRect">
            <a:avLst>
              <a:gd name="adj" fmla="val 5926"/>
            </a:avLst>
          </a:prstGeom>
          <a:solidFill>
            <a:srgbClr val="E9EDF2"/>
          </a:solidFill>
          <a:ln/>
        </p:spPr>
      </p:sp>
      <p:sp>
        <p:nvSpPr>
          <p:cNvPr id="24" name="!!state-3#1"/>
          <p:cNvSpPr/>
          <p:nvPr/>
        </p:nvSpPr>
        <p:spPr>
          <a:xfrm>
            <a:off x="8206511"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7"/>
          <a:stretch>
            <a:fillRect/>
          </a:stretch>
        </p:blipFill>
        <p:spPr>
          <a:xfrm>
            <a:off x="8307095" y="3456432"/>
            <a:ext cx="256032" cy="256032"/>
          </a:xfrm>
          <a:prstGeom prst="rect">
            <a:avLst/>
          </a:prstGeom>
        </p:spPr>
      </p:pic>
      <p:sp>
        <p:nvSpPr>
          <p:cNvPr id="26" name="!!state-3#3"/>
          <p:cNvSpPr/>
          <p:nvPr/>
        </p:nvSpPr>
        <p:spPr>
          <a:xfrm>
            <a:off x="7603007"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state-4#0"/>
          <p:cNvSpPr/>
          <p:nvPr/>
        </p:nvSpPr>
        <p:spPr>
          <a:xfrm>
            <a:off x="9905695" y="3246120"/>
            <a:ext cx="1737360" cy="1234440"/>
          </a:xfrm>
          <a:prstGeom prst="roundRect">
            <a:avLst>
              <a:gd name="adj" fmla="val 5926"/>
            </a:avLst>
          </a:prstGeom>
          <a:solidFill>
            <a:srgbClr val="E9EDF2"/>
          </a:solidFill>
          <a:ln/>
        </p:spPr>
      </p:sp>
      <p:sp>
        <p:nvSpPr>
          <p:cNvPr id="28" name="!!state-4#1"/>
          <p:cNvSpPr/>
          <p:nvPr/>
        </p:nvSpPr>
        <p:spPr>
          <a:xfrm>
            <a:off x="10545775" y="3355848"/>
            <a:ext cx="457200" cy="457200"/>
          </a:xfrm>
          <a:prstGeom prst="ellipse">
            <a:avLst/>
          </a:prstGeom>
          <a:solidFill>
            <a:srgbClr val="AEB7C2"/>
          </a:solidFill>
          <a:ln w="12700">
            <a:solidFill>
              <a:srgbClr val="AEB7C2"/>
            </a:solidFill>
            <a:prstDash val="solid"/>
          </a:ln>
        </p:spPr>
      </p:sp>
      <p:pic>
        <p:nvPicPr>
          <p:cNvPr id="29" name="!!state-4#2" descr="preencoded.png">    </p:cNvPr>
          <p:cNvPicPr>
            <a:picLocks noChangeAspect="1"/>
          </p:cNvPicPr>
          <p:nvPr/>
        </p:nvPicPr>
        <p:blipFill>
          <a:blip r:embed="rId8"/>
          <a:stretch>
            <a:fillRect/>
          </a:stretch>
        </p:blipFill>
        <p:spPr>
          <a:xfrm>
            <a:off x="10646359" y="3456432"/>
            <a:ext cx="256032" cy="256032"/>
          </a:xfrm>
          <a:prstGeom prst="rect">
            <a:avLst/>
          </a:prstGeom>
        </p:spPr>
      </p:pic>
      <p:sp>
        <p:nvSpPr>
          <p:cNvPr id="30" name="!!state-4#3"/>
          <p:cNvSpPr/>
          <p:nvPr/>
        </p:nvSpPr>
        <p:spPr>
          <a:xfrm>
            <a:off x="9942271"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1" name="!!ring#0"/>
          <p:cNvSpPr/>
          <p:nvPr/>
        </p:nvSpPr>
        <p:spPr>
          <a:xfrm>
            <a:off x="502920" y="320040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BE4F4F"/>
          </a:solidFill>
          <a:ln/>
        </p:spPr>
      </p:sp>
      <p:sp>
        <p:nvSpPr>
          <p:cNvPr id="16" name="!!state-1#1"/>
          <p:cNvSpPr/>
          <p:nvPr/>
        </p:nvSpPr>
        <p:spPr>
          <a:xfrm>
            <a:off x="3527984" y="2075688"/>
            <a:ext cx="457200" cy="457200"/>
          </a:xfrm>
          <a:prstGeom prst="ellipse">
            <a:avLst/>
          </a:prstGeom>
          <a:solidFill>
            <a:srgbClr val="BE4F4F"/>
          </a:solidFill>
          <a:ln w="12700">
            <a:solidFill>
              <a:srgbClr val="BE4F4F"/>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9" name="!!state-2#0"/>
          <p:cNvSpPr/>
          <p:nvPr/>
        </p:nvSpPr>
        <p:spPr>
          <a:xfrm>
            <a:off x="5227168" y="1965960"/>
            <a:ext cx="1737360" cy="1234440"/>
          </a:xfrm>
          <a:prstGeom prst="roundRect">
            <a:avLst>
              <a:gd name="adj" fmla="val 5926"/>
            </a:avLst>
          </a:prstGeom>
          <a:solidFill>
            <a:srgbClr val="E9EDF2"/>
          </a:solidFill>
          <a:ln/>
        </p:spPr>
      </p:sp>
      <p:sp>
        <p:nvSpPr>
          <p:cNvPr id="20" name="!!state-2#1"/>
          <p:cNvSpPr/>
          <p:nvPr/>
        </p:nvSpPr>
        <p:spPr>
          <a:xfrm>
            <a:off x="5867248" y="2075688"/>
            <a:ext cx="457200" cy="457200"/>
          </a:xfrm>
          <a:prstGeom prst="ellipse">
            <a:avLst/>
          </a:prstGeom>
          <a:solidFill>
            <a:srgbClr val="AEB7C2"/>
          </a:solidFill>
          <a:ln w="12700">
            <a:solidFill>
              <a:srgbClr val="AEB7C2"/>
            </a:solidFill>
            <a:prstDash val="solid"/>
          </a:ln>
        </p:spPr>
      </p:sp>
      <p:pic>
        <p:nvPicPr>
          <p:cNvPr id="21"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2"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3" name="!!state-3#0"/>
          <p:cNvSpPr/>
          <p:nvPr/>
        </p:nvSpPr>
        <p:spPr>
          <a:xfrm>
            <a:off x="7566431" y="1965960"/>
            <a:ext cx="1737360" cy="1234440"/>
          </a:xfrm>
          <a:prstGeom prst="roundRect">
            <a:avLst>
              <a:gd name="adj" fmla="val 5926"/>
            </a:avLst>
          </a:prstGeom>
          <a:solidFill>
            <a:srgbClr val="E9EDF2"/>
          </a:solidFill>
          <a:ln/>
        </p:spPr>
      </p:sp>
      <p:sp>
        <p:nvSpPr>
          <p:cNvPr id="24"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6"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state-4#0"/>
          <p:cNvSpPr/>
          <p:nvPr/>
        </p:nvSpPr>
        <p:spPr>
          <a:xfrm>
            <a:off x="9905695" y="1965960"/>
            <a:ext cx="1737360" cy="1234440"/>
          </a:xfrm>
          <a:prstGeom prst="roundRect">
            <a:avLst>
              <a:gd name="adj" fmla="val 5926"/>
            </a:avLst>
          </a:prstGeom>
          <a:solidFill>
            <a:srgbClr val="E9EDF2"/>
          </a:solidFill>
          <a:ln/>
        </p:spPr>
      </p:sp>
      <p:sp>
        <p:nvSpPr>
          <p:cNvPr id="28"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29"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0"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1" name="!!card#0"/>
          <p:cNvSpPr/>
          <p:nvPr/>
        </p:nvSpPr>
        <p:spPr>
          <a:xfrm>
            <a:off x="548640" y="3749040"/>
            <a:ext cx="11094415" cy="2423160"/>
          </a:xfrm>
          <a:prstGeom prst="roundRect">
            <a:avLst>
              <a:gd name="adj" fmla="val 3019"/>
            </a:avLst>
          </a:prstGeom>
          <a:solidFill>
            <a:srgbClr val="FFFFFF"/>
          </a:solidFill>
          <a:ln/>
        </p:spPr>
      </p:sp>
      <p:sp>
        <p:nvSpPr>
          <p:cNvPr id="32"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3"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4"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35"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36"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37"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38" name="panel-1#3"/>
          <p:cNvSpPr/>
          <p:nvPr/>
        </p:nvSpPr>
        <p:spPr>
          <a:xfrm>
            <a:off x="8858021" y="4389120"/>
            <a:ext cx="2556434" cy="822960"/>
          </a:xfrm>
          <a:prstGeom prst="roundRect">
            <a:avLst>
              <a:gd name="adj" fmla="val 8889"/>
            </a:avLst>
          </a:prstGeom>
          <a:solidFill>
            <a:srgbClr val="BE4F4F"/>
          </a:solidFill>
          <a:ln w="12700">
            <a:solidFill>
              <a:srgbClr val="BE4F4F"/>
            </a:solidFill>
          </a:ln>
        </p:spPr>
        <p:txBody>
          <a:bodyPr wrap="square" lIns="109728" tIns="36576" rIns="109728" bIns="36576" rtlCol="0" anchor="ctr"/>
          <a:lstStyle/>
          <a:p>
            <a:pPr algn="l" indent="0" marL="0">
              <a:buNone/>
            </a:pPr>
            <a:r>
              <a:rPr lang="en-US" sz="1400" dirty="0">
                <a:solidFill>
                  <a:srgbClr val="FFFFF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FFFFFF"/>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FFFFFF"/>
                </a:solidFill>
                <a:latin typeface="Calibri" pitchFamily="34" charset="0"/>
                <a:ea typeface="Calibri" pitchFamily="34" charset="-122"/>
                <a:cs typeface="Calibri" pitchFamily="34" charset="-120"/>
              </a:rPr>
              <a:t>confidence 0.91</a:t>
            </a:r>
            <a:endParaRPr lang="en-US" sz="1600" dirty="0"/>
          </a:p>
        </p:txBody>
      </p:sp>
      <p:sp>
        <p:nvSpPr>
          <p:cNvPr id="39"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40" name="!!ring#0"/>
          <p:cNvSpPr/>
          <p:nvPr/>
        </p:nvSpPr>
        <p:spPr>
          <a:xfrm>
            <a:off x="2842184"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BE4F4F"/>
          </a:solidFill>
          <a:ln/>
        </p:spPr>
      </p:sp>
      <p:sp>
        <p:nvSpPr>
          <p:cNvPr id="16" name="!!state-1#1"/>
          <p:cNvSpPr/>
          <p:nvPr/>
        </p:nvSpPr>
        <p:spPr>
          <a:xfrm>
            <a:off x="3527984" y="2075688"/>
            <a:ext cx="457200" cy="457200"/>
          </a:xfrm>
          <a:prstGeom prst="ellipse">
            <a:avLst/>
          </a:prstGeom>
          <a:solidFill>
            <a:srgbClr val="BE4F4F"/>
          </a:solidFill>
          <a:ln w="12700">
            <a:solidFill>
              <a:srgbClr val="BE4F4F"/>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9" name="!!state-2#0"/>
          <p:cNvSpPr/>
          <p:nvPr/>
        </p:nvSpPr>
        <p:spPr>
          <a:xfrm>
            <a:off x="5227168" y="1965960"/>
            <a:ext cx="1737360" cy="1234440"/>
          </a:xfrm>
          <a:prstGeom prst="roundRect">
            <a:avLst>
              <a:gd name="adj" fmla="val 5926"/>
            </a:avLst>
          </a:prstGeom>
          <a:solidFill>
            <a:srgbClr val="E9EDF2"/>
          </a:solidFill>
          <a:ln/>
        </p:spPr>
      </p:sp>
      <p:sp>
        <p:nvSpPr>
          <p:cNvPr id="20" name="!!state-2#1"/>
          <p:cNvSpPr/>
          <p:nvPr/>
        </p:nvSpPr>
        <p:spPr>
          <a:xfrm>
            <a:off x="5867248" y="2075688"/>
            <a:ext cx="457200" cy="457200"/>
          </a:xfrm>
          <a:prstGeom prst="ellipse">
            <a:avLst/>
          </a:prstGeom>
          <a:solidFill>
            <a:srgbClr val="AEB7C2"/>
          </a:solidFill>
          <a:ln w="12700">
            <a:solidFill>
              <a:srgbClr val="AEB7C2"/>
            </a:solidFill>
            <a:prstDash val="solid"/>
          </a:ln>
        </p:spPr>
      </p:sp>
      <p:pic>
        <p:nvPicPr>
          <p:cNvPr id="21"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2"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3" name="!!state-3#0"/>
          <p:cNvSpPr/>
          <p:nvPr/>
        </p:nvSpPr>
        <p:spPr>
          <a:xfrm>
            <a:off x="7566431" y="1965960"/>
            <a:ext cx="1737360" cy="1234440"/>
          </a:xfrm>
          <a:prstGeom prst="roundRect">
            <a:avLst>
              <a:gd name="adj" fmla="val 5926"/>
            </a:avLst>
          </a:prstGeom>
          <a:solidFill>
            <a:srgbClr val="E9EDF2"/>
          </a:solidFill>
          <a:ln/>
        </p:spPr>
      </p:sp>
      <p:sp>
        <p:nvSpPr>
          <p:cNvPr id="24"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6"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state-4#0"/>
          <p:cNvSpPr/>
          <p:nvPr/>
        </p:nvSpPr>
        <p:spPr>
          <a:xfrm>
            <a:off x="9905695" y="1965960"/>
            <a:ext cx="1737360" cy="1234440"/>
          </a:xfrm>
          <a:prstGeom prst="roundRect">
            <a:avLst>
              <a:gd name="adj" fmla="val 5926"/>
            </a:avLst>
          </a:prstGeom>
          <a:solidFill>
            <a:srgbClr val="A6BCD6"/>
          </a:solidFill>
          <a:ln/>
        </p:spPr>
      </p:sp>
      <p:sp>
        <p:nvSpPr>
          <p:cNvPr id="28" name="!!state-4#1"/>
          <p:cNvSpPr/>
          <p:nvPr/>
        </p:nvSpPr>
        <p:spPr>
          <a:xfrm>
            <a:off x="10545775" y="2075688"/>
            <a:ext cx="457200" cy="457200"/>
          </a:xfrm>
          <a:prstGeom prst="ellipse">
            <a:avLst/>
          </a:prstGeom>
          <a:solidFill>
            <a:srgbClr val="2F5F98"/>
          </a:solidFill>
          <a:ln w="12700">
            <a:solidFill>
              <a:srgbClr val="2F5F98"/>
            </a:solidFill>
            <a:prstDash val="solid"/>
          </a:ln>
        </p:spPr>
      </p:sp>
      <p:pic>
        <p:nvPicPr>
          <p:cNvPr id="29"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0"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1" name="!!deny#0"/>
          <p:cNvSpPr/>
          <p:nvPr/>
        </p:nvSpPr>
        <p:spPr>
          <a:xfrm>
            <a:off x="3756584" y="3200400"/>
            <a:ext cx="0" cy="201168"/>
          </a:xfrm>
          <a:prstGeom prst="line">
            <a:avLst/>
          </a:prstGeom>
          <a:noFill/>
          <a:ln w="44450">
            <a:solidFill>
              <a:srgbClr val="BE4F4F"/>
            </a:solidFill>
            <a:prstDash val="solid"/>
          </a:ln>
        </p:spPr>
      </p:sp>
      <p:sp>
        <p:nvSpPr>
          <p:cNvPr id="32" name="!!deny#1"/>
          <p:cNvSpPr/>
          <p:nvPr/>
        </p:nvSpPr>
        <p:spPr>
          <a:xfrm>
            <a:off x="3756584" y="3401568"/>
            <a:ext cx="7017791" cy="0"/>
          </a:xfrm>
          <a:prstGeom prst="line">
            <a:avLst/>
          </a:prstGeom>
          <a:noFill/>
          <a:ln w="44450">
            <a:solidFill>
              <a:srgbClr val="BE4F4F"/>
            </a:solidFill>
            <a:prstDash val="solid"/>
          </a:ln>
        </p:spPr>
      </p:sp>
      <p:sp>
        <p:nvSpPr>
          <p:cNvPr id="33" name="!!deny#2"/>
          <p:cNvSpPr/>
          <p:nvPr/>
        </p:nvSpPr>
        <p:spPr>
          <a:xfrm flipV="1">
            <a:off x="10774375" y="3200400"/>
            <a:ext cx="0" cy="201168"/>
          </a:xfrm>
          <a:prstGeom prst="line">
            <a:avLst/>
          </a:prstGeom>
          <a:noFill/>
          <a:ln w="44450">
            <a:solidFill>
              <a:srgbClr val="BE4F4F"/>
            </a:solidFill>
            <a:prstDash val="solid"/>
            <a:tailEnd type="triangle"/>
          </a:ln>
        </p:spPr>
      </p:sp>
      <p:sp>
        <p:nvSpPr>
          <p:cNvPr id="34" name="!!deny#3"/>
          <p:cNvSpPr/>
          <p:nvPr/>
        </p:nvSpPr>
        <p:spPr>
          <a:xfrm>
            <a:off x="3756584" y="3429000"/>
            <a:ext cx="7017791"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35" name="!!skipped#0"/>
          <p:cNvSpPr/>
          <p:nvPr/>
        </p:nvSpPr>
        <p:spPr>
          <a:xfrm>
            <a:off x="5227168" y="2898648"/>
            <a:ext cx="173736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36" name="!!skipped#1"/>
          <p:cNvSpPr/>
          <p:nvPr/>
        </p:nvSpPr>
        <p:spPr>
          <a:xfrm>
            <a:off x="7566431" y="2898648"/>
            <a:ext cx="173736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37" name="!!card#0"/>
          <p:cNvSpPr/>
          <p:nvPr/>
        </p:nvSpPr>
        <p:spPr>
          <a:xfrm>
            <a:off x="548640" y="3749040"/>
            <a:ext cx="11094415" cy="2423160"/>
          </a:xfrm>
          <a:prstGeom prst="roundRect">
            <a:avLst>
              <a:gd name="adj" fmla="val 3019"/>
            </a:avLst>
          </a:prstGeom>
          <a:solidFill>
            <a:srgbClr val="FFFFFF"/>
          </a:solidFill>
          <a:ln/>
        </p:spPr>
      </p:sp>
      <p:sp>
        <p:nvSpPr>
          <p:cNvPr id="3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4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“I understand you'd like all your payments refunded. The annual Max plan charge from August 12 falls outside the 30-day refund window and its credits have already been used, so a refund isn't possible. Here is what you can do: cancel your upcoming renewal before it's charged, at no cost.”</a:t>
            </a:r>
            <a:endParaRPr lang="en-US" sz="1900" dirty="0"/>
          </a:p>
        </p:txBody>
      </p:sp>
      <p:sp>
        <p:nvSpPr>
          <p:cNvPr id="42" name="!!ring#0"/>
          <p:cNvSpPr/>
          <p:nvPr/>
        </p:nvSpPr>
        <p:spPr>
          <a:xfrm>
            <a:off x="9859975"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6" name="Shape 1"/>
          <p:cNvSpPr/>
          <p:nvPr/>
        </p:nvSpPr>
        <p:spPr>
          <a:xfrm>
            <a:off x="548640" y="1463040"/>
            <a:ext cx="7223760" cy="4663440"/>
          </a:xfrm>
          <a:prstGeom prst="roundRect">
            <a:avLst>
              <a:gd name="adj" fmla="val 1569"/>
            </a:avLst>
          </a:prstGeom>
          <a:solidFill>
            <a:srgbClr val="FFFFFF"/>
          </a:solidFill>
          <a:ln/>
        </p:spPr>
      </p:sp>
      <p:graphicFrame>
        <p:nvGraphicFramePr>
          <p:cNvPr id="7" name="Chart 0" descr=""/>
          <p:cNvGraphicFramePr/>
          <p:nvPr/>
        </p:nvGraphicFramePr>
        <p:xfrm>
          <a:off x="731520" y="1554480"/>
          <a:ext cx="6858000" cy="4480560"/>
        </p:xfrm>
        <a:graphic xmlns:a="http://schemas.openxmlformats.org/drawingml/2006/main">
          <a:graphicData uri="http://schemas.openxmlformats.org/drawingml/2006/chart">
            <c:chart xmlns:c="http://schemas.openxmlformats.org/drawingml/2006/chart" r:id="rId3"/>
          </a:graphicData>
        </a:graphic>
      </p:graphicFrame>
      <p:sp>
        <p:nvSpPr>
          <p:cNvPr id="8" name="Shape 2"/>
          <p:cNvSpPr/>
          <p:nvPr/>
        </p:nvSpPr>
        <p:spPr>
          <a:xfrm>
            <a:off x="8046720" y="1463040"/>
            <a:ext cx="3596335" cy="1371600"/>
          </a:xfrm>
          <a:prstGeom prst="roundRect">
            <a:avLst>
              <a:gd name="adj" fmla="val 5333"/>
            </a:avLst>
          </a:prstGeom>
          <a:solidFill>
            <a:srgbClr val="FFFFFF"/>
          </a:solidFill>
          <a:ln/>
        </p:spPr>
      </p:sp>
      <p:sp>
        <p:nvSpPr>
          <p:cNvPr id="9"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10" name="Image 2" descr="preencoded.png">    </p:cNvPr>
          <p:cNvPicPr>
            <a:picLocks noChangeAspect="1"/>
          </p:cNvPicPr>
          <p:nvPr/>
        </p:nvPicPr>
        <p:blipFill>
          <a:blip r:embed="rId4"/>
          <a:stretch>
            <a:fillRect/>
          </a:stretch>
        </p:blipFill>
        <p:spPr>
          <a:xfrm>
            <a:off x="8416138" y="1832458"/>
            <a:ext cx="358445" cy="358445"/>
          </a:xfrm>
          <a:prstGeom prst="rect">
            <a:avLst/>
          </a:prstGeom>
        </p:spPr>
      </p:pic>
      <p:sp>
        <p:nvSpPr>
          <p:cNvPr id="11" name="Text 4"/>
          <p:cNvSpPr/>
          <p:nvPr/>
        </p:nvSpPr>
        <p:spPr>
          <a:xfrm>
            <a:off x="9098280" y="160020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512 customers</a:t>
            </a:r>
            <a:endParaRPr lang="en-US" sz="2600" dirty="0"/>
          </a:p>
        </p:txBody>
      </p:sp>
      <p:sp>
        <p:nvSpPr>
          <p:cNvPr id="12" name="Text 5"/>
          <p:cNvSpPr/>
          <p:nvPr/>
        </p:nvSpPr>
        <p:spPr>
          <a:xfrm>
            <a:off x="9098280" y="212140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2 requests each: 1,024 requests of 26 types</a:t>
            </a:r>
            <a:endParaRPr lang="en-US" sz="1500" dirty="0"/>
          </a:p>
        </p:txBody>
      </p:sp>
      <p:sp>
        <p:nvSpPr>
          <p:cNvPr id="13" name="Shape 6"/>
          <p:cNvSpPr/>
          <p:nvPr/>
        </p:nvSpPr>
        <p:spPr>
          <a:xfrm>
            <a:off x="8046720" y="3108960"/>
            <a:ext cx="3596335" cy="1371600"/>
          </a:xfrm>
          <a:prstGeom prst="roundRect">
            <a:avLst>
              <a:gd name="adj" fmla="val 5333"/>
            </a:avLst>
          </a:prstGeom>
          <a:solidFill>
            <a:srgbClr val="FFFFFF"/>
          </a:solidFill>
          <a:ln/>
        </p:spPr>
      </p:sp>
      <p:sp>
        <p:nvSpPr>
          <p:cNvPr id="14" name="Shape 7"/>
          <p:cNvSpPr/>
          <p:nvPr/>
        </p:nvSpPr>
        <p:spPr>
          <a:xfrm>
            <a:off x="8275320" y="3337560"/>
            <a:ext cx="640080" cy="640080"/>
          </a:xfrm>
          <a:prstGeom prst="ellipse">
            <a:avLst/>
          </a:prstGeom>
          <a:solidFill>
            <a:srgbClr val="1F7A7A"/>
          </a:solidFill>
          <a:ln w="12700">
            <a:solidFill>
              <a:srgbClr val="1F7A7A"/>
            </a:solidFill>
            <a:prstDash val="solid"/>
          </a:ln>
        </p:spPr>
      </p:sp>
      <p:pic>
        <p:nvPicPr>
          <p:cNvPr id="15" name="Image 3" descr="preencoded.png">    </p:cNvPr>
          <p:cNvPicPr>
            <a:picLocks noChangeAspect="1"/>
          </p:cNvPicPr>
          <p:nvPr/>
        </p:nvPicPr>
        <p:blipFill>
          <a:blip r:embed="rId5"/>
          <a:stretch>
            <a:fillRect/>
          </a:stretch>
        </p:blipFill>
        <p:spPr>
          <a:xfrm>
            <a:off x="8416138" y="3478378"/>
            <a:ext cx="358445" cy="358445"/>
          </a:xfrm>
          <a:prstGeom prst="rect">
            <a:avLst/>
          </a:prstGeom>
        </p:spPr>
      </p:pic>
      <p:sp>
        <p:nvSpPr>
          <p:cNvPr id="16" name="Text 8"/>
          <p:cNvSpPr/>
          <p:nvPr/>
        </p:nvSpPr>
        <p:spPr>
          <a:xfrm>
            <a:off x="9098280" y="3246120"/>
            <a:ext cx="2407615" cy="502920"/>
          </a:xfrm>
          <a:prstGeom prst="rect">
            <a:avLst/>
          </a:prstGeom>
          <a:noFill/>
          <a:ln/>
        </p:spPr>
        <p:txBody>
          <a:bodyPr wrap="square" lIns="0" tIns="0" rIns="0" bIns="0" rtlCol="0" anchor="ctr"/>
          <a:lstStyle/>
          <a:p>
            <a:pPr algn="l" indent="0" marL="0">
              <a:buNone/>
            </a:pPr>
            <a:r>
              <a:rPr lang="en-US" sz="2600" b="1" dirty="0">
                <a:solidFill>
                  <a:srgbClr val="1F7A7A"/>
                </a:solidFill>
                <a:latin typeface="Calibri" pitchFamily="34" charset="0"/>
                <a:ea typeface="Calibri" pitchFamily="34" charset="-122"/>
                <a:cs typeface="Calibri" pitchFamily="34" charset="-120"/>
              </a:rPr>
              <a:t>199 of 1,024</a:t>
            </a:r>
            <a:endParaRPr lang="en-US" sz="2600" dirty="0"/>
          </a:p>
        </p:txBody>
      </p:sp>
      <p:sp>
        <p:nvSpPr>
          <p:cNvPr id="17" name="Text 9"/>
          <p:cNvSpPr/>
          <p:nvPr/>
        </p:nvSpPr>
        <p:spPr>
          <a:xfrm>
            <a:off x="9098280" y="376732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where a written rule denies the action</a:t>
            </a:r>
            <a:endParaRPr lang="en-US" sz="1500" dirty="0"/>
          </a:p>
        </p:txBody>
      </p:sp>
      <p:sp>
        <p:nvSpPr>
          <p:cNvPr id="18" name="Shape 10"/>
          <p:cNvSpPr/>
          <p:nvPr/>
        </p:nvSpPr>
        <p:spPr>
          <a:xfrm>
            <a:off x="8046720" y="4754880"/>
            <a:ext cx="3596335" cy="1371600"/>
          </a:xfrm>
          <a:prstGeom prst="roundRect">
            <a:avLst>
              <a:gd name="adj" fmla="val 5333"/>
            </a:avLst>
          </a:prstGeom>
          <a:solidFill>
            <a:srgbClr val="FFFFFF"/>
          </a:solidFill>
          <a:ln/>
        </p:spPr>
      </p:sp>
      <p:sp>
        <p:nvSpPr>
          <p:cNvPr id="19" name="Shape 11"/>
          <p:cNvSpPr/>
          <p:nvPr/>
        </p:nvSpPr>
        <p:spPr>
          <a:xfrm>
            <a:off x="8275320" y="498348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6"/>
          <a:stretch>
            <a:fillRect/>
          </a:stretch>
        </p:blipFill>
        <p:spPr>
          <a:xfrm>
            <a:off x="8416138" y="5124298"/>
            <a:ext cx="358445" cy="358445"/>
          </a:xfrm>
          <a:prstGeom prst="rect">
            <a:avLst/>
          </a:prstGeom>
        </p:spPr>
      </p:pic>
      <p:sp>
        <p:nvSpPr>
          <p:cNvPr id="21" name="Text 12"/>
          <p:cNvSpPr/>
          <p:nvPr/>
        </p:nvSpPr>
        <p:spPr>
          <a:xfrm>
            <a:off x="9098280" y="489204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27 attacks</a:t>
            </a:r>
            <a:endParaRPr lang="en-US" sz="2600" dirty="0"/>
          </a:p>
        </p:txBody>
      </p:sp>
      <p:sp>
        <p:nvSpPr>
          <p:cNvPr id="22" name="Text 13"/>
          <p:cNvSpPr/>
          <p:nvPr/>
        </p:nvSpPr>
        <p:spPr>
          <a:xfrm>
            <a:off x="9098280" y="541324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that hide an order in the message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6" name="Shape 1"/>
          <p:cNvSpPr/>
          <p:nvPr/>
        </p:nvSpPr>
        <p:spPr>
          <a:xfrm>
            <a:off x="548640" y="1463040"/>
            <a:ext cx="11094415" cy="2743200"/>
          </a:xfrm>
          <a:prstGeom prst="roundRect">
            <a:avLst>
              <a:gd name="adj" fmla="val 2667"/>
            </a:avLst>
          </a:prstGeom>
          <a:solidFill>
            <a:srgbClr val="FFFFFF"/>
          </a:solidFill>
          <a:ln/>
        </p:spPr>
      </p:sp>
      <p:sp>
        <p:nvSpPr>
          <p:cNvPr id="7" name="Shape 2"/>
          <p:cNvSpPr/>
          <p:nvPr/>
        </p:nvSpPr>
        <p:spPr>
          <a:xfrm>
            <a:off x="914400" y="1783080"/>
            <a:ext cx="777240" cy="77724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1085393" y="1954073"/>
            <a:ext cx="435254" cy="435254"/>
          </a:xfrm>
          <a:prstGeom prst="rect">
            <a:avLst/>
          </a:prstGeom>
        </p:spPr>
      </p:pic>
      <p:sp>
        <p:nvSpPr>
          <p:cNvPr id="9" name="Text 3"/>
          <p:cNvSpPr/>
          <p:nvPr/>
        </p:nvSpPr>
        <p:spPr>
          <a:xfrm>
            <a:off x="1828800" y="1783080"/>
            <a:ext cx="2235098" cy="77724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10" name="Text 4"/>
          <p:cNvSpPr/>
          <p:nvPr/>
        </p:nvSpPr>
        <p:spPr>
          <a:xfrm>
            <a:off x="914400"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The correct result: an answer, or an action the rules allow.</a:t>
            </a:r>
            <a:endParaRPr lang="en-US" sz="1800" dirty="0"/>
          </a:p>
        </p:txBody>
      </p:sp>
      <p:sp>
        <p:nvSpPr>
          <p:cNvPr id="11" name="Shape 5"/>
          <p:cNvSpPr/>
          <p:nvPr/>
        </p:nvSpPr>
        <p:spPr>
          <a:xfrm>
            <a:off x="4246778" y="1737360"/>
            <a:ext cx="0" cy="2194560"/>
          </a:xfrm>
          <a:prstGeom prst="line">
            <a:avLst/>
          </a:prstGeom>
          <a:noFill/>
          <a:ln w="19050">
            <a:solidFill>
              <a:srgbClr val="D5DBE3"/>
            </a:solidFill>
            <a:prstDash val="solid"/>
          </a:ln>
        </p:spPr>
      </p:sp>
      <p:sp>
        <p:nvSpPr>
          <p:cNvPr id="12" name="Shape 6"/>
          <p:cNvSpPr/>
          <p:nvPr/>
        </p:nvSpPr>
        <p:spPr>
          <a:xfrm>
            <a:off x="4612538" y="1783080"/>
            <a:ext cx="777240" cy="777240"/>
          </a:xfrm>
          <a:prstGeom prst="ellipse">
            <a:avLst/>
          </a:prstGeom>
          <a:solidFill>
            <a:srgbClr val="1F7A7A"/>
          </a:solidFill>
          <a:ln w="12700">
            <a:solidFill>
              <a:srgbClr val="1F7A7A"/>
            </a:solidFill>
            <a:prstDash val="solid"/>
          </a:ln>
        </p:spPr>
      </p:sp>
      <p:pic>
        <p:nvPicPr>
          <p:cNvPr id="13" name="Image 3" descr="preencoded.png">    </p:cNvPr>
          <p:cNvPicPr>
            <a:picLocks noChangeAspect="1"/>
          </p:cNvPicPr>
          <p:nvPr/>
        </p:nvPicPr>
        <p:blipFill>
          <a:blip r:embed="rId4"/>
          <a:stretch>
            <a:fillRect/>
          </a:stretch>
        </p:blipFill>
        <p:spPr>
          <a:xfrm>
            <a:off x="4783531" y="1954073"/>
            <a:ext cx="435254" cy="435254"/>
          </a:xfrm>
          <a:prstGeom prst="rect">
            <a:avLst/>
          </a:prstGeom>
        </p:spPr>
      </p:pic>
      <p:sp>
        <p:nvSpPr>
          <p:cNvPr id="14" name="Text 7"/>
          <p:cNvSpPr/>
          <p:nvPr/>
        </p:nvSpPr>
        <p:spPr>
          <a:xfrm>
            <a:off x="5526938" y="1783080"/>
            <a:ext cx="2235098" cy="77724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5" name="Text 8"/>
          <p:cNvSpPr/>
          <p:nvPr/>
        </p:nvSpPr>
        <p:spPr>
          <a:xfrm>
            <a:off x="4612538"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A rule denies the action. Nothing runs, and the reply gives the reason.</a:t>
            </a:r>
            <a:endParaRPr lang="en-US" sz="1800" dirty="0"/>
          </a:p>
        </p:txBody>
      </p:sp>
      <p:sp>
        <p:nvSpPr>
          <p:cNvPr id="16" name="Shape 9"/>
          <p:cNvSpPr/>
          <p:nvPr/>
        </p:nvSpPr>
        <p:spPr>
          <a:xfrm>
            <a:off x="7944917" y="1737360"/>
            <a:ext cx="0" cy="2194560"/>
          </a:xfrm>
          <a:prstGeom prst="line">
            <a:avLst/>
          </a:prstGeom>
          <a:noFill/>
          <a:ln w="19050">
            <a:solidFill>
              <a:srgbClr val="D5DBE3"/>
            </a:solidFill>
            <a:prstDash val="solid"/>
          </a:ln>
        </p:spPr>
      </p:sp>
      <p:sp>
        <p:nvSpPr>
          <p:cNvPr id="17" name="Shape 10"/>
          <p:cNvSpPr/>
          <p:nvPr/>
        </p:nvSpPr>
        <p:spPr>
          <a:xfrm>
            <a:off x="8310677" y="1783080"/>
            <a:ext cx="777240" cy="777240"/>
          </a:xfrm>
          <a:prstGeom prst="ellipse">
            <a:avLst/>
          </a:prstGeom>
          <a:solidFill>
            <a:srgbClr val="A94A4A"/>
          </a:solidFill>
          <a:ln w="12700">
            <a:solidFill>
              <a:srgbClr val="A94A4A"/>
            </a:solidFill>
            <a:prstDash val="solid"/>
          </a:ln>
        </p:spPr>
      </p:sp>
      <p:pic>
        <p:nvPicPr>
          <p:cNvPr id="18" name="Image 4" descr="preencoded.png">    </p:cNvPr>
          <p:cNvPicPr>
            <a:picLocks noChangeAspect="1"/>
          </p:cNvPicPr>
          <p:nvPr/>
        </p:nvPicPr>
        <p:blipFill>
          <a:blip r:embed="rId5"/>
          <a:stretch>
            <a:fillRect/>
          </a:stretch>
        </p:blipFill>
        <p:spPr>
          <a:xfrm>
            <a:off x="8481670" y="1954073"/>
            <a:ext cx="435254" cy="435254"/>
          </a:xfrm>
          <a:prstGeom prst="rect">
            <a:avLst/>
          </a:prstGeom>
        </p:spPr>
      </p:pic>
      <p:sp>
        <p:nvSpPr>
          <p:cNvPr id="19" name="Text 11"/>
          <p:cNvSpPr/>
          <p:nvPr/>
        </p:nvSpPr>
        <p:spPr>
          <a:xfrm>
            <a:off x="9225077" y="1783080"/>
            <a:ext cx="2235098" cy="77724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20" name="Text 12"/>
          <p:cNvSpPr/>
          <p:nvPr/>
        </p:nvSpPr>
        <p:spPr>
          <a:xfrm>
            <a:off x="8310677"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Every other run: a wrong refusal, or a denied action that ran.</a:t>
            </a:r>
            <a:endParaRPr lang="en-US" sz="1800" dirty="0"/>
          </a:p>
        </p:txBody>
      </p:sp>
      <p:sp>
        <p:nvSpPr>
          <p:cNvPr id="21" name="Shape 13"/>
          <p:cNvSpPr/>
          <p:nvPr/>
        </p:nvSpPr>
        <p:spPr>
          <a:xfrm>
            <a:off x="548640" y="4434840"/>
            <a:ext cx="11094415" cy="822960"/>
          </a:xfrm>
          <a:prstGeom prst="roundRect">
            <a:avLst>
              <a:gd name="adj" fmla="val 8889"/>
            </a:avLst>
          </a:prstGeom>
          <a:solidFill>
            <a:srgbClr val="A94A4A"/>
          </a:solidFill>
          <a:ln/>
        </p:spPr>
      </p:sp>
      <p:pic>
        <p:nvPicPr>
          <p:cNvPr id="22" name="Image 5" descr="preencoded.png">    </p:cNvPr>
          <p:cNvPicPr>
            <a:picLocks noChangeAspect="1"/>
          </p:cNvPicPr>
          <p:nvPr/>
        </p:nvPicPr>
        <p:blipFill>
          <a:blip r:embed="rId6"/>
          <a:stretch>
            <a:fillRect/>
          </a:stretch>
        </p:blipFill>
        <p:spPr>
          <a:xfrm>
            <a:off x="822960" y="4617720"/>
            <a:ext cx="457200" cy="457200"/>
          </a:xfrm>
          <a:prstGeom prst="rect">
            <a:avLst/>
          </a:prstGeom>
        </p:spPr>
      </p:pic>
      <p:sp>
        <p:nvSpPr>
          <p:cNvPr id="23" name="Text 14"/>
          <p:cNvSpPr/>
          <p:nvPr/>
        </p:nvSpPr>
        <p:spPr>
          <a:xfrm>
            <a:off x="1508760" y="443484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rules.</a:t>
            </a:r>
            <a:endParaRPr lang="en-US" sz="1800" dirty="0"/>
          </a:p>
        </p:txBody>
      </p:sp>
      <p:sp>
        <p:nvSpPr>
          <p:cNvPr id="24" name="Shape 15"/>
          <p:cNvSpPr/>
          <p:nvPr/>
        </p:nvSpPr>
        <p:spPr>
          <a:xfrm>
            <a:off x="548640" y="5440680"/>
            <a:ext cx="11094415" cy="868680"/>
          </a:xfrm>
          <a:prstGeom prst="roundRect">
            <a:avLst>
              <a:gd name="adj" fmla="val 8421"/>
            </a:avLst>
          </a:prstGeom>
          <a:solidFill>
            <a:srgbClr val="FFFFFF"/>
          </a:solidFill>
          <a:ln/>
        </p:spPr>
      </p:sp>
      <p:sp>
        <p:nvSpPr>
          <p:cNvPr id="25" name="Shape 16"/>
          <p:cNvSpPr/>
          <p:nvPr/>
        </p:nvSpPr>
        <p:spPr>
          <a:xfrm>
            <a:off x="914400" y="5623560"/>
            <a:ext cx="502920" cy="502920"/>
          </a:xfrm>
          <a:prstGeom prst="ellipse">
            <a:avLst/>
          </a:prstGeom>
          <a:solidFill>
            <a:srgbClr val="234B84"/>
          </a:solidFill>
          <a:ln w="12700">
            <a:solidFill>
              <a:srgbClr val="234B84"/>
            </a:solidFill>
            <a:prstDash val="solid"/>
          </a:ln>
        </p:spPr>
      </p:sp>
      <p:pic>
        <p:nvPicPr>
          <p:cNvPr id="26" name="Image 6" descr="preencoded.png">    </p:cNvPr>
          <p:cNvPicPr>
            <a:picLocks noChangeAspect="1"/>
          </p:cNvPicPr>
          <p:nvPr/>
        </p:nvPicPr>
        <p:blipFill>
          <a:blip r:embed="rId7"/>
          <a:stretch>
            <a:fillRect/>
          </a:stretch>
        </p:blipFill>
        <p:spPr>
          <a:xfrm>
            <a:off x="1025042" y="5734202"/>
            <a:ext cx="281635" cy="281635"/>
          </a:xfrm>
          <a:prstGeom prst="rect">
            <a:avLst/>
          </a:prstGeom>
        </p:spPr>
      </p:pic>
      <p:sp>
        <p:nvSpPr>
          <p:cNvPr id="27" name="Text 17"/>
          <p:cNvSpPr/>
          <p:nvPr/>
        </p:nvSpPr>
        <p:spPr>
          <a:xfrm>
            <a:off x="1600200"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Machine time per request</a:t>
            </a:r>
            <a:endParaRPr lang="en-US" sz="1700" dirty="0"/>
          </a:p>
        </p:txBody>
      </p:sp>
      <p:sp>
        <p:nvSpPr>
          <p:cNvPr id="28" name="Shape 18"/>
          <p:cNvSpPr/>
          <p:nvPr/>
        </p:nvSpPr>
        <p:spPr>
          <a:xfrm>
            <a:off x="4612538" y="5623560"/>
            <a:ext cx="502920" cy="502920"/>
          </a:xfrm>
          <a:prstGeom prst="ellipse">
            <a:avLst/>
          </a:prstGeom>
          <a:solidFill>
            <a:srgbClr val="234B84"/>
          </a:solidFill>
          <a:ln w="12700">
            <a:solidFill>
              <a:srgbClr val="234B84"/>
            </a:solidFill>
            <a:prstDash val="solid"/>
          </a:ln>
        </p:spPr>
      </p:sp>
      <p:pic>
        <p:nvPicPr>
          <p:cNvPr id="29" name="Image 7" descr="preencoded.png">    </p:cNvPr>
          <p:cNvPicPr>
            <a:picLocks noChangeAspect="1"/>
          </p:cNvPicPr>
          <p:nvPr/>
        </p:nvPicPr>
        <p:blipFill>
          <a:blip r:embed="rId8"/>
          <a:stretch>
            <a:fillRect/>
          </a:stretch>
        </p:blipFill>
        <p:spPr>
          <a:xfrm>
            <a:off x="4723181" y="5734202"/>
            <a:ext cx="281635" cy="281635"/>
          </a:xfrm>
          <a:prstGeom prst="rect">
            <a:avLst/>
          </a:prstGeom>
        </p:spPr>
      </p:pic>
      <p:sp>
        <p:nvSpPr>
          <p:cNvPr id="30" name="Text 19"/>
          <p:cNvSpPr/>
          <p:nvPr/>
        </p:nvSpPr>
        <p:spPr>
          <a:xfrm>
            <a:off x="5298338"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API cost per 1,000 requests</a:t>
            </a:r>
            <a:endParaRPr lang="en-US" sz="1700" dirty="0"/>
          </a:p>
        </p:txBody>
      </p:sp>
      <p:sp>
        <p:nvSpPr>
          <p:cNvPr id="31" name="Shape 20"/>
          <p:cNvSpPr/>
          <p:nvPr/>
        </p:nvSpPr>
        <p:spPr>
          <a:xfrm>
            <a:off x="8310677" y="5623560"/>
            <a:ext cx="502920" cy="502920"/>
          </a:xfrm>
          <a:prstGeom prst="ellipse">
            <a:avLst/>
          </a:prstGeom>
          <a:solidFill>
            <a:srgbClr val="234B84"/>
          </a:solidFill>
          <a:ln w="12700">
            <a:solidFill>
              <a:srgbClr val="234B84"/>
            </a:solidFill>
            <a:prstDash val="solid"/>
          </a:ln>
        </p:spPr>
      </p:sp>
      <p:pic>
        <p:nvPicPr>
          <p:cNvPr id="32" name="Image 8" descr="preencoded.png">    </p:cNvPr>
          <p:cNvPicPr>
            <a:picLocks noChangeAspect="1"/>
          </p:cNvPicPr>
          <p:nvPr/>
        </p:nvPicPr>
        <p:blipFill>
          <a:blip r:embed="rId9"/>
          <a:stretch>
            <a:fillRect/>
          </a:stretch>
        </p:blipFill>
        <p:spPr>
          <a:xfrm>
            <a:off x="8421319" y="5734202"/>
            <a:ext cx="281635" cy="281635"/>
          </a:xfrm>
          <a:prstGeom prst="rect">
            <a:avLst/>
          </a:prstGeom>
        </p:spPr>
      </p:pic>
      <p:sp>
        <p:nvSpPr>
          <p:cNvPr id="33" name="Text 21"/>
          <p:cNvSpPr/>
          <p:nvPr/>
        </p:nvSpPr>
        <p:spPr>
          <a:xfrm>
            <a:off x="8996477"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Error count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6" name="Shape 1"/>
          <p:cNvSpPr/>
          <p:nvPr/>
        </p:nvSpPr>
        <p:spPr>
          <a:xfrm>
            <a:off x="548640" y="1417320"/>
            <a:ext cx="11094415" cy="731520"/>
          </a:xfrm>
          <a:prstGeom prst="roundRect">
            <a:avLst>
              <a:gd name="adj" fmla="val 10000"/>
            </a:avLst>
          </a:prstGeom>
          <a:solidFill>
            <a:srgbClr val="FFFFFF"/>
          </a:solidFill>
          <a:ln/>
        </p:spPr>
      </p:sp>
      <p:sp>
        <p:nvSpPr>
          <p:cNvPr id="7"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943661" y="1629461"/>
            <a:ext cx="307238" cy="307238"/>
          </a:xfrm>
          <a:prstGeom prst="rect">
            <a:avLst/>
          </a:prstGeom>
        </p:spPr>
      </p:pic>
      <p:sp>
        <p:nvSpPr>
          <p:cNvPr id="9"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10"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11" name="Image 3" descr="preencoded.png">    </p:cNvPr>
          <p:cNvPicPr>
            <a:picLocks noChangeAspect="1"/>
          </p:cNvPicPr>
          <p:nvPr/>
        </p:nvPicPr>
        <p:blipFill>
          <a:blip r:embed="rId4"/>
          <a:stretch>
            <a:fillRect/>
          </a:stretch>
        </p:blipFill>
        <p:spPr>
          <a:xfrm>
            <a:off x="6490868" y="1629461"/>
            <a:ext cx="307238" cy="307238"/>
          </a:xfrm>
          <a:prstGeom prst="rect">
            <a:avLst/>
          </a:prstGeom>
        </p:spPr>
      </p:pic>
      <p:sp>
        <p:nvSpPr>
          <p:cNvPr id="12"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3" name="Shape 6"/>
          <p:cNvSpPr/>
          <p:nvPr/>
        </p:nvSpPr>
        <p:spPr>
          <a:xfrm>
            <a:off x="548640" y="2331720"/>
            <a:ext cx="5410048" cy="2743200"/>
          </a:xfrm>
          <a:prstGeom prst="roundRect">
            <a:avLst>
              <a:gd name="adj" fmla="val 2667"/>
            </a:avLst>
          </a:prstGeom>
          <a:solidFill>
            <a:srgbClr val="FFFFFF"/>
          </a:solidFill>
          <a:ln/>
        </p:spPr>
      </p:sp>
      <p:sp>
        <p:nvSpPr>
          <p:cNvPr id="14"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5" name="Image 4" descr="preencoded.png">    </p:cNvPr>
          <p:cNvPicPr>
            <a:picLocks noChangeAspect="1"/>
          </p:cNvPicPr>
          <p:nvPr/>
        </p:nvPicPr>
        <p:blipFill>
          <a:blip r:embed="rId5"/>
          <a:stretch>
            <a:fillRect/>
          </a:stretch>
        </p:blipFill>
        <p:spPr>
          <a:xfrm>
            <a:off x="989381" y="2635301"/>
            <a:ext cx="307238" cy="307238"/>
          </a:xfrm>
          <a:prstGeom prst="rect">
            <a:avLst/>
          </a:prstGeom>
        </p:spPr>
      </p:pic>
      <p:sp>
        <p:nvSpPr>
          <p:cNvPr id="16"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agent</a:t>
            </a:r>
            <a:endParaRPr lang="en-US" sz="2200" dirty="0"/>
          </a:p>
        </p:txBody>
      </p:sp>
      <p:sp>
        <p:nvSpPr>
          <p:cNvPr id="17"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$1.12</a:t>
            </a:r>
            <a:endParaRPr lang="en-US" sz="4800" dirty="0"/>
          </a:p>
        </p:txBody>
      </p:sp>
      <p:sp>
        <p:nvSpPr>
          <p:cNvPr id="18"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9"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20"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21" name="Text 13"/>
          <p:cNvSpPr/>
          <p:nvPr/>
        </p:nvSpPr>
        <p:spPr>
          <a:xfrm>
            <a:off x="868680" y="4343400"/>
            <a:ext cx="17373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classifier</a:t>
            </a:r>
            <a:endParaRPr lang="en-US" sz="1400" dirty="0"/>
          </a:p>
        </p:txBody>
      </p:sp>
      <p:sp>
        <p:nvSpPr>
          <p:cNvPr id="22" name="Text 14"/>
          <p:cNvSpPr/>
          <p:nvPr/>
        </p:nvSpPr>
        <p:spPr>
          <a:xfrm>
            <a:off x="27432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3" name="Text 15"/>
          <p:cNvSpPr/>
          <p:nvPr/>
        </p:nvSpPr>
        <p:spPr>
          <a:xfrm>
            <a:off x="42062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4"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5" name="Shape 17"/>
          <p:cNvSpPr/>
          <p:nvPr/>
        </p:nvSpPr>
        <p:spPr>
          <a:xfrm>
            <a:off x="6233008" y="2331720"/>
            <a:ext cx="5410048" cy="2743200"/>
          </a:xfrm>
          <a:prstGeom prst="roundRect">
            <a:avLst>
              <a:gd name="adj" fmla="val 2667"/>
            </a:avLst>
          </a:prstGeom>
          <a:solidFill>
            <a:srgbClr val="FFFFFF"/>
          </a:solidFill>
          <a:ln/>
        </p:spPr>
      </p:sp>
      <p:sp>
        <p:nvSpPr>
          <p:cNvPr id="26"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7" name="Image 5" descr="preencoded.png">    </p:cNvPr>
          <p:cNvPicPr>
            <a:picLocks noChangeAspect="1"/>
          </p:cNvPicPr>
          <p:nvPr/>
        </p:nvPicPr>
        <p:blipFill>
          <a:blip r:embed="rId6"/>
          <a:stretch>
            <a:fillRect/>
          </a:stretch>
        </p:blipFill>
        <p:spPr>
          <a:xfrm>
            <a:off x="6673748" y="2635301"/>
            <a:ext cx="307238" cy="307238"/>
          </a:xfrm>
          <a:prstGeom prst="rect">
            <a:avLst/>
          </a:prstGeom>
        </p:spPr>
      </p:pic>
      <p:sp>
        <p:nvSpPr>
          <p:cNvPr id="28"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pipeline</a:t>
            </a:r>
            <a:endParaRPr lang="en-US" sz="2200" dirty="0"/>
          </a:p>
        </p:txBody>
      </p:sp>
      <p:sp>
        <p:nvSpPr>
          <p:cNvPr id="29"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30"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31"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2" name="Shape 23"/>
          <p:cNvSpPr/>
          <p:nvPr/>
        </p:nvSpPr>
        <p:spPr>
          <a:xfrm>
            <a:off x="6553048" y="3977640"/>
            <a:ext cx="1266671" cy="256032"/>
          </a:xfrm>
          <a:prstGeom prst="roundRect">
            <a:avLst>
              <a:gd name="adj" fmla="val 17857"/>
            </a:avLst>
          </a:prstGeom>
          <a:solidFill>
            <a:srgbClr val="234B84"/>
          </a:solidFill>
          <a:ln w="12700">
            <a:solidFill>
              <a:srgbClr val="234B84"/>
            </a:solidFill>
            <a:prstDash val="solid"/>
          </a:ln>
        </p:spPr>
      </p:sp>
      <p:sp>
        <p:nvSpPr>
          <p:cNvPr id="33"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4"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5"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6"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7" name="Shape 28"/>
          <p:cNvSpPr/>
          <p:nvPr/>
        </p:nvSpPr>
        <p:spPr>
          <a:xfrm>
            <a:off x="548640" y="5212080"/>
            <a:ext cx="11094415" cy="914400"/>
          </a:xfrm>
          <a:prstGeom prst="roundRect">
            <a:avLst>
              <a:gd name="adj" fmla="val 8000"/>
            </a:avLst>
          </a:prstGeom>
          <a:solidFill>
            <a:srgbClr val="FFFFFF"/>
          </a:solidFill>
          <a:ln/>
        </p:spPr>
      </p:sp>
      <p:sp>
        <p:nvSpPr>
          <p:cNvPr id="38"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9" name="Image 6" descr="preencoded.png">    </p:cNvPr>
          <p:cNvPicPr>
            <a:picLocks noChangeAspect="1"/>
          </p:cNvPicPr>
          <p:nvPr/>
        </p:nvPicPr>
        <p:blipFill>
          <a:blip r:embed="rId7"/>
          <a:stretch>
            <a:fillRect/>
          </a:stretch>
        </p:blipFill>
        <p:spPr>
          <a:xfrm>
            <a:off x="989381" y="5515661"/>
            <a:ext cx="307238" cy="307238"/>
          </a:xfrm>
          <a:prstGeom prst="rect">
            <a:avLst/>
          </a:prstGeom>
        </p:spPr>
      </p:pic>
      <p:sp>
        <p:nvSpPr>
          <p:cNvPr id="40"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41"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2" name="Image 7" descr="preencoded.png">    </p:cNvPr>
          <p:cNvPicPr>
            <a:picLocks noChangeAspect="1"/>
          </p:cNvPicPr>
          <p:nvPr/>
        </p:nvPicPr>
        <p:blipFill>
          <a:blip r:embed="rId8"/>
          <a:stretch>
            <a:fillRect/>
          </a:stretch>
        </p:blipFill>
        <p:spPr>
          <a:xfrm>
            <a:off x="6536588" y="5515661"/>
            <a:ext cx="307238" cy="307238"/>
          </a:xfrm>
          <a:prstGeom prst="rect">
            <a:avLst/>
          </a:prstGeom>
        </p:spPr>
      </p:pic>
      <p:sp>
        <p:nvSpPr>
          <p:cNvPr id="43"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test set: speed, cost, and accuracy</a:t>
            </a:r>
            <a:endParaRPr lang="en-US" sz="3600" dirty="0"/>
          </a:p>
        </p:txBody>
      </p:sp>
      <p:sp>
        <p:nvSpPr>
          <p:cNvPr id="6" name="Shape 1"/>
          <p:cNvSpPr/>
          <p:nvPr/>
        </p:nvSpPr>
        <p:spPr>
          <a:xfrm>
            <a:off x="548640" y="1508760"/>
            <a:ext cx="6949440" cy="4480560"/>
          </a:xfrm>
          <a:prstGeom prst="roundRect">
            <a:avLst>
              <a:gd name="adj" fmla="val 1633"/>
            </a:avLst>
          </a:prstGeom>
          <a:solidFill>
            <a:srgbClr val="FFFFFF"/>
          </a:solidFill>
          <a:ln/>
        </p:spPr>
      </p:sp>
      <p:graphicFrame>
        <p:nvGraphicFramePr>
          <p:cNvPr id="7"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9" name="Shape 3"/>
          <p:cNvSpPr/>
          <p:nvPr/>
        </p:nvSpPr>
        <p:spPr>
          <a:xfrm>
            <a:off x="7772400" y="1508760"/>
            <a:ext cx="3870655" cy="1371600"/>
          </a:xfrm>
          <a:prstGeom prst="roundRect">
            <a:avLst>
              <a:gd name="adj" fmla="val 5333"/>
            </a:avLst>
          </a:prstGeom>
          <a:solidFill>
            <a:srgbClr val="FFFFFF"/>
          </a:solidFill>
          <a:ln/>
        </p:spPr>
      </p:sp>
      <p:sp>
        <p:nvSpPr>
          <p:cNvPr id="10"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11" name="Image 2" descr="preencoded.png">    </p:cNvPr>
          <p:cNvPicPr>
            <a:picLocks noChangeAspect="1"/>
          </p:cNvPicPr>
          <p:nvPr/>
        </p:nvPicPr>
        <p:blipFill>
          <a:blip r:embed="rId4"/>
          <a:stretch>
            <a:fillRect/>
          </a:stretch>
        </p:blipFill>
        <p:spPr>
          <a:xfrm>
            <a:off x="8141818" y="1878178"/>
            <a:ext cx="358445" cy="358445"/>
          </a:xfrm>
          <a:prstGeom prst="rect">
            <a:avLst/>
          </a:prstGeom>
        </p:spPr>
      </p:pic>
      <p:sp>
        <p:nvSpPr>
          <p:cNvPr id="12"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3"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4" name="Shape 7"/>
          <p:cNvSpPr/>
          <p:nvPr/>
        </p:nvSpPr>
        <p:spPr>
          <a:xfrm>
            <a:off x="7772400" y="3063240"/>
            <a:ext cx="3870655" cy="1371600"/>
          </a:xfrm>
          <a:prstGeom prst="roundRect">
            <a:avLst>
              <a:gd name="adj" fmla="val 5333"/>
            </a:avLst>
          </a:prstGeom>
          <a:solidFill>
            <a:srgbClr val="FFFFFF"/>
          </a:solidFill>
          <a:ln/>
        </p:spPr>
      </p:sp>
      <p:sp>
        <p:nvSpPr>
          <p:cNvPr id="15"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6" name="Image 3" descr="preencoded.png">    </p:cNvPr>
          <p:cNvPicPr>
            <a:picLocks noChangeAspect="1"/>
          </p:cNvPicPr>
          <p:nvPr/>
        </p:nvPicPr>
        <p:blipFill>
          <a:blip r:embed="rId5"/>
          <a:stretch>
            <a:fillRect/>
          </a:stretch>
        </p:blipFill>
        <p:spPr>
          <a:xfrm>
            <a:off x="8141818" y="3432658"/>
            <a:ext cx="358445" cy="358445"/>
          </a:xfrm>
          <a:prstGeom prst="rect">
            <a:avLst/>
          </a:prstGeom>
        </p:spPr>
      </p:pic>
      <p:sp>
        <p:nvSpPr>
          <p:cNvPr id="17"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8"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9" name="Shape 11"/>
          <p:cNvSpPr/>
          <p:nvPr/>
        </p:nvSpPr>
        <p:spPr>
          <a:xfrm>
            <a:off x="7772400" y="4617720"/>
            <a:ext cx="3870655" cy="1371600"/>
          </a:xfrm>
          <a:prstGeom prst="roundRect">
            <a:avLst>
              <a:gd name="adj" fmla="val 5333"/>
            </a:avLst>
          </a:prstGeom>
          <a:solidFill>
            <a:srgbClr val="FFFFFF"/>
          </a:solidFill>
          <a:ln/>
        </p:spPr>
      </p:sp>
      <p:sp>
        <p:nvSpPr>
          <p:cNvPr id="20"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21" name="Image 4" descr="preencoded.png">    </p:cNvPr>
          <p:cNvPicPr>
            <a:picLocks noChangeAspect="1"/>
          </p:cNvPicPr>
          <p:nvPr/>
        </p:nvPicPr>
        <p:blipFill>
          <a:blip r:embed="rId6"/>
          <a:stretch>
            <a:fillRect/>
          </a:stretch>
        </p:blipFill>
        <p:spPr>
          <a:xfrm>
            <a:off x="8141818" y="4987138"/>
            <a:ext cx="358445" cy="358445"/>
          </a:xfrm>
          <a:prstGeom prst="rect">
            <a:avLst/>
          </a:prstGeom>
        </p:spPr>
      </p:pic>
      <p:sp>
        <p:nvSpPr>
          <p:cNvPr id="22"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3"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Same reply model, different decision step</a:t>
            </a:r>
            <a:endParaRPr lang="en-US" sz="3600" dirty="0"/>
          </a:p>
        </p:txBody>
      </p:sp>
      <p:sp>
        <p:nvSpPr>
          <p:cNvPr id="6" name="Shape 1"/>
          <p:cNvSpPr/>
          <p:nvPr/>
        </p:nvSpPr>
        <p:spPr>
          <a:xfrm>
            <a:off x="548640" y="1508760"/>
            <a:ext cx="6949440" cy="3611880"/>
          </a:xfrm>
          <a:prstGeom prst="roundRect">
            <a:avLst>
              <a:gd name="adj" fmla="val 2025"/>
            </a:avLst>
          </a:prstGeom>
          <a:solidFill>
            <a:srgbClr val="FFFFFF"/>
          </a:solidFill>
          <a:ln/>
        </p:spPr>
      </p:sp>
      <p:graphicFrame>
        <p:nvGraphicFramePr>
          <p:cNvPr id="7"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3"/>
          </a:graphicData>
        </a:graphic>
      </p:graphicFrame>
      <p:sp>
        <p:nvSpPr>
          <p:cNvPr id="8" name="Shape 2"/>
          <p:cNvSpPr/>
          <p:nvPr/>
        </p:nvSpPr>
        <p:spPr>
          <a:xfrm>
            <a:off x="7772400" y="1508760"/>
            <a:ext cx="3870655" cy="1143000"/>
          </a:xfrm>
          <a:prstGeom prst="roundRect">
            <a:avLst>
              <a:gd name="adj" fmla="val 6400"/>
            </a:avLst>
          </a:prstGeom>
          <a:solidFill>
            <a:srgbClr val="FFFFFF"/>
          </a:solidFill>
          <a:ln/>
        </p:spPr>
      </p:sp>
      <p:sp>
        <p:nvSpPr>
          <p:cNvPr id="9" name="Shape 3"/>
          <p:cNvSpPr/>
          <p:nvPr/>
        </p:nvSpPr>
        <p:spPr>
          <a:xfrm>
            <a:off x="8001000" y="1737360"/>
            <a:ext cx="640080" cy="640080"/>
          </a:xfrm>
          <a:prstGeom prst="ellipse">
            <a:avLst/>
          </a:prstGeom>
          <a:solidFill>
            <a:srgbClr val="1F7A7A"/>
          </a:solidFill>
          <a:ln w="12700">
            <a:solidFill>
              <a:srgbClr val="1F7A7A"/>
            </a:solidFill>
            <a:prstDash val="solid"/>
          </a:ln>
        </p:spPr>
      </p:sp>
      <p:pic>
        <p:nvPicPr>
          <p:cNvPr id="10" name="Image 2" descr="preencoded.png">    </p:cNvPr>
          <p:cNvPicPr>
            <a:picLocks noChangeAspect="1"/>
          </p:cNvPicPr>
          <p:nvPr/>
        </p:nvPicPr>
        <p:blipFill>
          <a:blip r:embed="rId4"/>
          <a:stretch>
            <a:fillRect/>
          </a:stretch>
        </p:blipFill>
        <p:spPr>
          <a:xfrm>
            <a:off x="8141818" y="1878178"/>
            <a:ext cx="358445" cy="358445"/>
          </a:xfrm>
          <a:prstGeom prst="rect">
            <a:avLst/>
          </a:prstGeom>
        </p:spPr>
      </p:pic>
      <p:sp>
        <p:nvSpPr>
          <p:cNvPr id="11"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 wrong</a:t>
            </a:r>
            <a:endParaRPr lang="en-US" sz="2800" dirty="0"/>
          </a:p>
        </p:txBody>
      </p:sp>
      <p:sp>
        <p:nvSpPr>
          <p:cNvPr id="12"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27 of the 31 are orders hidden in the message</a:t>
            </a:r>
            <a:endParaRPr lang="en-US" sz="1400" dirty="0"/>
          </a:p>
        </p:txBody>
      </p:sp>
      <p:sp>
        <p:nvSpPr>
          <p:cNvPr id="13" name="Shape 6"/>
          <p:cNvSpPr/>
          <p:nvPr/>
        </p:nvSpPr>
        <p:spPr>
          <a:xfrm>
            <a:off x="7772400" y="2743200"/>
            <a:ext cx="3870655" cy="1143000"/>
          </a:xfrm>
          <a:prstGeom prst="roundRect">
            <a:avLst>
              <a:gd name="adj" fmla="val 6400"/>
            </a:avLst>
          </a:prstGeom>
          <a:solidFill>
            <a:srgbClr val="FFFFFF"/>
          </a:solidFill>
          <a:ln/>
        </p:spPr>
      </p:sp>
      <p:sp>
        <p:nvSpPr>
          <p:cNvPr id="14"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5" name="Image 3" descr="preencoded.png">    </p:cNvPr>
          <p:cNvPicPr>
            <a:picLocks noChangeAspect="1"/>
          </p:cNvPicPr>
          <p:nvPr/>
        </p:nvPicPr>
        <p:blipFill>
          <a:blip r:embed="rId5"/>
          <a:stretch>
            <a:fillRect/>
          </a:stretch>
        </p:blipFill>
        <p:spPr>
          <a:xfrm>
            <a:off x="8141818" y="3112618"/>
            <a:ext cx="358445" cy="358445"/>
          </a:xfrm>
          <a:prstGeom prst="rect">
            <a:avLst/>
          </a:prstGeom>
        </p:spPr>
      </p:pic>
      <p:sp>
        <p:nvSpPr>
          <p:cNvPr id="16"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 faster</a:t>
            </a:r>
            <a:endParaRPr lang="en-US" sz="2800" dirty="0"/>
          </a:p>
        </p:txBody>
      </p:sp>
      <p:sp>
        <p:nvSpPr>
          <p:cNvPr id="17"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5.89 s vs 12.45 s of machine time per request</a:t>
            </a:r>
            <a:endParaRPr lang="en-US" sz="1400" dirty="0"/>
          </a:p>
        </p:txBody>
      </p:sp>
      <p:sp>
        <p:nvSpPr>
          <p:cNvPr id="18" name="Shape 10"/>
          <p:cNvSpPr/>
          <p:nvPr/>
        </p:nvSpPr>
        <p:spPr>
          <a:xfrm>
            <a:off x="7772400" y="3977640"/>
            <a:ext cx="3870655" cy="1143000"/>
          </a:xfrm>
          <a:prstGeom prst="roundRect">
            <a:avLst>
              <a:gd name="adj" fmla="val 6400"/>
            </a:avLst>
          </a:prstGeom>
          <a:solidFill>
            <a:srgbClr val="FFFFFF"/>
          </a:solidFill>
          <a:ln/>
        </p:spPr>
      </p:sp>
      <p:sp>
        <p:nvSpPr>
          <p:cNvPr id="19" name="Shape 11"/>
          <p:cNvSpPr/>
          <p:nvPr/>
        </p:nvSpPr>
        <p:spPr>
          <a:xfrm>
            <a:off x="8001000" y="420624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6"/>
          <a:stretch>
            <a:fillRect/>
          </a:stretch>
        </p:blipFill>
        <p:spPr>
          <a:xfrm>
            <a:off x="8141818" y="4347058"/>
            <a:ext cx="358445" cy="358445"/>
          </a:xfrm>
          <a:prstGeom prst="rect">
            <a:avLst/>
          </a:prstGeom>
        </p:spPr>
      </p:pic>
      <p:sp>
        <p:nvSpPr>
          <p:cNvPr id="21"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3.8x cheaper</a:t>
            </a:r>
            <a:endParaRPr lang="en-US" sz="2800" dirty="0"/>
          </a:p>
        </p:txBody>
      </p:sp>
      <p:sp>
        <p:nvSpPr>
          <p:cNvPr id="22"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$0.30 vs $1.12 per 1,000 requests</a:t>
            </a:r>
            <a:endParaRPr lang="en-US" sz="1400" dirty="0"/>
          </a:p>
        </p:txBody>
      </p:sp>
      <p:sp>
        <p:nvSpPr>
          <p:cNvPr id="23"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wrong</a:t>
            </a:r>
            <a:endParaRPr lang="en-US" sz="1600" dirty="0"/>
          </a:p>
        </p:txBody>
      </p:sp>
      <p:sp>
        <p:nvSpPr>
          <p:cNvPr id="24"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wrong</a:t>
            </a:r>
            <a:endParaRPr lang="en-US" sz="1600" dirty="0"/>
          </a:p>
        </p:txBody>
      </p:sp>
      <p:sp>
        <p:nvSpPr>
          <p:cNvPr id="25" name="Shape 16"/>
          <p:cNvSpPr/>
          <p:nvPr/>
        </p:nvSpPr>
        <p:spPr>
          <a:xfrm>
            <a:off x="548640" y="5349240"/>
            <a:ext cx="11094415" cy="868680"/>
          </a:xfrm>
          <a:prstGeom prst="roundRect">
            <a:avLst>
              <a:gd name="adj" fmla="val 8421"/>
            </a:avLst>
          </a:prstGeom>
          <a:solidFill>
            <a:srgbClr val="1F7A7A"/>
          </a:solidFill>
          <a:ln/>
        </p:spPr>
      </p:sp>
      <p:pic>
        <p:nvPicPr>
          <p:cNvPr id="26" name="Image 5" descr="preencoded.png">    </p:cNvPr>
          <p:cNvPicPr>
            <a:picLocks noChangeAspect="1"/>
          </p:cNvPicPr>
          <p:nvPr/>
        </p:nvPicPr>
        <p:blipFill>
          <a:blip r:embed="rId7"/>
          <a:stretch>
            <a:fillRect/>
          </a:stretch>
        </p:blipFill>
        <p:spPr>
          <a:xfrm>
            <a:off x="822960" y="5554980"/>
            <a:ext cx="457200" cy="457200"/>
          </a:xfrm>
          <a:prstGeom prst="rect">
            <a:avLst/>
          </a:prstGeom>
        </p:spPr>
      </p:pic>
      <p:sp>
        <p:nvSpPr>
          <p:cNvPr id="27"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Same LLM writes the reply. Only the decision step is different. </a:t>
            </a:r>
            <a:pPr algn="l" indent="0" marL="0">
              <a:buNone/>
            </a:pPr>
            <a:r>
              <a:rPr lang="en-US" sz="1800" dirty="0">
                <a:solidFill>
                  <a:srgbClr val="FFFFFF"/>
                </a:solidFill>
                <a:latin typeface="Calibri" pitchFamily="34" charset="0"/>
                <a:ea typeface="Calibri" pitchFamily="34" charset="-122"/>
                <a:cs typeface="Calibri" pitchFamily="34" charset="-120"/>
              </a:rPr>
              <a:t>Harmful runs: 10 vs 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6" name="Shape 1"/>
          <p:cNvSpPr/>
          <p:nvPr/>
        </p:nvSpPr>
        <p:spPr>
          <a:xfrm>
            <a:off x="548640" y="1463040"/>
            <a:ext cx="3515258" cy="3611880"/>
          </a:xfrm>
          <a:prstGeom prst="roundRect">
            <a:avLst>
              <a:gd name="adj" fmla="val 2081"/>
            </a:avLst>
          </a:prstGeom>
          <a:solidFill>
            <a:srgbClr val="FFFFFF"/>
          </a:solidFill>
          <a:ln/>
        </p:spPr>
      </p:sp>
      <p:sp>
        <p:nvSpPr>
          <p:cNvPr id="7"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8" name="Image 2" descr="preencoded.png">    </p:cNvPr>
          <p:cNvPicPr>
            <a:picLocks noChangeAspect="1"/>
          </p:cNvPicPr>
          <p:nvPr/>
        </p:nvPicPr>
        <p:blipFill>
          <a:blip r:embed="rId3"/>
          <a:stretch>
            <a:fillRect/>
          </a:stretch>
        </p:blipFill>
        <p:spPr>
          <a:xfrm>
            <a:off x="963778" y="1878178"/>
            <a:ext cx="358445" cy="358445"/>
          </a:xfrm>
          <a:prstGeom prst="rect">
            <a:avLst/>
          </a:prstGeom>
        </p:spPr>
      </p:pic>
      <p:sp>
        <p:nvSpPr>
          <p:cNvPr id="9"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10"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11"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2" name="Shape 6"/>
          <p:cNvSpPr/>
          <p:nvPr/>
        </p:nvSpPr>
        <p:spPr>
          <a:xfrm>
            <a:off x="4338218" y="1463040"/>
            <a:ext cx="3515258" cy="3611880"/>
          </a:xfrm>
          <a:prstGeom prst="roundRect">
            <a:avLst>
              <a:gd name="adj" fmla="val 2081"/>
            </a:avLst>
          </a:prstGeom>
          <a:solidFill>
            <a:srgbClr val="FFFFFF"/>
          </a:solidFill>
          <a:ln/>
        </p:spPr>
      </p:sp>
      <p:sp>
        <p:nvSpPr>
          <p:cNvPr id="13"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4" name="Image 3" descr="preencoded.png">    </p:cNvPr>
          <p:cNvPicPr>
            <a:picLocks noChangeAspect="1"/>
          </p:cNvPicPr>
          <p:nvPr/>
        </p:nvPicPr>
        <p:blipFill>
          <a:blip r:embed="rId4"/>
          <a:stretch>
            <a:fillRect/>
          </a:stretch>
        </p:blipFill>
        <p:spPr>
          <a:xfrm>
            <a:off x="4753356" y="1878178"/>
            <a:ext cx="358445" cy="358445"/>
          </a:xfrm>
          <a:prstGeom prst="rect">
            <a:avLst/>
          </a:prstGeom>
        </p:spPr>
      </p:pic>
      <p:sp>
        <p:nvSpPr>
          <p:cNvPr id="15"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6"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7"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8" name="Shape 11"/>
          <p:cNvSpPr/>
          <p:nvPr/>
        </p:nvSpPr>
        <p:spPr>
          <a:xfrm>
            <a:off x="8127797" y="1463040"/>
            <a:ext cx="3515258" cy="3611880"/>
          </a:xfrm>
          <a:prstGeom prst="roundRect">
            <a:avLst>
              <a:gd name="adj" fmla="val 2081"/>
            </a:avLst>
          </a:prstGeom>
          <a:solidFill>
            <a:srgbClr val="FFFFFF"/>
          </a:solidFill>
          <a:ln/>
        </p:spPr>
      </p:sp>
      <p:sp>
        <p:nvSpPr>
          <p:cNvPr id="19"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5"/>
          <a:stretch>
            <a:fillRect/>
          </a:stretch>
        </p:blipFill>
        <p:spPr>
          <a:xfrm>
            <a:off x="8542934" y="1878178"/>
            <a:ext cx="358445" cy="358445"/>
          </a:xfrm>
          <a:prstGeom prst="rect">
            <a:avLst/>
          </a:prstGeom>
        </p:spPr>
      </p:pic>
      <p:sp>
        <p:nvSpPr>
          <p:cNvPr id="21"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2"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3"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4" name="Shape 16"/>
          <p:cNvSpPr/>
          <p:nvPr/>
        </p:nvSpPr>
        <p:spPr>
          <a:xfrm>
            <a:off x="548640" y="5349240"/>
            <a:ext cx="11094415" cy="868680"/>
          </a:xfrm>
          <a:prstGeom prst="roundRect">
            <a:avLst>
              <a:gd name="adj" fmla="val 8421"/>
            </a:avLst>
          </a:prstGeom>
          <a:solidFill>
            <a:srgbClr val="1F7A7A"/>
          </a:solidFill>
          <a:ln/>
        </p:spPr>
      </p:sp>
      <p:pic>
        <p:nvPicPr>
          <p:cNvPr id="25" name="Image 5" descr="preencoded.png">    </p:cNvPr>
          <p:cNvPicPr>
            <a:picLocks noChangeAspect="1"/>
          </p:cNvPicPr>
          <p:nvPr/>
        </p:nvPicPr>
        <p:blipFill>
          <a:blip r:embed="rId6"/>
          <a:stretch>
            <a:fillRect/>
          </a:stretch>
        </p:blipFill>
        <p:spPr>
          <a:xfrm>
            <a:off x="822960" y="5554980"/>
            <a:ext cx="457200" cy="457200"/>
          </a:xfrm>
          <a:prstGeom prst="rect">
            <a:avLst/>
          </a:prstGeom>
        </p:spPr>
      </p:pic>
      <p:sp>
        <p:nvSpPr>
          <p:cNvPr id="26"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Jev pipeline: 0 wrong and 0 harmful runs on our test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6" name="Shape 1"/>
          <p:cNvSpPr/>
          <p:nvPr/>
        </p:nvSpPr>
        <p:spPr>
          <a:xfrm>
            <a:off x="548640" y="1463040"/>
            <a:ext cx="3515258" cy="3611880"/>
          </a:xfrm>
          <a:prstGeom prst="roundRect">
            <a:avLst>
              <a:gd name="adj" fmla="val 2081"/>
            </a:avLst>
          </a:prstGeom>
          <a:solidFill>
            <a:srgbClr val="FFFFFF"/>
          </a:solidFill>
          <a:ln/>
        </p:spPr>
      </p:sp>
      <p:sp>
        <p:nvSpPr>
          <p:cNvPr id="7"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1004011" y="1918411"/>
            <a:ext cx="460858" cy="460858"/>
          </a:xfrm>
          <a:prstGeom prst="rect">
            <a:avLst/>
          </a:prstGeom>
        </p:spPr>
      </p:pic>
      <p:sp>
        <p:nvSpPr>
          <p:cNvPr id="9"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10"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11" name="Shape 5"/>
          <p:cNvSpPr/>
          <p:nvPr/>
        </p:nvSpPr>
        <p:spPr>
          <a:xfrm>
            <a:off x="4338218" y="1463040"/>
            <a:ext cx="3515258" cy="3611880"/>
          </a:xfrm>
          <a:prstGeom prst="roundRect">
            <a:avLst>
              <a:gd name="adj" fmla="val 2081"/>
            </a:avLst>
          </a:prstGeom>
          <a:solidFill>
            <a:srgbClr val="FFFFFF"/>
          </a:solidFill>
          <a:ln/>
        </p:spPr>
      </p:sp>
      <p:sp>
        <p:nvSpPr>
          <p:cNvPr id="12"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3" name="Image 3" descr="preencoded.png">    </p:cNvPr>
          <p:cNvPicPr>
            <a:picLocks noChangeAspect="1"/>
          </p:cNvPicPr>
          <p:nvPr/>
        </p:nvPicPr>
        <p:blipFill>
          <a:blip r:embed="rId4"/>
          <a:stretch>
            <a:fillRect/>
          </a:stretch>
        </p:blipFill>
        <p:spPr>
          <a:xfrm>
            <a:off x="4793590" y="1918411"/>
            <a:ext cx="460858" cy="460858"/>
          </a:xfrm>
          <a:prstGeom prst="rect">
            <a:avLst/>
          </a:prstGeom>
        </p:spPr>
      </p:pic>
      <p:sp>
        <p:nvSpPr>
          <p:cNvPr id="14"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5"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that no rule blocks it. It does not independently verify policy facts against the account.</a:t>
            </a:r>
            <a:endParaRPr lang="en-US" sz="2200" dirty="0"/>
          </a:p>
        </p:txBody>
      </p:sp>
      <p:sp>
        <p:nvSpPr>
          <p:cNvPr id="16" name="Shape 9"/>
          <p:cNvSpPr/>
          <p:nvPr/>
        </p:nvSpPr>
        <p:spPr>
          <a:xfrm>
            <a:off x="8127797" y="1463040"/>
            <a:ext cx="3515258" cy="3611880"/>
          </a:xfrm>
          <a:prstGeom prst="roundRect">
            <a:avLst>
              <a:gd name="adj" fmla="val 2081"/>
            </a:avLst>
          </a:prstGeom>
          <a:solidFill>
            <a:srgbClr val="FFFFFF"/>
          </a:solidFill>
          <a:ln/>
        </p:spPr>
      </p:sp>
      <p:sp>
        <p:nvSpPr>
          <p:cNvPr id="17"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8" name="Image 4" descr="preencoded.png">    </p:cNvPr>
          <p:cNvPicPr>
            <a:picLocks noChangeAspect="1"/>
          </p:cNvPicPr>
          <p:nvPr/>
        </p:nvPicPr>
        <p:blipFill>
          <a:blip r:embed="rId5"/>
          <a:stretch>
            <a:fillRect/>
          </a:stretch>
        </p:blipFill>
        <p:spPr>
          <a:xfrm>
            <a:off x="8583168" y="1918411"/>
            <a:ext cx="460858" cy="460858"/>
          </a:xfrm>
          <a:prstGeom prst="rect">
            <a:avLst/>
          </a:prstGeom>
        </p:spPr>
      </p:pic>
      <p:sp>
        <p:nvSpPr>
          <p:cNvPr id="19"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20"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21" name="Shape 13"/>
          <p:cNvSpPr/>
          <p:nvPr/>
        </p:nvSpPr>
        <p:spPr>
          <a:xfrm>
            <a:off x="548640" y="5349240"/>
            <a:ext cx="11094415" cy="868680"/>
          </a:xfrm>
          <a:prstGeom prst="roundRect">
            <a:avLst>
              <a:gd name="adj" fmla="val 8421"/>
            </a:avLst>
          </a:prstGeom>
          <a:solidFill>
            <a:srgbClr val="1F7A7A"/>
          </a:solidFill>
          <a:ln/>
        </p:spPr>
      </p:sp>
      <p:pic>
        <p:nvPicPr>
          <p:cNvPr id="22" name="Image 5" descr="preencoded.png">    </p:cNvPr>
          <p:cNvPicPr>
            <a:picLocks noChangeAspect="1"/>
          </p:cNvPicPr>
          <p:nvPr/>
        </p:nvPicPr>
        <p:blipFill>
          <a:blip r:embed="rId6"/>
          <a:stretch>
            <a:fillRect/>
          </a:stretch>
        </p:blipFill>
        <p:spPr>
          <a:xfrm>
            <a:off x="822960" y="5554980"/>
            <a:ext cx="457200" cy="457200"/>
          </a:xfrm>
          <a:prstGeom prst="rect">
            <a:avLst/>
          </a:prstGeom>
        </p:spPr>
      </p:pic>
      <p:sp>
        <p:nvSpPr>
          <p:cNvPr id="23"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LLM agent: 795 served, 198 stopped, 31 wrong. Jev pipeline: 825 served, 199 stopped, 0 wrong.</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pipeline has 2.1x lower mean machine time and 3.8x lower API cost, and none wrong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Shape 3"/>
          <p:cNvSpPr/>
          <p:nvPr/>
        </p:nvSpPr>
        <p:spPr>
          <a:xfrm>
            <a:off x="6949440" y="640080"/>
            <a:ext cx="4602175" cy="1737360"/>
          </a:xfrm>
          <a:prstGeom prst="roundRect">
            <a:avLst>
              <a:gd name="adj" fmla="val 4211"/>
            </a:avLst>
          </a:prstGeom>
          <a:solidFill>
            <a:srgbClr val="FFFFFF"/>
          </a:solidFill>
          <a:ln/>
        </p:spPr>
      </p:sp>
      <p:sp>
        <p:nvSpPr>
          <p:cNvPr id="6" name="Shape 4"/>
          <p:cNvSpPr/>
          <p:nvPr/>
        </p:nvSpPr>
        <p:spPr>
          <a:xfrm>
            <a:off x="7178040" y="868680"/>
            <a:ext cx="640080" cy="640080"/>
          </a:xfrm>
          <a:prstGeom prst="ellipse">
            <a:avLst/>
          </a:prstGeom>
          <a:solidFill>
            <a:srgbClr val="1F7A7A"/>
          </a:solidFill>
          <a:ln w="12700">
            <a:solidFill>
              <a:srgbClr val="1F7A7A"/>
            </a:solidFill>
            <a:prstDash val="solid"/>
          </a:ln>
        </p:spPr>
      </p:sp>
      <p:pic>
        <p:nvPicPr>
          <p:cNvPr id="7"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8" name="Text 5"/>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9" name="Text 6"/>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LLM agent vs Jev pipeline</a:t>
            </a:r>
            <a:endParaRPr lang="en-US" sz="1500" dirty="0"/>
          </a:p>
        </p:txBody>
      </p:sp>
      <p:sp>
        <p:nvSpPr>
          <p:cNvPr id="10" name="Shape 7"/>
          <p:cNvSpPr/>
          <p:nvPr/>
        </p:nvSpPr>
        <p:spPr>
          <a:xfrm>
            <a:off x="6949440" y="2560320"/>
            <a:ext cx="4602175" cy="1737360"/>
          </a:xfrm>
          <a:prstGeom prst="roundRect">
            <a:avLst>
              <a:gd name="adj" fmla="val 4211"/>
            </a:avLst>
          </a:prstGeom>
          <a:solidFill>
            <a:srgbClr val="FFFFFF"/>
          </a:solidFill>
          <a:ln/>
        </p:spPr>
      </p:sp>
      <p:sp>
        <p:nvSpPr>
          <p:cNvPr id="11" name="Shape 8"/>
          <p:cNvSpPr/>
          <p:nvPr/>
        </p:nvSpPr>
        <p:spPr>
          <a:xfrm>
            <a:off x="7178040" y="2788920"/>
            <a:ext cx="640080" cy="640080"/>
          </a:xfrm>
          <a:prstGeom prst="ellipse">
            <a:avLst/>
          </a:prstGeom>
          <a:solidFill>
            <a:srgbClr val="234B84"/>
          </a:solidFill>
          <a:ln w="12700">
            <a:solidFill>
              <a:srgbClr val="234B84"/>
            </a:solidFill>
            <a:prstDash val="solid"/>
          </a:ln>
        </p:spPr>
      </p:sp>
      <p:pic>
        <p:nvPicPr>
          <p:cNvPr id="12"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3" name="Text 9"/>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4" name="Text 10"/>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5" name="Shape 11"/>
          <p:cNvSpPr/>
          <p:nvPr/>
        </p:nvSpPr>
        <p:spPr>
          <a:xfrm>
            <a:off x="6949440" y="4480560"/>
            <a:ext cx="4602175" cy="1737360"/>
          </a:xfrm>
          <a:prstGeom prst="roundRect">
            <a:avLst>
              <a:gd name="adj" fmla="val 4211"/>
            </a:avLst>
          </a:prstGeom>
          <a:solidFill>
            <a:srgbClr val="FFFFFF"/>
          </a:solidFill>
          <a:ln/>
        </p:spPr>
      </p:sp>
      <p:sp>
        <p:nvSpPr>
          <p:cNvPr id="16" name="Shape 12"/>
          <p:cNvSpPr/>
          <p:nvPr/>
        </p:nvSpPr>
        <p:spPr>
          <a:xfrm>
            <a:off x="7178040" y="4709160"/>
            <a:ext cx="640080" cy="640080"/>
          </a:xfrm>
          <a:prstGeom prst="ellipse">
            <a:avLst/>
          </a:prstGeom>
          <a:solidFill>
            <a:srgbClr val="234B84"/>
          </a:solidFill>
          <a:ln w="12700">
            <a:solidFill>
              <a:srgbClr val="234B84"/>
            </a:solidFill>
            <a:prstDash val="solid"/>
          </a:ln>
        </p:spPr>
      </p:sp>
      <p:pic>
        <p:nvPicPr>
          <p:cNvPr id="17"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8" name="Text 13"/>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3.8x</a:t>
            </a:r>
            <a:endParaRPr lang="en-US" sz="3800" dirty="0"/>
          </a:p>
        </p:txBody>
      </p:sp>
      <p:sp>
        <p:nvSpPr>
          <p:cNvPr id="19" name="Text 14"/>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$1.12 per 1,000 requests</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13 to 22</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Walk-throughs: one request through the flow</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23 and 24</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26 and 27</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28</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 Intent Detection and Rule Checks</dc:title>
  <dc:subject>PptxGenJS Presentation</dc:subject>
  <dc:creator>Phenikaa School of Computing</dc:creator>
  <cp:lastModifiedBy>Phenikaa School of Computing</cp:lastModifiedBy>
  <cp:revision>1</cp:revision>
  <dcterms:created xsi:type="dcterms:W3CDTF">2026-10-14T01:59:04Z</dcterms:created>
  <dcterms:modified xsi:type="dcterms:W3CDTF">2026-10-14T01:59:04Z</dcterms:modified>
</cp:coreProperties>
</file>